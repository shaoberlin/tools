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Lst>
  <p:sldSz cx="10287000" cy="57912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image" Target="../media/image15.png"/><Relationship Id="rId11" Type="http://schemas.openxmlformats.org/officeDocument/2006/relationships/image" Target="../media/image16.png"/><Relationship Id="rId12" Type="http://schemas.openxmlformats.org/officeDocument/2006/relationships/image" Target="../media/image17.png"/><Relationship Id="rId13" Type="http://schemas.openxmlformats.org/officeDocument/2006/relationships/image" Target="../media/image18.png"/><Relationship Id="rId14" Type="http://schemas.openxmlformats.org/officeDocument/2006/relationships/image" Target="../media/image19.png"/><Relationship Id="rId15" Type="http://schemas.openxmlformats.org/officeDocument/2006/relationships/image" Target="../media/image20.png"/><Relationship Id="rId16" Type="http://schemas.openxmlformats.org/officeDocument/2006/relationships/image" Target="../media/image21.png"/><Relationship Id="rId17" Type="http://schemas.openxmlformats.org/officeDocument/2006/relationships/image" Target="../media/image22.png"/><Relationship Id="rId18" Type="http://schemas.openxmlformats.org/officeDocument/2006/relationships/image" Target="../media/image23.png"/><Relationship Id="rId19" Type="http://schemas.openxmlformats.org/officeDocument/2006/relationships/image" Target="../media/image24.png"/><Relationship Id="rId20" Type="http://schemas.openxmlformats.org/officeDocument/2006/relationships/image" Target="../media/image25.png"/><Relationship Id="rId21" Type="http://schemas.openxmlformats.org/officeDocument/2006/relationships/image" Target="../media/image26.png"/><Relationship Id="rId22" Type="http://schemas.openxmlformats.org/officeDocument/2006/relationships/image" Target="../media/image27.png"/><Relationship Id="rId23" Type="http://schemas.openxmlformats.org/officeDocument/2006/relationships/image" Target="../media/image28.png"/><Relationship Id="rId24" Type="http://schemas.openxmlformats.org/officeDocument/2006/relationships/image" Target="../media/image29.png"/><Relationship Id="rId25" Type="http://schemas.openxmlformats.org/officeDocument/2006/relationships/image" Target="../media/image30.png"/><Relationship Id="rId26" Type="http://schemas.openxmlformats.org/officeDocument/2006/relationships/image" Target="../media/image31.png"/><Relationship Id="rId27" Type="http://schemas.openxmlformats.org/officeDocument/2006/relationships/image" Target="../media/image32.png"/><Relationship Id="rId28" Type="http://schemas.openxmlformats.org/officeDocument/2006/relationships/image" Target="../media/image33.png"/><Relationship Id="rId29" Type="http://schemas.openxmlformats.org/officeDocument/2006/relationships/image" Target="../media/image3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42.png"/><Relationship Id="rId8" Type="http://schemas.openxmlformats.org/officeDocument/2006/relationships/image" Target="../media/image43.png"/><Relationship Id="rId9" Type="http://schemas.openxmlformats.org/officeDocument/2006/relationships/image" Target="../media/image44.png"/><Relationship Id="rId10" Type="http://schemas.openxmlformats.org/officeDocument/2006/relationships/image" Target="../media/image45.png"/><Relationship Id="rId11" Type="http://schemas.openxmlformats.org/officeDocument/2006/relationships/image" Target="../media/image46.png"/><Relationship Id="rId12" Type="http://schemas.openxmlformats.org/officeDocument/2006/relationships/image" Target="../media/image47.png"/><Relationship Id="rId13" Type="http://schemas.openxmlformats.org/officeDocument/2006/relationships/image" Target="../media/image48.png"/><Relationship Id="rId14" Type="http://schemas.openxmlformats.org/officeDocument/2006/relationships/image" Target="../media/image49.png"/><Relationship Id="rId15" Type="http://schemas.openxmlformats.org/officeDocument/2006/relationships/image" Target="../media/image50.png"/><Relationship Id="rId16" Type="http://schemas.openxmlformats.org/officeDocument/2006/relationships/image" Target="../media/image51.png"/><Relationship Id="rId17" Type="http://schemas.openxmlformats.org/officeDocument/2006/relationships/image" Target="../media/image52.png"/><Relationship Id="rId18" Type="http://schemas.openxmlformats.org/officeDocument/2006/relationships/image" Target="../media/image53.png"/><Relationship Id="rId19" Type="http://schemas.openxmlformats.org/officeDocument/2006/relationships/image" Target="../media/image54.png"/><Relationship Id="rId20" Type="http://schemas.openxmlformats.org/officeDocument/2006/relationships/image" Target="../media/image55.png"/><Relationship Id="rId21" Type="http://schemas.openxmlformats.org/officeDocument/2006/relationships/image" Target="../media/image56.png"/><Relationship Id="rId22" Type="http://schemas.openxmlformats.org/officeDocument/2006/relationships/image" Target="../media/image57.png"/><Relationship Id="rId23" Type="http://schemas.openxmlformats.org/officeDocument/2006/relationships/image" Target="../media/image58.png"/><Relationship Id="rId24" Type="http://schemas.openxmlformats.org/officeDocument/2006/relationships/image" Target="../media/image59.png"/><Relationship Id="rId25" Type="http://schemas.openxmlformats.org/officeDocument/2006/relationships/image" Target="../media/image60.png"/><Relationship Id="rId26" Type="http://schemas.openxmlformats.org/officeDocument/2006/relationships/image" Target="../media/image61.png"/><Relationship Id="rId27" Type="http://schemas.openxmlformats.org/officeDocument/2006/relationships/image" Target="../media/image62.png"/><Relationship Id="rId28" Type="http://schemas.openxmlformats.org/officeDocument/2006/relationships/image" Target="../media/image6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 Id="rId3" Type="http://schemas.openxmlformats.org/officeDocument/2006/relationships/image" Target="../media/image65.png"/><Relationship Id="rId4" Type="http://schemas.openxmlformats.org/officeDocument/2006/relationships/image" Target="../media/image66.png"/><Relationship Id="rId5" Type="http://schemas.openxmlformats.org/officeDocument/2006/relationships/image" Target="../media/image67.png"/><Relationship Id="rId6" Type="http://schemas.openxmlformats.org/officeDocument/2006/relationships/image" Target="../media/image68.png"/><Relationship Id="rId7" Type="http://schemas.openxmlformats.org/officeDocument/2006/relationships/image" Target="../media/image69.png"/><Relationship Id="rId8" Type="http://schemas.openxmlformats.org/officeDocument/2006/relationships/image" Target="../media/image70.png"/><Relationship Id="rId9" Type="http://schemas.openxmlformats.org/officeDocument/2006/relationships/image" Target="../media/image71.png"/><Relationship Id="rId10" Type="http://schemas.openxmlformats.org/officeDocument/2006/relationships/image" Target="../media/image72.png"/><Relationship Id="rId11" Type="http://schemas.openxmlformats.org/officeDocument/2006/relationships/image" Target="../media/image73.png"/><Relationship Id="rId12" Type="http://schemas.openxmlformats.org/officeDocument/2006/relationships/image" Target="../media/image74.png"/><Relationship Id="rId13" Type="http://schemas.openxmlformats.org/officeDocument/2006/relationships/image" Target="../media/image75.png"/><Relationship Id="rId14" Type="http://schemas.openxmlformats.org/officeDocument/2006/relationships/image" Target="../media/image76.png"/><Relationship Id="rId15" Type="http://schemas.openxmlformats.org/officeDocument/2006/relationships/image" Target="../media/image77.png"/><Relationship Id="rId16" Type="http://schemas.openxmlformats.org/officeDocument/2006/relationships/image" Target="../media/image7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png"/><Relationship Id="rId3" Type="http://schemas.openxmlformats.org/officeDocument/2006/relationships/image" Target="../media/image80.png"/><Relationship Id="rId4" Type="http://schemas.openxmlformats.org/officeDocument/2006/relationships/image" Target="../media/image81.png"/><Relationship Id="rId5" Type="http://schemas.openxmlformats.org/officeDocument/2006/relationships/image" Target="../media/image82.png"/><Relationship Id="rId6" Type="http://schemas.openxmlformats.org/officeDocument/2006/relationships/image" Target="../media/image83.png"/><Relationship Id="rId7" Type="http://schemas.openxmlformats.org/officeDocument/2006/relationships/image" Target="../media/image84.png"/><Relationship Id="rId8" Type="http://schemas.openxmlformats.org/officeDocument/2006/relationships/image" Target="../media/image85.png"/><Relationship Id="rId9" Type="http://schemas.openxmlformats.org/officeDocument/2006/relationships/image" Target="../media/image8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7.png"/><Relationship Id="rId3" Type="http://schemas.openxmlformats.org/officeDocument/2006/relationships/image" Target="../media/image88.png"/><Relationship Id="rId4" Type="http://schemas.openxmlformats.org/officeDocument/2006/relationships/image" Target="../media/image89.png"/><Relationship Id="rId5" Type="http://schemas.openxmlformats.org/officeDocument/2006/relationships/image" Target="../media/image90.png"/><Relationship Id="rId6" Type="http://schemas.openxmlformats.org/officeDocument/2006/relationships/image" Target="../media/image91.png"/><Relationship Id="rId7" Type="http://schemas.openxmlformats.org/officeDocument/2006/relationships/image" Target="../media/image92.png"/><Relationship Id="rId8" Type="http://schemas.openxmlformats.org/officeDocument/2006/relationships/image" Target="../media/image93.png"/><Relationship Id="rId9" Type="http://schemas.openxmlformats.org/officeDocument/2006/relationships/image" Target="../media/image94.png"/><Relationship Id="rId10" Type="http://schemas.openxmlformats.org/officeDocument/2006/relationships/image" Target="../media/image95.png"/><Relationship Id="rId11" Type="http://schemas.openxmlformats.org/officeDocument/2006/relationships/image" Target="../media/image96.png"/><Relationship Id="rId12" Type="http://schemas.openxmlformats.org/officeDocument/2006/relationships/image" Target="../media/image97.png"/><Relationship Id="rId13" Type="http://schemas.openxmlformats.org/officeDocument/2006/relationships/image" Target="../media/image9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0.png"/><Relationship Id="rId3" Type="http://schemas.openxmlformats.org/officeDocument/2006/relationships/image" Target="../media/image101.png"/><Relationship Id="rId4" Type="http://schemas.openxmlformats.org/officeDocument/2006/relationships/image" Target="../media/image102.png"/><Relationship Id="rId5" Type="http://schemas.openxmlformats.org/officeDocument/2006/relationships/image" Target="../media/image103.png"/><Relationship Id="rId6" Type="http://schemas.openxmlformats.org/officeDocument/2006/relationships/image" Target="../media/image104.png"/><Relationship Id="rId7" Type="http://schemas.openxmlformats.org/officeDocument/2006/relationships/image" Target="../media/image105.png"/><Relationship Id="rId8" Type="http://schemas.openxmlformats.org/officeDocument/2006/relationships/image" Target="../media/image106.png"/><Relationship Id="rId9" Type="http://schemas.openxmlformats.org/officeDocument/2006/relationships/image" Target="../media/image107.png"/><Relationship Id="rId10" Type="http://schemas.openxmlformats.org/officeDocument/2006/relationships/image" Target="../media/image108.png"/><Relationship Id="rId11" Type="http://schemas.openxmlformats.org/officeDocument/2006/relationships/image" Target="../media/image109.png"/><Relationship Id="rId12" Type="http://schemas.openxmlformats.org/officeDocument/2006/relationships/image" Target="../media/image110.png"/><Relationship Id="rId13" Type="http://schemas.openxmlformats.org/officeDocument/2006/relationships/image" Target="../media/image111.png"/><Relationship Id="rId14" Type="http://schemas.openxmlformats.org/officeDocument/2006/relationships/image" Target="../media/image1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3.png"/><Relationship Id="rId3" Type="http://schemas.openxmlformats.org/officeDocument/2006/relationships/image" Target="../media/image114.png"/><Relationship Id="rId4" Type="http://schemas.openxmlformats.org/officeDocument/2006/relationships/image" Target="../media/image115.png"/><Relationship Id="rId5" Type="http://schemas.openxmlformats.org/officeDocument/2006/relationships/image" Target="../media/image116.png"/><Relationship Id="rId6" Type="http://schemas.openxmlformats.org/officeDocument/2006/relationships/image" Target="../media/image117.png"/><Relationship Id="rId7" Type="http://schemas.openxmlformats.org/officeDocument/2006/relationships/image" Target="../media/image118.png"/><Relationship Id="rId8" Type="http://schemas.openxmlformats.org/officeDocument/2006/relationships/image" Target="../media/image119.png"/><Relationship Id="rId9" Type="http://schemas.openxmlformats.org/officeDocument/2006/relationships/image" Target="../media/image120.png"/><Relationship Id="rId10" Type="http://schemas.openxmlformats.org/officeDocument/2006/relationships/image" Target="../media/image121.png"/><Relationship Id="rId11" Type="http://schemas.openxmlformats.org/officeDocument/2006/relationships/image" Target="../media/image122.png"/><Relationship Id="rId12" Type="http://schemas.openxmlformats.org/officeDocument/2006/relationships/image" Target="../media/image123.png"/><Relationship Id="rId13" Type="http://schemas.openxmlformats.org/officeDocument/2006/relationships/image" Target="../media/image124.png"/><Relationship Id="rId14" Type="http://schemas.openxmlformats.org/officeDocument/2006/relationships/image" Target="../media/image125.png"/><Relationship Id="rId15" Type="http://schemas.openxmlformats.org/officeDocument/2006/relationships/image" Target="../media/image126.png"/><Relationship Id="rId16" Type="http://schemas.openxmlformats.org/officeDocument/2006/relationships/image" Target="../media/image12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8.png"/><Relationship Id="rId3" Type="http://schemas.openxmlformats.org/officeDocument/2006/relationships/image" Target="../media/image12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0.png"/><Relationship Id="rId3" Type="http://schemas.openxmlformats.org/officeDocument/2006/relationships/image" Target="../media/image131.png"/><Relationship Id="rId4" Type="http://schemas.openxmlformats.org/officeDocument/2006/relationships/image" Target="../media/image132.png"/><Relationship Id="rId5" Type="http://schemas.openxmlformats.org/officeDocument/2006/relationships/image" Target="../media/image133.png"/><Relationship Id="rId6" Type="http://schemas.openxmlformats.org/officeDocument/2006/relationships/image" Target="../media/image134.png"/><Relationship Id="rId7" Type="http://schemas.openxmlformats.org/officeDocument/2006/relationships/image" Target="../media/image135.png"/><Relationship Id="rId8" Type="http://schemas.openxmlformats.org/officeDocument/2006/relationships/image" Target="../media/image136.png"/><Relationship Id="rId9" Type="http://schemas.openxmlformats.org/officeDocument/2006/relationships/image" Target="../media/image137.png"/><Relationship Id="rId10" Type="http://schemas.openxmlformats.org/officeDocument/2006/relationships/image" Target="../media/image138.png"/><Relationship Id="rId11" Type="http://schemas.openxmlformats.org/officeDocument/2006/relationships/image" Target="../media/image139.png"/><Relationship Id="rId12" Type="http://schemas.openxmlformats.org/officeDocument/2006/relationships/image" Target="../media/image140.png"/><Relationship Id="rId13" Type="http://schemas.openxmlformats.org/officeDocument/2006/relationships/image" Target="../media/image141.png"/><Relationship Id="rId14" Type="http://schemas.openxmlformats.org/officeDocument/2006/relationships/image" Target="../media/image142.png"/><Relationship Id="rId15" Type="http://schemas.openxmlformats.org/officeDocument/2006/relationships/image" Target="../media/image143.png"/><Relationship Id="rId16" Type="http://schemas.openxmlformats.org/officeDocument/2006/relationships/image" Target="../media/image144.png"/><Relationship Id="rId17" Type="http://schemas.openxmlformats.org/officeDocument/2006/relationships/image" Target="../media/image145.png"/><Relationship Id="rId18" Type="http://schemas.openxmlformats.org/officeDocument/2006/relationships/image" Target="../media/image146.png"/><Relationship Id="rId19" Type="http://schemas.openxmlformats.org/officeDocument/2006/relationships/image" Target="../media/image147.png"/><Relationship Id="rId20" Type="http://schemas.openxmlformats.org/officeDocument/2006/relationships/image" Target="../media/image148.png"/><Relationship Id="rId21" Type="http://schemas.openxmlformats.org/officeDocument/2006/relationships/image" Target="../media/image149.png"/><Relationship Id="rId22" Type="http://schemas.openxmlformats.org/officeDocument/2006/relationships/image" Target="../media/image15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1.png"/><Relationship Id="rId3" Type="http://schemas.openxmlformats.org/officeDocument/2006/relationships/image" Target="../media/image152.png"/><Relationship Id="rId4" Type="http://schemas.openxmlformats.org/officeDocument/2006/relationships/image" Target="../media/image153.png"/><Relationship Id="rId5" Type="http://schemas.openxmlformats.org/officeDocument/2006/relationships/image" Target="../media/image154.png"/><Relationship Id="rId6" Type="http://schemas.openxmlformats.org/officeDocument/2006/relationships/image" Target="../media/image155.png"/><Relationship Id="rId7" Type="http://schemas.openxmlformats.org/officeDocument/2006/relationships/image" Target="../media/image156.png"/><Relationship Id="rId8" Type="http://schemas.openxmlformats.org/officeDocument/2006/relationships/image" Target="../media/image157.png"/><Relationship Id="rId9" Type="http://schemas.openxmlformats.org/officeDocument/2006/relationships/image" Target="../media/image158.png"/><Relationship Id="rId10" Type="http://schemas.openxmlformats.org/officeDocument/2006/relationships/image" Target="../media/image15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0.png"/><Relationship Id="rId3" Type="http://schemas.openxmlformats.org/officeDocument/2006/relationships/image" Target="../media/image161.png"/><Relationship Id="rId4" Type="http://schemas.openxmlformats.org/officeDocument/2006/relationships/image" Target="../media/image162.png"/><Relationship Id="rId5" Type="http://schemas.openxmlformats.org/officeDocument/2006/relationships/image" Target="../media/image16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4.png"/><Relationship Id="rId3" Type="http://schemas.openxmlformats.org/officeDocument/2006/relationships/image" Target="../media/image165.png"/><Relationship Id="rId4" Type="http://schemas.openxmlformats.org/officeDocument/2006/relationships/image" Target="../media/image166.png"/><Relationship Id="rId5" Type="http://schemas.openxmlformats.org/officeDocument/2006/relationships/image" Target="../media/image167.png"/><Relationship Id="rId6" Type="http://schemas.openxmlformats.org/officeDocument/2006/relationships/image" Target="../media/image16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9.png"/><Relationship Id="rId3" Type="http://schemas.openxmlformats.org/officeDocument/2006/relationships/image" Target="../media/image17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1.png"/><Relationship Id="rId3" Type="http://schemas.openxmlformats.org/officeDocument/2006/relationships/image" Target="../media/image172.png"/><Relationship Id="rId4" Type="http://schemas.openxmlformats.org/officeDocument/2006/relationships/image" Target="../media/image173.png"/><Relationship Id="rId5" Type="http://schemas.openxmlformats.org/officeDocument/2006/relationships/image" Target="../media/image174.png"/><Relationship Id="rId6" Type="http://schemas.openxmlformats.org/officeDocument/2006/relationships/image" Target="../media/image175.png"/><Relationship Id="rId7" Type="http://schemas.openxmlformats.org/officeDocument/2006/relationships/image" Target="../media/image176.png"/><Relationship Id="rId8" Type="http://schemas.openxmlformats.org/officeDocument/2006/relationships/image" Target="../media/image177.png"/><Relationship Id="rId9" Type="http://schemas.openxmlformats.org/officeDocument/2006/relationships/image" Target="../media/image178.png"/><Relationship Id="rId10" Type="http://schemas.openxmlformats.org/officeDocument/2006/relationships/image" Target="../media/image179.png"/><Relationship Id="rId11" Type="http://schemas.openxmlformats.org/officeDocument/2006/relationships/image" Target="../media/image180.png"/><Relationship Id="rId12" Type="http://schemas.openxmlformats.org/officeDocument/2006/relationships/image" Target="../media/image181.png"/><Relationship Id="rId13" Type="http://schemas.openxmlformats.org/officeDocument/2006/relationships/image" Target="../media/image182.png"/><Relationship Id="rId14" Type="http://schemas.openxmlformats.org/officeDocument/2006/relationships/image" Target="../media/image183.png"/><Relationship Id="rId15" Type="http://schemas.openxmlformats.org/officeDocument/2006/relationships/image" Target="../media/image184.png"/><Relationship Id="rId16" Type="http://schemas.openxmlformats.org/officeDocument/2006/relationships/image" Target="../media/image185.png"/><Relationship Id="rId17" Type="http://schemas.openxmlformats.org/officeDocument/2006/relationships/image" Target="../media/image186.png"/><Relationship Id="rId18" Type="http://schemas.openxmlformats.org/officeDocument/2006/relationships/image" Target="../media/image187.png"/><Relationship Id="rId19" Type="http://schemas.openxmlformats.org/officeDocument/2006/relationships/image" Target="../media/image188.png"/><Relationship Id="rId20" Type="http://schemas.openxmlformats.org/officeDocument/2006/relationships/image" Target="../media/image18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0.png"/><Relationship Id="rId3" Type="http://schemas.openxmlformats.org/officeDocument/2006/relationships/image" Target="../media/image191.png"/><Relationship Id="rId4" Type="http://schemas.openxmlformats.org/officeDocument/2006/relationships/image" Target="../media/image192.png"/><Relationship Id="rId5" Type="http://schemas.openxmlformats.org/officeDocument/2006/relationships/image" Target="../media/image193.png"/><Relationship Id="rId6" Type="http://schemas.openxmlformats.org/officeDocument/2006/relationships/image" Target="../media/image19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5.png"/><Relationship Id="rId3" Type="http://schemas.openxmlformats.org/officeDocument/2006/relationships/image" Target="../media/image196.png"/><Relationship Id="rId4" Type="http://schemas.openxmlformats.org/officeDocument/2006/relationships/image" Target="../media/image197.png"/><Relationship Id="rId5" Type="http://schemas.openxmlformats.org/officeDocument/2006/relationships/image" Target="../media/image198.png"/><Relationship Id="rId6" Type="http://schemas.openxmlformats.org/officeDocument/2006/relationships/image" Target="../media/image199.png"/><Relationship Id="rId7" Type="http://schemas.openxmlformats.org/officeDocument/2006/relationships/image" Target="../media/image200.png"/><Relationship Id="rId8" Type="http://schemas.openxmlformats.org/officeDocument/2006/relationships/image" Target="../media/image20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image" Target="../media/image216.png"/><Relationship Id="rId17" Type="http://schemas.openxmlformats.org/officeDocument/2006/relationships/image" Target="../media/image217.png"/><Relationship Id="rId18" Type="http://schemas.openxmlformats.org/officeDocument/2006/relationships/image" Target="../media/image218.png"/><Relationship Id="rId19" Type="http://schemas.openxmlformats.org/officeDocument/2006/relationships/image" Target="../media/image2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0.png"/><Relationship Id="rId3" Type="http://schemas.openxmlformats.org/officeDocument/2006/relationships/image" Target="../media/image221.png"/><Relationship Id="rId4" Type="http://schemas.openxmlformats.org/officeDocument/2006/relationships/image" Target="../media/image222.png"/><Relationship Id="rId5" Type="http://schemas.openxmlformats.org/officeDocument/2006/relationships/image" Target="../media/image223.png"/><Relationship Id="rId6" Type="http://schemas.openxmlformats.org/officeDocument/2006/relationships/image" Target="../media/image224.png"/><Relationship Id="rId7" Type="http://schemas.openxmlformats.org/officeDocument/2006/relationships/image" Target="../media/image225.png"/><Relationship Id="rId8" Type="http://schemas.openxmlformats.org/officeDocument/2006/relationships/image" Target="../media/image226.png"/><Relationship Id="rId9" Type="http://schemas.openxmlformats.org/officeDocument/2006/relationships/image" Target="../media/image227.png"/><Relationship Id="rId10" Type="http://schemas.openxmlformats.org/officeDocument/2006/relationships/image" Target="../media/image228.png"/><Relationship Id="rId11" Type="http://schemas.openxmlformats.org/officeDocument/2006/relationships/image" Target="../media/image22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0.png"/><Relationship Id="rId3" Type="http://schemas.openxmlformats.org/officeDocument/2006/relationships/image" Target="../media/image231.png"/><Relationship Id="rId4" Type="http://schemas.openxmlformats.org/officeDocument/2006/relationships/image" Target="../media/image232.png"/><Relationship Id="rId5" Type="http://schemas.openxmlformats.org/officeDocument/2006/relationships/image" Target="../media/image233.png"/><Relationship Id="rId6" Type="http://schemas.openxmlformats.org/officeDocument/2006/relationships/image" Target="../media/image234.png"/><Relationship Id="rId7" Type="http://schemas.openxmlformats.org/officeDocument/2006/relationships/image" Target="../media/image235.png"/><Relationship Id="rId8" Type="http://schemas.openxmlformats.org/officeDocument/2006/relationships/image" Target="../media/image236.png"/><Relationship Id="rId9" Type="http://schemas.openxmlformats.org/officeDocument/2006/relationships/image" Target="../media/image237.png"/><Relationship Id="rId10" Type="http://schemas.openxmlformats.org/officeDocument/2006/relationships/image" Target="../media/image238.png"/><Relationship Id="rId11" Type="http://schemas.openxmlformats.org/officeDocument/2006/relationships/image" Target="../media/image239.png"/><Relationship Id="rId12" Type="http://schemas.openxmlformats.org/officeDocument/2006/relationships/image" Target="../media/image240.png"/><Relationship Id="rId13" Type="http://schemas.openxmlformats.org/officeDocument/2006/relationships/image" Target="../media/image241.png"/><Relationship Id="rId14" Type="http://schemas.openxmlformats.org/officeDocument/2006/relationships/image" Target="../media/image242.png"/><Relationship Id="rId15" Type="http://schemas.openxmlformats.org/officeDocument/2006/relationships/image" Target="../media/image243.png"/><Relationship Id="rId16" Type="http://schemas.openxmlformats.org/officeDocument/2006/relationships/image" Target="../media/image244.png"/><Relationship Id="rId17" Type="http://schemas.openxmlformats.org/officeDocument/2006/relationships/image" Target="../media/image245.png"/><Relationship Id="rId18" Type="http://schemas.openxmlformats.org/officeDocument/2006/relationships/image" Target="../media/image246.png"/><Relationship Id="rId19" Type="http://schemas.openxmlformats.org/officeDocument/2006/relationships/image" Target="../media/image247.png"/><Relationship Id="rId20" Type="http://schemas.openxmlformats.org/officeDocument/2006/relationships/image" Target="../media/image248.png"/><Relationship Id="rId21" Type="http://schemas.openxmlformats.org/officeDocument/2006/relationships/image" Target="../media/image249.png"/><Relationship Id="rId22" Type="http://schemas.openxmlformats.org/officeDocument/2006/relationships/image" Target="../media/image25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1.png"/><Relationship Id="rId3" Type="http://schemas.openxmlformats.org/officeDocument/2006/relationships/image" Target="../media/image252.png"/><Relationship Id="rId4" Type="http://schemas.openxmlformats.org/officeDocument/2006/relationships/image" Target="../media/image253.png"/><Relationship Id="rId5" Type="http://schemas.openxmlformats.org/officeDocument/2006/relationships/image" Target="../media/image254.png"/><Relationship Id="rId6" Type="http://schemas.openxmlformats.org/officeDocument/2006/relationships/image" Target="../media/image255.png"/><Relationship Id="rId7" Type="http://schemas.openxmlformats.org/officeDocument/2006/relationships/image" Target="../media/image256.png"/><Relationship Id="rId8" Type="http://schemas.openxmlformats.org/officeDocument/2006/relationships/image" Target="../media/image25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8.png"/><Relationship Id="rId3" Type="http://schemas.openxmlformats.org/officeDocument/2006/relationships/image" Target="../media/image259.png"/><Relationship Id="rId4" Type="http://schemas.openxmlformats.org/officeDocument/2006/relationships/image" Target="../media/image260.png"/><Relationship Id="rId5" Type="http://schemas.openxmlformats.org/officeDocument/2006/relationships/image" Target="../media/image261.png"/><Relationship Id="rId6" Type="http://schemas.openxmlformats.org/officeDocument/2006/relationships/image" Target="../media/image262.png"/><Relationship Id="rId7" Type="http://schemas.openxmlformats.org/officeDocument/2006/relationships/image" Target="../media/image263.png"/><Relationship Id="rId8" Type="http://schemas.openxmlformats.org/officeDocument/2006/relationships/image" Target="../media/image264.png"/><Relationship Id="rId9" Type="http://schemas.openxmlformats.org/officeDocument/2006/relationships/image" Target="../media/image265.png"/><Relationship Id="rId10" Type="http://schemas.openxmlformats.org/officeDocument/2006/relationships/image" Target="../media/image266.png"/><Relationship Id="rId11" Type="http://schemas.openxmlformats.org/officeDocument/2006/relationships/image" Target="../media/image267.png"/><Relationship Id="rId12" Type="http://schemas.openxmlformats.org/officeDocument/2006/relationships/image" Target="../media/image268.png"/><Relationship Id="rId13" Type="http://schemas.openxmlformats.org/officeDocument/2006/relationships/image" Target="../media/image269.png"/><Relationship Id="rId14" Type="http://schemas.openxmlformats.org/officeDocument/2006/relationships/image" Target="../media/image270.png"/><Relationship Id="rId15" Type="http://schemas.openxmlformats.org/officeDocument/2006/relationships/image" Target="../media/image271.png"/><Relationship Id="rId16" Type="http://schemas.openxmlformats.org/officeDocument/2006/relationships/image" Target="../media/image27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3.png"/><Relationship Id="rId3" Type="http://schemas.openxmlformats.org/officeDocument/2006/relationships/image" Target="../media/image27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5.png"/><Relationship Id="rId3" Type="http://schemas.openxmlformats.org/officeDocument/2006/relationships/image" Target="../media/image276.png"/><Relationship Id="rId4" Type="http://schemas.openxmlformats.org/officeDocument/2006/relationships/image" Target="../media/image277.png"/><Relationship Id="rId5" Type="http://schemas.openxmlformats.org/officeDocument/2006/relationships/image" Target="../media/image278.png"/><Relationship Id="rId6" Type="http://schemas.openxmlformats.org/officeDocument/2006/relationships/image" Target="../media/image279.png"/><Relationship Id="rId7" Type="http://schemas.openxmlformats.org/officeDocument/2006/relationships/image" Target="../media/image280.png"/><Relationship Id="rId8" Type="http://schemas.openxmlformats.org/officeDocument/2006/relationships/image" Target="../media/image281.png"/><Relationship Id="rId9" Type="http://schemas.openxmlformats.org/officeDocument/2006/relationships/image" Target="../media/image282.png"/><Relationship Id="rId10" Type="http://schemas.openxmlformats.org/officeDocument/2006/relationships/image" Target="../media/image283.png"/><Relationship Id="rId11" Type="http://schemas.openxmlformats.org/officeDocument/2006/relationships/image" Target="../media/image284.png"/><Relationship Id="rId12" Type="http://schemas.openxmlformats.org/officeDocument/2006/relationships/image" Target="../media/image285.png"/><Relationship Id="rId13" Type="http://schemas.openxmlformats.org/officeDocument/2006/relationships/image" Target="../media/image286.png"/><Relationship Id="rId14" Type="http://schemas.openxmlformats.org/officeDocument/2006/relationships/image" Target="../media/image287.png"/><Relationship Id="rId15" Type="http://schemas.openxmlformats.org/officeDocument/2006/relationships/image" Target="../media/image288.png"/><Relationship Id="rId16" Type="http://schemas.openxmlformats.org/officeDocument/2006/relationships/image" Target="../media/image289.png"/><Relationship Id="rId17" Type="http://schemas.openxmlformats.org/officeDocument/2006/relationships/image" Target="../media/image290.png"/><Relationship Id="rId18" Type="http://schemas.openxmlformats.org/officeDocument/2006/relationships/image" Target="../media/image291.png"/><Relationship Id="rId19" Type="http://schemas.openxmlformats.org/officeDocument/2006/relationships/image" Target="../media/image29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3.png"/><Relationship Id="rId3" Type="http://schemas.openxmlformats.org/officeDocument/2006/relationships/image" Target="../media/image294.png"/><Relationship Id="rId4" Type="http://schemas.openxmlformats.org/officeDocument/2006/relationships/image" Target="../media/image295.png"/><Relationship Id="rId5" Type="http://schemas.openxmlformats.org/officeDocument/2006/relationships/image" Target="../media/image296.png"/><Relationship Id="rId6" Type="http://schemas.openxmlformats.org/officeDocument/2006/relationships/image" Target="../media/image297.png"/><Relationship Id="rId7" Type="http://schemas.openxmlformats.org/officeDocument/2006/relationships/image" Target="../media/image298.png"/><Relationship Id="rId8" Type="http://schemas.openxmlformats.org/officeDocument/2006/relationships/image" Target="../media/image299.png"/><Relationship Id="rId9" Type="http://schemas.openxmlformats.org/officeDocument/2006/relationships/image" Target="../media/image300.png"/><Relationship Id="rId10" Type="http://schemas.openxmlformats.org/officeDocument/2006/relationships/image" Target="../media/image30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image" Target="../media/image308.png"/><Relationship Id="rId9" Type="http://schemas.openxmlformats.org/officeDocument/2006/relationships/image" Target="../media/image30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image" Target="../media/image316.png"/><Relationship Id="rId17" Type="http://schemas.openxmlformats.org/officeDocument/2006/relationships/image" Target="../media/image317.png"/><Relationship Id="rId18" Type="http://schemas.openxmlformats.org/officeDocument/2006/relationships/image" Target="../media/image318.png"/><Relationship Id="rId19" Type="http://schemas.openxmlformats.org/officeDocument/2006/relationships/image" Target="../media/image319.png"/><Relationship Id="rId20" Type="http://schemas.openxmlformats.org/officeDocument/2006/relationships/image" Target="../media/image320.png"/><Relationship Id="rId21" Type="http://schemas.openxmlformats.org/officeDocument/2006/relationships/image" Target="../media/image321.png"/><Relationship Id="rId22" Type="http://schemas.openxmlformats.org/officeDocument/2006/relationships/image" Target="../media/image322.png"/><Relationship Id="rId23" Type="http://schemas.openxmlformats.org/officeDocument/2006/relationships/image" Target="../media/image323.png"/><Relationship Id="rId24" Type="http://schemas.openxmlformats.org/officeDocument/2006/relationships/image" Target="../media/image324.png"/><Relationship Id="rId25" Type="http://schemas.openxmlformats.org/officeDocument/2006/relationships/image" Target="../media/image325.png"/><Relationship Id="rId26" Type="http://schemas.openxmlformats.org/officeDocument/2006/relationships/image" Target="../media/image32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7.png"/><Relationship Id="rId3" Type="http://schemas.openxmlformats.org/officeDocument/2006/relationships/image" Target="../media/image328.png"/><Relationship Id="rId4" Type="http://schemas.openxmlformats.org/officeDocument/2006/relationships/image" Target="../media/image329.png"/><Relationship Id="rId5" Type="http://schemas.openxmlformats.org/officeDocument/2006/relationships/image" Target="../media/image330.png"/><Relationship Id="rId6" Type="http://schemas.openxmlformats.org/officeDocument/2006/relationships/image" Target="../media/image331.png"/><Relationship Id="rId7" Type="http://schemas.openxmlformats.org/officeDocument/2006/relationships/image" Target="../media/image316.png"/><Relationship Id="rId8" Type="http://schemas.openxmlformats.org/officeDocument/2006/relationships/image" Target="../media/image332.png"/><Relationship Id="rId9" Type="http://schemas.openxmlformats.org/officeDocument/2006/relationships/image" Target="../media/image333.png"/><Relationship Id="rId10" Type="http://schemas.openxmlformats.org/officeDocument/2006/relationships/image" Target="../media/image334.png"/><Relationship Id="rId11" Type="http://schemas.openxmlformats.org/officeDocument/2006/relationships/image" Target="../media/image335.png"/><Relationship Id="rId12" Type="http://schemas.openxmlformats.org/officeDocument/2006/relationships/image" Target="../media/image33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7.png"/><Relationship Id="rId3" Type="http://schemas.openxmlformats.org/officeDocument/2006/relationships/image" Target="../media/image338.png"/><Relationship Id="rId4" Type="http://schemas.openxmlformats.org/officeDocument/2006/relationships/image" Target="../media/image33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0.png"/><Relationship Id="rId3" Type="http://schemas.openxmlformats.org/officeDocument/2006/relationships/image" Target="../media/image341.png"/><Relationship Id="rId4" Type="http://schemas.openxmlformats.org/officeDocument/2006/relationships/image" Target="../media/image342.png"/><Relationship Id="rId5" Type="http://schemas.openxmlformats.org/officeDocument/2006/relationships/image" Target="../media/image343.png"/><Relationship Id="rId6" Type="http://schemas.openxmlformats.org/officeDocument/2006/relationships/image" Target="../media/image344.png"/><Relationship Id="rId7" Type="http://schemas.openxmlformats.org/officeDocument/2006/relationships/image" Target="../media/image345.png"/><Relationship Id="rId8" Type="http://schemas.openxmlformats.org/officeDocument/2006/relationships/image" Target="../media/image346.png"/><Relationship Id="rId9" Type="http://schemas.openxmlformats.org/officeDocument/2006/relationships/image" Target="../media/image347.png"/><Relationship Id="rId10" Type="http://schemas.openxmlformats.org/officeDocument/2006/relationships/image" Target="../media/image34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9.png"/><Relationship Id="rId3" Type="http://schemas.openxmlformats.org/officeDocument/2006/relationships/image" Target="../media/image350.png"/><Relationship Id="rId4" Type="http://schemas.openxmlformats.org/officeDocument/2006/relationships/image" Target="../media/image35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image" Target="../media/image35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7.png"/><Relationship Id="rId3" Type="http://schemas.openxmlformats.org/officeDocument/2006/relationships/image" Target="../media/image358.png"/><Relationship Id="rId4" Type="http://schemas.openxmlformats.org/officeDocument/2006/relationships/image" Target="../media/image359.png"/><Relationship Id="rId5" Type="http://schemas.openxmlformats.org/officeDocument/2006/relationships/image" Target="../media/image360.png"/><Relationship Id="rId6" Type="http://schemas.openxmlformats.org/officeDocument/2006/relationships/image" Target="../media/image361.png"/><Relationship Id="rId7" Type="http://schemas.openxmlformats.org/officeDocument/2006/relationships/image" Target="../media/image362.png"/><Relationship Id="rId8" Type="http://schemas.openxmlformats.org/officeDocument/2006/relationships/image" Target="../media/image363.png"/><Relationship Id="rId9" Type="http://schemas.openxmlformats.org/officeDocument/2006/relationships/image" Target="../media/image364.png"/><Relationship Id="rId10" Type="http://schemas.openxmlformats.org/officeDocument/2006/relationships/image" Target="../media/image365.png"/><Relationship Id="rId11" Type="http://schemas.openxmlformats.org/officeDocument/2006/relationships/image" Target="../media/image366.png"/><Relationship Id="rId12" Type="http://schemas.openxmlformats.org/officeDocument/2006/relationships/image" Target="../media/image367.png"/><Relationship Id="rId13" Type="http://schemas.openxmlformats.org/officeDocument/2006/relationships/image" Target="../media/image368.png"/><Relationship Id="rId14" Type="http://schemas.openxmlformats.org/officeDocument/2006/relationships/image" Target="../media/image369.png"/><Relationship Id="rId15" Type="http://schemas.openxmlformats.org/officeDocument/2006/relationships/image" Target="../media/image370.png"/><Relationship Id="rId16" Type="http://schemas.openxmlformats.org/officeDocument/2006/relationships/image" Target="../media/image371.png"/><Relationship Id="rId17" Type="http://schemas.openxmlformats.org/officeDocument/2006/relationships/image" Target="../media/image372.png"/><Relationship Id="rId18" Type="http://schemas.openxmlformats.org/officeDocument/2006/relationships/image" Target="../media/image373.png"/><Relationship Id="rId19" Type="http://schemas.openxmlformats.org/officeDocument/2006/relationships/image" Target="../media/image374.png"/><Relationship Id="rId20" Type="http://schemas.openxmlformats.org/officeDocument/2006/relationships/image" Target="../media/image375.png"/><Relationship Id="rId21" Type="http://schemas.openxmlformats.org/officeDocument/2006/relationships/image" Target="../media/image376.png"/><Relationship Id="rId22" Type="http://schemas.openxmlformats.org/officeDocument/2006/relationships/image" Target="../media/image377.png"/><Relationship Id="rId23" Type="http://schemas.openxmlformats.org/officeDocument/2006/relationships/image" Target="../media/image378.png"/><Relationship Id="rId24" Type="http://schemas.openxmlformats.org/officeDocument/2006/relationships/image" Target="../media/image379.png"/><Relationship Id="rId25" Type="http://schemas.openxmlformats.org/officeDocument/2006/relationships/image" Target="../media/image380.png"/><Relationship Id="rId26" Type="http://schemas.openxmlformats.org/officeDocument/2006/relationships/image" Target="../media/image381.png"/><Relationship Id="rId27" Type="http://schemas.openxmlformats.org/officeDocument/2006/relationships/image" Target="../media/image382.png"/><Relationship Id="rId28" Type="http://schemas.openxmlformats.org/officeDocument/2006/relationships/image" Target="../media/image383.png"/><Relationship Id="rId29" Type="http://schemas.openxmlformats.org/officeDocument/2006/relationships/image" Target="../media/image384.png"/><Relationship Id="rId30" Type="http://schemas.openxmlformats.org/officeDocument/2006/relationships/image" Target="../media/image385.png"/><Relationship Id="rId31" Type="http://schemas.openxmlformats.org/officeDocument/2006/relationships/image" Target="../media/image386.png"/><Relationship Id="rId32" Type="http://schemas.openxmlformats.org/officeDocument/2006/relationships/image" Target="../media/image38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8.png"/><Relationship Id="rId3" Type="http://schemas.openxmlformats.org/officeDocument/2006/relationships/image" Target="../media/image389.png"/><Relationship Id="rId4" Type="http://schemas.openxmlformats.org/officeDocument/2006/relationships/image" Target="../media/image390.png"/><Relationship Id="rId5" Type="http://schemas.openxmlformats.org/officeDocument/2006/relationships/image" Target="../media/image391.png"/><Relationship Id="rId6" Type="http://schemas.openxmlformats.org/officeDocument/2006/relationships/image" Target="../media/image392.png"/><Relationship Id="rId7" Type="http://schemas.openxmlformats.org/officeDocument/2006/relationships/image" Target="../media/image393.png"/><Relationship Id="rId8" Type="http://schemas.openxmlformats.org/officeDocument/2006/relationships/image" Target="../media/image394.png"/><Relationship Id="rId9" Type="http://schemas.openxmlformats.org/officeDocument/2006/relationships/image" Target="../media/image395.png"/><Relationship Id="rId10" Type="http://schemas.openxmlformats.org/officeDocument/2006/relationships/image" Target="../media/image396.png"/><Relationship Id="rId11" Type="http://schemas.openxmlformats.org/officeDocument/2006/relationships/image" Target="../media/image397.png"/><Relationship Id="rId12" Type="http://schemas.openxmlformats.org/officeDocument/2006/relationships/image" Target="../media/image398.png"/><Relationship Id="rId13" Type="http://schemas.openxmlformats.org/officeDocument/2006/relationships/image" Target="../media/image399.png"/><Relationship Id="rId14" Type="http://schemas.openxmlformats.org/officeDocument/2006/relationships/image" Target="../media/image400.png"/><Relationship Id="rId15" Type="http://schemas.openxmlformats.org/officeDocument/2006/relationships/image" Target="../media/image401.png"/><Relationship Id="rId16" Type="http://schemas.openxmlformats.org/officeDocument/2006/relationships/image" Target="../media/image402.png"/><Relationship Id="rId17" Type="http://schemas.openxmlformats.org/officeDocument/2006/relationships/image" Target="../media/image403.png"/><Relationship Id="rId18" Type="http://schemas.openxmlformats.org/officeDocument/2006/relationships/image" Target="../media/image404.png"/><Relationship Id="rId19" Type="http://schemas.openxmlformats.org/officeDocument/2006/relationships/image" Target="../media/image405.png"/><Relationship Id="rId20" Type="http://schemas.openxmlformats.org/officeDocument/2006/relationships/image" Target="../media/image406.png"/><Relationship Id="rId21" Type="http://schemas.openxmlformats.org/officeDocument/2006/relationships/image" Target="../media/image407.png"/><Relationship Id="rId22" Type="http://schemas.openxmlformats.org/officeDocument/2006/relationships/image" Target="../media/image408.png"/><Relationship Id="rId23" Type="http://schemas.openxmlformats.org/officeDocument/2006/relationships/image" Target="../media/image409.png"/><Relationship Id="rId24" Type="http://schemas.openxmlformats.org/officeDocument/2006/relationships/image" Target="../media/image41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1.png"/><Relationship Id="rId3" Type="http://schemas.openxmlformats.org/officeDocument/2006/relationships/image" Target="../media/image412.png"/><Relationship Id="rId4" Type="http://schemas.openxmlformats.org/officeDocument/2006/relationships/image" Target="../media/image413.png"/><Relationship Id="rId5" Type="http://schemas.openxmlformats.org/officeDocument/2006/relationships/image" Target="../media/image414.png"/><Relationship Id="rId6" Type="http://schemas.openxmlformats.org/officeDocument/2006/relationships/image" Target="../media/image41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6.png"/><Relationship Id="rId3" Type="http://schemas.openxmlformats.org/officeDocument/2006/relationships/image" Target="../media/image417.png"/><Relationship Id="rId4" Type="http://schemas.openxmlformats.org/officeDocument/2006/relationships/image" Target="../media/image418.png"/><Relationship Id="rId5" Type="http://schemas.openxmlformats.org/officeDocument/2006/relationships/image" Target="../media/image419.png"/><Relationship Id="rId6" Type="http://schemas.openxmlformats.org/officeDocument/2006/relationships/image" Target="../media/image420.png"/><Relationship Id="rId7" Type="http://schemas.openxmlformats.org/officeDocument/2006/relationships/image" Target="../media/image42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image" Target="../media/image427.png"/><Relationship Id="rId8" Type="http://schemas.openxmlformats.org/officeDocument/2006/relationships/image" Target="../media/image42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9.png"/><Relationship Id="rId3" Type="http://schemas.openxmlformats.org/officeDocument/2006/relationships/image" Target="../media/image43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1.png"/><Relationship Id="rId3" Type="http://schemas.openxmlformats.org/officeDocument/2006/relationships/image" Target="../media/image43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3.png"/><Relationship Id="rId3" Type="http://schemas.openxmlformats.org/officeDocument/2006/relationships/image" Target="../media/image434.png"/><Relationship Id="rId4" Type="http://schemas.openxmlformats.org/officeDocument/2006/relationships/image" Target="../media/image435.png"/><Relationship Id="rId5" Type="http://schemas.openxmlformats.org/officeDocument/2006/relationships/image" Target="../media/image436.png"/><Relationship Id="rId6" Type="http://schemas.openxmlformats.org/officeDocument/2006/relationships/image" Target="../media/image437.png"/><Relationship Id="rId7" Type="http://schemas.openxmlformats.org/officeDocument/2006/relationships/image" Target="../media/image438.png"/><Relationship Id="rId8" Type="http://schemas.openxmlformats.org/officeDocument/2006/relationships/image" Target="../media/image39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9.png"/><Relationship Id="rId3" Type="http://schemas.openxmlformats.org/officeDocument/2006/relationships/image" Target="../media/image440.png"/><Relationship Id="rId4" Type="http://schemas.openxmlformats.org/officeDocument/2006/relationships/image" Target="../media/image441.png"/><Relationship Id="rId5" Type="http://schemas.openxmlformats.org/officeDocument/2006/relationships/image" Target="../media/image442.png"/><Relationship Id="rId6" Type="http://schemas.openxmlformats.org/officeDocument/2006/relationships/image" Target="../media/image443.png"/><Relationship Id="rId7" Type="http://schemas.openxmlformats.org/officeDocument/2006/relationships/image" Target="../media/image444.png"/><Relationship Id="rId8" Type="http://schemas.openxmlformats.org/officeDocument/2006/relationships/image" Target="../media/image445.png"/><Relationship Id="rId9" Type="http://schemas.openxmlformats.org/officeDocument/2006/relationships/image" Target="../media/image446.png"/><Relationship Id="rId10" Type="http://schemas.openxmlformats.org/officeDocument/2006/relationships/image" Target="../media/image447.png"/><Relationship Id="rId11" Type="http://schemas.openxmlformats.org/officeDocument/2006/relationships/image" Target="../media/image448.png"/><Relationship Id="rId12" Type="http://schemas.openxmlformats.org/officeDocument/2006/relationships/image" Target="../media/image449.png"/><Relationship Id="rId13" Type="http://schemas.openxmlformats.org/officeDocument/2006/relationships/image" Target="../media/image450.png"/><Relationship Id="rId14" Type="http://schemas.openxmlformats.org/officeDocument/2006/relationships/image" Target="../media/image451.png"/><Relationship Id="rId15" Type="http://schemas.openxmlformats.org/officeDocument/2006/relationships/image" Target="../media/image452.png"/><Relationship Id="rId16" Type="http://schemas.openxmlformats.org/officeDocument/2006/relationships/image" Target="../media/image453.png"/><Relationship Id="rId17" Type="http://schemas.openxmlformats.org/officeDocument/2006/relationships/image" Target="../media/image454.png"/><Relationship Id="rId18" Type="http://schemas.openxmlformats.org/officeDocument/2006/relationships/image" Target="../media/image45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6.png"/><Relationship Id="rId3" Type="http://schemas.openxmlformats.org/officeDocument/2006/relationships/image" Target="../media/image45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8.png"/><Relationship Id="rId3" Type="http://schemas.openxmlformats.org/officeDocument/2006/relationships/image" Target="../media/image459.png"/><Relationship Id="rId4" Type="http://schemas.openxmlformats.org/officeDocument/2006/relationships/image" Target="../media/image460.png"/><Relationship Id="rId5" Type="http://schemas.openxmlformats.org/officeDocument/2006/relationships/image" Target="../media/image461.png"/><Relationship Id="rId6" Type="http://schemas.openxmlformats.org/officeDocument/2006/relationships/image" Target="../media/image462.png"/><Relationship Id="rId7" Type="http://schemas.openxmlformats.org/officeDocument/2006/relationships/image" Target="../media/image463.png"/><Relationship Id="rId8" Type="http://schemas.openxmlformats.org/officeDocument/2006/relationships/image" Target="../media/image464.png"/><Relationship Id="rId9" Type="http://schemas.openxmlformats.org/officeDocument/2006/relationships/image" Target="../media/image465.png"/><Relationship Id="rId10" Type="http://schemas.openxmlformats.org/officeDocument/2006/relationships/image" Target="../media/image466.png"/><Relationship Id="rId11" Type="http://schemas.openxmlformats.org/officeDocument/2006/relationships/image" Target="../media/image467.png"/><Relationship Id="rId12" Type="http://schemas.openxmlformats.org/officeDocument/2006/relationships/image" Target="../media/image468.png"/><Relationship Id="rId13" Type="http://schemas.openxmlformats.org/officeDocument/2006/relationships/image" Target="../media/image469.png"/><Relationship Id="rId14" Type="http://schemas.openxmlformats.org/officeDocument/2006/relationships/image" Target="../media/image470.png"/><Relationship Id="rId15" Type="http://schemas.openxmlformats.org/officeDocument/2006/relationships/image" Target="../media/image471.png"/><Relationship Id="rId16" Type="http://schemas.openxmlformats.org/officeDocument/2006/relationships/image" Target="../media/image472.png"/><Relationship Id="rId17" Type="http://schemas.openxmlformats.org/officeDocument/2006/relationships/image" Target="../media/image473.png"/><Relationship Id="rId18" Type="http://schemas.openxmlformats.org/officeDocument/2006/relationships/image" Target="../media/image474.png"/><Relationship Id="rId19" Type="http://schemas.openxmlformats.org/officeDocument/2006/relationships/image" Target="../media/image475.png"/><Relationship Id="rId20" Type="http://schemas.openxmlformats.org/officeDocument/2006/relationships/image" Target="../media/image476.png"/><Relationship Id="rId21" Type="http://schemas.openxmlformats.org/officeDocument/2006/relationships/image" Target="../media/image477.png"/><Relationship Id="rId22" Type="http://schemas.openxmlformats.org/officeDocument/2006/relationships/image" Target="../media/image47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9.png"/><Relationship Id="rId3" Type="http://schemas.openxmlformats.org/officeDocument/2006/relationships/image" Target="../media/image480.png"/><Relationship Id="rId4" Type="http://schemas.openxmlformats.org/officeDocument/2006/relationships/image" Target="../media/image481.png"/><Relationship Id="rId5" Type="http://schemas.openxmlformats.org/officeDocument/2006/relationships/image" Target="../media/image482.png"/><Relationship Id="rId6" Type="http://schemas.openxmlformats.org/officeDocument/2006/relationships/image" Target="../media/image483.png"/><Relationship Id="rId7" Type="http://schemas.openxmlformats.org/officeDocument/2006/relationships/image" Target="../media/image484.png"/><Relationship Id="rId8" Type="http://schemas.openxmlformats.org/officeDocument/2006/relationships/image" Target="../media/image485.png"/><Relationship Id="rId9" Type="http://schemas.openxmlformats.org/officeDocument/2006/relationships/image" Target="../media/image486.png"/><Relationship Id="rId10" Type="http://schemas.openxmlformats.org/officeDocument/2006/relationships/image" Target="../media/image487.png"/><Relationship Id="rId11" Type="http://schemas.openxmlformats.org/officeDocument/2006/relationships/image" Target="../media/image488.png"/><Relationship Id="rId12" Type="http://schemas.openxmlformats.org/officeDocument/2006/relationships/image" Target="../media/image489.png"/><Relationship Id="rId13" Type="http://schemas.openxmlformats.org/officeDocument/2006/relationships/image" Target="../media/image490.png"/><Relationship Id="rId14" Type="http://schemas.openxmlformats.org/officeDocument/2006/relationships/image" Target="../media/image491.png"/><Relationship Id="rId15" Type="http://schemas.openxmlformats.org/officeDocument/2006/relationships/image" Target="../media/image492.png"/><Relationship Id="rId16" Type="http://schemas.openxmlformats.org/officeDocument/2006/relationships/image" Target="../media/image49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4.png"/><Relationship Id="rId3" Type="http://schemas.openxmlformats.org/officeDocument/2006/relationships/image" Target="../media/image495.png"/><Relationship Id="rId4" Type="http://schemas.openxmlformats.org/officeDocument/2006/relationships/image" Target="../media/image496.png"/><Relationship Id="rId5" Type="http://schemas.openxmlformats.org/officeDocument/2006/relationships/image" Target="../media/image497.png"/><Relationship Id="rId6" Type="http://schemas.openxmlformats.org/officeDocument/2006/relationships/image" Target="../media/image498.png"/><Relationship Id="rId7" Type="http://schemas.openxmlformats.org/officeDocument/2006/relationships/image" Target="../media/image49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0.png"/><Relationship Id="rId3" Type="http://schemas.openxmlformats.org/officeDocument/2006/relationships/image" Target="../media/image50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image" Target="../media/image505.png"/><Relationship Id="rId6" Type="http://schemas.openxmlformats.org/officeDocument/2006/relationships/image" Target="../media/image506.png"/><Relationship Id="rId7" Type="http://schemas.openxmlformats.org/officeDocument/2006/relationships/image" Target="../media/image507.png"/><Relationship Id="rId8" Type="http://schemas.openxmlformats.org/officeDocument/2006/relationships/image" Target="../media/image508.png"/><Relationship Id="rId9" Type="http://schemas.openxmlformats.org/officeDocument/2006/relationships/image" Target="../media/image509.png"/><Relationship Id="rId10" Type="http://schemas.openxmlformats.org/officeDocument/2006/relationships/image" Target="../media/image51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1.png"/><Relationship Id="rId3" Type="http://schemas.openxmlformats.org/officeDocument/2006/relationships/image" Target="../media/image512.png"/><Relationship Id="rId4" Type="http://schemas.openxmlformats.org/officeDocument/2006/relationships/image" Target="../media/image513.png"/><Relationship Id="rId5" Type="http://schemas.openxmlformats.org/officeDocument/2006/relationships/image" Target="../media/image514.png"/><Relationship Id="rId6" Type="http://schemas.openxmlformats.org/officeDocument/2006/relationships/image" Target="../media/image515.png"/><Relationship Id="rId7" Type="http://schemas.openxmlformats.org/officeDocument/2006/relationships/image" Target="../media/image516.png"/><Relationship Id="rId8" Type="http://schemas.openxmlformats.org/officeDocument/2006/relationships/image" Target="../media/image517.png"/><Relationship Id="rId9" Type="http://schemas.openxmlformats.org/officeDocument/2006/relationships/image" Target="../media/image518.png"/><Relationship Id="rId10" Type="http://schemas.openxmlformats.org/officeDocument/2006/relationships/image" Target="../media/image519.png"/><Relationship Id="rId11" Type="http://schemas.openxmlformats.org/officeDocument/2006/relationships/image" Target="../media/image520.png"/><Relationship Id="rId12" Type="http://schemas.openxmlformats.org/officeDocument/2006/relationships/image" Target="../media/image521.png"/><Relationship Id="rId13" Type="http://schemas.openxmlformats.org/officeDocument/2006/relationships/image" Target="../media/image52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3.png"/><Relationship Id="rId3" Type="http://schemas.openxmlformats.org/officeDocument/2006/relationships/image" Target="../media/image524.png"/><Relationship Id="rId4" Type="http://schemas.openxmlformats.org/officeDocument/2006/relationships/image" Target="../media/image525.png"/><Relationship Id="rId5" Type="http://schemas.openxmlformats.org/officeDocument/2006/relationships/image" Target="../media/image526.png"/><Relationship Id="rId6" Type="http://schemas.openxmlformats.org/officeDocument/2006/relationships/image" Target="../media/image527.png"/><Relationship Id="rId7" Type="http://schemas.openxmlformats.org/officeDocument/2006/relationships/image" Target="../media/image528.png"/><Relationship Id="rId8" Type="http://schemas.openxmlformats.org/officeDocument/2006/relationships/image" Target="../media/image52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0.png"/><Relationship Id="rId3" Type="http://schemas.openxmlformats.org/officeDocument/2006/relationships/image" Target="../media/image531.png"/><Relationship Id="rId4" Type="http://schemas.openxmlformats.org/officeDocument/2006/relationships/image" Target="../media/image532.png"/><Relationship Id="rId5" Type="http://schemas.openxmlformats.org/officeDocument/2006/relationships/image" Target="../media/image533.png"/><Relationship Id="rId6" Type="http://schemas.openxmlformats.org/officeDocument/2006/relationships/image" Target="../media/image534.png"/><Relationship Id="rId7" Type="http://schemas.openxmlformats.org/officeDocument/2006/relationships/image" Target="../media/image535.png"/><Relationship Id="rId8" Type="http://schemas.openxmlformats.org/officeDocument/2006/relationships/image" Target="../media/image536.png"/><Relationship Id="rId9" Type="http://schemas.openxmlformats.org/officeDocument/2006/relationships/image" Target="../media/image537.png"/><Relationship Id="rId10" Type="http://schemas.openxmlformats.org/officeDocument/2006/relationships/image" Target="../media/image538.png"/><Relationship Id="rId11" Type="http://schemas.openxmlformats.org/officeDocument/2006/relationships/image" Target="../media/image539.png"/><Relationship Id="rId12" Type="http://schemas.openxmlformats.org/officeDocument/2006/relationships/image" Target="../media/image540.png"/><Relationship Id="rId13" Type="http://schemas.openxmlformats.org/officeDocument/2006/relationships/image" Target="../media/image54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image" Target="../media/image544.png"/><Relationship Id="rId5" Type="http://schemas.openxmlformats.org/officeDocument/2006/relationships/image" Target="../media/image545.png"/><Relationship Id="rId6" Type="http://schemas.openxmlformats.org/officeDocument/2006/relationships/image" Target="../media/image546.png"/><Relationship Id="rId7" Type="http://schemas.openxmlformats.org/officeDocument/2006/relationships/image" Target="../media/image547.png"/><Relationship Id="rId8" Type="http://schemas.openxmlformats.org/officeDocument/2006/relationships/image" Target="../media/image54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9.png"/><Relationship Id="rId3" Type="http://schemas.openxmlformats.org/officeDocument/2006/relationships/image" Target="../media/image550.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1.png"/><Relationship Id="rId3" Type="http://schemas.openxmlformats.org/officeDocument/2006/relationships/image" Target="../media/image55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3.png"/><Relationship Id="rId3" Type="http://schemas.openxmlformats.org/officeDocument/2006/relationships/image" Target="../media/image554.png"/><Relationship Id="rId4" Type="http://schemas.openxmlformats.org/officeDocument/2006/relationships/image" Target="../media/image555.png"/><Relationship Id="rId5" Type="http://schemas.openxmlformats.org/officeDocument/2006/relationships/image" Target="../media/image556.png"/><Relationship Id="rId6" Type="http://schemas.openxmlformats.org/officeDocument/2006/relationships/image" Target="../media/image557.png"/><Relationship Id="rId7" Type="http://schemas.openxmlformats.org/officeDocument/2006/relationships/image" Target="../media/image558.png"/><Relationship Id="rId8" Type="http://schemas.openxmlformats.org/officeDocument/2006/relationships/image" Target="../media/image559.png"/><Relationship Id="rId9" Type="http://schemas.openxmlformats.org/officeDocument/2006/relationships/image" Target="../media/image560.png"/><Relationship Id="rId10" Type="http://schemas.openxmlformats.org/officeDocument/2006/relationships/image" Target="../media/image561.png"/><Relationship Id="rId11" Type="http://schemas.openxmlformats.org/officeDocument/2006/relationships/image" Target="../media/image562.png"/><Relationship Id="rId12" Type="http://schemas.openxmlformats.org/officeDocument/2006/relationships/image" Target="../media/image563.png"/><Relationship Id="rId13" Type="http://schemas.openxmlformats.org/officeDocument/2006/relationships/image" Target="../media/image25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4.png"/><Relationship Id="rId3" Type="http://schemas.openxmlformats.org/officeDocument/2006/relationships/image" Target="../media/image565.png"/><Relationship Id="rId4" Type="http://schemas.openxmlformats.org/officeDocument/2006/relationships/image" Target="../media/image566.png"/><Relationship Id="rId5" Type="http://schemas.openxmlformats.org/officeDocument/2006/relationships/image" Target="../media/image567.png"/><Relationship Id="rId6" Type="http://schemas.openxmlformats.org/officeDocument/2006/relationships/image" Target="../media/image568.png"/><Relationship Id="rId7" Type="http://schemas.openxmlformats.org/officeDocument/2006/relationships/image" Target="../media/image569.png"/><Relationship Id="rId8" Type="http://schemas.openxmlformats.org/officeDocument/2006/relationships/image" Target="../media/image570.png"/><Relationship Id="rId9" Type="http://schemas.openxmlformats.org/officeDocument/2006/relationships/image" Target="../media/image571.png"/><Relationship Id="rId10" Type="http://schemas.openxmlformats.org/officeDocument/2006/relationships/image" Target="../media/image572.png"/><Relationship Id="rId11" Type="http://schemas.openxmlformats.org/officeDocument/2006/relationships/image" Target="../media/image573.png"/><Relationship Id="rId12" Type="http://schemas.openxmlformats.org/officeDocument/2006/relationships/image" Target="../media/image574.png"/><Relationship Id="rId13" Type="http://schemas.openxmlformats.org/officeDocument/2006/relationships/image" Target="../media/image57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6.png"/><Relationship Id="rId3" Type="http://schemas.openxmlformats.org/officeDocument/2006/relationships/image" Target="../media/image577.png"/><Relationship Id="rId4" Type="http://schemas.openxmlformats.org/officeDocument/2006/relationships/image" Target="../media/image578.png"/><Relationship Id="rId5" Type="http://schemas.openxmlformats.org/officeDocument/2006/relationships/image" Target="../media/image579.png"/><Relationship Id="rId6" Type="http://schemas.openxmlformats.org/officeDocument/2006/relationships/image" Target="../media/image580.png"/><Relationship Id="rId7" Type="http://schemas.openxmlformats.org/officeDocument/2006/relationships/image" Target="../media/image581.png"/><Relationship Id="rId8" Type="http://schemas.openxmlformats.org/officeDocument/2006/relationships/image" Target="../media/image582.png"/><Relationship Id="rId9" Type="http://schemas.openxmlformats.org/officeDocument/2006/relationships/image" Target="../media/image583.png"/><Relationship Id="rId10" Type="http://schemas.openxmlformats.org/officeDocument/2006/relationships/image" Target="../media/image584.png"/><Relationship Id="rId11" Type="http://schemas.openxmlformats.org/officeDocument/2006/relationships/image" Target="../media/image585.png"/><Relationship Id="rId12" Type="http://schemas.openxmlformats.org/officeDocument/2006/relationships/image" Target="../media/image586.png"/><Relationship Id="rId13" Type="http://schemas.openxmlformats.org/officeDocument/2006/relationships/image" Target="../media/image58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8.png"/><Relationship Id="rId3" Type="http://schemas.openxmlformats.org/officeDocument/2006/relationships/image" Target="../media/image589.png"/><Relationship Id="rId4" Type="http://schemas.openxmlformats.org/officeDocument/2006/relationships/image" Target="../media/image590.png"/><Relationship Id="rId5" Type="http://schemas.openxmlformats.org/officeDocument/2006/relationships/image" Target="../media/image591.png"/><Relationship Id="rId6" Type="http://schemas.openxmlformats.org/officeDocument/2006/relationships/image" Target="../media/image592.png"/><Relationship Id="rId7" Type="http://schemas.openxmlformats.org/officeDocument/2006/relationships/image" Target="../media/image593.png"/><Relationship Id="rId8" Type="http://schemas.openxmlformats.org/officeDocument/2006/relationships/image" Target="../media/image594.png"/><Relationship Id="rId9" Type="http://schemas.openxmlformats.org/officeDocument/2006/relationships/image" Target="../media/image595.png"/><Relationship Id="rId10" Type="http://schemas.openxmlformats.org/officeDocument/2006/relationships/image" Target="../media/image596.png"/><Relationship Id="rId11" Type="http://schemas.openxmlformats.org/officeDocument/2006/relationships/image" Target="../media/image597.png"/><Relationship Id="rId12" Type="http://schemas.openxmlformats.org/officeDocument/2006/relationships/image" Target="../media/image59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9.png"/><Relationship Id="rId3" Type="http://schemas.openxmlformats.org/officeDocument/2006/relationships/image" Target="../media/image600.png"/><Relationship Id="rId4" Type="http://schemas.openxmlformats.org/officeDocument/2006/relationships/image" Target="../media/image601.png"/><Relationship Id="rId5" Type="http://schemas.openxmlformats.org/officeDocument/2006/relationships/image" Target="../media/image602.png"/><Relationship Id="rId6" Type="http://schemas.openxmlformats.org/officeDocument/2006/relationships/image" Target="../media/image603.png"/><Relationship Id="rId7" Type="http://schemas.openxmlformats.org/officeDocument/2006/relationships/image" Target="../media/image604.png"/><Relationship Id="rId8" Type="http://schemas.openxmlformats.org/officeDocument/2006/relationships/image" Target="../media/image605.png"/><Relationship Id="rId9" Type="http://schemas.openxmlformats.org/officeDocument/2006/relationships/image" Target="../media/image606.png"/><Relationship Id="rId10" Type="http://schemas.openxmlformats.org/officeDocument/2006/relationships/image" Target="../media/image607.png"/><Relationship Id="rId11" Type="http://schemas.openxmlformats.org/officeDocument/2006/relationships/image" Target="../media/image608.png"/><Relationship Id="rId12" Type="http://schemas.openxmlformats.org/officeDocument/2006/relationships/image" Target="../media/image609.png"/><Relationship Id="rId13" Type="http://schemas.openxmlformats.org/officeDocument/2006/relationships/image" Target="../media/image610.png"/><Relationship Id="rId14" Type="http://schemas.openxmlformats.org/officeDocument/2006/relationships/image" Target="../media/image611.png"/><Relationship Id="rId15" Type="http://schemas.openxmlformats.org/officeDocument/2006/relationships/image" Target="../media/image612.png"/><Relationship Id="rId16" Type="http://schemas.openxmlformats.org/officeDocument/2006/relationships/image" Target="../media/image613.png"/><Relationship Id="rId17" Type="http://schemas.openxmlformats.org/officeDocument/2006/relationships/image" Target="../media/image61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5.png"/><Relationship Id="rId3" Type="http://schemas.openxmlformats.org/officeDocument/2006/relationships/image" Target="../media/image616.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7.png"/><Relationship Id="rId3" Type="http://schemas.openxmlformats.org/officeDocument/2006/relationships/image" Target="../media/image618.png"/><Relationship Id="rId4" Type="http://schemas.openxmlformats.org/officeDocument/2006/relationships/image" Target="../media/image619.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0.png"/><Relationship Id="rId3" Type="http://schemas.openxmlformats.org/officeDocument/2006/relationships/image" Target="../media/image62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2.png"/><Relationship Id="rId3" Type="http://schemas.openxmlformats.org/officeDocument/2006/relationships/image" Target="../media/image623.png"/><Relationship Id="rId4" Type="http://schemas.openxmlformats.org/officeDocument/2006/relationships/image" Target="../media/image624.png"/><Relationship Id="rId5" Type="http://schemas.openxmlformats.org/officeDocument/2006/relationships/image" Target="../media/image625.png"/><Relationship Id="rId6" Type="http://schemas.openxmlformats.org/officeDocument/2006/relationships/image" Target="../media/image626.png"/><Relationship Id="rId7" Type="http://schemas.openxmlformats.org/officeDocument/2006/relationships/image" Target="../media/image62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8.png"/><Relationship Id="rId3" Type="http://schemas.openxmlformats.org/officeDocument/2006/relationships/image" Target="../media/image629.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0.png"/><Relationship Id="rId3" Type="http://schemas.openxmlformats.org/officeDocument/2006/relationships/image" Target="../media/image631.png"/><Relationship Id="rId4" Type="http://schemas.openxmlformats.org/officeDocument/2006/relationships/image" Target="../media/image632.png"/><Relationship Id="rId5" Type="http://schemas.openxmlformats.org/officeDocument/2006/relationships/image" Target="../media/image633.png"/><Relationship Id="rId6" Type="http://schemas.openxmlformats.org/officeDocument/2006/relationships/image" Target="../media/image634.png"/><Relationship Id="rId7" Type="http://schemas.openxmlformats.org/officeDocument/2006/relationships/image" Target="../media/image635.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6.png"/><Relationship Id="rId3" Type="http://schemas.openxmlformats.org/officeDocument/2006/relationships/image" Target="../media/image637.png"/><Relationship Id="rId4" Type="http://schemas.openxmlformats.org/officeDocument/2006/relationships/image" Target="../media/image638.png"/><Relationship Id="rId5" Type="http://schemas.openxmlformats.org/officeDocument/2006/relationships/image" Target="../media/image639.png"/><Relationship Id="rId6" Type="http://schemas.openxmlformats.org/officeDocument/2006/relationships/image" Target="../media/image640.png"/><Relationship Id="rId7" Type="http://schemas.openxmlformats.org/officeDocument/2006/relationships/image" Target="../media/image641.png"/><Relationship Id="rId8" Type="http://schemas.openxmlformats.org/officeDocument/2006/relationships/image" Target="../media/image642.png"/><Relationship Id="rId9" Type="http://schemas.openxmlformats.org/officeDocument/2006/relationships/image" Target="../media/image643.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4.png"/><Relationship Id="rId3" Type="http://schemas.openxmlformats.org/officeDocument/2006/relationships/image" Target="../media/image645.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6.png"/><Relationship Id="rId3" Type="http://schemas.openxmlformats.org/officeDocument/2006/relationships/image" Target="../media/image647.png"/><Relationship Id="rId4" Type="http://schemas.openxmlformats.org/officeDocument/2006/relationships/image" Target="../media/image648.png"/><Relationship Id="rId5" Type="http://schemas.openxmlformats.org/officeDocument/2006/relationships/image" Target="../media/image649.png"/><Relationship Id="rId6" Type="http://schemas.openxmlformats.org/officeDocument/2006/relationships/image" Target="../media/image650.png"/><Relationship Id="rId7" Type="http://schemas.openxmlformats.org/officeDocument/2006/relationships/image" Target="../media/image651.png"/><Relationship Id="rId8" Type="http://schemas.openxmlformats.org/officeDocument/2006/relationships/image" Target="../media/image65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3.png"/><Relationship Id="rId3" Type="http://schemas.openxmlformats.org/officeDocument/2006/relationships/image" Target="../media/image654.png"/><Relationship Id="rId4" Type="http://schemas.openxmlformats.org/officeDocument/2006/relationships/image" Target="../media/image655.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6.png"/><Relationship Id="rId3" Type="http://schemas.openxmlformats.org/officeDocument/2006/relationships/image" Target="../media/image657.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8.png"/><Relationship Id="rId3" Type="http://schemas.openxmlformats.org/officeDocument/2006/relationships/image" Target="../media/image659.png"/><Relationship Id="rId4" Type="http://schemas.openxmlformats.org/officeDocument/2006/relationships/image" Target="../media/image660.png"/><Relationship Id="rId5" Type="http://schemas.openxmlformats.org/officeDocument/2006/relationships/image" Target="../media/image661.png"/><Relationship Id="rId6" Type="http://schemas.openxmlformats.org/officeDocument/2006/relationships/image" Target="../media/image662.png"/><Relationship Id="rId7" Type="http://schemas.openxmlformats.org/officeDocument/2006/relationships/image" Target="../media/image663.png"/><Relationship Id="rId8" Type="http://schemas.openxmlformats.org/officeDocument/2006/relationships/image" Target="../media/image664.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5.png"/><Relationship Id="rId3" Type="http://schemas.openxmlformats.org/officeDocument/2006/relationships/image" Target="../media/image666.png"/><Relationship Id="rId4" Type="http://schemas.openxmlformats.org/officeDocument/2006/relationships/image" Target="../media/image667.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8.png"/><Relationship Id="rId3" Type="http://schemas.openxmlformats.org/officeDocument/2006/relationships/image" Target="../media/image669.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0.png"/><Relationship Id="rId3" Type="http://schemas.openxmlformats.org/officeDocument/2006/relationships/image" Target="../media/image671.png"/><Relationship Id="rId4" Type="http://schemas.openxmlformats.org/officeDocument/2006/relationships/image" Target="../media/image672.png"/><Relationship Id="rId5" Type="http://schemas.openxmlformats.org/officeDocument/2006/relationships/image" Target="../media/image67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1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di4svlfd.png"/>
          <p:cNvPicPr>
            <a:picLocks noChangeAspect="1"/>
          </p:cNvPicPr>
          <p:nvPr/>
        </p:nvPicPr>
        <p:blipFill>
          <a:blip r:embed="rId2"/>
          <a:stretch>
            <a:fillRect/>
          </a:stretch>
        </p:blipFill>
        <p:spPr>
          <a:xfrm>
            <a:off x="0" y="0"/>
            <a:ext cx="3467100" cy="5781675"/>
          </a:xfrm>
          <a:prstGeom prst="rect">
            <a:avLst/>
          </a:prstGeom>
        </p:spPr>
      </p:pic>
      <p:pic>
        <p:nvPicPr>
          <p:cNvPr id="4" name="Picture 3" descr="tmpm0zxuith.png"/>
          <p:cNvPicPr>
            <a:picLocks noChangeAspect="1"/>
          </p:cNvPicPr>
          <p:nvPr/>
        </p:nvPicPr>
        <p:blipFill>
          <a:blip r:embed="rId3"/>
          <a:stretch>
            <a:fillRect/>
          </a:stretch>
        </p:blipFill>
        <p:spPr>
          <a:xfrm>
            <a:off x="6067425" y="561975"/>
            <a:ext cx="3676650" cy="1133475"/>
          </a:xfrm>
          <a:prstGeom prst="rect">
            <a:avLst/>
          </a:prstGeom>
        </p:spPr>
      </p:pic>
      <p:pic>
        <p:nvPicPr>
          <p:cNvPr id="5" name="Picture 4" descr="tmpgt09o6_b.png"/>
          <p:cNvPicPr>
            <a:picLocks noChangeAspect="1"/>
          </p:cNvPicPr>
          <p:nvPr/>
        </p:nvPicPr>
        <p:blipFill>
          <a:blip r:embed="rId4"/>
          <a:stretch>
            <a:fillRect/>
          </a:stretch>
        </p:blipFill>
        <p:spPr>
          <a:xfrm>
            <a:off x="7181850" y="4791075"/>
            <a:ext cx="1066800" cy="371475"/>
          </a:xfrm>
          <a:prstGeom prst="rect">
            <a:avLst/>
          </a:prstGeom>
        </p:spPr>
      </p:pic>
      <p:pic>
        <p:nvPicPr>
          <p:cNvPr id="6" name="Picture 5" descr="tmpxex35t75.png"/>
          <p:cNvPicPr>
            <a:picLocks noChangeAspect="1"/>
          </p:cNvPicPr>
          <p:nvPr/>
        </p:nvPicPr>
        <p:blipFill>
          <a:blip r:embed="rId5"/>
          <a:stretch>
            <a:fillRect/>
          </a:stretch>
        </p:blipFill>
        <p:spPr>
          <a:xfrm>
            <a:off x="8582025" y="4791075"/>
            <a:ext cx="1162050" cy="371475"/>
          </a:xfrm>
          <a:prstGeom prst="rect">
            <a:avLst/>
          </a:prstGeom>
        </p:spPr>
      </p:pic>
      <p:sp>
        <p:nvSpPr>
          <p:cNvPr id="7" name="TextBox 6"/>
          <p:cNvSpPr txBox="1"/>
          <p:nvPr/>
        </p:nvSpPr>
        <p:spPr>
          <a:xfrm>
            <a:off x="4330827" y="2530754"/>
            <a:ext cx="6705599" cy="434339"/>
          </a:xfrm>
          <a:prstGeom prst="rect">
            <a:avLst/>
          </a:prstGeom>
          <a:noFill/>
          <a:ln>
            <a:noFill/>
          </a:ln>
        </p:spPr>
        <p:txBody>
          <a:bodyPr wrap="none" lIns="19050" rIns="19050" tIns="0" bIns="0" anchor="ctr">
            <a:noAutofit/>
          </a:bodyPr>
          <a:lstStyle/>
          <a:p>
            <a:pPr algn="l"/>
            <a:r>
              <a:rPr sz="3600" b="1">
                <a:solidFill>
                  <a:srgbClr val="2B4991"/>
                </a:solidFill>
                <a:latin typeface="PingFang SC"/>
              </a:rPr>
              <a:t>SSC 2026指南</a:t>
            </a:r>
          </a:p>
        </p:txBody>
      </p:sp>
      <p:sp>
        <p:nvSpPr>
          <p:cNvPr id="8" name="TextBox 7"/>
          <p:cNvSpPr txBox="1"/>
          <p:nvPr/>
        </p:nvSpPr>
        <p:spPr>
          <a:xfrm>
            <a:off x="4330827" y="3185160"/>
            <a:ext cx="8721852" cy="335889"/>
          </a:xfrm>
          <a:prstGeom prst="rect">
            <a:avLst/>
          </a:prstGeom>
          <a:noFill/>
          <a:ln>
            <a:noFill/>
          </a:ln>
        </p:spPr>
        <p:txBody>
          <a:bodyPr wrap="none" lIns="19050" rIns="19050" tIns="0" bIns="0" anchor="ctr">
            <a:noAutofit/>
          </a:bodyPr>
          <a:lstStyle/>
          <a:p>
            <a:pPr algn="l"/>
            <a:r>
              <a:rPr sz="2700" b="0">
                <a:solidFill>
                  <a:srgbClr val="394A56"/>
                </a:solidFill>
                <a:latin typeface="PingFang SC"/>
              </a:rPr>
              <a:t>脓毒症和感染性休克管理国际指南</a:t>
            </a:r>
          </a:p>
        </p:txBody>
      </p:sp>
      <p:sp>
        <p:nvSpPr>
          <p:cNvPr id="9" name="TextBox 8"/>
          <p:cNvSpPr txBox="1"/>
          <p:nvPr/>
        </p:nvSpPr>
        <p:spPr>
          <a:xfrm>
            <a:off x="4330827" y="3909060"/>
            <a:ext cx="1450467" cy="561746"/>
          </a:xfrm>
          <a:prstGeom prst="rect">
            <a:avLst/>
          </a:prstGeom>
          <a:noFill/>
          <a:ln>
            <a:noFill/>
          </a:ln>
        </p:spPr>
        <p:txBody>
          <a:bodyPr wrap="square" lIns="19050" rIns="19050" tIns="0" bIns="0" anchor="t">
            <a:normAutofit/>
          </a:bodyPr>
          <a:lstStyle/>
          <a:p>
            <a:pPr algn="l"/>
            <a:r>
              <a:rPr sz="1440" b="0">
                <a:solidFill>
                  <a:srgbClr val="6C7B7E"/>
                </a:solidFill>
                <a:latin typeface="PingFang SC"/>
              </a:rPr>
              <a:t>2026年4月02日</a:t>
            </a:r>
          </a:p>
          <a:p>
            <a:pPr algn="l"/>
            <a:r>
              <a:rPr sz="1440" b="0">
                <a:solidFill>
                  <a:srgbClr val="6C7B7E"/>
                </a:solidFill>
                <a:latin typeface="PingFang SC"/>
              </a:rPr>
              <a:t>公众号·指南导航</a:t>
            </a:r>
          </a:p>
        </p:txBody>
      </p:sp>
      <p:sp>
        <p:nvSpPr>
          <p:cNvPr id="10" name="TextBox 9"/>
          <p:cNvSpPr txBox="1"/>
          <p:nvPr/>
        </p:nvSpPr>
        <p:spPr>
          <a:xfrm>
            <a:off x="10287000" y="5397398"/>
            <a:ext cx="0" cy="115823"/>
          </a:xfrm>
          <a:prstGeom prst="rect">
            <a:avLst/>
          </a:prstGeom>
          <a:noFill/>
          <a:ln>
            <a:noFill/>
          </a:ln>
        </p:spPr>
        <p:txBody>
          <a:bodyPr wrap="none" lIns="19050" rIns="19050" tIns="0" bIns="0" anchor="ctr">
            <a:noAutofit/>
          </a:bodyPr>
          <a:lstStyle/>
          <a:p>
            <a:pPr algn="r"/>
            <a:r>
              <a:rPr sz="1200" b="0">
                <a:solidFill>
                  <a:srgbClr val="000000"/>
                </a:solidFill>
                <a:latin typeface="PingFang SC"/>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1z3ja863.png"/>
          <p:cNvPicPr>
            <a:picLocks noChangeAspect="1"/>
          </p:cNvPicPr>
          <p:nvPr/>
        </p:nvPicPr>
        <p:blipFill>
          <a:blip r:embed="rId2"/>
          <a:stretch>
            <a:fillRect/>
          </a:stretch>
        </p:blipFill>
        <p:spPr>
          <a:xfrm>
            <a:off x="495300" y="5057775"/>
            <a:ext cx="1257300" cy="352425"/>
          </a:xfrm>
          <a:prstGeom prst="rect">
            <a:avLst/>
          </a:prstGeom>
        </p:spPr>
      </p:pic>
      <p:pic>
        <p:nvPicPr>
          <p:cNvPr id="4" name="Picture 3" descr="tmpayl171wk.png"/>
          <p:cNvPicPr>
            <a:picLocks noChangeAspect="1"/>
          </p:cNvPicPr>
          <p:nvPr/>
        </p:nvPicPr>
        <p:blipFill>
          <a:blip r:embed="rId3"/>
          <a:stretch>
            <a:fillRect/>
          </a:stretch>
        </p:blipFill>
        <p:spPr>
          <a:xfrm>
            <a:off x="1952625" y="5057775"/>
            <a:ext cx="1133475" cy="352425"/>
          </a:xfrm>
          <a:prstGeom prst="rect">
            <a:avLst/>
          </a:prstGeom>
        </p:spPr>
      </p:pic>
      <p:sp>
        <p:nvSpPr>
          <p:cNvPr id="5" name="Rectangle 4"/>
          <p:cNvSpPr/>
          <p:nvPr/>
        </p:nvSpPr>
        <p:spPr>
          <a:xfrm>
            <a:off x="1100709" y="1528876"/>
            <a:ext cx="678941" cy="642823"/>
          </a:xfrm>
          <a:prstGeom prst="rect">
            <a:avLst/>
          </a:prstGeom>
          <a:solidFill>
            <a:srgbClr val="0E9E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929634" y="1528876"/>
            <a:ext cx="678942" cy="642823"/>
          </a:xfrm>
          <a:prstGeom prst="rect">
            <a:avLst/>
          </a:prstGeom>
          <a:solidFill>
            <a:srgbClr val="FDFEFE"/>
          </a:solidFill>
          <a:ln w="11430">
            <a:solidFill>
              <a:srgbClr val="558A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758559" y="1528876"/>
            <a:ext cx="678941" cy="642823"/>
          </a:xfrm>
          <a:prstGeom prst="rect">
            <a:avLst/>
          </a:prstGeom>
          <a:solidFill>
            <a:srgbClr val="FDFEFD"/>
          </a:solidFill>
          <a:ln w="11430">
            <a:solidFill>
              <a:srgbClr val="E4FD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00709" y="2831896"/>
            <a:ext cx="678941" cy="642823"/>
          </a:xfrm>
          <a:prstGeom prst="rect">
            <a:avLst/>
          </a:prstGeom>
          <a:solidFill>
            <a:srgbClr val="FDFEFD"/>
          </a:solidFill>
          <a:ln w="11430">
            <a:solidFill>
              <a:srgbClr val="D5F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929634" y="2831896"/>
            <a:ext cx="678942" cy="642823"/>
          </a:xfrm>
          <a:prstGeom prst="rect">
            <a:avLst/>
          </a:prstGeom>
          <a:solidFill>
            <a:srgbClr val="0E9E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758559" y="2831896"/>
            <a:ext cx="678941" cy="642823"/>
          </a:xfrm>
          <a:prstGeom prst="rect">
            <a:avLst/>
          </a:prstGeom>
          <a:solidFill>
            <a:srgbClr val="FDFEFD"/>
          </a:solidFill>
          <a:ln w="11430">
            <a:solidFill>
              <a:srgbClr val="EAF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00709" y="4065422"/>
            <a:ext cx="678941" cy="642823"/>
          </a:xfrm>
          <a:prstGeom prst="rect">
            <a:avLst/>
          </a:prstGeom>
          <a:solidFill>
            <a:srgbClr val="FDFEFD"/>
          </a:solidFill>
          <a:ln w="11430">
            <a:solidFill>
              <a:srgbClr val="86B3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929634" y="4065422"/>
            <a:ext cx="678942" cy="642823"/>
          </a:xfrm>
          <a:prstGeom prst="rect">
            <a:avLst/>
          </a:prstGeom>
          <a:solidFill>
            <a:srgbClr val="FDFEFD"/>
          </a:solidFill>
          <a:ln w="11430">
            <a:solidFill>
              <a:srgbClr val="E1FE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758559" y="4065422"/>
            <a:ext cx="678941" cy="642823"/>
          </a:xfrm>
          <a:prstGeom prst="rect">
            <a:avLst/>
          </a:prstGeom>
          <a:solidFill>
            <a:srgbClr val="0E9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95678" y="428548"/>
            <a:ext cx="10285476" cy="289560"/>
          </a:xfrm>
          <a:prstGeom prst="rect">
            <a:avLst/>
          </a:prstGeom>
          <a:noFill/>
          <a:ln>
            <a:noFill/>
          </a:ln>
        </p:spPr>
        <p:txBody>
          <a:bodyPr wrap="none" lIns="19050" rIns="19050" tIns="0" bIns="0" anchor="ctr">
            <a:noAutofit/>
          </a:bodyPr>
          <a:lstStyle/>
          <a:p>
            <a:pPr algn="ctr"/>
            <a:r>
              <a:rPr sz="2700" b="1">
                <a:solidFill>
                  <a:srgbClr val="45A2C6"/>
                </a:solidFill>
                <a:latin typeface="PingFang SC"/>
              </a:rPr>
              <a:t>2026SSC脓毒症和感染性休克管理国际指南目录</a:t>
            </a:r>
          </a:p>
        </p:txBody>
      </p:sp>
      <p:sp>
        <p:nvSpPr>
          <p:cNvPr id="15" name="TextBox 14"/>
          <p:cNvSpPr txBox="1"/>
          <p:nvPr/>
        </p:nvSpPr>
        <p:spPr>
          <a:xfrm>
            <a:off x="1234440" y="1644700"/>
            <a:ext cx="905256" cy="411175"/>
          </a:xfrm>
          <a:prstGeom prst="rect">
            <a:avLst/>
          </a:prstGeom>
          <a:noFill/>
          <a:ln>
            <a:noFill/>
          </a:ln>
        </p:spPr>
        <p:txBody>
          <a:bodyPr wrap="none" lIns="19050" rIns="19050" tIns="0" bIns="0" anchor="ctr">
            <a:noAutofit/>
          </a:bodyPr>
          <a:lstStyle/>
          <a:p>
            <a:pPr algn="ctr"/>
            <a:r>
              <a:rPr sz="1800" b="1">
                <a:solidFill>
                  <a:srgbClr val="82E1FA"/>
                </a:solidFill>
                <a:latin typeface="PingFang SC"/>
              </a:rPr>
              <a:t>01</a:t>
            </a:r>
          </a:p>
        </p:txBody>
      </p:sp>
      <p:sp>
        <p:nvSpPr>
          <p:cNvPr id="16" name="TextBox 15"/>
          <p:cNvSpPr txBox="1"/>
          <p:nvPr/>
        </p:nvSpPr>
        <p:spPr>
          <a:xfrm>
            <a:off x="1954530" y="1702612"/>
            <a:ext cx="1543050" cy="295351"/>
          </a:xfrm>
          <a:prstGeom prst="rect">
            <a:avLst/>
          </a:prstGeom>
          <a:noFill/>
          <a:ln>
            <a:noFill/>
          </a:ln>
        </p:spPr>
        <p:txBody>
          <a:bodyPr wrap="square" lIns="19050" rIns="19050" tIns="0" bIns="0" anchor="t">
            <a:normAutofit/>
          </a:bodyPr>
          <a:lstStyle/>
          <a:p>
            <a:pPr algn="l"/>
            <a:r>
              <a:rPr sz="1730" b="0">
                <a:solidFill>
                  <a:srgbClr val="59ADC8"/>
                </a:solidFill>
                <a:latin typeface="PingFang SC"/>
              </a:rPr>
              <a:t>筛查与早期管理</a:t>
            </a:r>
          </a:p>
        </p:txBody>
      </p:sp>
      <p:sp>
        <p:nvSpPr>
          <p:cNvPr id="17" name="TextBox 16"/>
          <p:cNvSpPr txBox="1"/>
          <p:nvPr/>
        </p:nvSpPr>
        <p:spPr>
          <a:xfrm>
            <a:off x="4063365" y="1644700"/>
            <a:ext cx="905255" cy="411175"/>
          </a:xfrm>
          <a:prstGeom prst="rect">
            <a:avLst/>
          </a:prstGeom>
          <a:noFill/>
          <a:ln>
            <a:noFill/>
          </a:ln>
        </p:spPr>
        <p:txBody>
          <a:bodyPr wrap="none" lIns="19050" rIns="19050" tIns="0" bIns="0" anchor="ctr">
            <a:noAutofit/>
          </a:bodyPr>
          <a:lstStyle/>
          <a:p>
            <a:pPr algn="ctr"/>
            <a:r>
              <a:rPr sz="1800" b="1">
                <a:solidFill>
                  <a:srgbClr val="89BAC1"/>
                </a:solidFill>
                <a:latin typeface="PingFang SC"/>
              </a:rPr>
              <a:t>04</a:t>
            </a:r>
          </a:p>
        </p:txBody>
      </p:sp>
      <p:sp>
        <p:nvSpPr>
          <p:cNvPr id="18" name="TextBox 17"/>
          <p:cNvSpPr txBox="1"/>
          <p:nvPr/>
        </p:nvSpPr>
        <p:spPr>
          <a:xfrm>
            <a:off x="4783455" y="1702612"/>
            <a:ext cx="925830" cy="295351"/>
          </a:xfrm>
          <a:prstGeom prst="rect">
            <a:avLst/>
          </a:prstGeom>
          <a:noFill/>
          <a:ln>
            <a:noFill/>
          </a:ln>
        </p:spPr>
        <p:txBody>
          <a:bodyPr wrap="square" lIns="19050" rIns="19050" tIns="0" bIns="0" anchor="t">
            <a:normAutofit/>
          </a:bodyPr>
          <a:lstStyle/>
          <a:p>
            <a:pPr algn="l"/>
            <a:r>
              <a:rPr sz="1770" b="0">
                <a:solidFill>
                  <a:srgbClr val="5DADC8"/>
                </a:solidFill>
                <a:latin typeface="PingFang SC"/>
              </a:rPr>
              <a:t>呼吸支持</a:t>
            </a:r>
          </a:p>
        </p:txBody>
      </p:sp>
      <p:sp>
        <p:nvSpPr>
          <p:cNvPr id="19" name="TextBox 18"/>
          <p:cNvSpPr txBox="1"/>
          <p:nvPr/>
        </p:nvSpPr>
        <p:spPr>
          <a:xfrm>
            <a:off x="6892290" y="1644700"/>
            <a:ext cx="905255" cy="411175"/>
          </a:xfrm>
          <a:prstGeom prst="rect">
            <a:avLst/>
          </a:prstGeom>
          <a:noFill/>
          <a:ln>
            <a:noFill/>
          </a:ln>
        </p:spPr>
        <p:txBody>
          <a:bodyPr wrap="none" lIns="19050" rIns="19050" tIns="0" bIns="0" anchor="ctr">
            <a:noAutofit/>
          </a:bodyPr>
          <a:lstStyle/>
          <a:p>
            <a:pPr algn="ctr"/>
            <a:r>
              <a:rPr sz="1800" b="1">
                <a:solidFill>
                  <a:srgbClr val="85B5C3"/>
                </a:solidFill>
                <a:latin typeface="PingFang SC"/>
              </a:rPr>
              <a:t>07</a:t>
            </a:r>
          </a:p>
        </p:txBody>
      </p:sp>
      <p:sp>
        <p:nvSpPr>
          <p:cNvPr id="20" name="TextBox 19"/>
          <p:cNvSpPr txBox="1"/>
          <p:nvPr/>
        </p:nvSpPr>
        <p:spPr>
          <a:xfrm>
            <a:off x="7612380" y="1702612"/>
            <a:ext cx="822959" cy="295351"/>
          </a:xfrm>
          <a:prstGeom prst="rect">
            <a:avLst/>
          </a:prstGeom>
          <a:noFill/>
          <a:ln>
            <a:noFill/>
          </a:ln>
        </p:spPr>
        <p:txBody>
          <a:bodyPr wrap="square" lIns="19050" rIns="19050" tIns="0" bIns="0" anchor="t">
            <a:normAutofit/>
          </a:bodyPr>
          <a:lstStyle/>
          <a:p>
            <a:pPr algn="l"/>
            <a:r>
              <a:rPr sz="1670" b="0">
                <a:solidFill>
                  <a:srgbClr val="374751"/>
                </a:solidFill>
                <a:latin typeface="PingFang SC"/>
              </a:rPr>
              <a:t>照护目标</a:t>
            </a:r>
          </a:p>
        </p:txBody>
      </p:sp>
      <p:sp>
        <p:nvSpPr>
          <p:cNvPr id="21" name="TextBox 20"/>
          <p:cNvSpPr txBox="1"/>
          <p:nvPr/>
        </p:nvSpPr>
        <p:spPr>
          <a:xfrm>
            <a:off x="1234440" y="2947720"/>
            <a:ext cx="905256" cy="411175"/>
          </a:xfrm>
          <a:prstGeom prst="rect">
            <a:avLst/>
          </a:prstGeom>
          <a:noFill/>
          <a:ln>
            <a:noFill/>
          </a:ln>
        </p:spPr>
        <p:txBody>
          <a:bodyPr wrap="none" lIns="19050" rIns="19050" tIns="0" bIns="0" anchor="ctr">
            <a:noAutofit/>
          </a:bodyPr>
          <a:lstStyle/>
          <a:p>
            <a:pPr algn="ctr"/>
            <a:r>
              <a:rPr sz="1800" b="1">
                <a:solidFill>
                  <a:srgbClr val="86B3BA"/>
                </a:solidFill>
                <a:latin typeface="PingFang SC"/>
              </a:rPr>
              <a:t>02</a:t>
            </a:r>
          </a:p>
        </p:txBody>
      </p:sp>
      <p:sp>
        <p:nvSpPr>
          <p:cNvPr id="22" name="TextBox 21"/>
          <p:cNvSpPr txBox="1"/>
          <p:nvPr/>
        </p:nvSpPr>
        <p:spPr>
          <a:xfrm>
            <a:off x="1954530" y="3005632"/>
            <a:ext cx="462914" cy="295351"/>
          </a:xfrm>
          <a:prstGeom prst="rect">
            <a:avLst/>
          </a:prstGeom>
          <a:noFill/>
          <a:ln>
            <a:noFill/>
          </a:ln>
        </p:spPr>
        <p:txBody>
          <a:bodyPr wrap="square" lIns="19050" rIns="19050" tIns="0" bIns="0" anchor="t">
            <a:normAutofit/>
          </a:bodyPr>
          <a:lstStyle/>
          <a:p>
            <a:pPr algn="l"/>
            <a:r>
              <a:rPr sz="1770" b="0">
                <a:solidFill>
                  <a:srgbClr val="64B4C9"/>
                </a:solidFill>
                <a:latin typeface="PingFang SC"/>
              </a:rPr>
              <a:t>感染</a:t>
            </a:r>
          </a:p>
        </p:txBody>
      </p:sp>
      <p:sp>
        <p:nvSpPr>
          <p:cNvPr id="23" name="TextBox 22"/>
          <p:cNvSpPr txBox="1"/>
          <p:nvPr/>
        </p:nvSpPr>
        <p:spPr>
          <a:xfrm>
            <a:off x="4063365" y="2947720"/>
            <a:ext cx="905255" cy="411175"/>
          </a:xfrm>
          <a:prstGeom prst="rect">
            <a:avLst/>
          </a:prstGeom>
          <a:noFill/>
          <a:ln>
            <a:noFill/>
          </a:ln>
        </p:spPr>
        <p:txBody>
          <a:bodyPr wrap="none" lIns="19050" rIns="19050" tIns="0" bIns="0" anchor="ctr">
            <a:noAutofit/>
          </a:bodyPr>
          <a:lstStyle/>
          <a:p>
            <a:pPr algn="ctr"/>
            <a:r>
              <a:rPr sz="1800" b="1">
                <a:solidFill>
                  <a:srgbClr val="81E4FF"/>
                </a:solidFill>
                <a:latin typeface="PingFang SC"/>
              </a:rPr>
              <a:t>05</a:t>
            </a:r>
          </a:p>
        </p:txBody>
      </p:sp>
      <p:sp>
        <p:nvSpPr>
          <p:cNvPr id="24" name="TextBox 23"/>
          <p:cNvSpPr txBox="1"/>
          <p:nvPr/>
        </p:nvSpPr>
        <p:spPr>
          <a:xfrm>
            <a:off x="4783455" y="3005632"/>
            <a:ext cx="1440179" cy="295351"/>
          </a:xfrm>
          <a:prstGeom prst="rect">
            <a:avLst/>
          </a:prstGeom>
          <a:noFill/>
          <a:ln>
            <a:noFill/>
          </a:ln>
        </p:spPr>
        <p:txBody>
          <a:bodyPr wrap="square" lIns="19050" rIns="19050" tIns="0" bIns="0" anchor="t">
            <a:normAutofit/>
          </a:bodyPr>
          <a:lstStyle/>
          <a:p>
            <a:pPr algn="l"/>
            <a:r>
              <a:rPr sz="1670" b="0">
                <a:solidFill>
                  <a:srgbClr val="5DAFC7"/>
                </a:solidFill>
                <a:latin typeface="PingFang SC"/>
              </a:rPr>
              <a:t>辅助/附加治疗</a:t>
            </a:r>
          </a:p>
        </p:txBody>
      </p:sp>
      <p:sp>
        <p:nvSpPr>
          <p:cNvPr id="25" name="TextBox 24"/>
          <p:cNvSpPr txBox="1"/>
          <p:nvPr/>
        </p:nvSpPr>
        <p:spPr>
          <a:xfrm>
            <a:off x="6892290" y="2947720"/>
            <a:ext cx="905255" cy="411175"/>
          </a:xfrm>
          <a:prstGeom prst="rect">
            <a:avLst/>
          </a:prstGeom>
          <a:noFill/>
          <a:ln>
            <a:noFill/>
          </a:ln>
        </p:spPr>
        <p:txBody>
          <a:bodyPr wrap="none" lIns="19050" rIns="19050" tIns="0" bIns="0" anchor="ctr">
            <a:noAutofit/>
          </a:bodyPr>
          <a:lstStyle/>
          <a:p>
            <a:pPr algn="ctr"/>
            <a:r>
              <a:rPr sz="1800" b="1">
                <a:solidFill>
                  <a:srgbClr val="84B1BB"/>
                </a:solidFill>
                <a:latin typeface="PingFang SC"/>
              </a:rPr>
              <a:t>08</a:t>
            </a:r>
          </a:p>
        </p:txBody>
      </p:sp>
      <p:sp>
        <p:nvSpPr>
          <p:cNvPr id="26" name="TextBox 25"/>
          <p:cNvSpPr txBox="1"/>
          <p:nvPr/>
        </p:nvSpPr>
        <p:spPr>
          <a:xfrm>
            <a:off x="7612380" y="3005632"/>
            <a:ext cx="822959" cy="295351"/>
          </a:xfrm>
          <a:prstGeom prst="rect">
            <a:avLst/>
          </a:prstGeom>
          <a:noFill/>
          <a:ln>
            <a:noFill/>
          </a:ln>
        </p:spPr>
        <p:txBody>
          <a:bodyPr wrap="square" lIns="19050" rIns="19050" tIns="0" bIns="0" anchor="t">
            <a:normAutofit/>
          </a:bodyPr>
          <a:lstStyle/>
          <a:p>
            <a:pPr algn="l"/>
            <a:r>
              <a:rPr sz="1670" b="0">
                <a:solidFill>
                  <a:srgbClr val="364451"/>
                </a:solidFill>
                <a:latin typeface="PingFang SC"/>
              </a:rPr>
              <a:t>照护转接</a:t>
            </a:r>
          </a:p>
        </p:txBody>
      </p:sp>
      <p:sp>
        <p:nvSpPr>
          <p:cNvPr id="27" name="TextBox 26"/>
          <p:cNvSpPr txBox="1"/>
          <p:nvPr/>
        </p:nvSpPr>
        <p:spPr>
          <a:xfrm>
            <a:off x="1234440" y="4181246"/>
            <a:ext cx="905256" cy="411175"/>
          </a:xfrm>
          <a:prstGeom prst="rect">
            <a:avLst/>
          </a:prstGeom>
          <a:noFill/>
          <a:ln>
            <a:noFill/>
          </a:ln>
        </p:spPr>
        <p:txBody>
          <a:bodyPr wrap="none" lIns="19050" rIns="19050" tIns="0" bIns="0" anchor="ctr">
            <a:noAutofit/>
          </a:bodyPr>
          <a:lstStyle/>
          <a:p>
            <a:pPr algn="ctr"/>
            <a:r>
              <a:rPr sz="1800" b="1">
                <a:solidFill>
                  <a:srgbClr val="89B2B9"/>
                </a:solidFill>
                <a:latin typeface="PingFang SC"/>
              </a:rPr>
              <a:t>03</a:t>
            </a:r>
          </a:p>
        </p:txBody>
      </p:sp>
      <p:sp>
        <p:nvSpPr>
          <p:cNvPr id="28" name="TextBox 27"/>
          <p:cNvSpPr txBox="1"/>
          <p:nvPr/>
        </p:nvSpPr>
        <p:spPr>
          <a:xfrm>
            <a:off x="1954530" y="4239158"/>
            <a:ext cx="1543050" cy="295351"/>
          </a:xfrm>
          <a:prstGeom prst="rect">
            <a:avLst/>
          </a:prstGeom>
          <a:noFill/>
          <a:ln>
            <a:noFill/>
          </a:ln>
        </p:spPr>
        <p:txBody>
          <a:bodyPr wrap="square" lIns="19050" rIns="19050" tIns="0" bIns="0" anchor="t">
            <a:normAutofit/>
          </a:bodyPr>
          <a:lstStyle/>
          <a:p>
            <a:pPr algn="l"/>
            <a:r>
              <a:rPr sz="1730" b="0">
                <a:solidFill>
                  <a:srgbClr val="5EAFC9"/>
                </a:solidFill>
                <a:latin typeface="PingFang SC"/>
              </a:rPr>
              <a:t>血流动力学管理</a:t>
            </a:r>
          </a:p>
        </p:txBody>
      </p:sp>
      <p:sp>
        <p:nvSpPr>
          <p:cNvPr id="29" name="TextBox 28"/>
          <p:cNvSpPr txBox="1"/>
          <p:nvPr/>
        </p:nvSpPr>
        <p:spPr>
          <a:xfrm>
            <a:off x="4063365" y="4181246"/>
            <a:ext cx="905255" cy="411175"/>
          </a:xfrm>
          <a:prstGeom prst="rect">
            <a:avLst/>
          </a:prstGeom>
          <a:noFill/>
          <a:ln>
            <a:noFill/>
          </a:ln>
        </p:spPr>
        <p:txBody>
          <a:bodyPr wrap="none" lIns="19050" rIns="19050" tIns="0" bIns="0" anchor="ctr">
            <a:noAutofit/>
          </a:bodyPr>
          <a:lstStyle/>
          <a:p>
            <a:pPr algn="ctr"/>
            <a:r>
              <a:rPr sz="1800" b="1">
                <a:solidFill>
                  <a:srgbClr val="89B8C0"/>
                </a:solidFill>
                <a:latin typeface="PingFang SC"/>
              </a:rPr>
              <a:t>06</a:t>
            </a:r>
          </a:p>
        </p:txBody>
      </p:sp>
      <p:sp>
        <p:nvSpPr>
          <p:cNvPr id="30" name="TextBox 29"/>
          <p:cNvSpPr txBox="1"/>
          <p:nvPr/>
        </p:nvSpPr>
        <p:spPr>
          <a:xfrm>
            <a:off x="4783455" y="4239158"/>
            <a:ext cx="1440179" cy="295351"/>
          </a:xfrm>
          <a:prstGeom prst="rect">
            <a:avLst/>
          </a:prstGeom>
          <a:noFill/>
          <a:ln>
            <a:noFill/>
          </a:ln>
        </p:spPr>
        <p:txBody>
          <a:bodyPr wrap="square" lIns="19050" rIns="19050" tIns="0" bIns="0" anchor="t">
            <a:normAutofit/>
          </a:bodyPr>
          <a:lstStyle/>
          <a:p>
            <a:pPr algn="l"/>
            <a:r>
              <a:rPr sz="1670" b="0">
                <a:solidFill>
                  <a:srgbClr val="61B0C5"/>
                </a:solidFill>
                <a:latin typeface="PingFang SC"/>
              </a:rPr>
              <a:t>附加支持性治疗</a:t>
            </a:r>
          </a:p>
        </p:txBody>
      </p:sp>
      <p:sp>
        <p:nvSpPr>
          <p:cNvPr id="31" name="TextBox 30"/>
          <p:cNvSpPr txBox="1"/>
          <p:nvPr/>
        </p:nvSpPr>
        <p:spPr>
          <a:xfrm>
            <a:off x="6892290" y="4181246"/>
            <a:ext cx="905255" cy="411175"/>
          </a:xfrm>
          <a:prstGeom prst="rect">
            <a:avLst/>
          </a:prstGeom>
          <a:noFill/>
          <a:ln>
            <a:noFill/>
          </a:ln>
        </p:spPr>
        <p:txBody>
          <a:bodyPr wrap="none" lIns="19050" rIns="19050" tIns="0" bIns="0" anchor="ctr">
            <a:noAutofit/>
          </a:bodyPr>
          <a:lstStyle/>
          <a:p>
            <a:pPr algn="ctr"/>
            <a:r>
              <a:rPr sz="1800" b="1">
                <a:solidFill>
                  <a:srgbClr val="82E3FF"/>
                </a:solidFill>
                <a:latin typeface="PingFang SC"/>
              </a:rPr>
              <a:t>09</a:t>
            </a:r>
          </a:p>
        </p:txBody>
      </p:sp>
      <p:sp>
        <p:nvSpPr>
          <p:cNvPr id="32" name="TextBox 31"/>
          <p:cNvSpPr txBox="1"/>
          <p:nvPr/>
        </p:nvSpPr>
        <p:spPr>
          <a:xfrm>
            <a:off x="7612380" y="4239158"/>
            <a:ext cx="1440179" cy="295351"/>
          </a:xfrm>
          <a:prstGeom prst="rect">
            <a:avLst/>
          </a:prstGeom>
          <a:noFill/>
          <a:ln>
            <a:noFill/>
          </a:ln>
        </p:spPr>
        <p:txBody>
          <a:bodyPr wrap="square" lIns="19050" rIns="19050" tIns="0" bIns="0" anchor="t">
            <a:normAutofit/>
          </a:bodyPr>
          <a:lstStyle/>
          <a:p>
            <a:pPr algn="l"/>
            <a:r>
              <a:rPr sz="1670" b="0">
                <a:solidFill>
                  <a:srgbClr val="3A4853"/>
                </a:solidFill>
                <a:latin typeface="PingFang SC"/>
              </a:rPr>
              <a:t>长期结局与康复</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y2o06j_o.png"/>
          <p:cNvPicPr>
            <a:picLocks noChangeAspect="1"/>
          </p:cNvPicPr>
          <p:nvPr/>
        </p:nvPicPr>
        <p:blipFill>
          <a:blip r:embed="rId2"/>
          <a:stretch>
            <a:fillRect/>
          </a:stretch>
        </p:blipFill>
        <p:spPr>
          <a:xfrm>
            <a:off x="542925" y="4933950"/>
            <a:ext cx="2257425" cy="285750"/>
          </a:xfrm>
          <a:prstGeom prst="rect">
            <a:avLst/>
          </a:prstGeom>
        </p:spPr>
      </p:pic>
      <p:pic>
        <p:nvPicPr>
          <p:cNvPr id="4" name="Picture 3" descr="tmpcde3atn6.png"/>
          <p:cNvPicPr>
            <a:picLocks noChangeAspect="1"/>
          </p:cNvPicPr>
          <p:nvPr/>
        </p:nvPicPr>
        <p:blipFill>
          <a:blip r:embed="rId3"/>
          <a:stretch>
            <a:fillRect/>
          </a:stretch>
        </p:blipFill>
        <p:spPr>
          <a:xfrm>
            <a:off x="3619500" y="2828925"/>
            <a:ext cx="314325" cy="171450"/>
          </a:xfrm>
          <a:prstGeom prst="rect">
            <a:avLst/>
          </a:prstGeom>
        </p:spPr>
      </p:pic>
      <p:pic>
        <p:nvPicPr>
          <p:cNvPr id="5" name="Picture 4" descr="tmp_q24vxx8.png"/>
          <p:cNvPicPr>
            <a:picLocks noChangeAspect="1"/>
          </p:cNvPicPr>
          <p:nvPr/>
        </p:nvPicPr>
        <p:blipFill>
          <a:blip r:embed="rId4"/>
          <a:stretch>
            <a:fillRect/>
          </a:stretch>
        </p:blipFill>
        <p:spPr>
          <a:xfrm>
            <a:off x="6400800" y="2828925"/>
            <a:ext cx="304800" cy="171450"/>
          </a:xfrm>
          <a:prstGeom prst="rect">
            <a:avLst/>
          </a:prstGeom>
        </p:spPr>
      </p:pic>
      <p:sp>
        <p:nvSpPr>
          <p:cNvPr id="6" name="Rounded Rectangle 5"/>
          <p:cNvSpPr/>
          <p:nvPr/>
        </p:nvSpPr>
        <p:spPr>
          <a:xfrm>
            <a:off x="545211" y="949756"/>
            <a:ext cx="2407157" cy="1708404"/>
          </a:xfrm>
          <a:prstGeom prst="roundRect">
            <a:avLst>
              <a:gd name="adj" fmla="val 6000"/>
            </a:avLst>
          </a:prstGeom>
          <a:solidFill>
            <a:srgbClr val="F1FEFE"/>
          </a:solidFill>
          <a:ln w="11430">
            <a:solidFill>
              <a:srgbClr val="DBFC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106673" y="949756"/>
            <a:ext cx="2263140" cy="1708404"/>
          </a:xfrm>
          <a:prstGeom prst="roundRect">
            <a:avLst>
              <a:gd name="adj" fmla="val 6000"/>
            </a:avLst>
          </a:prstGeom>
          <a:solidFill>
            <a:srgbClr val="F1FEFE"/>
          </a:solidFill>
          <a:ln w="11430">
            <a:solidFill>
              <a:srgbClr val="82B6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524119" y="1111910"/>
            <a:ext cx="1697354" cy="463296"/>
          </a:xfrm>
          <a:prstGeom prst="roundRect">
            <a:avLst>
              <a:gd name="adj" fmla="val 6000"/>
            </a:avLst>
          </a:prstGeom>
          <a:solidFill>
            <a:srgbClr val="DBF2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524119" y="1806854"/>
            <a:ext cx="1697354" cy="463296"/>
          </a:xfrm>
          <a:prstGeom prst="roundRect">
            <a:avLst>
              <a:gd name="adj" fmla="val 6000"/>
            </a:avLst>
          </a:prstGeom>
          <a:solidFill>
            <a:srgbClr val="DCE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75779" y="949756"/>
            <a:ext cx="2366010" cy="1708404"/>
          </a:xfrm>
          <a:prstGeom prst="roundRect">
            <a:avLst>
              <a:gd name="adj" fmla="val 6000"/>
            </a:avLst>
          </a:prstGeom>
          <a:solidFill>
            <a:srgbClr val="F1FEFE"/>
          </a:solidFill>
          <a:ln w="11430">
            <a:solidFill>
              <a:srgbClr val="9D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5211" y="3196742"/>
            <a:ext cx="9196578" cy="1621535"/>
          </a:xfrm>
          <a:prstGeom prst="rect">
            <a:avLst/>
          </a:prstGeom>
          <a:solidFill>
            <a:srgbClr val="FDFEFE"/>
          </a:solidFill>
          <a:ln w="11430">
            <a:solidFill>
              <a:srgbClr val="F5FE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6933" y="382219"/>
            <a:ext cx="7868031" cy="312724"/>
          </a:xfrm>
          <a:prstGeom prst="rect">
            <a:avLst/>
          </a:prstGeom>
          <a:noFill/>
          <a:ln>
            <a:noFill/>
          </a:ln>
        </p:spPr>
        <p:txBody>
          <a:bodyPr wrap="none" lIns="19050" rIns="19050" tIns="0" bIns="0" anchor="ctr">
            <a:noAutofit/>
          </a:bodyPr>
          <a:lstStyle/>
          <a:p>
            <a:pPr algn="l"/>
            <a:r>
              <a:rPr sz="2700" b="1">
                <a:solidFill>
                  <a:srgbClr val="3E5092"/>
                </a:solidFill>
                <a:latin typeface="PingFang SC"/>
              </a:rPr>
              <a:t>术语及推荐等级、证据级别说明</a:t>
            </a:r>
          </a:p>
        </p:txBody>
      </p:sp>
      <p:sp>
        <p:nvSpPr>
          <p:cNvPr id="13" name="TextBox 12"/>
          <p:cNvSpPr txBox="1"/>
          <p:nvPr/>
        </p:nvSpPr>
        <p:spPr>
          <a:xfrm>
            <a:off x="637793" y="996086"/>
            <a:ext cx="1810511" cy="150571"/>
          </a:xfrm>
          <a:prstGeom prst="rect">
            <a:avLst/>
          </a:prstGeom>
          <a:noFill/>
          <a:ln>
            <a:noFill/>
          </a:ln>
        </p:spPr>
        <p:txBody>
          <a:bodyPr wrap="none" lIns="19050" rIns="19050" tIns="0" bIns="0" anchor="ctr">
            <a:noAutofit/>
          </a:bodyPr>
          <a:lstStyle/>
          <a:p>
            <a:pPr algn="l"/>
            <a:r>
              <a:rPr sz="1500" b="1">
                <a:solidFill>
                  <a:srgbClr val="41545C"/>
                </a:solidFill>
                <a:latin typeface="PingFang SC"/>
              </a:rPr>
              <a:t>推荐强度</a:t>
            </a:r>
          </a:p>
        </p:txBody>
      </p:sp>
      <p:sp>
        <p:nvSpPr>
          <p:cNvPr id="14" name="TextBox 13"/>
          <p:cNvSpPr txBox="1"/>
          <p:nvPr/>
        </p:nvSpPr>
        <p:spPr>
          <a:xfrm>
            <a:off x="637793" y="1285646"/>
            <a:ext cx="1028700" cy="173736"/>
          </a:xfrm>
          <a:prstGeom prst="rect">
            <a:avLst/>
          </a:prstGeom>
          <a:noFill/>
          <a:ln>
            <a:noFill/>
          </a:ln>
        </p:spPr>
        <p:txBody>
          <a:bodyPr wrap="square" lIns="19050" rIns="19050" tIns="0" bIns="0" anchor="t">
            <a:normAutofit/>
          </a:bodyPr>
          <a:lstStyle/>
          <a:p>
            <a:pPr algn="l"/>
            <a:r>
              <a:rPr sz="1280" b="0">
                <a:solidFill>
                  <a:srgbClr val="61A159"/>
                </a:solidFill>
                <a:latin typeface="PingFang SC"/>
              </a:rPr>
              <a:t>✓ ✓ 强推荐</a:t>
            </a:r>
          </a:p>
        </p:txBody>
      </p:sp>
      <p:sp>
        <p:nvSpPr>
          <p:cNvPr id="15" name="TextBox 14"/>
          <p:cNvSpPr txBox="1"/>
          <p:nvPr/>
        </p:nvSpPr>
        <p:spPr>
          <a:xfrm>
            <a:off x="637793" y="1552041"/>
            <a:ext cx="1234440" cy="173735"/>
          </a:xfrm>
          <a:prstGeom prst="rect">
            <a:avLst/>
          </a:prstGeom>
          <a:noFill/>
          <a:ln>
            <a:noFill/>
          </a:ln>
        </p:spPr>
        <p:txBody>
          <a:bodyPr wrap="square" lIns="19050" rIns="19050" tIns="0" bIns="0" anchor="t">
            <a:normAutofit/>
          </a:bodyPr>
          <a:lstStyle/>
          <a:p>
            <a:pPr algn="l"/>
            <a:r>
              <a:rPr sz="1280" b="0">
                <a:solidFill>
                  <a:srgbClr val="A6D09E"/>
                </a:solidFill>
                <a:latin typeface="PingFang SC"/>
              </a:rPr>
              <a:t>✓ 有条件推荐</a:t>
            </a:r>
          </a:p>
        </p:txBody>
      </p:sp>
      <p:sp>
        <p:nvSpPr>
          <p:cNvPr id="16" name="TextBox 15"/>
          <p:cNvSpPr txBox="1"/>
          <p:nvPr/>
        </p:nvSpPr>
        <p:spPr>
          <a:xfrm>
            <a:off x="637793" y="1818436"/>
            <a:ext cx="1440180" cy="173735"/>
          </a:xfrm>
          <a:prstGeom prst="rect">
            <a:avLst/>
          </a:prstGeom>
          <a:noFill/>
          <a:ln>
            <a:noFill/>
          </a:ln>
        </p:spPr>
        <p:txBody>
          <a:bodyPr wrap="square" lIns="19050" rIns="19050" tIns="0" bIns="0" anchor="t">
            <a:normAutofit/>
          </a:bodyPr>
          <a:lstStyle/>
          <a:p>
            <a:pPr algn="l"/>
            <a:r>
              <a:rPr sz="1200" b="0">
                <a:solidFill>
                  <a:srgbClr val="9EB0A4"/>
                </a:solidFill>
                <a:latin typeface="PingFang SC"/>
              </a:rPr>
              <a:t>✗ 有条件反对推荐</a:t>
            </a:r>
          </a:p>
        </p:txBody>
      </p:sp>
      <p:sp>
        <p:nvSpPr>
          <p:cNvPr id="17" name="TextBox 16"/>
          <p:cNvSpPr txBox="1"/>
          <p:nvPr/>
        </p:nvSpPr>
        <p:spPr>
          <a:xfrm>
            <a:off x="637793" y="2084832"/>
            <a:ext cx="1234440" cy="173736"/>
          </a:xfrm>
          <a:prstGeom prst="rect">
            <a:avLst/>
          </a:prstGeom>
          <a:noFill/>
          <a:ln>
            <a:noFill/>
          </a:ln>
        </p:spPr>
        <p:txBody>
          <a:bodyPr wrap="square" lIns="19050" rIns="19050" tIns="0" bIns="0" anchor="t">
            <a:normAutofit/>
          </a:bodyPr>
          <a:lstStyle/>
          <a:p>
            <a:pPr algn="l"/>
            <a:r>
              <a:rPr sz="1110" b="0">
                <a:solidFill>
                  <a:srgbClr val="9D9184"/>
                </a:solidFill>
                <a:latin typeface="PingFang SC"/>
              </a:rPr>
              <a:t>✗ ✗ 强烈反对建议</a:t>
            </a:r>
          </a:p>
        </p:txBody>
      </p:sp>
      <p:sp>
        <p:nvSpPr>
          <p:cNvPr id="18" name="TextBox 17"/>
          <p:cNvSpPr txBox="1"/>
          <p:nvPr/>
        </p:nvSpPr>
        <p:spPr>
          <a:xfrm>
            <a:off x="3209544" y="996086"/>
            <a:ext cx="1810512" cy="150571"/>
          </a:xfrm>
          <a:prstGeom prst="rect">
            <a:avLst/>
          </a:prstGeom>
          <a:noFill/>
          <a:ln>
            <a:noFill/>
          </a:ln>
        </p:spPr>
        <p:txBody>
          <a:bodyPr wrap="none" lIns="19050" rIns="19050" tIns="0" bIns="0" anchor="ctr">
            <a:noAutofit/>
          </a:bodyPr>
          <a:lstStyle/>
          <a:p>
            <a:pPr algn="l"/>
            <a:r>
              <a:rPr sz="1500" b="1">
                <a:solidFill>
                  <a:srgbClr val="4B5E67"/>
                </a:solidFill>
                <a:latin typeface="PingFang SC"/>
              </a:rPr>
              <a:t>证据等级</a:t>
            </a:r>
          </a:p>
        </p:txBody>
      </p:sp>
      <p:sp>
        <p:nvSpPr>
          <p:cNvPr id="19" name="TextBox 18"/>
          <p:cNvSpPr txBox="1"/>
          <p:nvPr/>
        </p:nvSpPr>
        <p:spPr>
          <a:xfrm>
            <a:off x="3209544" y="1285646"/>
            <a:ext cx="1440180" cy="173736"/>
          </a:xfrm>
          <a:prstGeom prst="rect">
            <a:avLst/>
          </a:prstGeom>
          <a:noFill/>
          <a:ln>
            <a:noFill/>
          </a:ln>
        </p:spPr>
        <p:txBody>
          <a:bodyPr wrap="square" lIns="19050" rIns="19050" tIns="0" bIns="0" anchor="t">
            <a:normAutofit/>
          </a:bodyPr>
          <a:lstStyle/>
          <a:p>
            <a:pPr algn="l"/>
            <a:r>
              <a:rPr sz="1200" b="0">
                <a:solidFill>
                  <a:srgbClr val="647274"/>
                </a:solidFill>
                <a:latin typeface="PingFang SC"/>
              </a:rPr>
              <a:t>⊕ ○ ○ ○ ○ 非常低</a:t>
            </a:r>
          </a:p>
        </p:txBody>
      </p:sp>
      <p:sp>
        <p:nvSpPr>
          <p:cNvPr id="20" name="TextBox 19"/>
          <p:cNvSpPr txBox="1"/>
          <p:nvPr/>
        </p:nvSpPr>
        <p:spPr>
          <a:xfrm>
            <a:off x="3209544" y="1552041"/>
            <a:ext cx="1028700" cy="173735"/>
          </a:xfrm>
          <a:prstGeom prst="rect">
            <a:avLst/>
          </a:prstGeom>
          <a:noFill/>
          <a:ln>
            <a:noFill/>
          </a:ln>
        </p:spPr>
        <p:txBody>
          <a:bodyPr wrap="square" lIns="19050" rIns="19050" tIns="0" bIns="0" anchor="t">
            <a:normAutofit/>
          </a:bodyPr>
          <a:lstStyle/>
          <a:p>
            <a:pPr algn="l"/>
            <a:r>
              <a:rPr sz="1170" b="0">
                <a:solidFill>
                  <a:srgbClr val="667477"/>
                </a:solidFill>
                <a:latin typeface="PingFang SC"/>
              </a:rPr>
              <a:t>⊕ ⊕ ○ ○ ○ 低</a:t>
            </a:r>
          </a:p>
        </p:txBody>
      </p:sp>
      <p:sp>
        <p:nvSpPr>
          <p:cNvPr id="21" name="TextBox 20"/>
          <p:cNvSpPr txBox="1"/>
          <p:nvPr/>
        </p:nvSpPr>
        <p:spPr>
          <a:xfrm>
            <a:off x="3209544" y="1818436"/>
            <a:ext cx="1234440" cy="173735"/>
          </a:xfrm>
          <a:prstGeom prst="rect">
            <a:avLst/>
          </a:prstGeom>
          <a:noFill/>
          <a:ln>
            <a:noFill/>
          </a:ln>
        </p:spPr>
        <p:txBody>
          <a:bodyPr wrap="square" lIns="19050" rIns="19050" tIns="0" bIns="0" anchor="t">
            <a:normAutofit/>
          </a:bodyPr>
          <a:lstStyle/>
          <a:p>
            <a:pPr algn="l"/>
            <a:r>
              <a:rPr sz="1190" b="0">
                <a:solidFill>
                  <a:srgbClr val="58676A"/>
                </a:solidFill>
                <a:latin typeface="PingFang SC"/>
              </a:rPr>
              <a:t>⊕ ⊕ ⊕ ○ ○ 中等</a:t>
            </a:r>
          </a:p>
        </p:txBody>
      </p:sp>
      <p:sp>
        <p:nvSpPr>
          <p:cNvPr id="22" name="TextBox 21"/>
          <p:cNvSpPr txBox="1"/>
          <p:nvPr/>
        </p:nvSpPr>
        <p:spPr>
          <a:xfrm>
            <a:off x="3209544" y="2084832"/>
            <a:ext cx="1028700" cy="173736"/>
          </a:xfrm>
          <a:prstGeom prst="rect">
            <a:avLst/>
          </a:prstGeom>
          <a:noFill/>
          <a:ln>
            <a:noFill/>
          </a:ln>
        </p:spPr>
        <p:txBody>
          <a:bodyPr wrap="square" lIns="19050" rIns="19050" tIns="0" bIns="0" anchor="t">
            <a:normAutofit/>
          </a:bodyPr>
          <a:lstStyle/>
          <a:p>
            <a:pPr algn="l"/>
            <a:r>
              <a:rPr sz="1170" b="0">
                <a:solidFill>
                  <a:srgbClr val="617174"/>
                </a:solidFill>
                <a:latin typeface="PingFang SC"/>
              </a:rPr>
              <a:t>⊕ ⊕ ⊕ ⊕ ○ 高</a:t>
            </a:r>
          </a:p>
        </p:txBody>
      </p:sp>
      <p:sp>
        <p:nvSpPr>
          <p:cNvPr id="23" name="TextBox 22"/>
          <p:cNvSpPr txBox="1"/>
          <p:nvPr/>
        </p:nvSpPr>
        <p:spPr>
          <a:xfrm>
            <a:off x="5575554" y="1169822"/>
            <a:ext cx="1594484" cy="347471"/>
          </a:xfrm>
          <a:prstGeom prst="rect">
            <a:avLst/>
          </a:prstGeom>
          <a:noFill/>
          <a:ln>
            <a:noFill/>
          </a:ln>
        </p:spPr>
        <p:txBody>
          <a:bodyPr wrap="square" lIns="19050" rIns="19050" tIns="0" bIns="0" anchor="t">
            <a:normAutofit/>
          </a:bodyPr>
          <a:lstStyle/>
          <a:p>
            <a:pPr algn="ctr"/>
            <a:r>
              <a:rPr sz="1200" b="1">
                <a:solidFill>
                  <a:srgbClr val="986551"/>
                </a:solidFill>
                <a:latin typeface="PingFang SC"/>
              </a:rPr>
              <a:t>recommend</a:t>
            </a:r>
          </a:p>
          <a:p>
            <a:pPr algn="ctr"/>
            <a:r>
              <a:rPr sz="1200" b="1">
                <a:solidFill>
                  <a:srgbClr val="986551"/>
                </a:solidFill>
                <a:latin typeface="PingFang SC"/>
              </a:rPr>
              <a:t>正式建议 (推荐)</a:t>
            </a:r>
          </a:p>
        </p:txBody>
      </p:sp>
      <p:sp>
        <p:nvSpPr>
          <p:cNvPr id="24" name="TextBox 23"/>
          <p:cNvSpPr txBox="1"/>
          <p:nvPr/>
        </p:nvSpPr>
        <p:spPr>
          <a:xfrm>
            <a:off x="5575554" y="1864766"/>
            <a:ext cx="1594484" cy="347471"/>
          </a:xfrm>
          <a:prstGeom prst="rect">
            <a:avLst/>
          </a:prstGeom>
          <a:noFill/>
          <a:ln>
            <a:noFill/>
          </a:ln>
        </p:spPr>
        <p:txBody>
          <a:bodyPr wrap="square" lIns="19050" rIns="19050" tIns="0" bIns="0" anchor="t">
            <a:normAutofit/>
          </a:bodyPr>
          <a:lstStyle/>
          <a:p>
            <a:pPr algn="ctr"/>
            <a:r>
              <a:rPr sz="1200" b="1">
                <a:solidFill>
                  <a:srgbClr val="E2D69B"/>
                </a:solidFill>
                <a:latin typeface="PingFang SC"/>
              </a:rPr>
              <a:t>suggest</a:t>
            </a:r>
          </a:p>
          <a:p>
            <a:pPr algn="ctr"/>
            <a:r>
              <a:rPr sz="1200" b="1">
                <a:solidFill>
                  <a:srgbClr val="E2D69B"/>
                </a:solidFill>
                <a:latin typeface="PingFang SC"/>
              </a:rPr>
              <a:t>可能性/建议 (建议)</a:t>
            </a:r>
          </a:p>
        </p:txBody>
      </p:sp>
      <p:sp>
        <p:nvSpPr>
          <p:cNvPr id="25" name="TextBox 24"/>
          <p:cNvSpPr txBox="1"/>
          <p:nvPr/>
        </p:nvSpPr>
        <p:spPr>
          <a:xfrm>
            <a:off x="7478649" y="996086"/>
            <a:ext cx="4752594" cy="150571"/>
          </a:xfrm>
          <a:prstGeom prst="rect">
            <a:avLst/>
          </a:prstGeom>
          <a:noFill/>
          <a:ln>
            <a:noFill/>
          </a:ln>
        </p:spPr>
        <p:txBody>
          <a:bodyPr wrap="none" lIns="19050" rIns="19050" tIns="0" bIns="0" anchor="ctr">
            <a:noAutofit/>
          </a:bodyPr>
          <a:lstStyle/>
          <a:p>
            <a:pPr algn="l"/>
            <a:r>
              <a:rPr sz="1500" b="1">
                <a:solidFill>
                  <a:srgbClr val="52646E"/>
                </a:solidFill>
                <a:latin typeface="PingFang SC"/>
              </a:rPr>
              <a:t>推荐强度/证据确定性变化</a:t>
            </a:r>
          </a:p>
        </p:txBody>
      </p:sp>
      <p:sp>
        <p:nvSpPr>
          <p:cNvPr id="26" name="TextBox 25"/>
          <p:cNvSpPr txBox="1"/>
          <p:nvPr/>
        </p:nvSpPr>
        <p:spPr>
          <a:xfrm>
            <a:off x="7941564" y="1517294"/>
            <a:ext cx="1234440" cy="463296"/>
          </a:xfrm>
          <a:prstGeom prst="rect">
            <a:avLst/>
          </a:prstGeom>
          <a:noFill/>
          <a:ln>
            <a:noFill/>
          </a:ln>
        </p:spPr>
        <p:txBody>
          <a:bodyPr wrap="square" lIns="19050" rIns="19050" tIns="0" bIns="0" anchor="t">
            <a:normAutofit/>
          </a:bodyPr>
          <a:lstStyle/>
          <a:p>
            <a:pPr algn="l"/>
            <a:r>
              <a:rPr sz="1350" b="0">
                <a:solidFill>
                  <a:srgbClr val="5C6C72"/>
                </a:solidFill>
                <a:latin typeface="PingFang SC"/>
              </a:rPr>
              <a:t>↑ 升级</a:t>
            </a:r>
          </a:p>
          <a:p>
            <a:pPr algn="l"/>
            <a:r>
              <a:rPr sz="1350" b="0">
                <a:solidFill>
                  <a:srgbClr val="5C6C72"/>
                </a:solidFill>
                <a:latin typeface="PingFang SC"/>
              </a:rPr>
              <a:t>↓ 降级</a:t>
            </a:r>
          </a:p>
        </p:txBody>
      </p:sp>
      <p:sp>
        <p:nvSpPr>
          <p:cNvPr id="27" name="TextBox 26"/>
          <p:cNvSpPr txBox="1"/>
          <p:nvPr/>
        </p:nvSpPr>
        <p:spPr>
          <a:xfrm>
            <a:off x="4032504" y="2826105"/>
            <a:ext cx="4978908" cy="173736"/>
          </a:xfrm>
          <a:prstGeom prst="rect">
            <a:avLst/>
          </a:prstGeom>
          <a:noFill/>
          <a:ln>
            <a:noFill/>
          </a:ln>
        </p:spPr>
        <p:txBody>
          <a:bodyPr wrap="none" lIns="19050" rIns="19050" tIns="0" bIns="0" anchor="ctr">
            <a:noAutofit/>
          </a:bodyPr>
          <a:lstStyle/>
          <a:p>
            <a:pPr algn="ctr"/>
            <a:r>
              <a:rPr sz="1800" b="1">
                <a:solidFill>
                  <a:srgbClr val="5FB0C9"/>
                </a:solidFill>
                <a:latin typeface="PingFang SC"/>
              </a:rPr>
              <a:t>本指南中的脓毒症术语</a:t>
            </a:r>
          </a:p>
        </p:txBody>
      </p:sp>
      <p:sp>
        <p:nvSpPr>
          <p:cNvPr id="28" name="TextBox 27"/>
          <p:cNvSpPr txBox="1"/>
          <p:nvPr/>
        </p:nvSpPr>
        <p:spPr>
          <a:xfrm>
            <a:off x="843534" y="3312566"/>
            <a:ext cx="2036825" cy="150571"/>
          </a:xfrm>
          <a:prstGeom prst="rect">
            <a:avLst/>
          </a:prstGeom>
          <a:noFill/>
          <a:ln>
            <a:noFill/>
          </a:ln>
        </p:spPr>
        <p:txBody>
          <a:bodyPr wrap="none" lIns="19050" rIns="19050" tIns="0" bIns="0" anchor="ctr">
            <a:noAutofit/>
          </a:bodyPr>
          <a:lstStyle/>
          <a:p>
            <a:pPr algn="l"/>
            <a:r>
              <a:rPr sz="1200" b="1">
                <a:solidFill>
                  <a:srgbClr val="6ABBCF"/>
                </a:solidFill>
                <a:latin typeface="PingFang SC"/>
              </a:rPr>
              <a:t>确诊脓毒症</a:t>
            </a:r>
          </a:p>
        </p:txBody>
      </p:sp>
      <p:sp>
        <p:nvSpPr>
          <p:cNvPr id="29" name="TextBox 28"/>
          <p:cNvSpPr txBox="1"/>
          <p:nvPr/>
        </p:nvSpPr>
        <p:spPr>
          <a:xfrm>
            <a:off x="843534" y="3602126"/>
            <a:ext cx="2036825" cy="150571"/>
          </a:xfrm>
          <a:prstGeom prst="rect">
            <a:avLst/>
          </a:prstGeom>
          <a:noFill/>
          <a:ln>
            <a:noFill/>
          </a:ln>
        </p:spPr>
        <p:txBody>
          <a:bodyPr wrap="none" lIns="19050" rIns="19050" tIns="0" bIns="0" anchor="ctr">
            <a:noAutofit/>
          </a:bodyPr>
          <a:lstStyle/>
          <a:p>
            <a:pPr algn="l"/>
            <a:r>
              <a:rPr sz="1200" b="1">
                <a:solidFill>
                  <a:srgbClr val="AAD5DE"/>
                </a:solidFill>
                <a:latin typeface="PingFang SC"/>
              </a:rPr>
              <a:t>疑似脓毒症</a:t>
            </a:r>
          </a:p>
        </p:txBody>
      </p:sp>
      <p:sp>
        <p:nvSpPr>
          <p:cNvPr id="30" name="TextBox 29"/>
          <p:cNvSpPr txBox="1"/>
          <p:nvPr/>
        </p:nvSpPr>
        <p:spPr>
          <a:xfrm>
            <a:off x="843534" y="3891686"/>
            <a:ext cx="2036825" cy="150571"/>
          </a:xfrm>
          <a:prstGeom prst="rect">
            <a:avLst/>
          </a:prstGeom>
          <a:noFill/>
          <a:ln>
            <a:noFill/>
          </a:ln>
        </p:spPr>
        <p:txBody>
          <a:bodyPr wrap="none" lIns="19050" rIns="19050" tIns="0" bIns="0" anchor="ctr">
            <a:noAutofit/>
          </a:bodyPr>
          <a:lstStyle/>
          <a:p>
            <a:pPr algn="l"/>
            <a:r>
              <a:rPr sz="1200" b="1">
                <a:solidFill>
                  <a:srgbClr val="000000"/>
                </a:solidFill>
                <a:latin typeface="PingFang SC"/>
              </a:rPr>
              <a:t>可能脓毒症</a:t>
            </a:r>
          </a:p>
        </p:txBody>
      </p:sp>
      <p:sp>
        <p:nvSpPr>
          <p:cNvPr id="31" name="TextBox 30"/>
          <p:cNvSpPr txBox="1"/>
          <p:nvPr/>
        </p:nvSpPr>
        <p:spPr>
          <a:xfrm>
            <a:off x="843534" y="4181246"/>
            <a:ext cx="2489454" cy="150571"/>
          </a:xfrm>
          <a:prstGeom prst="rect">
            <a:avLst/>
          </a:prstGeom>
          <a:noFill/>
          <a:ln>
            <a:noFill/>
          </a:ln>
        </p:spPr>
        <p:txBody>
          <a:bodyPr wrap="none" lIns="19050" rIns="19050" tIns="0" bIns="0" anchor="ctr">
            <a:noAutofit/>
          </a:bodyPr>
          <a:lstStyle/>
          <a:p>
            <a:pPr algn="l"/>
            <a:r>
              <a:rPr sz="1200" b="1">
                <a:solidFill>
                  <a:srgbClr val="95C5CD"/>
                </a:solidFill>
                <a:latin typeface="PingFang SC"/>
              </a:rPr>
              <a:t>脓毒症可能性低</a:t>
            </a:r>
          </a:p>
        </p:txBody>
      </p:sp>
      <p:sp>
        <p:nvSpPr>
          <p:cNvPr id="32" name="TextBox 31"/>
          <p:cNvSpPr txBox="1"/>
          <p:nvPr/>
        </p:nvSpPr>
        <p:spPr>
          <a:xfrm>
            <a:off x="8301609" y="173735"/>
            <a:ext cx="1800224" cy="416966"/>
          </a:xfrm>
          <a:prstGeom prst="rect">
            <a:avLst/>
          </a:prstGeom>
          <a:noFill/>
          <a:ln>
            <a:noFill/>
          </a:ln>
        </p:spPr>
        <p:txBody>
          <a:bodyPr wrap="square" lIns="19050" rIns="19050" tIns="0" bIns="0" anchor="t">
            <a:normAutofit/>
          </a:bodyPr>
          <a:lstStyle/>
          <a:p>
            <a:pPr algn="r"/>
            <a:r>
              <a:rPr sz="1220" b="0">
                <a:solidFill>
                  <a:srgbClr val="AFC3A9"/>
                </a:solidFill>
                <a:latin typeface="PingFang SC"/>
              </a:rPr>
              <a:t>Surviving Sepsis Campaign</a:t>
            </a:r>
          </a:p>
        </p:txBody>
      </p:sp>
      <p:sp>
        <p:nvSpPr>
          <p:cNvPr id="33" name="TextBox 32"/>
          <p:cNvSpPr txBox="1"/>
          <p:nvPr/>
        </p:nvSpPr>
        <p:spPr>
          <a:xfrm>
            <a:off x="606933" y="5455310"/>
            <a:ext cx="2331034" cy="115823"/>
          </a:xfrm>
          <a:prstGeom prst="rect">
            <a:avLst/>
          </a:prstGeom>
          <a:noFill/>
          <a:ln>
            <a:noFill/>
          </a:ln>
        </p:spPr>
        <p:txBody>
          <a:bodyPr wrap="none" lIns="19050" rIns="19050" tIns="0" bIns="0" anchor="ctr">
            <a:noAutofit/>
          </a:bodyPr>
          <a:lstStyle/>
          <a:p>
            <a:pPr algn="l"/>
            <a:r>
              <a:rPr sz="1050" b="0">
                <a:solidFill>
                  <a:srgbClr val="B8CFD3"/>
                </a:solidFill>
                <a:latin typeface="PingFang SC"/>
              </a:rPr>
              <a:t>公众号: 指南导航</a:t>
            </a:r>
          </a:p>
        </p:txBody>
      </p:sp>
      <p:sp>
        <p:nvSpPr>
          <p:cNvPr id="34" name="TextBox 33"/>
          <p:cNvSpPr txBox="1"/>
          <p:nvPr/>
        </p:nvSpPr>
        <p:spPr>
          <a:xfrm>
            <a:off x="10287000" y="5339486"/>
            <a:ext cx="0" cy="231647"/>
          </a:xfrm>
          <a:prstGeom prst="rect">
            <a:avLst/>
          </a:prstGeom>
          <a:noFill/>
          <a:ln>
            <a:noFill/>
          </a:ln>
        </p:spPr>
        <p:txBody>
          <a:bodyPr wrap="none" lIns="19050" rIns="19050" tIns="0" bIns="0" anchor="ctr">
            <a:noAutofit/>
          </a:bodyPr>
          <a:lstStyle/>
          <a:p>
            <a:pPr algn="r"/>
            <a:r>
              <a:rPr sz="1200" b="0">
                <a:solidFill>
                  <a:srgbClr val="000000"/>
                </a:solidFill>
                <a:latin typeface="PingFang SC"/>
              </a:rPr>
              <a:t>3</a:t>
            </a:r>
          </a:p>
        </p:txBody>
      </p:sp>
      <p:pic>
        <p:nvPicPr>
          <p:cNvPr id="35" name="Picture 34" descr="tmp98jvpjfd.png"/>
          <p:cNvPicPr>
            <a:picLocks noChangeAspect="1"/>
          </p:cNvPicPr>
          <p:nvPr/>
        </p:nvPicPr>
        <p:blipFill>
          <a:blip r:embed="rId5"/>
          <a:stretch>
            <a:fillRect/>
          </a:stretch>
        </p:blipFill>
        <p:spPr>
          <a:xfrm>
            <a:off x="3314700" y="1343025"/>
            <a:ext cx="200025" cy="171450"/>
          </a:xfrm>
          <a:prstGeom prst="rect">
            <a:avLst/>
          </a:prstGeom>
        </p:spPr>
      </p:pic>
      <p:pic>
        <p:nvPicPr>
          <p:cNvPr id="36" name="Picture 35" descr="tmpaoxsjp_0.png"/>
          <p:cNvPicPr>
            <a:picLocks noChangeAspect="1"/>
          </p:cNvPicPr>
          <p:nvPr/>
        </p:nvPicPr>
        <p:blipFill>
          <a:blip r:embed="rId6"/>
          <a:stretch>
            <a:fillRect/>
          </a:stretch>
        </p:blipFill>
        <p:spPr>
          <a:xfrm>
            <a:off x="3619500" y="1343025"/>
            <a:ext cx="209550" cy="171450"/>
          </a:xfrm>
          <a:prstGeom prst="rect">
            <a:avLst/>
          </a:prstGeom>
        </p:spPr>
      </p:pic>
      <p:pic>
        <p:nvPicPr>
          <p:cNvPr id="37" name="Picture 36" descr="tmp26b6aqs5.png"/>
          <p:cNvPicPr>
            <a:picLocks noChangeAspect="1"/>
          </p:cNvPicPr>
          <p:nvPr/>
        </p:nvPicPr>
        <p:blipFill>
          <a:blip r:embed="rId7"/>
          <a:stretch>
            <a:fillRect/>
          </a:stretch>
        </p:blipFill>
        <p:spPr>
          <a:xfrm>
            <a:off x="3933825" y="1343025"/>
            <a:ext cx="200025" cy="171450"/>
          </a:xfrm>
          <a:prstGeom prst="rect">
            <a:avLst/>
          </a:prstGeom>
        </p:spPr>
      </p:pic>
      <p:pic>
        <p:nvPicPr>
          <p:cNvPr id="38" name="Picture 37" descr="tmp603hfunv.png"/>
          <p:cNvPicPr>
            <a:picLocks noChangeAspect="1"/>
          </p:cNvPicPr>
          <p:nvPr/>
        </p:nvPicPr>
        <p:blipFill>
          <a:blip r:embed="rId8"/>
          <a:stretch>
            <a:fillRect/>
          </a:stretch>
        </p:blipFill>
        <p:spPr>
          <a:xfrm>
            <a:off x="4238625" y="1343025"/>
            <a:ext cx="209550" cy="171450"/>
          </a:xfrm>
          <a:prstGeom prst="rect">
            <a:avLst/>
          </a:prstGeom>
        </p:spPr>
      </p:pic>
      <p:pic>
        <p:nvPicPr>
          <p:cNvPr id="39" name="Picture 38" descr="tmp8btzxju8.png"/>
          <p:cNvPicPr>
            <a:picLocks noChangeAspect="1"/>
          </p:cNvPicPr>
          <p:nvPr/>
        </p:nvPicPr>
        <p:blipFill>
          <a:blip r:embed="rId9"/>
          <a:stretch>
            <a:fillRect/>
          </a:stretch>
        </p:blipFill>
        <p:spPr>
          <a:xfrm>
            <a:off x="4543425" y="1343025"/>
            <a:ext cx="209550" cy="171450"/>
          </a:xfrm>
          <a:prstGeom prst="rect">
            <a:avLst/>
          </a:prstGeom>
        </p:spPr>
      </p:pic>
      <p:pic>
        <p:nvPicPr>
          <p:cNvPr id="40" name="Picture 39" descr="tmp8bmnpwxu.png"/>
          <p:cNvPicPr>
            <a:picLocks noChangeAspect="1"/>
          </p:cNvPicPr>
          <p:nvPr/>
        </p:nvPicPr>
        <p:blipFill>
          <a:blip r:embed="rId10"/>
          <a:stretch>
            <a:fillRect/>
          </a:stretch>
        </p:blipFill>
        <p:spPr>
          <a:xfrm>
            <a:off x="3314700" y="1609725"/>
            <a:ext cx="200025" cy="171450"/>
          </a:xfrm>
          <a:prstGeom prst="rect">
            <a:avLst/>
          </a:prstGeom>
        </p:spPr>
      </p:pic>
      <p:pic>
        <p:nvPicPr>
          <p:cNvPr id="41" name="Picture 40" descr="tmp6rt_is6z.png"/>
          <p:cNvPicPr>
            <a:picLocks noChangeAspect="1"/>
          </p:cNvPicPr>
          <p:nvPr/>
        </p:nvPicPr>
        <p:blipFill>
          <a:blip r:embed="rId11"/>
          <a:stretch>
            <a:fillRect/>
          </a:stretch>
        </p:blipFill>
        <p:spPr>
          <a:xfrm>
            <a:off x="3619500" y="1609725"/>
            <a:ext cx="209550" cy="171450"/>
          </a:xfrm>
          <a:prstGeom prst="rect">
            <a:avLst/>
          </a:prstGeom>
        </p:spPr>
      </p:pic>
      <p:pic>
        <p:nvPicPr>
          <p:cNvPr id="42" name="Picture 41" descr="tmpsthnx2hj.png"/>
          <p:cNvPicPr>
            <a:picLocks noChangeAspect="1"/>
          </p:cNvPicPr>
          <p:nvPr/>
        </p:nvPicPr>
        <p:blipFill>
          <a:blip r:embed="rId12"/>
          <a:stretch>
            <a:fillRect/>
          </a:stretch>
        </p:blipFill>
        <p:spPr>
          <a:xfrm>
            <a:off x="3933825" y="1609725"/>
            <a:ext cx="200025" cy="171450"/>
          </a:xfrm>
          <a:prstGeom prst="rect">
            <a:avLst/>
          </a:prstGeom>
        </p:spPr>
      </p:pic>
      <p:pic>
        <p:nvPicPr>
          <p:cNvPr id="43" name="Picture 42" descr="tmpxwa5scln.png"/>
          <p:cNvPicPr>
            <a:picLocks noChangeAspect="1"/>
          </p:cNvPicPr>
          <p:nvPr/>
        </p:nvPicPr>
        <p:blipFill>
          <a:blip r:embed="rId13"/>
          <a:stretch>
            <a:fillRect/>
          </a:stretch>
        </p:blipFill>
        <p:spPr>
          <a:xfrm>
            <a:off x="4238625" y="1609725"/>
            <a:ext cx="209550" cy="171450"/>
          </a:xfrm>
          <a:prstGeom prst="rect">
            <a:avLst/>
          </a:prstGeom>
        </p:spPr>
      </p:pic>
      <p:pic>
        <p:nvPicPr>
          <p:cNvPr id="44" name="Picture 43" descr="tmpthdy7y4o.png"/>
          <p:cNvPicPr>
            <a:picLocks noChangeAspect="1"/>
          </p:cNvPicPr>
          <p:nvPr/>
        </p:nvPicPr>
        <p:blipFill>
          <a:blip r:embed="rId14"/>
          <a:stretch>
            <a:fillRect/>
          </a:stretch>
        </p:blipFill>
        <p:spPr>
          <a:xfrm>
            <a:off x="4543425" y="1609725"/>
            <a:ext cx="209550" cy="171450"/>
          </a:xfrm>
          <a:prstGeom prst="rect">
            <a:avLst/>
          </a:prstGeom>
        </p:spPr>
      </p:pic>
      <p:pic>
        <p:nvPicPr>
          <p:cNvPr id="45" name="Picture 44" descr="tmpfc17xhn7.png"/>
          <p:cNvPicPr>
            <a:picLocks noChangeAspect="1"/>
          </p:cNvPicPr>
          <p:nvPr/>
        </p:nvPicPr>
        <p:blipFill>
          <a:blip r:embed="rId15"/>
          <a:stretch>
            <a:fillRect/>
          </a:stretch>
        </p:blipFill>
        <p:spPr>
          <a:xfrm>
            <a:off x="3314700" y="1876425"/>
            <a:ext cx="200025" cy="171450"/>
          </a:xfrm>
          <a:prstGeom prst="rect">
            <a:avLst/>
          </a:prstGeom>
        </p:spPr>
      </p:pic>
      <p:pic>
        <p:nvPicPr>
          <p:cNvPr id="46" name="Picture 45" descr="tmp6f7tr3ya.png"/>
          <p:cNvPicPr>
            <a:picLocks noChangeAspect="1"/>
          </p:cNvPicPr>
          <p:nvPr/>
        </p:nvPicPr>
        <p:blipFill>
          <a:blip r:embed="rId16"/>
          <a:stretch>
            <a:fillRect/>
          </a:stretch>
        </p:blipFill>
        <p:spPr>
          <a:xfrm>
            <a:off x="3619500" y="1876425"/>
            <a:ext cx="209550" cy="171450"/>
          </a:xfrm>
          <a:prstGeom prst="rect">
            <a:avLst/>
          </a:prstGeom>
        </p:spPr>
      </p:pic>
      <p:pic>
        <p:nvPicPr>
          <p:cNvPr id="47" name="Picture 46" descr="tmpj432ewqv.png"/>
          <p:cNvPicPr>
            <a:picLocks noChangeAspect="1"/>
          </p:cNvPicPr>
          <p:nvPr/>
        </p:nvPicPr>
        <p:blipFill>
          <a:blip r:embed="rId17"/>
          <a:stretch>
            <a:fillRect/>
          </a:stretch>
        </p:blipFill>
        <p:spPr>
          <a:xfrm>
            <a:off x="3933825" y="1876425"/>
            <a:ext cx="200025" cy="171450"/>
          </a:xfrm>
          <a:prstGeom prst="rect">
            <a:avLst/>
          </a:prstGeom>
        </p:spPr>
      </p:pic>
      <p:pic>
        <p:nvPicPr>
          <p:cNvPr id="48" name="Picture 47" descr="tmpkd5v5h72.png"/>
          <p:cNvPicPr>
            <a:picLocks noChangeAspect="1"/>
          </p:cNvPicPr>
          <p:nvPr/>
        </p:nvPicPr>
        <p:blipFill>
          <a:blip r:embed="rId18"/>
          <a:stretch>
            <a:fillRect/>
          </a:stretch>
        </p:blipFill>
        <p:spPr>
          <a:xfrm>
            <a:off x="4238625" y="1876425"/>
            <a:ext cx="209550" cy="171450"/>
          </a:xfrm>
          <a:prstGeom prst="rect">
            <a:avLst/>
          </a:prstGeom>
        </p:spPr>
      </p:pic>
      <p:pic>
        <p:nvPicPr>
          <p:cNvPr id="49" name="Picture 48" descr="tmpqn2x108r.png"/>
          <p:cNvPicPr>
            <a:picLocks noChangeAspect="1"/>
          </p:cNvPicPr>
          <p:nvPr/>
        </p:nvPicPr>
        <p:blipFill>
          <a:blip r:embed="rId19"/>
          <a:stretch>
            <a:fillRect/>
          </a:stretch>
        </p:blipFill>
        <p:spPr>
          <a:xfrm>
            <a:off x="4543425" y="1876425"/>
            <a:ext cx="209550" cy="171450"/>
          </a:xfrm>
          <a:prstGeom prst="rect">
            <a:avLst/>
          </a:prstGeom>
        </p:spPr>
      </p:pic>
      <p:pic>
        <p:nvPicPr>
          <p:cNvPr id="50" name="Picture 49" descr="tmpti8i8prf.png"/>
          <p:cNvPicPr>
            <a:picLocks noChangeAspect="1"/>
          </p:cNvPicPr>
          <p:nvPr/>
        </p:nvPicPr>
        <p:blipFill>
          <a:blip r:embed="rId20"/>
          <a:stretch>
            <a:fillRect/>
          </a:stretch>
        </p:blipFill>
        <p:spPr>
          <a:xfrm>
            <a:off x="3314700" y="2143125"/>
            <a:ext cx="200025" cy="171450"/>
          </a:xfrm>
          <a:prstGeom prst="rect">
            <a:avLst/>
          </a:prstGeom>
        </p:spPr>
      </p:pic>
      <p:pic>
        <p:nvPicPr>
          <p:cNvPr id="51" name="Picture 50" descr="tmp7wzai2ck.png"/>
          <p:cNvPicPr>
            <a:picLocks noChangeAspect="1"/>
          </p:cNvPicPr>
          <p:nvPr/>
        </p:nvPicPr>
        <p:blipFill>
          <a:blip r:embed="rId21"/>
          <a:stretch>
            <a:fillRect/>
          </a:stretch>
        </p:blipFill>
        <p:spPr>
          <a:xfrm>
            <a:off x="3619500" y="2143125"/>
            <a:ext cx="209550" cy="171450"/>
          </a:xfrm>
          <a:prstGeom prst="rect">
            <a:avLst/>
          </a:prstGeom>
        </p:spPr>
      </p:pic>
      <p:pic>
        <p:nvPicPr>
          <p:cNvPr id="52" name="Picture 51" descr="tmpl0v5w7n1.png"/>
          <p:cNvPicPr>
            <a:picLocks noChangeAspect="1"/>
          </p:cNvPicPr>
          <p:nvPr/>
        </p:nvPicPr>
        <p:blipFill>
          <a:blip r:embed="rId22"/>
          <a:stretch>
            <a:fillRect/>
          </a:stretch>
        </p:blipFill>
        <p:spPr>
          <a:xfrm>
            <a:off x="3933825" y="2143125"/>
            <a:ext cx="200025" cy="171450"/>
          </a:xfrm>
          <a:prstGeom prst="rect">
            <a:avLst/>
          </a:prstGeom>
        </p:spPr>
      </p:pic>
      <p:pic>
        <p:nvPicPr>
          <p:cNvPr id="53" name="Picture 52" descr="tmpso8nul3k.png"/>
          <p:cNvPicPr>
            <a:picLocks noChangeAspect="1"/>
          </p:cNvPicPr>
          <p:nvPr/>
        </p:nvPicPr>
        <p:blipFill>
          <a:blip r:embed="rId23"/>
          <a:stretch>
            <a:fillRect/>
          </a:stretch>
        </p:blipFill>
        <p:spPr>
          <a:xfrm>
            <a:off x="4238625" y="2143125"/>
            <a:ext cx="209550" cy="171450"/>
          </a:xfrm>
          <a:prstGeom prst="rect">
            <a:avLst/>
          </a:prstGeom>
        </p:spPr>
      </p:pic>
      <p:pic>
        <p:nvPicPr>
          <p:cNvPr id="54" name="Picture 53" descr="tmpguq5hhcn.png"/>
          <p:cNvPicPr>
            <a:picLocks noChangeAspect="1"/>
          </p:cNvPicPr>
          <p:nvPr/>
        </p:nvPicPr>
        <p:blipFill>
          <a:blip r:embed="rId24"/>
          <a:stretch>
            <a:fillRect/>
          </a:stretch>
        </p:blipFill>
        <p:spPr>
          <a:xfrm>
            <a:off x="4543425" y="2143125"/>
            <a:ext cx="209550" cy="171450"/>
          </a:xfrm>
          <a:prstGeom prst="rect">
            <a:avLst/>
          </a:prstGeom>
        </p:spPr>
      </p:pic>
      <p:pic>
        <p:nvPicPr>
          <p:cNvPr id="55" name="Picture 54" descr="tmpogk_ni98.png"/>
          <p:cNvPicPr>
            <a:picLocks noChangeAspect="1"/>
          </p:cNvPicPr>
          <p:nvPr/>
        </p:nvPicPr>
        <p:blipFill>
          <a:blip r:embed="rId25"/>
          <a:stretch>
            <a:fillRect/>
          </a:stretch>
        </p:blipFill>
        <p:spPr>
          <a:xfrm>
            <a:off x="7943850" y="1571625"/>
            <a:ext cx="200025" cy="180975"/>
          </a:xfrm>
          <a:prstGeom prst="rect">
            <a:avLst/>
          </a:prstGeom>
        </p:spPr>
      </p:pic>
      <p:pic>
        <p:nvPicPr>
          <p:cNvPr id="56" name="Picture 55" descr="tmpz4akva4e.png"/>
          <p:cNvPicPr>
            <a:picLocks noChangeAspect="1"/>
          </p:cNvPicPr>
          <p:nvPr/>
        </p:nvPicPr>
        <p:blipFill>
          <a:blip r:embed="rId26"/>
          <a:stretch>
            <a:fillRect/>
          </a:stretch>
        </p:blipFill>
        <p:spPr>
          <a:xfrm>
            <a:off x="7943850" y="1866900"/>
            <a:ext cx="200025" cy="171450"/>
          </a:xfrm>
          <a:prstGeom prst="rect">
            <a:avLst/>
          </a:prstGeom>
        </p:spPr>
      </p:pic>
      <p:pic>
        <p:nvPicPr>
          <p:cNvPr id="57" name="Picture 56" descr="tmpmryai7zd.png"/>
          <p:cNvPicPr>
            <a:picLocks noChangeAspect="1"/>
          </p:cNvPicPr>
          <p:nvPr/>
        </p:nvPicPr>
        <p:blipFill>
          <a:blip r:embed="rId27"/>
          <a:stretch>
            <a:fillRect/>
          </a:stretch>
        </p:blipFill>
        <p:spPr>
          <a:xfrm>
            <a:off x="638175" y="1285875"/>
            <a:ext cx="209550" cy="171450"/>
          </a:xfrm>
          <a:prstGeom prst="rect">
            <a:avLst/>
          </a:prstGeom>
        </p:spPr>
      </p:pic>
      <p:pic>
        <p:nvPicPr>
          <p:cNvPr id="58" name="Picture 57" descr="tmp4wvospu4.png"/>
          <p:cNvPicPr>
            <a:picLocks noChangeAspect="1"/>
          </p:cNvPicPr>
          <p:nvPr/>
        </p:nvPicPr>
        <p:blipFill>
          <a:blip r:embed="rId28"/>
          <a:stretch>
            <a:fillRect/>
          </a:stretch>
        </p:blipFill>
        <p:spPr>
          <a:xfrm>
            <a:off x="638175" y="1552575"/>
            <a:ext cx="209550" cy="171450"/>
          </a:xfrm>
          <a:prstGeom prst="rect">
            <a:avLst/>
          </a:prstGeom>
        </p:spPr>
      </p:pic>
      <p:pic>
        <p:nvPicPr>
          <p:cNvPr id="59" name="Picture 58" descr="tmpyd5qedu3.png"/>
          <p:cNvPicPr>
            <a:picLocks noChangeAspect="1"/>
          </p:cNvPicPr>
          <p:nvPr/>
        </p:nvPicPr>
        <p:blipFill>
          <a:blip r:embed="rId29"/>
          <a:stretch>
            <a:fillRect/>
          </a:stretch>
        </p:blipFill>
        <p:spPr>
          <a:xfrm>
            <a:off x="638175" y="1819275"/>
            <a:ext cx="209550" cy="171450"/>
          </a:xfrm>
          <a:prstGeom prst="rect">
            <a:avLst/>
          </a:prstGeom>
        </p:spPr>
      </p:pic>
      <p:pic>
        <p:nvPicPr>
          <p:cNvPr id="60" name="Picture 59" descr="tmpyd5qedu3.png"/>
          <p:cNvPicPr>
            <a:picLocks noChangeAspect="1"/>
          </p:cNvPicPr>
          <p:nvPr/>
        </p:nvPicPr>
        <p:blipFill>
          <a:blip r:embed="rId29"/>
          <a:stretch>
            <a:fillRect/>
          </a:stretch>
        </p:blipFill>
        <p:spPr>
          <a:xfrm>
            <a:off x="638175" y="2085975"/>
            <a:ext cx="209550" cy="17145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gpikyy9b.png"/>
          <p:cNvPicPr>
            <a:picLocks noChangeAspect="1"/>
          </p:cNvPicPr>
          <p:nvPr/>
        </p:nvPicPr>
        <p:blipFill>
          <a:blip r:embed="rId2"/>
          <a:stretch>
            <a:fillRect/>
          </a:stretch>
        </p:blipFill>
        <p:spPr>
          <a:xfrm>
            <a:off x="533400" y="4914900"/>
            <a:ext cx="1085850" cy="323850"/>
          </a:xfrm>
          <a:prstGeom prst="rect">
            <a:avLst/>
          </a:prstGeom>
        </p:spPr>
      </p:pic>
      <p:pic>
        <p:nvPicPr>
          <p:cNvPr id="4" name="Picture 3" descr="tmpya75p2ex.png"/>
          <p:cNvPicPr>
            <a:picLocks noChangeAspect="1"/>
          </p:cNvPicPr>
          <p:nvPr/>
        </p:nvPicPr>
        <p:blipFill>
          <a:blip r:embed="rId3"/>
          <a:stretch>
            <a:fillRect/>
          </a:stretch>
        </p:blipFill>
        <p:spPr>
          <a:xfrm>
            <a:off x="1666875" y="4914900"/>
            <a:ext cx="952500" cy="323850"/>
          </a:xfrm>
          <a:prstGeom prst="rect">
            <a:avLst/>
          </a:prstGeom>
        </p:spPr>
      </p:pic>
      <p:sp>
        <p:nvSpPr>
          <p:cNvPr id="5" name="Rectangle 4"/>
          <p:cNvSpPr/>
          <p:nvPr/>
        </p:nvSpPr>
        <p:spPr>
          <a:xfrm>
            <a:off x="3919347" y="1760524"/>
            <a:ext cx="1707641" cy="69494"/>
          </a:xfrm>
          <a:prstGeom prst="rect">
            <a:avLst/>
          </a:prstGeom>
          <a:solidFill>
            <a:srgbClr val="9CC2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41823" y="3920642"/>
            <a:ext cx="1625345" cy="69494"/>
          </a:xfrm>
          <a:prstGeom prst="rect">
            <a:avLst/>
          </a:prstGeom>
          <a:solidFill>
            <a:srgbClr val="93C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923669" y="2420721"/>
            <a:ext cx="2670505" cy="833932"/>
          </a:xfrm>
          <a:prstGeom prst="rect">
            <a:avLst/>
          </a:prstGeom>
          <a:noFill/>
          <a:ln>
            <a:noFill/>
          </a:ln>
        </p:spPr>
        <p:txBody>
          <a:bodyPr wrap="none" lIns="19050" rIns="19050" tIns="0" bIns="0" anchor="ctr">
            <a:noAutofit/>
          </a:bodyPr>
          <a:lstStyle/>
          <a:p>
            <a:pPr algn="l"/>
            <a:r>
              <a:rPr sz="10800" b="1">
                <a:solidFill>
                  <a:srgbClr val="129ED4"/>
                </a:solidFill>
                <a:latin typeface="PingFang SC"/>
              </a:rPr>
              <a:t>01</a:t>
            </a:r>
          </a:p>
        </p:txBody>
      </p:sp>
      <p:sp>
        <p:nvSpPr>
          <p:cNvPr id="8" name="TextBox 7"/>
          <p:cNvSpPr txBox="1"/>
          <p:nvPr/>
        </p:nvSpPr>
        <p:spPr>
          <a:xfrm>
            <a:off x="3919347" y="2420721"/>
            <a:ext cx="7466838" cy="833932"/>
          </a:xfrm>
          <a:prstGeom prst="rect">
            <a:avLst/>
          </a:prstGeom>
          <a:noFill/>
          <a:ln>
            <a:noFill/>
          </a:ln>
        </p:spPr>
        <p:txBody>
          <a:bodyPr wrap="none" lIns="19050" rIns="19050" tIns="0" bIns="0" anchor="ctr">
            <a:noAutofit/>
          </a:bodyPr>
          <a:lstStyle/>
          <a:p>
            <a:pPr algn="l"/>
            <a:r>
              <a:rPr sz="3600" b="1">
                <a:solidFill>
                  <a:srgbClr val="384654"/>
                </a:solidFill>
                <a:latin typeface="PingFang SC"/>
              </a:rPr>
              <a:t>筛查与早期管理</a:t>
            </a:r>
          </a:p>
          <a:p>
            <a:pPr algn="l"/>
            <a:r>
              <a:rPr sz="3600" b="1">
                <a:solidFill>
                  <a:srgbClr val="384654"/>
                </a:solidFill>
                <a:latin typeface="PingFang SC"/>
              </a:rPr>
              <a:t>Screening and early management</a:t>
            </a:r>
          </a:p>
        </p:txBody>
      </p:sp>
      <p:sp>
        <p:nvSpPr>
          <p:cNvPr id="9" name="TextBox 8"/>
          <p:cNvSpPr txBox="1"/>
          <p:nvPr/>
        </p:nvSpPr>
        <p:spPr>
          <a:xfrm>
            <a:off x="8322183" y="173735"/>
            <a:ext cx="3915232" cy="428548"/>
          </a:xfrm>
          <a:prstGeom prst="rect">
            <a:avLst/>
          </a:prstGeom>
          <a:noFill/>
          <a:ln>
            <a:noFill/>
          </a:ln>
        </p:spPr>
        <p:txBody>
          <a:bodyPr wrap="none" lIns="19050" rIns="19050" tIns="0" bIns="0" anchor="ctr">
            <a:noAutofit/>
          </a:bodyPr>
          <a:lstStyle/>
          <a:p>
            <a:pPr algn="r"/>
            <a:r>
              <a:rPr sz="1800" b="0">
                <a:solidFill>
                  <a:srgbClr val="AEC2A8"/>
                </a:solidFill>
                <a:latin typeface="PingFang SC"/>
              </a:rPr>
              <a:t>Surviving Sepsis Campaign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pje13hv9.png"/>
          <p:cNvPicPr>
            <a:picLocks noChangeAspect="1"/>
          </p:cNvPicPr>
          <p:nvPr/>
        </p:nvPicPr>
        <p:blipFill>
          <a:blip r:embed="rId2"/>
          <a:stretch>
            <a:fillRect/>
          </a:stretch>
        </p:blipFill>
        <p:spPr>
          <a:xfrm>
            <a:off x="552450" y="4933950"/>
            <a:ext cx="2095500" cy="285750"/>
          </a:xfrm>
          <a:prstGeom prst="rect">
            <a:avLst/>
          </a:prstGeom>
        </p:spPr>
      </p:pic>
      <p:sp>
        <p:nvSpPr>
          <p:cNvPr id="4" name="Rounded Rectangle 3"/>
          <p:cNvSpPr/>
          <p:nvPr/>
        </p:nvSpPr>
        <p:spPr>
          <a:xfrm>
            <a:off x="555498" y="943965"/>
            <a:ext cx="9196577" cy="2107996"/>
          </a:xfrm>
          <a:prstGeom prst="roundRect">
            <a:avLst>
              <a:gd name="adj" fmla="val 6000"/>
            </a:avLst>
          </a:prstGeom>
          <a:solidFill>
            <a:srgbClr val="FDFEFE"/>
          </a:solidFill>
          <a:ln w="11430">
            <a:solidFill>
              <a:srgbClr val="EBFD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55498" y="3225698"/>
            <a:ext cx="9196577" cy="1447800"/>
          </a:xfrm>
          <a:prstGeom prst="rect">
            <a:avLst/>
          </a:prstGeom>
          <a:solidFill>
            <a:srgbClr val="EDF6FE"/>
          </a:solidFill>
          <a:ln w="11430">
            <a:solidFill>
              <a:srgbClr val="FBFD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6933" y="388010"/>
            <a:ext cx="4028389" cy="318516"/>
          </a:xfrm>
          <a:prstGeom prst="rect">
            <a:avLst/>
          </a:prstGeom>
          <a:noFill/>
          <a:ln>
            <a:noFill/>
          </a:ln>
        </p:spPr>
        <p:txBody>
          <a:bodyPr wrap="none" lIns="19050" rIns="19050" tIns="0" bIns="0" anchor="ctr">
            <a:noAutofit/>
          </a:bodyPr>
          <a:lstStyle/>
          <a:p>
            <a:pPr algn="l"/>
            <a:r>
              <a:rPr sz="3150" b="1">
                <a:solidFill>
                  <a:srgbClr val="405390"/>
                </a:solidFill>
                <a:latin typeface="PingFang SC"/>
              </a:rPr>
              <a:t>绩效改进计划</a:t>
            </a:r>
          </a:p>
        </p:txBody>
      </p:sp>
      <p:sp>
        <p:nvSpPr>
          <p:cNvPr id="7" name="TextBox 6"/>
          <p:cNvSpPr txBox="1"/>
          <p:nvPr/>
        </p:nvSpPr>
        <p:spPr>
          <a:xfrm>
            <a:off x="894968" y="1256690"/>
            <a:ext cx="7766685" cy="434339"/>
          </a:xfrm>
          <a:prstGeom prst="rect">
            <a:avLst/>
          </a:prstGeom>
          <a:noFill/>
          <a:ln>
            <a:noFill/>
          </a:ln>
        </p:spPr>
        <p:txBody>
          <a:bodyPr wrap="square" lIns="19050" rIns="19050" tIns="0" bIns="0" anchor="t">
            <a:normAutofit/>
          </a:bodyPr>
          <a:lstStyle/>
          <a:p>
            <a:pPr algn="l"/>
            <a:r>
              <a:rPr sz="1440" b="0">
                <a:solidFill>
                  <a:srgbClr val="7E8285"/>
                </a:solidFill>
                <a:latin typeface="PingFang SC"/>
              </a:rPr>
              <a:t>1. 对于医院和医疗系统，我们“推荐”采用脓毒症绩效改进方案，包括对急重症、高风险患者进行脓毒症筛查；制定治疗标准操作程序；以及实施脓毒症质量改进策略。</a:t>
            </a:r>
          </a:p>
        </p:txBody>
      </p:sp>
      <p:sp>
        <p:nvSpPr>
          <p:cNvPr id="8" name="TextBox 7"/>
          <p:cNvSpPr txBox="1"/>
          <p:nvPr/>
        </p:nvSpPr>
        <p:spPr>
          <a:xfrm>
            <a:off x="5750433" y="1893722"/>
            <a:ext cx="3662172" cy="434340"/>
          </a:xfrm>
          <a:prstGeom prst="rect">
            <a:avLst/>
          </a:prstGeom>
          <a:noFill/>
          <a:ln>
            <a:noFill/>
          </a:ln>
        </p:spPr>
        <p:txBody>
          <a:bodyPr wrap="square" lIns="19050" rIns="19050" tIns="0" bIns="0" anchor="t">
            <a:normAutofit/>
          </a:bodyPr>
          <a:lstStyle/>
          <a:p>
            <a:pPr algn="l"/>
            <a:r>
              <a:rPr sz="1220" b="0">
                <a:solidFill>
                  <a:srgbClr val="7D8E92"/>
                </a:solidFill>
                <a:latin typeface="PingFang SC"/>
              </a:rPr>
              <a:t>备注：绩效改进计划和质量改进策略可能因具体情况而异，并需根据医院/医疗保健系统的实施能力进行调整。</a:t>
            </a:r>
          </a:p>
        </p:txBody>
      </p:sp>
      <p:sp>
        <p:nvSpPr>
          <p:cNvPr id="9" name="TextBox 8"/>
          <p:cNvSpPr txBox="1"/>
          <p:nvPr/>
        </p:nvSpPr>
        <p:spPr>
          <a:xfrm>
            <a:off x="894968" y="1893722"/>
            <a:ext cx="2726055" cy="202692"/>
          </a:xfrm>
          <a:prstGeom prst="rect">
            <a:avLst/>
          </a:prstGeom>
          <a:noFill/>
          <a:ln>
            <a:noFill/>
          </a:ln>
        </p:spPr>
        <p:txBody>
          <a:bodyPr wrap="square" lIns="19050" rIns="19050" tIns="0" bIns="0" anchor="t">
            <a:normAutofit/>
          </a:bodyPr>
          <a:lstStyle/>
          <a:p>
            <a:pPr algn="l"/>
            <a:r>
              <a:rPr sz="1350" b="0">
                <a:solidFill>
                  <a:srgbClr val="639563"/>
                </a:solidFill>
                <a:latin typeface="PingFang SC"/>
              </a:rPr>
              <a:t>筛查： ✓ ✓ ⊕ ⊕ ⊕ ○</a:t>
            </a:r>
          </a:p>
        </p:txBody>
      </p:sp>
      <p:sp>
        <p:nvSpPr>
          <p:cNvPr id="10" name="TextBox 9"/>
          <p:cNvSpPr txBox="1"/>
          <p:nvPr/>
        </p:nvSpPr>
        <p:spPr>
          <a:xfrm>
            <a:off x="894968" y="2125370"/>
            <a:ext cx="2726055" cy="202692"/>
          </a:xfrm>
          <a:prstGeom prst="rect">
            <a:avLst/>
          </a:prstGeom>
          <a:noFill/>
          <a:ln>
            <a:noFill/>
          </a:ln>
        </p:spPr>
        <p:txBody>
          <a:bodyPr wrap="square" lIns="19050" rIns="19050" tIns="0" bIns="0" anchor="t">
            <a:normAutofit/>
          </a:bodyPr>
          <a:lstStyle/>
          <a:p>
            <a:pPr algn="l"/>
            <a:r>
              <a:rPr sz="1350" b="0">
                <a:solidFill>
                  <a:srgbClr val="609062"/>
                </a:solidFill>
                <a:latin typeface="PingFang SC"/>
              </a:rPr>
              <a:t>标准操作程序： ✓ ✓ ⊕ ○ ○ ○</a:t>
            </a:r>
          </a:p>
        </p:txBody>
      </p:sp>
      <p:sp>
        <p:nvSpPr>
          <p:cNvPr id="11" name="TextBox 10"/>
          <p:cNvSpPr txBox="1"/>
          <p:nvPr/>
        </p:nvSpPr>
        <p:spPr>
          <a:xfrm>
            <a:off x="894968" y="2357018"/>
            <a:ext cx="2726055" cy="202692"/>
          </a:xfrm>
          <a:prstGeom prst="rect">
            <a:avLst/>
          </a:prstGeom>
          <a:noFill/>
          <a:ln>
            <a:noFill/>
          </a:ln>
        </p:spPr>
        <p:txBody>
          <a:bodyPr wrap="square" lIns="19050" rIns="19050" tIns="0" bIns="0" anchor="t">
            <a:normAutofit/>
          </a:bodyPr>
          <a:lstStyle/>
          <a:p>
            <a:pPr algn="l"/>
            <a:r>
              <a:rPr sz="1350" b="0">
                <a:solidFill>
                  <a:srgbClr val="5E8765"/>
                </a:solidFill>
                <a:latin typeface="PingFang SC"/>
              </a:rPr>
              <a:t>质量改进策略： ✓ ✓ ⊕ ⊕ ⊕ ○</a:t>
            </a:r>
          </a:p>
        </p:txBody>
      </p:sp>
      <p:sp>
        <p:nvSpPr>
          <p:cNvPr id="12" name="TextBox 11"/>
          <p:cNvSpPr txBox="1"/>
          <p:nvPr/>
        </p:nvSpPr>
        <p:spPr>
          <a:xfrm>
            <a:off x="894968" y="2646578"/>
            <a:ext cx="4989195" cy="202691"/>
          </a:xfrm>
          <a:prstGeom prst="rect">
            <a:avLst/>
          </a:prstGeom>
          <a:noFill/>
          <a:ln>
            <a:noFill/>
          </a:ln>
        </p:spPr>
        <p:txBody>
          <a:bodyPr wrap="square" lIns="19050" rIns="19050" tIns="0" bIns="0" anchor="t">
            <a:normAutofit/>
          </a:bodyPr>
          <a:lstStyle/>
          <a:p>
            <a:pPr algn="l"/>
            <a:r>
              <a:rPr sz="1170" b="0">
                <a:solidFill>
                  <a:srgbClr val="62747D"/>
                </a:solidFill>
                <a:latin typeface="PingFang SC"/>
              </a:rPr>
              <a:t>新增：（脓毒症质量改进）；沿用（含筛查和标准操作流程的绩效改进项目）</a:t>
            </a:r>
          </a:p>
        </p:txBody>
      </p:sp>
      <p:sp>
        <p:nvSpPr>
          <p:cNvPr id="13" name="TextBox 12"/>
          <p:cNvSpPr txBox="1"/>
          <p:nvPr/>
        </p:nvSpPr>
        <p:spPr>
          <a:xfrm>
            <a:off x="792099" y="3370478"/>
            <a:ext cx="2602611" cy="173736"/>
          </a:xfrm>
          <a:prstGeom prst="rect">
            <a:avLst/>
          </a:prstGeom>
          <a:noFill/>
          <a:ln>
            <a:noFill/>
          </a:ln>
        </p:spPr>
        <p:txBody>
          <a:bodyPr wrap="none" lIns="19050" rIns="19050" tIns="0" bIns="0" anchor="ctr">
            <a:noAutofit/>
          </a:bodyPr>
          <a:lstStyle/>
          <a:p>
            <a:pPr algn="l"/>
            <a:r>
              <a:rPr sz="1500" b="1">
                <a:solidFill>
                  <a:srgbClr val="71A6B8"/>
                </a:solidFill>
                <a:latin typeface="PingFang SC"/>
              </a:rPr>
              <a:t>2021年声明 (1)</a:t>
            </a:r>
          </a:p>
        </p:txBody>
      </p:sp>
      <p:sp>
        <p:nvSpPr>
          <p:cNvPr id="14" name="TextBox 13"/>
          <p:cNvSpPr txBox="1"/>
          <p:nvPr/>
        </p:nvSpPr>
        <p:spPr>
          <a:xfrm>
            <a:off x="894968" y="3660038"/>
            <a:ext cx="7694675" cy="202691"/>
          </a:xfrm>
          <a:prstGeom prst="rect">
            <a:avLst/>
          </a:prstGeom>
          <a:noFill/>
          <a:ln>
            <a:noFill/>
          </a:ln>
        </p:spPr>
        <p:txBody>
          <a:bodyPr wrap="square" lIns="19050" rIns="19050" tIns="0" bIns="0" anchor="t">
            <a:normAutofit/>
          </a:bodyPr>
          <a:lstStyle/>
          <a:p>
            <a:pPr algn="l"/>
            <a:r>
              <a:rPr sz="1130" b="0">
                <a:solidFill>
                  <a:srgbClr val="A1A6AC"/>
                </a:solidFill>
                <a:latin typeface="PingFang SC"/>
              </a:rPr>
              <a:t>对于医院和医疗系统，我们建议采用脓毒症绩效改进方案，包括对急性高危患者进行脓毒症筛查以及制定标准化治疗操作流程。</a:t>
            </a:r>
          </a:p>
        </p:txBody>
      </p:sp>
      <p:sp>
        <p:nvSpPr>
          <p:cNvPr id="15" name="TextBox 14"/>
          <p:cNvSpPr txBox="1"/>
          <p:nvPr/>
        </p:nvSpPr>
        <p:spPr>
          <a:xfrm>
            <a:off x="894968" y="3949598"/>
            <a:ext cx="2726055" cy="202691"/>
          </a:xfrm>
          <a:prstGeom prst="rect">
            <a:avLst/>
          </a:prstGeom>
          <a:noFill/>
          <a:ln>
            <a:noFill/>
          </a:ln>
        </p:spPr>
        <p:txBody>
          <a:bodyPr wrap="square" lIns="19050" rIns="19050" tIns="0" bIns="0" anchor="t">
            <a:normAutofit/>
          </a:bodyPr>
          <a:lstStyle/>
          <a:p>
            <a:pPr algn="l"/>
            <a:r>
              <a:rPr sz="1350" b="0">
                <a:solidFill>
                  <a:srgbClr val="5C9663"/>
                </a:solidFill>
                <a:latin typeface="PingFang SC"/>
              </a:rPr>
              <a:t>筛查 ✓ ✓ ⊕ ⊕ ⊕ ○</a:t>
            </a:r>
          </a:p>
        </p:txBody>
      </p:sp>
      <p:sp>
        <p:nvSpPr>
          <p:cNvPr id="16" name="TextBox 15"/>
          <p:cNvSpPr txBox="1"/>
          <p:nvPr/>
        </p:nvSpPr>
        <p:spPr>
          <a:xfrm>
            <a:off x="894968" y="4181246"/>
            <a:ext cx="2726055" cy="202692"/>
          </a:xfrm>
          <a:prstGeom prst="rect">
            <a:avLst/>
          </a:prstGeom>
          <a:noFill/>
          <a:ln>
            <a:noFill/>
          </a:ln>
        </p:spPr>
        <p:txBody>
          <a:bodyPr wrap="square" lIns="19050" rIns="19050" tIns="0" bIns="0" anchor="t">
            <a:normAutofit/>
          </a:bodyPr>
          <a:lstStyle/>
          <a:p>
            <a:pPr algn="l"/>
            <a:r>
              <a:rPr sz="1350" b="0">
                <a:solidFill>
                  <a:srgbClr val="5A8D61"/>
                </a:solidFill>
                <a:latin typeface="PingFang SC"/>
              </a:rPr>
              <a:t>标准操作程序： ✓ ✓ ⊕ ○ ○ ○</a:t>
            </a:r>
          </a:p>
        </p:txBody>
      </p:sp>
      <p:sp>
        <p:nvSpPr>
          <p:cNvPr id="17" name="TextBox 16"/>
          <p:cNvSpPr txBox="1"/>
          <p:nvPr/>
        </p:nvSpPr>
        <p:spPr>
          <a:xfrm>
            <a:off x="555498" y="5455310"/>
            <a:ext cx="2104720" cy="144780"/>
          </a:xfrm>
          <a:prstGeom prst="rect">
            <a:avLst/>
          </a:prstGeom>
          <a:noFill/>
          <a:ln>
            <a:noFill/>
          </a:ln>
        </p:spPr>
        <p:txBody>
          <a:bodyPr wrap="none" lIns="19050" rIns="19050" tIns="0" bIns="0" anchor="ctr">
            <a:noAutofit/>
          </a:bodyPr>
          <a:lstStyle/>
          <a:p>
            <a:pPr algn="l"/>
            <a:r>
              <a:rPr sz="1200" b="0">
                <a:solidFill>
                  <a:srgbClr val="CAE2E3"/>
                </a:solidFill>
                <a:latin typeface="PingFang SC"/>
              </a:rPr>
              <a:t>公众号 指南导航</a:t>
            </a:r>
          </a:p>
        </p:txBody>
      </p:sp>
      <p:sp>
        <p:nvSpPr>
          <p:cNvPr id="18" name="TextBox 17"/>
          <p:cNvSpPr txBox="1"/>
          <p:nvPr/>
        </p:nvSpPr>
        <p:spPr>
          <a:xfrm>
            <a:off x="10287000" y="5339486"/>
            <a:ext cx="0" cy="231647"/>
          </a:xfrm>
          <a:prstGeom prst="rect">
            <a:avLst/>
          </a:prstGeom>
          <a:noFill/>
          <a:ln>
            <a:noFill/>
          </a:ln>
        </p:spPr>
        <p:txBody>
          <a:bodyPr wrap="none" lIns="19050" rIns="19050" tIns="0" bIns="0" anchor="ctr">
            <a:noAutofit/>
          </a:bodyPr>
          <a:lstStyle/>
          <a:p>
            <a:pPr algn="r"/>
            <a:r>
              <a:rPr sz="1500" b="0">
                <a:solidFill>
                  <a:srgbClr val="000000"/>
                </a:solidFill>
                <a:latin typeface="PingFang SC"/>
              </a:rPr>
              <a:t>5</a:t>
            </a:r>
          </a:p>
        </p:txBody>
      </p:sp>
      <p:sp>
        <p:nvSpPr>
          <p:cNvPr id="19" name="TextBox 18"/>
          <p:cNvSpPr txBox="1"/>
          <p:nvPr/>
        </p:nvSpPr>
        <p:spPr>
          <a:xfrm>
            <a:off x="8301609" y="156362"/>
            <a:ext cx="4005757" cy="463296"/>
          </a:xfrm>
          <a:prstGeom prst="rect">
            <a:avLst/>
          </a:prstGeom>
          <a:noFill/>
          <a:ln>
            <a:noFill/>
          </a:ln>
        </p:spPr>
        <p:txBody>
          <a:bodyPr wrap="none" lIns="19050" rIns="19050" tIns="0" bIns="0" anchor="ctr">
            <a:noAutofit/>
          </a:bodyPr>
          <a:lstStyle/>
          <a:p>
            <a:pPr algn="r"/>
            <a:r>
              <a:rPr sz="1800" b="0">
                <a:solidFill>
                  <a:srgbClr val="AFC3A9"/>
                </a:solidFill>
                <a:latin typeface="PingFang SC"/>
              </a:rPr>
              <a:t>Surviving Sepsis Campaign</a:t>
            </a:r>
          </a:p>
        </p:txBody>
      </p:sp>
      <p:pic>
        <p:nvPicPr>
          <p:cNvPr id="20" name="Picture 19" descr="tmp0lidfefz.png"/>
          <p:cNvPicPr>
            <a:picLocks noChangeAspect="1"/>
          </p:cNvPicPr>
          <p:nvPr/>
        </p:nvPicPr>
        <p:blipFill>
          <a:blip r:embed="rId3"/>
          <a:stretch>
            <a:fillRect/>
          </a:stretch>
        </p:blipFill>
        <p:spPr>
          <a:xfrm>
            <a:off x="895350" y="1895475"/>
            <a:ext cx="466725" cy="200025"/>
          </a:xfrm>
          <a:prstGeom prst="rect">
            <a:avLst/>
          </a:prstGeom>
        </p:spPr>
      </p:pic>
      <p:pic>
        <p:nvPicPr>
          <p:cNvPr id="21" name="Picture 20" descr="tmp5atzpa4t.png"/>
          <p:cNvPicPr>
            <a:picLocks noChangeAspect="1"/>
          </p:cNvPicPr>
          <p:nvPr/>
        </p:nvPicPr>
        <p:blipFill>
          <a:blip r:embed="rId4"/>
          <a:stretch>
            <a:fillRect/>
          </a:stretch>
        </p:blipFill>
        <p:spPr>
          <a:xfrm>
            <a:off x="1457325" y="1895475"/>
            <a:ext cx="466725" cy="200025"/>
          </a:xfrm>
          <a:prstGeom prst="rect">
            <a:avLst/>
          </a:prstGeom>
        </p:spPr>
      </p:pic>
      <p:pic>
        <p:nvPicPr>
          <p:cNvPr id="22" name="Picture 21" descr="tmpfofkb4iu.png"/>
          <p:cNvPicPr>
            <a:picLocks noChangeAspect="1"/>
          </p:cNvPicPr>
          <p:nvPr/>
        </p:nvPicPr>
        <p:blipFill>
          <a:blip r:embed="rId5"/>
          <a:stretch>
            <a:fillRect/>
          </a:stretch>
        </p:blipFill>
        <p:spPr>
          <a:xfrm>
            <a:off x="2028825" y="1895475"/>
            <a:ext cx="457200" cy="200025"/>
          </a:xfrm>
          <a:prstGeom prst="rect">
            <a:avLst/>
          </a:prstGeom>
        </p:spPr>
      </p:pic>
      <p:pic>
        <p:nvPicPr>
          <p:cNvPr id="23" name="Picture 22" descr="tmpk1a46b1w.png"/>
          <p:cNvPicPr>
            <a:picLocks noChangeAspect="1"/>
          </p:cNvPicPr>
          <p:nvPr/>
        </p:nvPicPr>
        <p:blipFill>
          <a:blip r:embed="rId6"/>
          <a:stretch>
            <a:fillRect/>
          </a:stretch>
        </p:blipFill>
        <p:spPr>
          <a:xfrm>
            <a:off x="2590800" y="1895475"/>
            <a:ext cx="466725" cy="200025"/>
          </a:xfrm>
          <a:prstGeom prst="rect">
            <a:avLst/>
          </a:prstGeom>
        </p:spPr>
      </p:pic>
      <p:pic>
        <p:nvPicPr>
          <p:cNvPr id="24" name="Picture 23" descr="tmpf2jd_nqf.png"/>
          <p:cNvPicPr>
            <a:picLocks noChangeAspect="1"/>
          </p:cNvPicPr>
          <p:nvPr/>
        </p:nvPicPr>
        <p:blipFill>
          <a:blip r:embed="rId7"/>
          <a:stretch>
            <a:fillRect/>
          </a:stretch>
        </p:blipFill>
        <p:spPr>
          <a:xfrm>
            <a:off x="3162300" y="1895475"/>
            <a:ext cx="457200" cy="200025"/>
          </a:xfrm>
          <a:prstGeom prst="rect">
            <a:avLst/>
          </a:prstGeom>
        </p:spPr>
      </p:pic>
      <p:pic>
        <p:nvPicPr>
          <p:cNvPr id="25" name="Picture 24" descr="tmpfkbzrqvk.png"/>
          <p:cNvPicPr>
            <a:picLocks noChangeAspect="1"/>
          </p:cNvPicPr>
          <p:nvPr/>
        </p:nvPicPr>
        <p:blipFill>
          <a:blip r:embed="rId8"/>
          <a:stretch>
            <a:fillRect/>
          </a:stretch>
        </p:blipFill>
        <p:spPr>
          <a:xfrm>
            <a:off x="895350" y="2124075"/>
            <a:ext cx="466725" cy="200025"/>
          </a:xfrm>
          <a:prstGeom prst="rect">
            <a:avLst/>
          </a:prstGeom>
        </p:spPr>
      </p:pic>
      <p:pic>
        <p:nvPicPr>
          <p:cNvPr id="26" name="Picture 25" descr="tmppz0r6t93.png"/>
          <p:cNvPicPr>
            <a:picLocks noChangeAspect="1"/>
          </p:cNvPicPr>
          <p:nvPr/>
        </p:nvPicPr>
        <p:blipFill>
          <a:blip r:embed="rId9"/>
          <a:stretch>
            <a:fillRect/>
          </a:stretch>
        </p:blipFill>
        <p:spPr>
          <a:xfrm>
            <a:off x="1457325" y="2124075"/>
            <a:ext cx="466725" cy="200025"/>
          </a:xfrm>
          <a:prstGeom prst="rect">
            <a:avLst/>
          </a:prstGeom>
        </p:spPr>
      </p:pic>
      <p:pic>
        <p:nvPicPr>
          <p:cNvPr id="27" name="Picture 26" descr="tmposjb8hq0.png"/>
          <p:cNvPicPr>
            <a:picLocks noChangeAspect="1"/>
          </p:cNvPicPr>
          <p:nvPr/>
        </p:nvPicPr>
        <p:blipFill>
          <a:blip r:embed="rId10"/>
          <a:stretch>
            <a:fillRect/>
          </a:stretch>
        </p:blipFill>
        <p:spPr>
          <a:xfrm>
            <a:off x="2028825" y="2124075"/>
            <a:ext cx="457200" cy="200025"/>
          </a:xfrm>
          <a:prstGeom prst="rect">
            <a:avLst/>
          </a:prstGeom>
        </p:spPr>
      </p:pic>
      <p:pic>
        <p:nvPicPr>
          <p:cNvPr id="28" name="Picture 27" descr="tmpb0ub8lxe.png"/>
          <p:cNvPicPr>
            <a:picLocks noChangeAspect="1"/>
          </p:cNvPicPr>
          <p:nvPr/>
        </p:nvPicPr>
        <p:blipFill>
          <a:blip r:embed="rId11"/>
          <a:stretch>
            <a:fillRect/>
          </a:stretch>
        </p:blipFill>
        <p:spPr>
          <a:xfrm>
            <a:off x="2590800" y="2124075"/>
            <a:ext cx="466725" cy="200025"/>
          </a:xfrm>
          <a:prstGeom prst="rect">
            <a:avLst/>
          </a:prstGeom>
        </p:spPr>
      </p:pic>
      <p:pic>
        <p:nvPicPr>
          <p:cNvPr id="29" name="Picture 28" descr="tmpaenzu2t8.png"/>
          <p:cNvPicPr>
            <a:picLocks noChangeAspect="1"/>
          </p:cNvPicPr>
          <p:nvPr/>
        </p:nvPicPr>
        <p:blipFill>
          <a:blip r:embed="rId12"/>
          <a:stretch>
            <a:fillRect/>
          </a:stretch>
        </p:blipFill>
        <p:spPr>
          <a:xfrm>
            <a:off x="3162300" y="2124075"/>
            <a:ext cx="457200" cy="200025"/>
          </a:xfrm>
          <a:prstGeom prst="rect">
            <a:avLst/>
          </a:prstGeom>
        </p:spPr>
      </p:pic>
      <p:pic>
        <p:nvPicPr>
          <p:cNvPr id="30" name="Picture 29" descr="tmp9hq1s58i.png"/>
          <p:cNvPicPr>
            <a:picLocks noChangeAspect="1"/>
          </p:cNvPicPr>
          <p:nvPr/>
        </p:nvPicPr>
        <p:blipFill>
          <a:blip r:embed="rId13"/>
          <a:stretch>
            <a:fillRect/>
          </a:stretch>
        </p:blipFill>
        <p:spPr>
          <a:xfrm>
            <a:off x="895350" y="2352675"/>
            <a:ext cx="466725" cy="209550"/>
          </a:xfrm>
          <a:prstGeom prst="rect">
            <a:avLst/>
          </a:prstGeom>
        </p:spPr>
      </p:pic>
      <p:pic>
        <p:nvPicPr>
          <p:cNvPr id="31" name="Picture 30" descr="tmp9zgxgoqt.png"/>
          <p:cNvPicPr>
            <a:picLocks noChangeAspect="1"/>
          </p:cNvPicPr>
          <p:nvPr/>
        </p:nvPicPr>
        <p:blipFill>
          <a:blip r:embed="rId14"/>
          <a:stretch>
            <a:fillRect/>
          </a:stretch>
        </p:blipFill>
        <p:spPr>
          <a:xfrm>
            <a:off x="1457325" y="2352675"/>
            <a:ext cx="466725" cy="209550"/>
          </a:xfrm>
          <a:prstGeom prst="rect">
            <a:avLst/>
          </a:prstGeom>
        </p:spPr>
      </p:pic>
      <p:pic>
        <p:nvPicPr>
          <p:cNvPr id="32" name="Picture 31" descr="tmp1ms_uoku.png"/>
          <p:cNvPicPr>
            <a:picLocks noChangeAspect="1"/>
          </p:cNvPicPr>
          <p:nvPr/>
        </p:nvPicPr>
        <p:blipFill>
          <a:blip r:embed="rId15"/>
          <a:stretch>
            <a:fillRect/>
          </a:stretch>
        </p:blipFill>
        <p:spPr>
          <a:xfrm>
            <a:off x="2028825" y="2352675"/>
            <a:ext cx="457200" cy="209550"/>
          </a:xfrm>
          <a:prstGeom prst="rect">
            <a:avLst/>
          </a:prstGeom>
        </p:spPr>
      </p:pic>
      <p:pic>
        <p:nvPicPr>
          <p:cNvPr id="33" name="Picture 32" descr="tmpy1ax3z6d.png"/>
          <p:cNvPicPr>
            <a:picLocks noChangeAspect="1"/>
          </p:cNvPicPr>
          <p:nvPr/>
        </p:nvPicPr>
        <p:blipFill>
          <a:blip r:embed="rId16"/>
          <a:stretch>
            <a:fillRect/>
          </a:stretch>
        </p:blipFill>
        <p:spPr>
          <a:xfrm>
            <a:off x="2590800" y="2352675"/>
            <a:ext cx="466725" cy="209550"/>
          </a:xfrm>
          <a:prstGeom prst="rect">
            <a:avLst/>
          </a:prstGeom>
        </p:spPr>
      </p:pic>
      <p:pic>
        <p:nvPicPr>
          <p:cNvPr id="34" name="Picture 33" descr="tmp7os91q6t.png"/>
          <p:cNvPicPr>
            <a:picLocks noChangeAspect="1"/>
          </p:cNvPicPr>
          <p:nvPr/>
        </p:nvPicPr>
        <p:blipFill>
          <a:blip r:embed="rId17"/>
          <a:stretch>
            <a:fillRect/>
          </a:stretch>
        </p:blipFill>
        <p:spPr>
          <a:xfrm>
            <a:off x="3162300" y="2352675"/>
            <a:ext cx="457200" cy="209550"/>
          </a:xfrm>
          <a:prstGeom prst="rect">
            <a:avLst/>
          </a:prstGeom>
        </p:spPr>
      </p:pic>
      <p:pic>
        <p:nvPicPr>
          <p:cNvPr id="35" name="Picture 34" descr="tmpyslgawl5.png"/>
          <p:cNvPicPr>
            <a:picLocks noChangeAspect="1"/>
          </p:cNvPicPr>
          <p:nvPr/>
        </p:nvPicPr>
        <p:blipFill>
          <a:blip r:embed="rId18"/>
          <a:stretch>
            <a:fillRect/>
          </a:stretch>
        </p:blipFill>
        <p:spPr>
          <a:xfrm>
            <a:off x="895350" y="3952875"/>
            <a:ext cx="466725" cy="200025"/>
          </a:xfrm>
          <a:prstGeom prst="rect">
            <a:avLst/>
          </a:prstGeom>
        </p:spPr>
      </p:pic>
      <p:pic>
        <p:nvPicPr>
          <p:cNvPr id="36" name="Picture 35" descr="tmph_tcop45.png"/>
          <p:cNvPicPr>
            <a:picLocks noChangeAspect="1"/>
          </p:cNvPicPr>
          <p:nvPr/>
        </p:nvPicPr>
        <p:blipFill>
          <a:blip r:embed="rId19"/>
          <a:stretch>
            <a:fillRect/>
          </a:stretch>
        </p:blipFill>
        <p:spPr>
          <a:xfrm>
            <a:off x="1457325" y="3952875"/>
            <a:ext cx="466725" cy="200025"/>
          </a:xfrm>
          <a:prstGeom prst="rect">
            <a:avLst/>
          </a:prstGeom>
        </p:spPr>
      </p:pic>
      <p:pic>
        <p:nvPicPr>
          <p:cNvPr id="37" name="Picture 36" descr="tmpo7c3tvuq.png"/>
          <p:cNvPicPr>
            <a:picLocks noChangeAspect="1"/>
          </p:cNvPicPr>
          <p:nvPr/>
        </p:nvPicPr>
        <p:blipFill>
          <a:blip r:embed="rId20"/>
          <a:stretch>
            <a:fillRect/>
          </a:stretch>
        </p:blipFill>
        <p:spPr>
          <a:xfrm>
            <a:off x="2028825" y="3952875"/>
            <a:ext cx="457200" cy="200025"/>
          </a:xfrm>
          <a:prstGeom prst="rect">
            <a:avLst/>
          </a:prstGeom>
        </p:spPr>
      </p:pic>
      <p:pic>
        <p:nvPicPr>
          <p:cNvPr id="38" name="Picture 37" descr="tmpjsxz_w8x.png"/>
          <p:cNvPicPr>
            <a:picLocks noChangeAspect="1"/>
          </p:cNvPicPr>
          <p:nvPr/>
        </p:nvPicPr>
        <p:blipFill>
          <a:blip r:embed="rId21"/>
          <a:stretch>
            <a:fillRect/>
          </a:stretch>
        </p:blipFill>
        <p:spPr>
          <a:xfrm>
            <a:off x="2590800" y="3952875"/>
            <a:ext cx="466725" cy="200025"/>
          </a:xfrm>
          <a:prstGeom prst="rect">
            <a:avLst/>
          </a:prstGeom>
        </p:spPr>
      </p:pic>
      <p:pic>
        <p:nvPicPr>
          <p:cNvPr id="39" name="Picture 38" descr="tmp5ur7l0i0.png"/>
          <p:cNvPicPr>
            <a:picLocks noChangeAspect="1"/>
          </p:cNvPicPr>
          <p:nvPr/>
        </p:nvPicPr>
        <p:blipFill>
          <a:blip r:embed="rId22"/>
          <a:stretch>
            <a:fillRect/>
          </a:stretch>
        </p:blipFill>
        <p:spPr>
          <a:xfrm>
            <a:off x="3162300" y="3952875"/>
            <a:ext cx="457200" cy="200025"/>
          </a:xfrm>
          <a:prstGeom prst="rect">
            <a:avLst/>
          </a:prstGeom>
        </p:spPr>
      </p:pic>
      <p:pic>
        <p:nvPicPr>
          <p:cNvPr id="40" name="Picture 39" descr="tmp01jrgrph.png"/>
          <p:cNvPicPr>
            <a:picLocks noChangeAspect="1"/>
          </p:cNvPicPr>
          <p:nvPr/>
        </p:nvPicPr>
        <p:blipFill>
          <a:blip r:embed="rId23"/>
          <a:stretch>
            <a:fillRect/>
          </a:stretch>
        </p:blipFill>
        <p:spPr>
          <a:xfrm>
            <a:off x="895350" y="4181475"/>
            <a:ext cx="466725" cy="200025"/>
          </a:xfrm>
          <a:prstGeom prst="rect">
            <a:avLst/>
          </a:prstGeom>
        </p:spPr>
      </p:pic>
      <p:pic>
        <p:nvPicPr>
          <p:cNvPr id="41" name="Picture 40" descr="tmpzwt3tog7.png"/>
          <p:cNvPicPr>
            <a:picLocks noChangeAspect="1"/>
          </p:cNvPicPr>
          <p:nvPr/>
        </p:nvPicPr>
        <p:blipFill>
          <a:blip r:embed="rId24"/>
          <a:stretch>
            <a:fillRect/>
          </a:stretch>
        </p:blipFill>
        <p:spPr>
          <a:xfrm>
            <a:off x="1457325" y="4181475"/>
            <a:ext cx="466725" cy="200025"/>
          </a:xfrm>
          <a:prstGeom prst="rect">
            <a:avLst/>
          </a:prstGeom>
        </p:spPr>
      </p:pic>
      <p:pic>
        <p:nvPicPr>
          <p:cNvPr id="42" name="Picture 41" descr="tmpjd0m2k9a.png"/>
          <p:cNvPicPr>
            <a:picLocks noChangeAspect="1"/>
          </p:cNvPicPr>
          <p:nvPr/>
        </p:nvPicPr>
        <p:blipFill>
          <a:blip r:embed="rId25"/>
          <a:stretch>
            <a:fillRect/>
          </a:stretch>
        </p:blipFill>
        <p:spPr>
          <a:xfrm>
            <a:off x="2028825" y="4181475"/>
            <a:ext cx="457200" cy="200025"/>
          </a:xfrm>
          <a:prstGeom prst="rect">
            <a:avLst/>
          </a:prstGeom>
        </p:spPr>
      </p:pic>
      <p:pic>
        <p:nvPicPr>
          <p:cNvPr id="43" name="Picture 42" descr="tmp8ztw7es5.png"/>
          <p:cNvPicPr>
            <a:picLocks noChangeAspect="1"/>
          </p:cNvPicPr>
          <p:nvPr/>
        </p:nvPicPr>
        <p:blipFill>
          <a:blip r:embed="rId26"/>
          <a:stretch>
            <a:fillRect/>
          </a:stretch>
        </p:blipFill>
        <p:spPr>
          <a:xfrm>
            <a:off x="2590800" y="4181475"/>
            <a:ext cx="466725" cy="200025"/>
          </a:xfrm>
          <a:prstGeom prst="rect">
            <a:avLst/>
          </a:prstGeom>
        </p:spPr>
      </p:pic>
      <p:pic>
        <p:nvPicPr>
          <p:cNvPr id="44" name="Picture 43" descr="tmp0ilv3787.png"/>
          <p:cNvPicPr>
            <a:picLocks noChangeAspect="1"/>
          </p:cNvPicPr>
          <p:nvPr/>
        </p:nvPicPr>
        <p:blipFill>
          <a:blip r:embed="rId27"/>
          <a:stretch>
            <a:fillRect/>
          </a:stretch>
        </p:blipFill>
        <p:spPr>
          <a:xfrm>
            <a:off x="3162300" y="4181475"/>
            <a:ext cx="457200" cy="200025"/>
          </a:xfrm>
          <a:prstGeom prst="rect">
            <a:avLst/>
          </a:prstGeom>
        </p:spPr>
      </p:pic>
      <p:pic>
        <p:nvPicPr>
          <p:cNvPr id="45" name="Picture 44" descr="tmpvh7m6wo8.png"/>
          <p:cNvPicPr>
            <a:picLocks noChangeAspect="1"/>
          </p:cNvPicPr>
          <p:nvPr/>
        </p:nvPicPr>
        <p:blipFill>
          <a:blip r:embed="rId28"/>
          <a:stretch>
            <a:fillRect/>
          </a:stretch>
        </p:blipFill>
        <p:spPr>
          <a:xfrm>
            <a:off x="9277350" y="1171575"/>
            <a:ext cx="314325" cy="17145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8g77y74x.png"/>
          <p:cNvPicPr>
            <a:picLocks noChangeAspect="1"/>
          </p:cNvPicPr>
          <p:nvPr/>
        </p:nvPicPr>
        <p:blipFill>
          <a:blip r:embed="rId2"/>
          <a:stretch>
            <a:fillRect/>
          </a:stretch>
        </p:blipFill>
        <p:spPr>
          <a:xfrm>
            <a:off x="495300" y="4933950"/>
            <a:ext cx="1066800" cy="228600"/>
          </a:xfrm>
          <a:prstGeom prst="rect">
            <a:avLst/>
          </a:prstGeom>
        </p:spPr>
      </p:pic>
      <p:pic>
        <p:nvPicPr>
          <p:cNvPr id="4" name="Picture 3" descr="tmp2pca5hmt.png"/>
          <p:cNvPicPr>
            <a:picLocks noChangeAspect="1"/>
          </p:cNvPicPr>
          <p:nvPr/>
        </p:nvPicPr>
        <p:blipFill>
          <a:blip r:embed="rId3"/>
          <a:stretch>
            <a:fillRect/>
          </a:stretch>
        </p:blipFill>
        <p:spPr>
          <a:xfrm>
            <a:off x="1666875" y="4933950"/>
            <a:ext cx="819150" cy="228600"/>
          </a:xfrm>
          <a:prstGeom prst="rect">
            <a:avLst/>
          </a:prstGeom>
        </p:spPr>
      </p:pic>
      <p:sp>
        <p:nvSpPr>
          <p:cNvPr id="5" name="Rounded Rectangle 4"/>
          <p:cNvSpPr/>
          <p:nvPr/>
        </p:nvSpPr>
        <p:spPr>
          <a:xfrm>
            <a:off x="555498" y="967130"/>
            <a:ext cx="9196577" cy="1534668"/>
          </a:xfrm>
          <a:prstGeom prst="roundRect">
            <a:avLst>
              <a:gd name="adj" fmla="val 6000"/>
            </a:avLst>
          </a:prstGeom>
          <a:solidFill>
            <a:srgbClr val="FEFEFE"/>
          </a:solidFill>
          <a:ln w="11430">
            <a:solidFill>
              <a:srgbClr val="1658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55498" y="3185160"/>
            <a:ext cx="9196577" cy="1111910"/>
          </a:xfrm>
          <a:prstGeom prst="roundRect">
            <a:avLst>
              <a:gd name="adj" fmla="val 6000"/>
            </a:avLst>
          </a:prstGeom>
          <a:solidFill>
            <a:srgbClr val="FDFEFD"/>
          </a:solidFill>
          <a:ln w="11430">
            <a:solidFill>
              <a:srgbClr val="FDFE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5498" y="428548"/>
            <a:ext cx="3802075" cy="277977"/>
          </a:xfrm>
          <a:prstGeom prst="rect">
            <a:avLst/>
          </a:prstGeom>
          <a:noFill/>
          <a:ln>
            <a:noFill/>
          </a:ln>
        </p:spPr>
        <p:txBody>
          <a:bodyPr wrap="none" lIns="19050" rIns="19050" tIns="0" bIns="0" anchor="ctr">
            <a:noAutofit/>
          </a:bodyPr>
          <a:lstStyle/>
          <a:p>
            <a:pPr algn="l"/>
            <a:r>
              <a:rPr sz="2400" b="1">
                <a:solidFill>
                  <a:srgbClr val="558BAE"/>
                </a:solidFill>
                <a:latin typeface="PingFang SC"/>
              </a:rPr>
              <a:t>实施策略</a:t>
            </a:r>
          </a:p>
        </p:txBody>
      </p:sp>
      <p:sp>
        <p:nvSpPr>
          <p:cNvPr id="8" name="TextBox 7"/>
          <p:cNvSpPr txBox="1"/>
          <p:nvPr/>
        </p:nvSpPr>
        <p:spPr>
          <a:xfrm>
            <a:off x="864108" y="1227734"/>
            <a:ext cx="8106156" cy="185318"/>
          </a:xfrm>
          <a:prstGeom prst="rect">
            <a:avLst/>
          </a:prstGeom>
          <a:noFill/>
          <a:ln>
            <a:noFill/>
          </a:ln>
        </p:spPr>
        <p:txBody>
          <a:bodyPr wrap="square" lIns="19050" rIns="19050" tIns="0" bIns="0" anchor="t">
            <a:normAutofit/>
          </a:bodyPr>
          <a:lstStyle/>
          <a:p>
            <a:pPr algn="l"/>
            <a:r>
              <a:rPr sz="1350" b="0">
                <a:solidFill>
                  <a:srgbClr val="77827F"/>
                </a:solidFill>
                <a:latin typeface="PingFang SC"/>
              </a:rPr>
              <a:t>2. 对于医院和医疗系统，我们“建议”采用“脓毒症警报”或“脓毒症会诊”方案。</a:t>
            </a:r>
          </a:p>
        </p:txBody>
      </p:sp>
      <p:sp>
        <p:nvSpPr>
          <p:cNvPr id="9" name="TextBox 8"/>
          <p:cNvSpPr txBox="1"/>
          <p:nvPr/>
        </p:nvSpPr>
        <p:spPr>
          <a:xfrm>
            <a:off x="2283714" y="1517294"/>
            <a:ext cx="4526280" cy="150571"/>
          </a:xfrm>
          <a:prstGeom prst="rect">
            <a:avLst/>
          </a:prstGeom>
          <a:noFill/>
          <a:ln>
            <a:noFill/>
          </a:ln>
        </p:spPr>
        <p:txBody>
          <a:bodyPr wrap="none" lIns="19050" rIns="19050" tIns="0" bIns="0" anchor="ctr">
            <a:noAutofit/>
          </a:bodyPr>
          <a:lstStyle/>
          <a:p>
            <a:pPr algn="l"/>
            <a:r>
              <a:rPr sz="1200" b="0">
                <a:solidFill>
                  <a:srgbClr val="75AFB9"/>
                </a:solidFill>
                <a:latin typeface="PingFang SC"/>
              </a:rPr>
              <a:t>【有条件推荐，证据低】</a:t>
            </a:r>
          </a:p>
        </p:txBody>
      </p:sp>
      <p:sp>
        <p:nvSpPr>
          <p:cNvPr id="10" name="TextBox 9"/>
          <p:cNvSpPr txBox="1"/>
          <p:nvPr/>
        </p:nvSpPr>
        <p:spPr>
          <a:xfrm>
            <a:off x="1255014" y="1806854"/>
            <a:ext cx="8023860" cy="521208"/>
          </a:xfrm>
          <a:prstGeom prst="rect">
            <a:avLst/>
          </a:prstGeom>
          <a:noFill/>
          <a:ln>
            <a:noFill/>
          </a:ln>
        </p:spPr>
        <p:txBody>
          <a:bodyPr wrap="square" lIns="19050" rIns="19050" tIns="0" bIns="0" anchor="t">
            <a:normAutofit/>
          </a:bodyPr>
          <a:lstStyle/>
          <a:p>
            <a:pPr algn="l"/>
            <a:r>
              <a:rPr sz="1200" b="0">
                <a:solidFill>
                  <a:srgbClr val="AABF9F"/>
                </a:solidFill>
                <a:latin typeface="PingFang SC"/>
              </a:rPr>
              <a:t>备注：“脓毒症警报”或“脓毒症会诊”方案要求多学科团队在床边进行会诊，以便在脓毒症筛查呈阳性后讨论并加快脓毒症的诊断和治疗。</a:t>
            </a:r>
          </a:p>
        </p:txBody>
      </p:sp>
      <p:sp>
        <p:nvSpPr>
          <p:cNvPr id="11" name="TextBox 10"/>
          <p:cNvSpPr txBox="1"/>
          <p:nvPr/>
        </p:nvSpPr>
        <p:spPr>
          <a:xfrm>
            <a:off x="555498" y="2710281"/>
            <a:ext cx="7302246" cy="277977"/>
          </a:xfrm>
          <a:prstGeom prst="rect">
            <a:avLst/>
          </a:prstGeom>
          <a:noFill/>
          <a:ln>
            <a:noFill/>
          </a:ln>
        </p:spPr>
        <p:txBody>
          <a:bodyPr wrap="none" lIns="19050" rIns="19050" tIns="0" bIns="0" anchor="ctr">
            <a:noAutofit/>
          </a:bodyPr>
          <a:lstStyle/>
          <a:p>
            <a:pPr algn="l"/>
            <a:r>
              <a:rPr sz="2400" b="1">
                <a:solidFill>
                  <a:srgbClr val="5585AC"/>
                </a:solidFill>
                <a:latin typeface="PingFang SC"/>
              </a:rPr>
              <a:t>在送往医院途中筛查脓毒症</a:t>
            </a:r>
          </a:p>
        </p:txBody>
      </p:sp>
      <p:sp>
        <p:nvSpPr>
          <p:cNvPr id="12" name="TextBox 11"/>
          <p:cNvSpPr txBox="1"/>
          <p:nvPr/>
        </p:nvSpPr>
        <p:spPr>
          <a:xfrm>
            <a:off x="864108" y="3439972"/>
            <a:ext cx="8106156" cy="185318"/>
          </a:xfrm>
          <a:prstGeom prst="rect">
            <a:avLst/>
          </a:prstGeom>
          <a:noFill/>
          <a:ln>
            <a:noFill/>
          </a:ln>
        </p:spPr>
        <p:txBody>
          <a:bodyPr wrap="square" lIns="19050" rIns="19050" tIns="0" bIns="0" anchor="t">
            <a:normAutofit/>
          </a:bodyPr>
          <a:lstStyle/>
          <a:p>
            <a:pPr algn="l"/>
            <a:r>
              <a:rPr sz="1150" b="0">
                <a:solidFill>
                  <a:srgbClr val="747A7C"/>
                </a:solidFill>
                <a:latin typeface="PingFang SC"/>
              </a:rPr>
              <a:t>3. 对于乘坐救护车或飞机送往医院的急症成人患者，我们“建议”使用标准脓毒症筛查工具，而非不使用筛查工具。</a:t>
            </a:r>
          </a:p>
        </p:txBody>
      </p:sp>
      <p:sp>
        <p:nvSpPr>
          <p:cNvPr id="13" name="TextBox 12"/>
          <p:cNvSpPr txBox="1"/>
          <p:nvPr/>
        </p:nvSpPr>
        <p:spPr>
          <a:xfrm>
            <a:off x="2283714" y="3717950"/>
            <a:ext cx="5205222" cy="150571"/>
          </a:xfrm>
          <a:prstGeom prst="rect">
            <a:avLst/>
          </a:prstGeom>
          <a:noFill/>
          <a:ln>
            <a:noFill/>
          </a:ln>
        </p:spPr>
        <p:txBody>
          <a:bodyPr wrap="none" lIns="19050" rIns="19050" tIns="0" bIns="0" anchor="ctr">
            <a:noAutofit/>
          </a:bodyPr>
          <a:lstStyle/>
          <a:p>
            <a:pPr algn="l"/>
            <a:r>
              <a:rPr sz="1200" b="0">
                <a:solidFill>
                  <a:srgbClr val="83888B"/>
                </a:solidFill>
                <a:latin typeface="PingFang SC"/>
              </a:rPr>
              <a:t>【有条件推荐，证据非常低】</a:t>
            </a:r>
          </a:p>
        </p:txBody>
      </p:sp>
      <p:sp>
        <p:nvSpPr>
          <p:cNvPr id="14" name="TextBox 13"/>
          <p:cNvSpPr txBox="1"/>
          <p:nvPr/>
        </p:nvSpPr>
        <p:spPr>
          <a:xfrm>
            <a:off x="8353044" y="173735"/>
            <a:ext cx="3756812" cy="416966"/>
          </a:xfrm>
          <a:prstGeom prst="rect">
            <a:avLst/>
          </a:prstGeom>
          <a:noFill/>
          <a:ln>
            <a:noFill/>
          </a:ln>
        </p:spPr>
        <p:txBody>
          <a:bodyPr wrap="none" lIns="19050" rIns="19050" tIns="0" bIns="0" anchor="ctr">
            <a:noAutofit/>
          </a:bodyPr>
          <a:lstStyle/>
          <a:p>
            <a:pPr algn="r"/>
            <a:r>
              <a:rPr sz="1800" b="0">
                <a:solidFill>
                  <a:srgbClr val="AFC3A9"/>
                </a:solidFill>
                <a:latin typeface="PingFang SC"/>
              </a:rPr>
              <a:t>Surviving Sepsis Campaign</a:t>
            </a:r>
          </a:p>
        </p:txBody>
      </p:sp>
      <p:sp>
        <p:nvSpPr>
          <p:cNvPr id="15" name="TextBox 14"/>
          <p:cNvSpPr txBox="1"/>
          <p:nvPr/>
        </p:nvSpPr>
        <p:spPr>
          <a:xfrm>
            <a:off x="555498" y="5455310"/>
            <a:ext cx="2444191" cy="127406"/>
          </a:xfrm>
          <a:prstGeom prst="rect">
            <a:avLst/>
          </a:prstGeom>
          <a:noFill/>
          <a:ln>
            <a:noFill/>
          </a:ln>
        </p:spPr>
        <p:txBody>
          <a:bodyPr wrap="none" lIns="19050" rIns="19050" tIns="0" bIns="0" anchor="ctr">
            <a:noAutofit/>
          </a:bodyPr>
          <a:lstStyle/>
          <a:p>
            <a:pPr algn="l"/>
            <a:r>
              <a:rPr sz="1050" b="0">
                <a:solidFill>
                  <a:srgbClr val="D3E7E8"/>
                </a:solidFill>
                <a:latin typeface="PingFang SC"/>
              </a:rPr>
              <a:t>公众号 指南导航</a:t>
            </a:r>
          </a:p>
        </p:txBody>
      </p:sp>
      <p:sp>
        <p:nvSpPr>
          <p:cNvPr id="16" name="TextBox 15"/>
          <p:cNvSpPr txBox="1"/>
          <p:nvPr/>
        </p:nvSpPr>
        <p:spPr>
          <a:xfrm>
            <a:off x="10287000" y="5339486"/>
            <a:ext cx="0" cy="243230"/>
          </a:xfrm>
          <a:prstGeom prst="rect">
            <a:avLst/>
          </a:prstGeom>
          <a:noFill/>
          <a:ln>
            <a:noFill/>
          </a:ln>
        </p:spPr>
        <p:txBody>
          <a:bodyPr wrap="none" lIns="19050" rIns="19050" tIns="0" bIns="0" anchor="ctr">
            <a:noAutofit/>
          </a:bodyPr>
          <a:lstStyle/>
          <a:p>
            <a:pPr algn="r"/>
            <a:r>
              <a:rPr sz="1350" b="0">
                <a:solidFill>
                  <a:srgbClr val="000000"/>
                </a:solidFill>
                <a:latin typeface="PingFang SC"/>
              </a:rPr>
              <a:t>6</a:t>
            </a:r>
          </a:p>
        </p:txBody>
      </p:sp>
      <p:pic>
        <p:nvPicPr>
          <p:cNvPr id="17" name="Picture 16" descr="tmp9p6_7d5t.png"/>
          <p:cNvPicPr>
            <a:picLocks noChangeAspect="1"/>
          </p:cNvPicPr>
          <p:nvPr/>
        </p:nvPicPr>
        <p:blipFill>
          <a:blip r:embed="rId4"/>
          <a:stretch>
            <a:fillRect/>
          </a:stretch>
        </p:blipFill>
        <p:spPr>
          <a:xfrm>
            <a:off x="552450" y="485775"/>
            <a:ext cx="314325" cy="161925"/>
          </a:xfrm>
          <a:prstGeom prst="rect">
            <a:avLst/>
          </a:prstGeom>
        </p:spPr>
      </p:pic>
      <p:pic>
        <p:nvPicPr>
          <p:cNvPr id="18" name="Picture 17" descr="tmpc14iclx0.png"/>
          <p:cNvPicPr>
            <a:picLocks noChangeAspect="1"/>
          </p:cNvPicPr>
          <p:nvPr/>
        </p:nvPicPr>
        <p:blipFill>
          <a:blip r:embed="rId5"/>
          <a:stretch>
            <a:fillRect/>
          </a:stretch>
        </p:blipFill>
        <p:spPr>
          <a:xfrm>
            <a:off x="1257300" y="1571625"/>
            <a:ext cx="228600" cy="152400"/>
          </a:xfrm>
          <a:prstGeom prst="rect">
            <a:avLst/>
          </a:prstGeom>
        </p:spPr>
      </p:pic>
      <p:pic>
        <p:nvPicPr>
          <p:cNvPr id="19" name="Picture 18" descr="tmpv0ya23fr.png"/>
          <p:cNvPicPr>
            <a:picLocks noChangeAspect="1"/>
          </p:cNvPicPr>
          <p:nvPr/>
        </p:nvPicPr>
        <p:blipFill>
          <a:blip r:embed="rId6"/>
          <a:stretch>
            <a:fillRect/>
          </a:stretch>
        </p:blipFill>
        <p:spPr>
          <a:xfrm>
            <a:off x="1562100" y="1571625"/>
            <a:ext cx="228600" cy="152400"/>
          </a:xfrm>
          <a:prstGeom prst="rect">
            <a:avLst/>
          </a:prstGeom>
        </p:spPr>
      </p:pic>
      <p:pic>
        <p:nvPicPr>
          <p:cNvPr id="20" name="Picture 19" descr="tmp7_l1kuns.png"/>
          <p:cNvPicPr>
            <a:picLocks noChangeAspect="1"/>
          </p:cNvPicPr>
          <p:nvPr/>
        </p:nvPicPr>
        <p:blipFill>
          <a:blip r:embed="rId7"/>
          <a:stretch>
            <a:fillRect/>
          </a:stretch>
        </p:blipFill>
        <p:spPr>
          <a:xfrm>
            <a:off x="1876425" y="1571625"/>
            <a:ext cx="219075" cy="152400"/>
          </a:xfrm>
          <a:prstGeom prst="rect">
            <a:avLst/>
          </a:prstGeom>
        </p:spPr>
      </p:pic>
      <p:pic>
        <p:nvPicPr>
          <p:cNvPr id="21" name="Picture 20" descr="tmpubgo50kq.png"/>
          <p:cNvPicPr>
            <a:picLocks noChangeAspect="1"/>
          </p:cNvPicPr>
          <p:nvPr/>
        </p:nvPicPr>
        <p:blipFill>
          <a:blip r:embed="rId8"/>
          <a:stretch>
            <a:fillRect/>
          </a:stretch>
        </p:blipFill>
        <p:spPr>
          <a:xfrm>
            <a:off x="2181225" y="1571625"/>
            <a:ext cx="228600" cy="152400"/>
          </a:xfrm>
          <a:prstGeom prst="rect">
            <a:avLst/>
          </a:prstGeom>
        </p:spPr>
      </p:pic>
      <p:pic>
        <p:nvPicPr>
          <p:cNvPr id="22" name="Picture 21" descr="tmpok0bwiql.png"/>
          <p:cNvPicPr>
            <a:picLocks noChangeAspect="1"/>
          </p:cNvPicPr>
          <p:nvPr/>
        </p:nvPicPr>
        <p:blipFill>
          <a:blip r:embed="rId9"/>
          <a:stretch>
            <a:fillRect/>
          </a:stretch>
        </p:blipFill>
        <p:spPr>
          <a:xfrm>
            <a:off x="2486025" y="1571625"/>
            <a:ext cx="228600" cy="152400"/>
          </a:xfrm>
          <a:prstGeom prst="rect">
            <a:avLst/>
          </a:prstGeom>
        </p:spPr>
      </p:pic>
      <p:pic>
        <p:nvPicPr>
          <p:cNvPr id="23" name="Picture 22" descr="tmpx5acnavw.png"/>
          <p:cNvPicPr>
            <a:picLocks noChangeAspect="1"/>
          </p:cNvPicPr>
          <p:nvPr/>
        </p:nvPicPr>
        <p:blipFill>
          <a:blip r:embed="rId10"/>
          <a:stretch>
            <a:fillRect/>
          </a:stretch>
        </p:blipFill>
        <p:spPr>
          <a:xfrm>
            <a:off x="1257300" y="3771900"/>
            <a:ext cx="228600" cy="152400"/>
          </a:xfrm>
          <a:prstGeom prst="rect">
            <a:avLst/>
          </a:prstGeom>
        </p:spPr>
      </p:pic>
      <p:pic>
        <p:nvPicPr>
          <p:cNvPr id="24" name="Picture 23" descr="tmp792wv7gu.png"/>
          <p:cNvPicPr>
            <a:picLocks noChangeAspect="1"/>
          </p:cNvPicPr>
          <p:nvPr/>
        </p:nvPicPr>
        <p:blipFill>
          <a:blip r:embed="rId11"/>
          <a:stretch>
            <a:fillRect/>
          </a:stretch>
        </p:blipFill>
        <p:spPr>
          <a:xfrm>
            <a:off x="1562100" y="3771900"/>
            <a:ext cx="228600" cy="152400"/>
          </a:xfrm>
          <a:prstGeom prst="rect">
            <a:avLst/>
          </a:prstGeom>
        </p:spPr>
      </p:pic>
      <p:pic>
        <p:nvPicPr>
          <p:cNvPr id="25" name="Picture 24" descr="tmp2gkv8r6i.png"/>
          <p:cNvPicPr>
            <a:picLocks noChangeAspect="1"/>
          </p:cNvPicPr>
          <p:nvPr/>
        </p:nvPicPr>
        <p:blipFill>
          <a:blip r:embed="rId12"/>
          <a:stretch>
            <a:fillRect/>
          </a:stretch>
        </p:blipFill>
        <p:spPr>
          <a:xfrm>
            <a:off x="1876425" y="3771900"/>
            <a:ext cx="219075" cy="152400"/>
          </a:xfrm>
          <a:prstGeom prst="rect">
            <a:avLst/>
          </a:prstGeom>
        </p:spPr>
      </p:pic>
      <p:pic>
        <p:nvPicPr>
          <p:cNvPr id="26" name="Picture 25" descr="tmp0gi7y7_m.png"/>
          <p:cNvPicPr>
            <a:picLocks noChangeAspect="1"/>
          </p:cNvPicPr>
          <p:nvPr/>
        </p:nvPicPr>
        <p:blipFill>
          <a:blip r:embed="rId13"/>
          <a:stretch>
            <a:fillRect/>
          </a:stretch>
        </p:blipFill>
        <p:spPr>
          <a:xfrm>
            <a:off x="2181225" y="3771900"/>
            <a:ext cx="228600" cy="152400"/>
          </a:xfrm>
          <a:prstGeom prst="rect">
            <a:avLst/>
          </a:prstGeom>
        </p:spPr>
      </p:pic>
      <p:pic>
        <p:nvPicPr>
          <p:cNvPr id="27" name="Picture 26" descr="tmpfku3kfnn.png"/>
          <p:cNvPicPr>
            <a:picLocks noChangeAspect="1"/>
          </p:cNvPicPr>
          <p:nvPr/>
        </p:nvPicPr>
        <p:blipFill>
          <a:blip r:embed="rId14"/>
          <a:stretch>
            <a:fillRect/>
          </a:stretch>
        </p:blipFill>
        <p:spPr>
          <a:xfrm>
            <a:off x="2486025" y="3771900"/>
            <a:ext cx="228600" cy="152400"/>
          </a:xfrm>
          <a:prstGeom prst="rect">
            <a:avLst/>
          </a:prstGeom>
        </p:spPr>
      </p:pic>
      <p:pic>
        <p:nvPicPr>
          <p:cNvPr id="28" name="Picture 27" descr="tmponfc692r.png"/>
          <p:cNvPicPr>
            <a:picLocks noChangeAspect="1"/>
          </p:cNvPicPr>
          <p:nvPr/>
        </p:nvPicPr>
        <p:blipFill>
          <a:blip r:embed="rId15"/>
          <a:stretch>
            <a:fillRect/>
          </a:stretch>
        </p:blipFill>
        <p:spPr>
          <a:xfrm>
            <a:off x="9382125" y="1247775"/>
            <a:ext cx="304800" cy="152400"/>
          </a:xfrm>
          <a:prstGeom prst="rect">
            <a:avLst/>
          </a:prstGeom>
        </p:spPr>
      </p:pic>
      <p:pic>
        <p:nvPicPr>
          <p:cNvPr id="29" name="Picture 28" descr="tmpztqly72q.png"/>
          <p:cNvPicPr>
            <a:picLocks noChangeAspect="1"/>
          </p:cNvPicPr>
          <p:nvPr/>
        </p:nvPicPr>
        <p:blipFill>
          <a:blip r:embed="rId16"/>
          <a:stretch>
            <a:fillRect/>
          </a:stretch>
        </p:blipFill>
        <p:spPr>
          <a:xfrm>
            <a:off x="9382125" y="3467100"/>
            <a:ext cx="304800" cy="142875"/>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2axcghia.png"/>
          <p:cNvPicPr>
            <a:picLocks noChangeAspect="1"/>
          </p:cNvPicPr>
          <p:nvPr/>
        </p:nvPicPr>
        <p:blipFill>
          <a:blip r:embed="rId2"/>
          <a:stretch>
            <a:fillRect/>
          </a:stretch>
        </p:blipFill>
        <p:spPr>
          <a:xfrm>
            <a:off x="552450" y="4914900"/>
            <a:ext cx="2247900" cy="285750"/>
          </a:xfrm>
          <a:prstGeom prst="rect">
            <a:avLst/>
          </a:prstGeom>
        </p:spPr>
      </p:pic>
      <p:pic>
        <p:nvPicPr>
          <p:cNvPr id="4" name="Picture 3" descr="tmpv2197vk2.png"/>
          <p:cNvPicPr>
            <a:picLocks noChangeAspect="1"/>
          </p:cNvPicPr>
          <p:nvPr/>
        </p:nvPicPr>
        <p:blipFill>
          <a:blip r:embed="rId3"/>
          <a:stretch>
            <a:fillRect/>
          </a:stretch>
        </p:blipFill>
        <p:spPr>
          <a:xfrm>
            <a:off x="2905125" y="4933950"/>
            <a:ext cx="714375" cy="247650"/>
          </a:xfrm>
          <a:prstGeom prst="rect">
            <a:avLst/>
          </a:prstGeom>
        </p:spPr>
      </p:pic>
      <p:sp>
        <p:nvSpPr>
          <p:cNvPr id="5" name="Rounded Rectangle 4"/>
          <p:cNvSpPr/>
          <p:nvPr/>
        </p:nvSpPr>
        <p:spPr>
          <a:xfrm>
            <a:off x="555498" y="967130"/>
            <a:ext cx="9134855" cy="1048207"/>
          </a:xfrm>
          <a:prstGeom prst="roundRect">
            <a:avLst>
              <a:gd name="adj" fmla="val 6000"/>
            </a:avLst>
          </a:prstGeom>
          <a:solidFill>
            <a:srgbClr val="FDFEFD"/>
          </a:solidFill>
          <a:ln w="11430">
            <a:solidFill>
              <a:srgbClr val="14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55498" y="2663952"/>
            <a:ext cx="9134855" cy="1204569"/>
          </a:xfrm>
          <a:prstGeom prst="roundRect">
            <a:avLst>
              <a:gd name="adj" fmla="val 6000"/>
            </a:avLst>
          </a:prstGeom>
          <a:solidFill>
            <a:srgbClr val="FEFEFE"/>
          </a:solidFill>
          <a:ln w="11430">
            <a:solidFill>
              <a:srgbClr val="FDFE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5498" y="451713"/>
            <a:ext cx="6065215" cy="266395"/>
          </a:xfrm>
          <a:prstGeom prst="rect">
            <a:avLst/>
          </a:prstGeom>
          <a:noFill/>
          <a:ln>
            <a:noFill/>
          </a:ln>
        </p:spPr>
        <p:txBody>
          <a:bodyPr wrap="none" lIns="19050" rIns="19050" tIns="0" bIns="0" anchor="ctr">
            <a:noAutofit/>
          </a:bodyPr>
          <a:lstStyle/>
          <a:p>
            <a:pPr algn="l"/>
            <a:r>
              <a:rPr sz="2400" b="1">
                <a:solidFill>
                  <a:srgbClr val="5789AD"/>
                </a:solidFill>
                <a:latin typeface="PingFang SC"/>
              </a:rPr>
              <a:t>医院内脓毒症筛查</a:t>
            </a:r>
          </a:p>
        </p:txBody>
      </p:sp>
      <p:sp>
        <p:nvSpPr>
          <p:cNvPr id="8" name="TextBox 7"/>
          <p:cNvSpPr txBox="1"/>
          <p:nvPr/>
        </p:nvSpPr>
        <p:spPr>
          <a:xfrm>
            <a:off x="740663" y="1169822"/>
            <a:ext cx="8435340" cy="231647"/>
          </a:xfrm>
          <a:prstGeom prst="rect">
            <a:avLst/>
          </a:prstGeom>
          <a:noFill/>
          <a:ln>
            <a:noFill/>
          </a:ln>
        </p:spPr>
        <p:txBody>
          <a:bodyPr wrap="square" lIns="19050" rIns="19050" tIns="0" bIns="0" anchor="t">
            <a:normAutofit/>
          </a:bodyPr>
          <a:lstStyle/>
          <a:p>
            <a:pPr algn="l"/>
            <a:r>
              <a:rPr sz="1210" b="0">
                <a:solidFill>
                  <a:srgbClr val="828386"/>
                </a:solidFill>
                <a:latin typeface="PingFang SC"/>
              </a:rPr>
              <a:t>4. 对于住院的急性病患者，我们“建议”使用NEWS、NEW2、MEWS或SIRS，而非qSOFA作为单一工具来筛查脓毒症。</a:t>
            </a:r>
          </a:p>
        </p:txBody>
      </p:sp>
      <p:sp>
        <p:nvSpPr>
          <p:cNvPr id="9" name="TextBox 8"/>
          <p:cNvSpPr txBox="1"/>
          <p:nvPr/>
        </p:nvSpPr>
        <p:spPr>
          <a:xfrm>
            <a:off x="3621023" y="1459382"/>
            <a:ext cx="3621024" cy="173735"/>
          </a:xfrm>
          <a:prstGeom prst="rect">
            <a:avLst/>
          </a:prstGeom>
          <a:noFill/>
          <a:ln>
            <a:noFill/>
          </a:ln>
        </p:spPr>
        <p:txBody>
          <a:bodyPr wrap="none" lIns="19050" rIns="19050" tIns="0" bIns="0" anchor="ctr">
            <a:noAutofit/>
          </a:bodyPr>
          <a:lstStyle/>
          <a:p>
            <a:pPr algn="l"/>
            <a:r>
              <a:rPr sz="1350" b="1">
                <a:solidFill>
                  <a:srgbClr val="78B0C1"/>
                </a:solidFill>
                <a:latin typeface="PingFang SC"/>
              </a:rPr>
              <a:t>【强推荐，证据中等】</a:t>
            </a:r>
          </a:p>
        </p:txBody>
      </p:sp>
      <p:sp>
        <p:nvSpPr>
          <p:cNvPr id="10" name="TextBox 9"/>
          <p:cNvSpPr txBox="1"/>
          <p:nvPr/>
        </p:nvSpPr>
        <p:spPr>
          <a:xfrm>
            <a:off x="555498" y="2212238"/>
            <a:ext cx="7610856" cy="266395"/>
          </a:xfrm>
          <a:prstGeom prst="rect">
            <a:avLst/>
          </a:prstGeom>
          <a:noFill/>
          <a:ln>
            <a:noFill/>
          </a:ln>
        </p:spPr>
        <p:txBody>
          <a:bodyPr wrap="none" lIns="19050" rIns="19050" tIns="0" bIns="0" anchor="ctr">
            <a:noAutofit/>
          </a:bodyPr>
          <a:lstStyle/>
          <a:p>
            <a:pPr algn="l"/>
            <a:r>
              <a:rPr sz="2400" b="1">
                <a:solidFill>
                  <a:srgbClr val="598AAD"/>
                </a:solidFill>
                <a:latin typeface="PingFang SC"/>
              </a:rPr>
              <a:t>脓毒症的生物标志物与快速诊断检测</a:t>
            </a:r>
          </a:p>
        </p:txBody>
      </p:sp>
      <p:sp>
        <p:nvSpPr>
          <p:cNvPr id="11" name="TextBox 10"/>
          <p:cNvSpPr txBox="1"/>
          <p:nvPr/>
        </p:nvSpPr>
        <p:spPr>
          <a:xfrm>
            <a:off x="740663" y="2907182"/>
            <a:ext cx="8435340" cy="231647"/>
          </a:xfrm>
          <a:prstGeom prst="rect">
            <a:avLst/>
          </a:prstGeom>
          <a:noFill/>
          <a:ln>
            <a:noFill/>
          </a:ln>
        </p:spPr>
        <p:txBody>
          <a:bodyPr wrap="square" lIns="19050" rIns="19050" tIns="0" bIns="0" anchor="t">
            <a:normAutofit/>
          </a:bodyPr>
          <a:lstStyle/>
          <a:p>
            <a:pPr algn="l"/>
            <a:r>
              <a:rPr sz="1410" b="0">
                <a:solidFill>
                  <a:srgbClr val="96767B"/>
                </a:solidFill>
                <a:latin typeface="PingFang SC"/>
              </a:rPr>
              <a:t>5. 脓毒症是一种临床诊断，不应仅依靠单一生物标志物或诊断测试来确诊或排除（良好实践声明）。</a:t>
            </a:r>
          </a:p>
        </p:txBody>
      </p:sp>
      <p:sp>
        <p:nvSpPr>
          <p:cNvPr id="12" name="TextBox 11"/>
          <p:cNvSpPr txBox="1"/>
          <p:nvPr/>
        </p:nvSpPr>
        <p:spPr>
          <a:xfrm>
            <a:off x="740663" y="3196742"/>
            <a:ext cx="8435340" cy="231647"/>
          </a:xfrm>
          <a:prstGeom prst="rect">
            <a:avLst/>
          </a:prstGeom>
          <a:noFill/>
          <a:ln>
            <a:noFill/>
          </a:ln>
        </p:spPr>
        <p:txBody>
          <a:bodyPr wrap="square" lIns="19050" rIns="19050" tIns="0" bIns="0" anchor="t">
            <a:normAutofit/>
          </a:bodyPr>
          <a:lstStyle/>
          <a:p>
            <a:pPr algn="l"/>
            <a:r>
              <a:rPr sz="1500" b="0">
                <a:solidFill>
                  <a:srgbClr val="A89698"/>
                </a:solidFill>
                <a:latin typeface="PingFang SC"/>
              </a:rPr>
              <a:t>6. 关于使用新型快速宿主反应诊断方法，目前“证据不足”，无法给出推荐建议。</a:t>
            </a:r>
          </a:p>
        </p:txBody>
      </p:sp>
      <p:sp>
        <p:nvSpPr>
          <p:cNvPr id="13" name="TextBox 12"/>
          <p:cNvSpPr txBox="1"/>
          <p:nvPr/>
        </p:nvSpPr>
        <p:spPr>
          <a:xfrm>
            <a:off x="9176004" y="1169822"/>
            <a:ext cx="814730" cy="150571"/>
          </a:xfrm>
          <a:prstGeom prst="rect">
            <a:avLst/>
          </a:prstGeom>
          <a:noFill/>
          <a:ln>
            <a:noFill/>
          </a:ln>
        </p:spPr>
        <p:txBody>
          <a:bodyPr wrap="none" lIns="19050" rIns="19050" tIns="0" bIns="0" anchor="ctr">
            <a:noAutofit/>
          </a:bodyPr>
          <a:lstStyle/>
          <a:p>
            <a:pPr algn="r"/>
            <a:r>
              <a:rPr sz="1200" b="1">
                <a:solidFill>
                  <a:srgbClr val="8FB680"/>
                </a:solidFill>
                <a:latin typeface="PingFang SC"/>
              </a:rPr>
              <a:t>修订</a:t>
            </a:r>
          </a:p>
        </p:txBody>
      </p:sp>
      <p:sp>
        <p:nvSpPr>
          <p:cNvPr id="14" name="TextBox 13"/>
          <p:cNvSpPr txBox="1"/>
          <p:nvPr/>
        </p:nvSpPr>
        <p:spPr>
          <a:xfrm>
            <a:off x="9176004" y="2907182"/>
            <a:ext cx="814730" cy="150571"/>
          </a:xfrm>
          <a:prstGeom prst="rect">
            <a:avLst/>
          </a:prstGeom>
          <a:noFill/>
          <a:ln>
            <a:noFill/>
          </a:ln>
        </p:spPr>
        <p:txBody>
          <a:bodyPr wrap="none" lIns="19050" rIns="19050" tIns="0" bIns="0" anchor="ctr">
            <a:noAutofit/>
          </a:bodyPr>
          <a:lstStyle/>
          <a:p>
            <a:pPr algn="r"/>
            <a:r>
              <a:rPr sz="1200" b="1">
                <a:solidFill>
                  <a:srgbClr val="8CB5CC"/>
                </a:solidFill>
                <a:latin typeface="PingFang SC"/>
              </a:rPr>
              <a:t>新增</a:t>
            </a:r>
          </a:p>
        </p:txBody>
      </p:sp>
      <p:sp>
        <p:nvSpPr>
          <p:cNvPr id="15" name="TextBox 14"/>
          <p:cNvSpPr txBox="1"/>
          <p:nvPr/>
        </p:nvSpPr>
        <p:spPr>
          <a:xfrm>
            <a:off x="8353044" y="173735"/>
            <a:ext cx="3756812" cy="416966"/>
          </a:xfrm>
          <a:prstGeom prst="rect">
            <a:avLst/>
          </a:prstGeom>
          <a:noFill/>
          <a:ln>
            <a:noFill/>
          </a:ln>
        </p:spPr>
        <p:txBody>
          <a:bodyPr wrap="none" lIns="19050" rIns="19050" tIns="0" bIns="0" anchor="ctr">
            <a:noAutofit/>
          </a:bodyPr>
          <a:lstStyle/>
          <a:p>
            <a:pPr algn="r"/>
            <a:r>
              <a:rPr sz="1800" b="0">
                <a:solidFill>
                  <a:srgbClr val="B0C4A9"/>
                </a:solidFill>
                <a:latin typeface="PingFang SC"/>
              </a:rPr>
              <a:t>Surviving Sepsis Campaign</a:t>
            </a:r>
          </a:p>
        </p:txBody>
      </p:sp>
      <p:sp>
        <p:nvSpPr>
          <p:cNvPr id="16" name="TextBox 15"/>
          <p:cNvSpPr txBox="1"/>
          <p:nvPr/>
        </p:nvSpPr>
        <p:spPr>
          <a:xfrm>
            <a:off x="555498" y="5455310"/>
            <a:ext cx="2217877" cy="150571"/>
          </a:xfrm>
          <a:prstGeom prst="rect">
            <a:avLst/>
          </a:prstGeom>
          <a:noFill/>
          <a:ln>
            <a:noFill/>
          </a:ln>
        </p:spPr>
        <p:txBody>
          <a:bodyPr wrap="none" lIns="19050" rIns="19050" tIns="0" bIns="0" anchor="ctr">
            <a:noAutofit/>
          </a:bodyPr>
          <a:lstStyle/>
          <a:p>
            <a:pPr algn="l"/>
            <a:r>
              <a:rPr sz="1050" b="0">
                <a:solidFill>
                  <a:srgbClr val="D0E6E8"/>
                </a:solidFill>
                <a:latin typeface="PingFang SC"/>
              </a:rPr>
              <a:t>公众号：指南导航</a:t>
            </a:r>
          </a:p>
        </p:txBody>
      </p:sp>
      <p:sp>
        <p:nvSpPr>
          <p:cNvPr id="17" name="TextBox 16"/>
          <p:cNvSpPr txBox="1"/>
          <p:nvPr/>
        </p:nvSpPr>
        <p:spPr>
          <a:xfrm>
            <a:off x="10287000" y="5339486"/>
            <a:ext cx="0" cy="289559"/>
          </a:xfrm>
          <a:prstGeom prst="rect">
            <a:avLst/>
          </a:prstGeom>
          <a:noFill/>
          <a:ln>
            <a:noFill/>
          </a:ln>
        </p:spPr>
        <p:txBody>
          <a:bodyPr wrap="none" lIns="19050" rIns="19050" tIns="0" bIns="0" anchor="ctr">
            <a:noAutofit/>
          </a:bodyPr>
          <a:lstStyle/>
          <a:p>
            <a:pPr algn="r"/>
            <a:r>
              <a:rPr sz="1500" b="0">
                <a:solidFill>
                  <a:srgbClr val="000000"/>
                </a:solidFill>
                <a:latin typeface="PingFang SC"/>
              </a:rPr>
              <a:t>7</a:t>
            </a:r>
          </a:p>
        </p:txBody>
      </p:sp>
      <p:pic>
        <p:nvPicPr>
          <p:cNvPr id="18" name="Picture 17" descr="tmpbqisoh1r.png"/>
          <p:cNvPicPr>
            <a:picLocks noChangeAspect="1"/>
          </p:cNvPicPr>
          <p:nvPr/>
        </p:nvPicPr>
        <p:blipFill>
          <a:blip r:embed="rId4"/>
          <a:stretch>
            <a:fillRect/>
          </a:stretch>
        </p:blipFill>
        <p:spPr>
          <a:xfrm>
            <a:off x="552450" y="485775"/>
            <a:ext cx="390525" cy="171450"/>
          </a:xfrm>
          <a:prstGeom prst="rect">
            <a:avLst/>
          </a:prstGeom>
        </p:spPr>
      </p:pic>
      <p:pic>
        <p:nvPicPr>
          <p:cNvPr id="19" name="Picture 18" descr="tmpoy13dunf.png"/>
          <p:cNvPicPr>
            <a:picLocks noChangeAspect="1"/>
          </p:cNvPicPr>
          <p:nvPr/>
        </p:nvPicPr>
        <p:blipFill>
          <a:blip r:embed="rId5"/>
          <a:stretch>
            <a:fillRect/>
          </a:stretch>
        </p:blipFill>
        <p:spPr>
          <a:xfrm>
            <a:off x="1257300" y="1571625"/>
            <a:ext cx="304800" cy="180975"/>
          </a:xfrm>
          <a:prstGeom prst="rect">
            <a:avLst/>
          </a:prstGeom>
        </p:spPr>
      </p:pic>
      <p:pic>
        <p:nvPicPr>
          <p:cNvPr id="20" name="Picture 19" descr="tmphcywq4c_.png"/>
          <p:cNvPicPr>
            <a:picLocks noChangeAspect="1"/>
          </p:cNvPicPr>
          <p:nvPr/>
        </p:nvPicPr>
        <p:blipFill>
          <a:blip r:embed="rId6"/>
          <a:stretch>
            <a:fillRect/>
          </a:stretch>
        </p:blipFill>
        <p:spPr>
          <a:xfrm>
            <a:off x="1628775" y="1571625"/>
            <a:ext cx="304800" cy="180975"/>
          </a:xfrm>
          <a:prstGeom prst="rect">
            <a:avLst/>
          </a:prstGeom>
        </p:spPr>
      </p:pic>
      <p:pic>
        <p:nvPicPr>
          <p:cNvPr id="21" name="Picture 20" descr="tmpg61iwqxe.png"/>
          <p:cNvPicPr>
            <a:picLocks noChangeAspect="1"/>
          </p:cNvPicPr>
          <p:nvPr/>
        </p:nvPicPr>
        <p:blipFill>
          <a:blip r:embed="rId7"/>
          <a:stretch>
            <a:fillRect/>
          </a:stretch>
        </p:blipFill>
        <p:spPr>
          <a:xfrm>
            <a:off x="2000250" y="1571625"/>
            <a:ext cx="304800" cy="180975"/>
          </a:xfrm>
          <a:prstGeom prst="rect">
            <a:avLst/>
          </a:prstGeom>
        </p:spPr>
      </p:pic>
      <p:pic>
        <p:nvPicPr>
          <p:cNvPr id="22" name="Picture 21" descr="tmpdz5knxd6.png"/>
          <p:cNvPicPr>
            <a:picLocks noChangeAspect="1"/>
          </p:cNvPicPr>
          <p:nvPr/>
        </p:nvPicPr>
        <p:blipFill>
          <a:blip r:embed="rId8"/>
          <a:stretch>
            <a:fillRect/>
          </a:stretch>
        </p:blipFill>
        <p:spPr>
          <a:xfrm>
            <a:off x="2362200" y="1571625"/>
            <a:ext cx="314325" cy="180975"/>
          </a:xfrm>
          <a:prstGeom prst="rect">
            <a:avLst/>
          </a:prstGeom>
        </p:spPr>
      </p:pic>
      <p:pic>
        <p:nvPicPr>
          <p:cNvPr id="23" name="Picture 22" descr="tmpf23mgsg2.png"/>
          <p:cNvPicPr>
            <a:picLocks noChangeAspect="1"/>
          </p:cNvPicPr>
          <p:nvPr/>
        </p:nvPicPr>
        <p:blipFill>
          <a:blip r:embed="rId9"/>
          <a:stretch>
            <a:fillRect/>
          </a:stretch>
        </p:blipFill>
        <p:spPr>
          <a:xfrm>
            <a:off x="2733675" y="1571625"/>
            <a:ext cx="314325" cy="180975"/>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alc311fi.png"/>
          <p:cNvPicPr>
            <a:picLocks noChangeAspect="1"/>
          </p:cNvPicPr>
          <p:nvPr/>
        </p:nvPicPr>
        <p:blipFill>
          <a:blip r:embed="rId2"/>
          <a:stretch>
            <a:fillRect/>
          </a:stretch>
        </p:blipFill>
        <p:spPr>
          <a:xfrm>
            <a:off x="1771650" y="5067300"/>
            <a:ext cx="923925" cy="95250"/>
          </a:xfrm>
          <a:prstGeom prst="rect">
            <a:avLst/>
          </a:prstGeom>
        </p:spPr>
      </p:pic>
      <p:pic>
        <p:nvPicPr>
          <p:cNvPr id="4" name="Picture 3" descr="tmp8q4exnkc.png"/>
          <p:cNvPicPr>
            <a:picLocks noChangeAspect="1"/>
          </p:cNvPicPr>
          <p:nvPr/>
        </p:nvPicPr>
        <p:blipFill>
          <a:blip r:embed="rId3"/>
          <a:stretch>
            <a:fillRect/>
          </a:stretch>
        </p:blipFill>
        <p:spPr>
          <a:xfrm>
            <a:off x="2695575" y="5067300"/>
            <a:ext cx="923925" cy="95250"/>
          </a:xfrm>
          <a:prstGeom prst="rect">
            <a:avLst/>
          </a:prstGeom>
        </p:spPr>
      </p:pic>
      <p:sp>
        <p:nvSpPr>
          <p:cNvPr id="5" name="Rounded Rectangle 4"/>
          <p:cNvSpPr/>
          <p:nvPr/>
        </p:nvSpPr>
        <p:spPr>
          <a:xfrm>
            <a:off x="555498" y="967130"/>
            <a:ext cx="9196577" cy="1418843"/>
          </a:xfrm>
          <a:prstGeom prst="roundRect">
            <a:avLst>
              <a:gd name="adj" fmla="val 6000"/>
            </a:avLst>
          </a:prstGeom>
          <a:solidFill>
            <a:srgbClr val="FEFEFE"/>
          </a:solidFill>
          <a:ln w="11430">
            <a:solidFill>
              <a:srgbClr val="1055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55498" y="2536545"/>
            <a:ext cx="9196577" cy="1111910"/>
          </a:xfrm>
          <a:prstGeom prst="roundRect">
            <a:avLst>
              <a:gd name="adj" fmla="val 6000"/>
            </a:avLst>
          </a:prstGeom>
          <a:solidFill>
            <a:srgbClr val="FEFEFE"/>
          </a:solidFill>
          <a:ln w="11430">
            <a:solidFill>
              <a:srgbClr val="F1FE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55498" y="3717950"/>
            <a:ext cx="9196577" cy="1349349"/>
          </a:xfrm>
          <a:prstGeom prst="rect">
            <a:avLst/>
          </a:prstGeom>
          <a:solidFill>
            <a:srgbClr val="F1FEFE"/>
          </a:solidFill>
          <a:ln w="11430">
            <a:solidFill>
              <a:srgbClr val="FCFC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5498" y="388010"/>
            <a:ext cx="6155740" cy="318516"/>
          </a:xfrm>
          <a:prstGeom prst="rect">
            <a:avLst/>
          </a:prstGeom>
          <a:noFill/>
          <a:ln>
            <a:noFill/>
          </a:ln>
        </p:spPr>
        <p:txBody>
          <a:bodyPr wrap="none" lIns="19050" rIns="19050" tIns="0" bIns="0" anchor="ctr">
            <a:noAutofit/>
          </a:bodyPr>
          <a:lstStyle/>
          <a:p>
            <a:pPr algn="l"/>
            <a:r>
              <a:rPr sz="2700" b="1">
                <a:solidFill>
                  <a:srgbClr val="3E508E"/>
                </a:solidFill>
                <a:latin typeface="PingFang SC"/>
              </a:rPr>
              <a:t>血培养及血乳酸测定</a:t>
            </a:r>
          </a:p>
        </p:txBody>
      </p:sp>
      <p:sp>
        <p:nvSpPr>
          <p:cNvPr id="9" name="TextBox 8"/>
          <p:cNvSpPr txBox="1"/>
          <p:nvPr/>
        </p:nvSpPr>
        <p:spPr>
          <a:xfrm>
            <a:off x="8301609" y="173735"/>
            <a:ext cx="3960494" cy="416966"/>
          </a:xfrm>
          <a:prstGeom prst="rect">
            <a:avLst/>
          </a:prstGeom>
          <a:noFill/>
          <a:ln>
            <a:noFill/>
          </a:ln>
        </p:spPr>
        <p:txBody>
          <a:bodyPr wrap="none" lIns="19050" rIns="19050" tIns="0" bIns="0" anchor="ctr">
            <a:noAutofit/>
          </a:bodyPr>
          <a:lstStyle/>
          <a:p>
            <a:pPr algn="r"/>
            <a:r>
              <a:rPr sz="1800" b="0">
                <a:solidFill>
                  <a:srgbClr val="AFC3A9"/>
                </a:solidFill>
                <a:latin typeface="PingFang SC"/>
              </a:rPr>
              <a:t>Surviving Sepsis Campaign</a:t>
            </a:r>
          </a:p>
        </p:txBody>
      </p:sp>
      <p:sp>
        <p:nvSpPr>
          <p:cNvPr id="10" name="TextBox 9"/>
          <p:cNvSpPr txBox="1"/>
          <p:nvPr/>
        </p:nvSpPr>
        <p:spPr>
          <a:xfrm>
            <a:off x="946404" y="1227734"/>
            <a:ext cx="7920990" cy="347472"/>
          </a:xfrm>
          <a:prstGeom prst="rect">
            <a:avLst/>
          </a:prstGeom>
          <a:noFill/>
          <a:ln>
            <a:noFill/>
          </a:ln>
        </p:spPr>
        <p:txBody>
          <a:bodyPr wrap="square" lIns="19050" rIns="19050" tIns="0" bIns="0" anchor="t">
            <a:normAutofit/>
          </a:bodyPr>
          <a:lstStyle/>
          <a:p>
            <a:pPr algn="l"/>
            <a:r>
              <a:rPr sz="1350" b="0">
                <a:solidFill>
                  <a:srgbClr val="7C7F83"/>
                </a:solidFill>
                <a:latin typeface="PingFang SC"/>
              </a:rPr>
              <a:t>7. 对于可能患有、很可能患有或确诊患有脓毒症或感染性休克的成年人，我们“建议”尽快采集血培养样本，理想情况下应在使用抗菌药物治疗之前进行。</a:t>
            </a:r>
          </a:p>
        </p:txBody>
      </p:sp>
      <p:sp>
        <p:nvSpPr>
          <p:cNvPr id="11" name="TextBox 10"/>
          <p:cNvSpPr txBox="1"/>
          <p:nvPr/>
        </p:nvSpPr>
        <p:spPr>
          <a:xfrm>
            <a:off x="9073134" y="1204569"/>
            <a:ext cx="905255" cy="138988"/>
          </a:xfrm>
          <a:prstGeom prst="rect">
            <a:avLst/>
          </a:prstGeom>
          <a:noFill/>
          <a:ln>
            <a:noFill/>
          </a:ln>
        </p:spPr>
        <p:txBody>
          <a:bodyPr wrap="none" lIns="19050" rIns="19050" tIns="0" bIns="0" anchor="ctr">
            <a:noAutofit/>
          </a:bodyPr>
          <a:lstStyle/>
          <a:p>
            <a:pPr algn="r"/>
            <a:r>
              <a:rPr sz="1200" b="0">
                <a:solidFill>
                  <a:srgbClr val="88ABC7"/>
                </a:solidFill>
                <a:latin typeface="PingFang SC"/>
              </a:rPr>
              <a:t>新增</a:t>
            </a:r>
          </a:p>
        </p:txBody>
      </p:sp>
      <p:sp>
        <p:nvSpPr>
          <p:cNvPr id="12" name="TextBox 11"/>
          <p:cNvSpPr txBox="1"/>
          <p:nvPr/>
        </p:nvSpPr>
        <p:spPr>
          <a:xfrm>
            <a:off x="3621023" y="1864766"/>
            <a:ext cx="2942082" cy="138988"/>
          </a:xfrm>
          <a:prstGeom prst="rect">
            <a:avLst/>
          </a:prstGeom>
          <a:noFill/>
          <a:ln>
            <a:noFill/>
          </a:ln>
        </p:spPr>
        <p:txBody>
          <a:bodyPr wrap="none" lIns="19050" rIns="19050" tIns="0" bIns="0" anchor="ctr">
            <a:noAutofit/>
          </a:bodyPr>
          <a:lstStyle/>
          <a:p>
            <a:pPr algn="l"/>
            <a:r>
              <a:rPr sz="1200" b="0">
                <a:solidFill>
                  <a:srgbClr val="72B8C8"/>
                </a:solidFill>
                <a:latin typeface="PingFang SC"/>
              </a:rPr>
              <a:t>【强推荐，证据低】</a:t>
            </a:r>
          </a:p>
        </p:txBody>
      </p:sp>
      <p:sp>
        <p:nvSpPr>
          <p:cNvPr id="13" name="TextBox 12"/>
          <p:cNvSpPr txBox="1"/>
          <p:nvPr/>
        </p:nvSpPr>
        <p:spPr>
          <a:xfrm>
            <a:off x="946404" y="2791358"/>
            <a:ext cx="7920990" cy="347472"/>
          </a:xfrm>
          <a:prstGeom prst="rect">
            <a:avLst/>
          </a:prstGeom>
          <a:noFill/>
          <a:ln>
            <a:noFill/>
          </a:ln>
        </p:spPr>
        <p:txBody>
          <a:bodyPr wrap="square" lIns="19050" rIns="19050" tIns="0" bIns="0" anchor="t">
            <a:normAutofit/>
          </a:bodyPr>
          <a:lstStyle/>
          <a:p>
            <a:pPr algn="l"/>
            <a:r>
              <a:rPr sz="1350" b="0">
                <a:solidFill>
                  <a:srgbClr val="7D8582"/>
                </a:solidFill>
                <a:latin typeface="PingFang SC"/>
              </a:rPr>
              <a:t>8. 对于可能患有、很可能患有或确诊患有脓毒症或感染性休克的成年人，我们“建议”检测血乳酸水平。</a:t>
            </a:r>
          </a:p>
        </p:txBody>
      </p:sp>
      <p:sp>
        <p:nvSpPr>
          <p:cNvPr id="14" name="TextBox 13"/>
          <p:cNvSpPr txBox="1"/>
          <p:nvPr/>
        </p:nvSpPr>
        <p:spPr>
          <a:xfrm>
            <a:off x="9073134" y="2768193"/>
            <a:ext cx="905255" cy="138988"/>
          </a:xfrm>
          <a:prstGeom prst="rect">
            <a:avLst/>
          </a:prstGeom>
          <a:noFill/>
          <a:ln>
            <a:noFill/>
          </a:ln>
        </p:spPr>
        <p:txBody>
          <a:bodyPr wrap="none" lIns="19050" rIns="19050" tIns="0" bIns="0" anchor="ctr">
            <a:noAutofit/>
          </a:bodyPr>
          <a:lstStyle/>
          <a:p>
            <a:pPr algn="r"/>
            <a:r>
              <a:rPr sz="1200" b="0">
                <a:solidFill>
                  <a:srgbClr val="000000"/>
                </a:solidFill>
                <a:latin typeface="PingFang SC"/>
              </a:rPr>
              <a:t>沿用</a:t>
            </a:r>
          </a:p>
        </p:txBody>
      </p:sp>
      <p:sp>
        <p:nvSpPr>
          <p:cNvPr id="15" name="TextBox 14"/>
          <p:cNvSpPr txBox="1"/>
          <p:nvPr/>
        </p:nvSpPr>
        <p:spPr>
          <a:xfrm>
            <a:off x="3621023" y="3312566"/>
            <a:ext cx="2942082" cy="138988"/>
          </a:xfrm>
          <a:prstGeom prst="rect">
            <a:avLst/>
          </a:prstGeom>
          <a:noFill/>
          <a:ln>
            <a:noFill/>
          </a:ln>
        </p:spPr>
        <p:txBody>
          <a:bodyPr wrap="none" lIns="19050" rIns="19050" tIns="0" bIns="0" anchor="ctr">
            <a:noAutofit/>
          </a:bodyPr>
          <a:lstStyle/>
          <a:p>
            <a:pPr algn="l"/>
            <a:r>
              <a:rPr sz="1200" b="0">
                <a:solidFill>
                  <a:srgbClr val="6FB4C7"/>
                </a:solidFill>
                <a:latin typeface="PingFang SC"/>
              </a:rPr>
              <a:t>【有条件推荐，证据低】</a:t>
            </a:r>
          </a:p>
        </p:txBody>
      </p:sp>
      <p:sp>
        <p:nvSpPr>
          <p:cNvPr id="16" name="TextBox 15"/>
          <p:cNvSpPr txBox="1"/>
          <p:nvPr/>
        </p:nvSpPr>
        <p:spPr>
          <a:xfrm>
            <a:off x="637793" y="3949598"/>
            <a:ext cx="9011412" cy="868679"/>
          </a:xfrm>
          <a:prstGeom prst="rect">
            <a:avLst/>
          </a:prstGeom>
          <a:noFill/>
          <a:ln>
            <a:noFill/>
          </a:ln>
        </p:spPr>
        <p:txBody>
          <a:bodyPr wrap="square" lIns="19050" rIns="19050" tIns="0" bIns="0" anchor="t">
            <a:normAutofit/>
          </a:bodyPr>
          <a:lstStyle/>
          <a:p>
            <a:pPr algn="l"/>
            <a:r>
              <a:rPr sz="1200" b="0">
                <a:solidFill>
                  <a:srgbClr val="738387"/>
                </a:solidFill>
                <a:latin typeface="PingFang SC"/>
              </a:rPr>
              <a:t>确定脓毒症的致病微生物有助于优化抗菌治疗，确保对致病病原体进行治疗，支持抗菌药物管理，并改善患者预后。约60%-70%的脓毒症患者可确定病原体，尽管仅约10%-20%的患者血培养呈阳性。评估血培养检测临床益处的直接证据有限。然而，鉴于脓毒症相关的高死亡率和高发病率以及适当抗菌药物覆盖的重要性，专家组强烈建议采集血培养。应尽快采集血培养，以避免延误抗菌治疗的启动。</a:t>
            </a:r>
          </a:p>
        </p:txBody>
      </p:sp>
      <p:sp>
        <p:nvSpPr>
          <p:cNvPr id="17" name="TextBox 16"/>
          <p:cNvSpPr txBox="1"/>
          <p:nvPr/>
        </p:nvSpPr>
        <p:spPr>
          <a:xfrm>
            <a:off x="555498" y="5067300"/>
            <a:ext cx="2444191" cy="98450"/>
          </a:xfrm>
          <a:prstGeom prst="rect">
            <a:avLst/>
          </a:prstGeom>
          <a:noFill/>
          <a:ln>
            <a:noFill/>
          </a:ln>
        </p:spPr>
        <p:txBody>
          <a:bodyPr wrap="none" lIns="19050" rIns="19050" tIns="0" bIns="0" anchor="ctr">
            <a:noAutofit/>
          </a:bodyPr>
          <a:lstStyle/>
          <a:p>
            <a:pPr algn="l"/>
            <a:r>
              <a:rPr sz="900" b="0">
                <a:solidFill>
                  <a:srgbClr val="8AA2A1"/>
                </a:solidFill>
                <a:latin typeface="PingFang SC"/>
              </a:rPr>
              <a:t>Critical Care Medicine</a:t>
            </a:r>
          </a:p>
        </p:txBody>
      </p:sp>
      <p:sp>
        <p:nvSpPr>
          <p:cNvPr id="18" name="TextBox 17"/>
          <p:cNvSpPr txBox="1"/>
          <p:nvPr/>
        </p:nvSpPr>
        <p:spPr>
          <a:xfrm>
            <a:off x="555498" y="5455310"/>
            <a:ext cx="2444191" cy="115823"/>
          </a:xfrm>
          <a:prstGeom prst="rect">
            <a:avLst/>
          </a:prstGeom>
          <a:noFill/>
          <a:ln>
            <a:noFill/>
          </a:ln>
        </p:spPr>
        <p:txBody>
          <a:bodyPr wrap="none" lIns="19050" rIns="19050" tIns="0" bIns="0" anchor="ctr">
            <a:noAutofit/>
          </a:bodyPr>
          <a:lstStyle/>
          <a:p>
            <a:pPr algn="l"/>
            <a:r>
              <a:rPr sz="1050" b="0">
                <a:solidFill>
                  <a:srgbClr val="BDD9D8"/>
                </a:solidFill>
                <a:latin typeface="PingFang SC"/>
              </a:rPr>
              <a:t>公众号·指南导航</a:t>
            </a:r>
          </a:p>
        </p:txBody>
      </p:sp>
      <p:sp>
        <p:nvSpPr>
          <p:cNvPr id="19" name="TextBox 18"/>
          <p:cNvSpPr txBox="1"/>
          <p:nvPr/>
        </p:nvSpPr>
        <p:spPr>
          <a:xfrm>
            <a:off x="10287000" y="5339486"/>
            <a:ext cx="0" cy="173736"/>
          </a:xfrm>
          <a:prstGeom prst="rect">
            <a:avLst/>
          </a:prstGeom>
          <a:noFill/>
          <a:ln>
            <a:noFill/>
          </a:ln>
        </p:spPr>
        <p:txBody>
          <a:bodyPr wrap="none" lIns="19050" rIns="19050" tIns="0" bIns="0" anchor="ctr">
            <a:noAutofit/>
          </a:bodyPr>
          <a:lstStyle/>
          <a:p>
            <a:pPr algn="r"/>
            <a:r>
              <a:rPr sz="1350" b="0">
                <a:solidFill>
                  <a:srgbClr val="000000"/>
                </a:solidFill>
                <a:latin typeface="PingFang SC"/>
              </a:rPr>
              <a:t>8</a:t>
            </a:r>
          </a:p>
        </p:txBody>
      </p:sp>
      <p:pic>
        <p:nvPicPr>
          <p:cNvPr id="20" name="Picture 19" descr="tmp78uhk5cx.png"/>
          <p:cNvPicPr>
            <a:picLocks noChangeAspect="1"/>
          </p:cNvPicPr>
          <p:nvPr/>
        </p:nvPicPr>
        <p:blipFill>
          <a:blip r:embed="rId4"/>
          <a:stretch>
            <a:fillRect/>
          </a:stretch>
        </p:blipFill>
        <p:spPr>
          <a:xfrm>
            <a:off x="1209675" y="1885950"/>
            <a:ext cx="247650" cy="190500"/>
          </a:xfrm>
          <a:prstGeom prst="rect">
            <a:avLst/>
          </a:prstGeom>
        </p:spPr>
      </p:pic>
      <p:pic>
        <p:nvPicPr>
          <p:cNvPr id="21" name="Picture 20" descr="tmp06n2cn8n.png"/>
          <p:cNvPicPr>
            <a:picLocks noChangeAspect="1"/>
          </p:cNvPicPr>
          <p:nvPr/>
        </p:nvPicPr>
        <p:blipFill>
          <a:blip r:embed="rId5"/>
          <a:stretch>
            <a:fillRect/>
          </a:stretch>
        </p:blipFill>
        <p:spPr>
          <a:xfrm>
            <a:off x="1524000" y="1885950"/>
            <a:ext cx="247650" cy="190500"/>
          </a:xfrm>
          <a:prstGeom prst="rect">
            <a:avLst/>
          </a:prstGeom>
        </p:spPr>
      </p:pic>
      <p:pic>
        <p:nvPicPr>
          <p:cNvPr id="22" name="Picture 21" descr="tmpum2mdurb.png"/>
          <p:cNvPicPr>
            <a:picLocks noChangeAspect="1"/>
          </p:cNvPicPr>
          <p:nvPr/>
        </p:nvPicPr>
        <p:blipFill>
          <a:blip r:embed="rId6"/>
          <a:stretch>
            <a:fillRect/>
          </a:stretch>
        </p:blipFill>
        <p:spPr>
          <a:xfrm>
            <a:off x="1828800" y="1885950"/>
            <a:ext cx="247650" cy="190500"/>
          </a:xfrm>
          <a:prstGeom prst="rect">
            <a:avLst/>
          </a:prstGeom>
        </p:spPr>
      </p:pic>
      <p:pic>
        <p:nvPicPr>
          <p:cNvPr id="23" name="Picture 22" descr="tmpekvbyfaq.png"/>
          <p:cNvPicPr>
            <a:picLocks noChangeAspect="1"/>
          </p:cNvPicPr>
          <p:nvPr/>
        </p:nvPicPr>
        <p:blipFill>
          <a:blip r:embed="rId7"/>
          <a:stretch>
            <a:fillRect/>
          </a:stretch>
        </p:blipFill>
        <p:spPr>
          <a:xfrm>
            <a:off x="2143125" y="1885950"/>
            <a:ext cx="247650" cy="190500"/>
          </a:xfrm>
          <a:prstGeom prst="rect">
            <a:avLst/>
          </a:prstGeom>
        </p:spPr>
      </p:pic>
      <p:pic>
        <p:nvPicPr>
          <p:cNvPr id="24" name="Picture 23" descr="tmp06alzykw.png"/>
          <p:cNvPicPr>
            <a:picLocks noChangeAspect="1"/>
          </p:cNvPicPr>
          <p:nvPr/>
        </p:nvPicPr>
        <p:blipFill>
          <a:blip r:embed="rId8"/>
          <a:stretch>
            <a:fillRect/>
          </a:stretch>
        </p:blipFill>
        <p:spPr>
          <a:xfrm>
            <a:off x="2447925" y="1885950"/>
            <a:ext cx="247650" cy="190500"/>
          </a:xfrm>
          <a:prstGeom prst="rect">
            <a:avLst/>
          </a:prstGeom>
        </p:spPr>
      </p:pic>
      <p:pic>
        <p:nvPicPr>
          <p:cNvPr id="25" name="Picture 24" descr="tmpduhtlor2.png"/>
          <p:cNvPicPr>
            <a:picLocks noChangeAspect="1"/>
          </p:cNvPicPr>
          <p:nvPr/>
        </p:nvPicPr>
        <p:blipFill>
          <a:blip r:embed="rId9"/>
          <a:stretch>
            <a:fillRect/>
          </a:stretch>
        </p:blipFill>
        <p:spPr>
          <a:xfrm>
            <a:off x="1209675" y="3333750"/>
            <a:ext cx="247650" cy="190500"/>
          </a:xfrm>
          <a:prstGeom prst="rect">
            <a:avLst/>
          </a:prstGeom>
        </p:spPr>
      </p:pic>
      <p:pic>
        <p:nvPicPr>
          <p:cNvPr id="26" name="Picture 25" descr="tmpqiifwxzo.png"/>
          <p:cNvPicPr>
            <a:picLocks noChangeAspect="1"/>
          </p:cNvPicPr>
          <p:nvPr/>
        </p:nvPicPr>
        <p:blipFill>
          <a:blip r:embed="rId10"/>
          <a:stretch>
            <a:fillRect/>
          </a:stretch>
        </p:blipFill>
        <p:spPr>
          <a:xfrm>
            <a:off x="1524000" y="3333750"/>
            <a:ext cx="247650" cy="190500"/>
          </a:xfrm>
          <a:prstGeom prst="rect">
            <a:avLst/>
          </a:prstGeom>
        </p:spPr>
      </p:pic>
      <p:pic>
        <p:nvPicPr>
          <p:cNvPr id="27" name="Picture 26" descr="tmpr7csy9ej.png"/>
          <p:cNvPicPr>
            <a:picLocks noChangeAspect="1"/>
          </p:cNvPicPr>
          <p:nvPr/>
        </p:nvPicPr>
        <p:blipFill>
          <a:blip r:embed="rId11"/>
          <a:stretch>
            <a:fillRect/>
          </a:stretch>
        </p:blipFill>
        <p:spPr>
          <a:xfrm>
            <a:off x="1828800" y="3333750"/>
            <a:ext cx="247650" cy="190500"/>
          </a:xfrm>
          <a:prstGeom prst="rect">
            <a:avLst/>
          </a:prstGeom>
        </p:spPr>
      </p:pic>
      <p:pic>
        <p:nvPicPr>
          <p:cNvPr id="28" name="Picture 27" descr="tmpma9r1i64.png"/>
          <p:cNvPicPr>
            <a:picLocks noChangeAspect="1"/>
          </p:cNvPicPr>
          <p:nvPr/>
        </p:nvPicPr>
        <p:blipFill>
          <a:blip r:embed="rId12"/>
          <a:stretch>
            <a:fillRect/>
          </a:stretch>
        </p:blipFill>
        <p:spPr>
          <a:xfrm>
            <a:off x="2143125" y="3333750"/>
            <a:ext cx="247650" cy="190500"/>
          </a:xfrm>
          <a:prstGeom prst="rect">
            <a:avLst/>
          </a:prstGeom>
        </p:spPr>
      </p:pic>
      <p:pic>
        <p:nvPicPr>
          <p:cNvPr id="29" name="Picture 28" descr="tmpk7i4i642.png"/>
          <p:cNvPicPr>
            <a:picLocks noChangeAspect="1"/>
          </p:cNvPicPr>
          <p:nvPr/>
        </p:nvPicPr>
        <p:blipFill>
          <a:blip r:embed="rId13"/>
          <a:stretch>
            <a:fillRect/>
          </a:stretch>
        </p:blipFill>
        <p:spPr>
          <a:xfrm>
            <a:off x="2447925" y="3333750"/>
            <a:ext cx="247650" cy="1905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34924" y="949756"/>
            <a:ext cx="9206865" cy="2119579"/>
          </a:xfrm>
          <a:prstGeom prst="roundRect">
            <a:avLst>
              <a:gd name="adj" fmla="val 6000"/>
            </a:avLst>
          </a:prstGeom>
          <a:solidFill>
            <a:srgbClr val="FDFEFE"/>
          </a:solidFill>
          <a:ln w="11430">
            <a:solidFill>
              <a:srgbClr val="3263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34924" y="3092500"/>
          <a:ext cx="4546854" cy="2084832"/>
        </p:xfrm>
        <a:graphic>
          <a:graphicData uri="http://schemas.openxmlformats.org/drawingml/2006/table">
            <a:tbl>
              <a:tblPr>
                <a:tableStyleId>{5C22544A-7EE6-4342-B048-85BDC9FD1C3A}</a:tableStyleId>
              </a:tblPr>
              <a:tblGrid>
                <a:gridCol w="1136713"/>
                <a:gridCol w="1136713"/>
                <a:gridCol w="1136713"/>
                <a:gridCol w="1136715"/>
              </a:tblGrid>
              <a:tr h="260604">
                <a:tc>
                  <a:txBody>
                    <a:bodyPr wrap="square"/>
                    <a:lstStyle/>
                    <a:p>
                      <a:pPr algn="ctr"/>
                      <a:r>
                        <a:rPr sz="860" b="1">
                          <a:solidFill>
                            <a:srgbClr val="92DDEF"/>
                          </a:solidFill>
                          <a:latin typeface="PingFang SC"/>
                        </a:rPr>
                        <a:t>体重 (kg)
(磅)</a:t>
                      </a:r>
                    </a:p>
                  </a:txBody>
                  <a:tcPr marL="28575" marR="28575" marT="0" marB="0" anchor="ctr">
                    <a:solidFill>
                      <a:srgbClr val="0D9ED8"/>
                    </a:solidFill>
                  </a:tcPr>
                </a:tc>
                <a:tc>
                  <a:txBody>
                    <a:bodyPr wrap="square"/>
                    <a:lstStyle/>
                    <a:p>
                      <a:pPr algn="ctr"/>
                      <a:r>
                        <a:rPr sz="860" b="1">
                          <a:solidFill>
                            <a:srgbClr val="7ED9ED"/>
                          </a:solidFill>
                          <a:latin typeface="PingFang SC"/>
                        </a:rPr>
                        <a:t>高度 (米)</a:t>
                      </a:r>
                    </a:p>
                  </a:txBody>
                  <a:tcPr marL="28575" marR="28575" marT="0" marB="0" anchor="ctr">
                    <a:solidFill>
                      <a:srgbClr val="0E9ED4"/>
                    </a:solidFill>
                  </a:tcPr>
                </a:tc>
                <a:tc>
                  <a:txBody>
                    <a:bodyPr wrap="square"/>
                    <a:lstStyle/>
                    <a:p>
                      <a:pPr algn="ctr"/>
                      <a:r>
                        <a:rPr sz="860" b="1">
                          <a:solidFill>
                            <a:srgbClr val="8BDBF5"/>
                          </a:solidFill>
                          <a:latin typeface="PingFang SC"/>
                        </a:rPr>
                        <a:t>高度 (米)</a:t>
                      </a:r>
                    </a:p>
                  </a:txBody>
                  <a:tcPr marL="28575" marR="28575" marT="0" marB="0" anchor="ctr">
                    <a:solidFill>
                      <a:srgbClr val="129CD3"/>
                    </a:solidFill>
                  </a:tcPr>
                </a:tc>
                <a:tc>
                  <a:txBody>
                    <a:bodyPr wrap="square"/>
                    <a:lstStyle/>
                    <a:p>
                      <a:pPr algn="ctr"/>
                      <a:r>
                        <a:rPr sz="860" b="1">
                          <a:solidFill>
                            <a:srgbClr val="6CD9F7"/>
                          </a:solidFill>
                          <a:latin typeface="PingFang SC"/>
                        </a:rPr>
                        <a:t>高度 (米)</a:t>
                      </a:r>
                    </a:p>
                  </a:txBody>
                  <a:tcPr marL="28575" marR="28575" marT="0" marB="0" anchor="ctr">
                    <a:solidFill>
                      <a:srgbClr val="0D9ED4"/>
                    </a:solidFill>
                  </a:tcPr>
                </a:tc>
              </a:tr>
              <a:tr h="260604">
                <a:tc>
                  <a:txBody>
                    <a:bodyPr wrap="square"/>
                    <a:lstStyle/>
                    <a:p>
                      <a:pPr algn="ctr"/>
                      <a:r>
                        <a:rPr sz="860" b="1">
                          <a:solidFill>
                            <a:srgbClr val="000000"/>
                          </a:solidFill>
                          <a:latin typeface="PingFang SC"/>
                        </a:rPr>
                        <a:t/>
                      </a:r>
                    </a:p>
                  </a:txBody>
                  <a:tcPr marL="28575" marR="28575" marT="0" marB="0" anchor="ctr">
                    <a:solidFill>
                      <a:srgbClr val="0E9ED5"/>
                    </a:solidFill>
                  </a:tcPr>
                </a:tc>
                <a:tc>
                  <a:txBody>
                    <a:bodyPr wrap="square"/>
                    <a:lstStyle/>
                    <a:p>
                      <a:pPr algn="ctr"/>
                      <a:r>
                        <a:rPr sz="860" b="1">
                          <a:solidFill>
                            <a:srgbClr val="C1F9FF"/>
                          </a:solidFill>
                          <a:latin typeface="PingFang SC"/>
                        </a:rPr>
                        <a:t>1.5m(4'11")</a:t>
                      </a:r>
                    </a:p>
                  </a:txBody>
                  <a:tcPr marL="28575" marR="28575" marT="0" marB="0" anchor="ctr">
                    <a:solidFill>
                      <a:srgbClr val="62CAF2"/>
                    </a:solidFill>
                  </a:tcPr>
                </a:tc>
                <a:tc>
                  <a:txBody>
                    <a:bodyPr wrap="square"/>
                    <a:lstStyle/>
                    <a:p>
                      <a:pPr algn="ctr"/>
                      <a:r>
                        <a:rPr sz="860" b="1">
                          <a:solidFill>
                            <a:srgbClr val="BEF8FF"/>
                          </a:solidFill>
                          <a:latin typeface="PingFang SC"/>
                        </a:rPr>
                        <a:t>1.7m(5'7")</a:t>
                      </a:r>
                    </a:p>
                  </a:txBody>
                  <a:tcPr marL="28575" marR="28575" marT="0" marB="0" anchor="ctr">
                    <a:solidFill>
                      <a:srgbClr val="62CBF3"/>
                    </a:solidFill>
                  </a:tcPr>
                </a:tc>
                <a:tc>
                  <a:txBody>
                    <a:bodyPr wrap="square"/>
                    <a:lstStyle/>
                    <a:p>
                      <a:pPr algn="ctr"/>
                      <a:r>
                        <a:rPr sz="860" b="1">
                          <a:solidFill>
                            <a:srgbClr val="C1F6FF"/>
                          </a:solidFill>
                          <a:latin typeface="PingFang SC"/>
                        </a:rPr>
                        <a:t>1.9m(6'3")</a:t>
                      </a:r>
                    </a:p>
                  </a:txBody>
                  <a:tcPr marL="28575" marR="28575" marT="0" marB="0" anchor="ctr">
                    <a:solidFill>
                      <a:srgbClr val="62CBF2"/>
                    </a:solidFill>
                  </a:tcPr>
                </a:tc>
              </a:tr>
              <a:tr h="260604">
                <a:tc>
                  <a:txBody>
                    <a:bodyPr wrap="square"/>
                    <a:lstStyle/>
                    <a:p>
                      <a:pPr algn="ctr"/>
                      <a:r>
                        <a:rPr sz="860" b="0">
                          <a:solidFill>
                            <a:srgbClr val="7D8284"/>
                          </a:solidFill>
                          <a:latin typeface="PingFang SC"/>
                        </a:rPr>
                        <a:t>50(110)</a:t>
                      </a:r>
                    </a:p>
                  </a:txBody>
                  <a:tcPr marL="28575" marR="28575" marT="0" marB="0" anchor="ctr">
                    <a:solidFill>
                      <a:srgbClr val="FCFEFD"/>
                    </a:solidFill>
                  </a:tcPr>
                </a:tc>
                <a:tc>
                  <a:txBody>
                    <a:bodyPr wrap="square"/>
                    <a:lstStyle/>
                    <a:p>
                      <a:pPr algn="ctr"/>
                      <a:r>
                        <a:rPr sz="860" b="0">
                          <a:solidFill>
                            <a:srgbClr val="6B6C71"/>
                          </a:solidFill>
                          <a:latin typeface="PingFang SC"/>
                        </a:rPr>
                        <a:t>1.5</a:t>
                      </a:r>
                    </a:p>
                  </a:txBody>
                  <a:tcPr marL="28575" marR="28575" marT="0" marB="0" anchor="ctr">
                    <a:solidFill>
                      <a:srgbClr val="FCFEFE"/>
                    </a:solidFill>
                  </a:tcPr>
                </a:tc>
                <a:tc>
                  <a:txBody>
                    <a:bodyPr wrap="square"/>
                    <a:lstStyle/>
                    <a:p>
                      <a:pPr algn="ctr"/>
                      <a:r>
                        <a:rPr sz="860" b="0">
                          <a:solidFill>
                            <a:srgbClr val="767B7A"/>
                          </a:solidFill>
                          <a:latin typeface="PingFang SC"/>
                        </a:rPr>
                        <a:t>1.5</a:t>
                      </a:r>
                    </a:p>
                  </a:txBody>
                  <a:tcPr marL="28575" marR="28575" marT="0" marB="0" anchor="ctr">
                    <a:solidFill>
                      <a:srgbClr val="FDFEFD"/>
                    </a:solidFill>
                  </a:tcPr>
                </a:tc>
                <a:tc>
                  <a:txBody>
                    <a:bodyPr wrap="square"/>
                    <a:lstStyle/>
                    <a:p>
                      <a:pPr algn="ctr"/>
                      <a:r>
                        <a:rPr sz="860" b="0">
                          <a:solidFill>
                            <a:srgbClr val="969C9E"/>
                          </a:solidFill>
                          <a:latin typeface="PingFang SC"/>
                        </a:rPr>
                        <a:t>1.5</a:t>
                      </a:r>
                    </a:p>
                  </a:txBody>
                  <a:tcPr marL="28575" marR="28575" marT="0" marB="0" anchor="ctr">
                    <a:solidFill>
                      <a:srgbClr val="FDFEFD"/>
                    </a:solidFill>
                  </a:tcPr>
                </a:tc>
              </a:tr>
              <a:tr h="260604">
                <a:tc>
                  <a:txBody>
                    <a:bodyPr wrap="square"/>
                    <a:lstStyle/>
                    <a:p>
                      <a:pPr algn="ctr"/>
                      <a:r>
                        <a:rPr sz="860" b="0">
                          <a:solidFill>
                            <a:srgbClr val="797F82"/>
                          </a:solidFill>
                          <a:latin typeface="PingFang SC"/>
                        </a:rPr>
                        <a:t>60(132)</a:t>
                      </a:r>
                    </a:p>
                  </a:txBody>
                  <a:tcPr marL="28575" marR="28575" marT="0" marB="0" anchor="ctr">
                    <a:solidFill>
                      <a:srgbClr val="FBFEFE"/>
                    </a:solidFill>
                  </a:tcPr>
                </a:tc>
                <a:tc>
                  <a:txBody>
                    <a:bodyPr wrap="square"/>
                    <a:lstStyle/>
                    <a:p>
                      <a:pPr algn="ctr"/>
                      <a:r>
                        <a:rPr sz="860" b="0">
                          <a:solidFill>
                            <a:srgbClr val="727676"/>
                          </a:solidFill>
                          <a:latin typeface="PingFang SC"/>
                        </a:rPr>
                        <a:t>1.8</a:t>
                      </a:r>
                    </a:p>
                  </a:txBody>
                  <a:tcPr marL="28575" marR="28575" marT="0" marB="0" anchor="ctr">
                    <a:solidFill>
                      <a:srgbClr val="FCFEFE"/>
                    </a:solidFill>
                  </a:tcPr>
                </a:tc>
                <a:tc>
                  <a:txBody>
                    <a:bodyPr wrap="square"/>
                    <a:lstStyle/>
                    <a:p>
                      <a:pPr algn="ctr"/>
                      <a:r>
                        <a:rPr sz="860" b="0">
                          <a:solidFill>
                            <a:srgbClr val="75797C"/>
                          </a:solidFill>
                          <a:latin typeface="PingFang SC"/>
                        </a:rPr>
                        <a:t>1.8</a:t>
                      </a:r>
                    </a:p>
                  </a:txBody>
                  <a:tcPr marL="28575" marR="28575" marT="0" marB="0" anchor="ctr">
                    <a:solidFill>
                      <a:srgbClr val="FCFEFD"/>
                    </a:solidFill>
                  </a:tcPr>
                </a:tc>
                <a:tc>
                  <a:txBody>
                    <a:bodyPr wrap="square"/>
                    <a:lstStyle/>
                    <a:p>
                      <a:pPr algn="ctr"/>
                      <a:r>
                        <a:rPr sz="860" b="0">
                          <a:solidFill>
                            <a:srgbClr val="939998"/>
                          </a:solidFill>
                          <a:latin typeface="PingFang SC"/>
                        </a:rPr>
                        <a:t>1.8</a:t>
                      </a:r>
                    </a:p>
                  </a:txBody>
                  <a:tcPr marL="28575" marR="28575" marT="0" marB="0" anchor="ctr">
                    <a:solidFill>
                      <a:srgbClr val="FCFEFE"/>
                    </a:solidFill>
                  </a:tcPr>
                </a:tc>
              </a:tr>
              <a:tr h="260604">
                <a:tc>
                  <a:txBody>
                    <a:bodyPr wrap="square"/>
                    <a:lstStyle/>
                    <a:p>
                      <a:pPr algn="ctr"/>
                      <a:r>
                        <a:rPr sz="860" b="0">
                          <a:solidFill>
                            <a:srgbClr val="767C7D"/>
                          </a:solidFill>
                          <a:latin typeface="PingFang SC"/>
                        </a:rPr>
                        <a:t>70(154)</a:t>
                      </a:r>
                    </a:p>
                  </a:txBody>
                  <a:tcPr marL="28575" marR="28575" marT="0" marB="0" anchor="ctr">
                    <a:solidFill>
                      <a:srgbClr val="FCFEFD"/>
                    </a:solidFill>
                  </a:tcPr>
                </a:tc>
                <a:tc>
                  <a:txBody>
                    <a:bodyPr wrap="square"/>
                    <a:lstStyle/>
                    <a:p>
                      <a:pPr algn="ctr"/>
                      <a:r>
                        <a:rPr sz="860" b="0">
                          <a:solidFill>
                            <a:srgbClr val="7B7F80"/>
                          </a:solidFill>
                          <a:latin typeface="PingFang SC"/>
                        </a:rPr>
                        <a:t>2.1</a:t>
                      </a:r>
                    </a:p>
                  </a:txBody>
                  <a:tcPr marL="28575" marR="28575" marT="0" marB="0" anchor="ctr">
                    <a:solidFill>
                      <a:srgbClr val="FCFEFD"/>
                    </a:solidFill>
                  </a:tcPr>
                </a:tc>
                <a:tc>
                  <a:txBody>
                    <a:bodyPr wrap="square"/>
                    <a:lstStyle/>
                    <a:p>
                      <a:pPr algn="ctr"/>
                      <a:r>
                        <a:rPr sz="860" b="0">
                          <a:solidFill>
                            <a:srgbClr val="828888"/>
                          </a:solidFill>
                          <a:latin typeface="PingFang SC"/>
                        </a:rPr>
                        <a:t>2.1</a:t>
                      </a:r>
                    </a:p>
                  </a:txBody>
                  <a:tcPr marL="28575" marR="28575" marT="0" marB="0" anchor="ctr">
                    <a:solidFill>
                      <a:srgbClr val="FDFEFD"/>
                    </a:solidFill>
                  </a:tcPr>
                </a:tc>
                <a:tc>
                  <a:txBody>
                    <a:bodyPr wrap="square"/>
                    <a:lstStyle/>
                    <a:p>
                      <a:pPr algn="ctr"/>
                      <a:r>
                        <a:rPr sz="860" b="0">
                          <a:solidFill>
                            <a:srgbClr val="9FA9A8"/>
                          </a:solidFill>
                          <a:latin typeface="PingFang SC"/>
                        </a:rPr>
                        <a:t>2.1</a:t>
                      </a:r>
                    </a:p>
                  </a:txBody>
                  <a:tcPr marL="28575" marR="28575" marT="0" marB="0" anchor="ctr">
                    <a:solidFill>
                      <a:srgbClr val="FCFEFD"/>
                    </a:solidFill>
                  </a:tcPr>
                </a:tc>
              </a:tr>
              <a:tr h="260604">
                <a:tc>
                  <a:txBody>
                    <a:bodyPr wrap="square"/>
                    <a:lstStyle/>
                    <a:p>
                      <a:pPr algn="ctr"/>
                      <a:r>
                        <a:rPr sz="860" b="0">
                          <a:solidFill>
                            <a:srgbClr val="757A7C"/>
                          </a:solidFill>
                          <a:latin typeface="PingFang SC"/>
                        </a:rPr>
                        <a:t>80(176)</a:t>
                      </a:r>
                    </a:p>
                  </a:txBody>
                  <a:tcPr marL="28575" marR="28575" marT="0" marB="0" anchor="ctr">
                    <a:solidFill>
                      <a:srgbClr val="FCFEFE"/>
                    </a:solidFill>
                  </a:tcPr>
                </a:tc>
                <a:tc>
                  <a:txBody>
                    <a:bodyPr wrap="square"/>
                    <a:lstStyle/>
                    <a:p>
                      <a:pPr algn="ctr"/>
                      <a:r>
                        <a:rPr sz="860" b="0">
                          <a:solidFill>
                            <a:srgbClr val="6F7477"/>
                          </a:solidFill>
                          <a:latin typeface="PingFang SC"/>
                        </a:rPr>
                        <a:t>1.9</a:t>
                      </a:r>
                    </a:p>
                  </a:txBody>
                  <a:tcPr marL="28575" marR="28575" marT="0" marB="0" anchor="ctr">
                    <a:solidFill>
                      <a:srgbClr val="FDFEFE"/>
                    </a:solidFill>
                  </a:tcPr>
                </a:tc>
                <a:tc>
                  <a:txBody>
                    <a:bodyPr wrap="square"/>
                    <a:lstStyle/>
                    <a:p>
                      <a:pPr algn="ctr"/>
                      <a:r>
                        <a:rPr sz="860" b="0">
                          <a:solidFill>
                            <a:srgbClr val="6B6D6F"/>
                          </a:solidFill>
                          <a:latin typeface="PingFang SC"/>
                        </a:rPr>
                        <a:t>2.4</a:t>
                      </a:r>
                    </a:p>
                  </a:txBody>
                  <a:tcPr marL="28575" marR="28575" marT="0" marB="0" anchor="ctr">
                    <a:solidFill>
                      <a:srgbClr val="FDFEFE"/>
                    </a:solidFill>
                  </a:tcPr>
                </a:tc>
                <a:tc>
                  <a:txBody>
                    <a:bodyPr wrap="square"/>
                    <a:lstStyle/>
                    <a:p>
                      <a:pPr algn="ctr"/>
                      <a:r>
                        <a:rPr sz="860" b="0">
                          <a:solidFill>
                            <a:srgbClr val="A0A9AB"/>
                          </a:solidFill>
                          <a:latin typeface="PingFang SC"/>
                        </a:rPr>
                        <a:t>2.4</a:t>
                      </a:r>
                    </a:p>
                  </a:txBody>
                  <a:tcPr marL="28575" marR="28575" marT="0" marB="0" anchor="ctr">
                    <a:solidFill>
                      <a:srgbClr val="FDFEFE"/>
                    </a:solidFill>
                  </a:tcPr>
                </a:tc>
              </a:tr>
              <a:tr h="260604">
                <a:tc>
                  <a:txBody>
                    <a:bodyPr wrap="square"/>
                    <a:lstStyle/>
                    <a:p>
                      <a:pPr algn="ctr"/>
                      <a:r>
                        <a:rPr sz="860" b="0">
                          <a:solidFill>
                            <a:srgbClr val="74797C"/>
                          </a:solidFill>
                          <a:latin typeface="PingFang SC"/>
                        </a:rPr>
                        <a:t>90(200)</a:t>
                      </a:r>
                    </a:p>
                  </a:txBody>
                  <a:tcPr marL="28575" marR="28575" marT="0" marB="0" anchor="ctr">
                    <a:solidFill>
                      <a:srgbClr val="FCFEFE"/>
                    </a:solidFill>
                  </a:tcPr>
                </a:tc>
                <a:tc>
                  <a:txBody>
                    <a:bodyPr wrap="square"/>
                    <a:lstStyle/>
                    <a:p>
                      <a:pPr algn="ctr"/>
                      <a:r>
                        <a:rPr sz="860" b="0">
                          <a:solidFill>
                            <a:srgbClr val="676C6B"/>
                          </a:solidFill>
                          <a:latin typeface="PingFang SC"/>
                        </a:rPr>
                        <a:t>2.0</a:t>
                      </a:r>
                    </a:p>
                  </a:txBody>
                  <a:tcPr marL="28575" marR="28575" marT="0" marB="0" anchor="ctr">
                    <a:solidFill>
                      <a:srgbClr val="FCFEFE"/>
                    </a:solidFill>
                  </a:tcPr>
                </a:tc>
                <a:tc>
                  <a:txBody>
                    <a:bodyPr wrap="square"/>
                    <a:lstStyle/>
                    <a:p>
                      <a:pPr algn="ctr"/>
                      <a:r>
                        <a:rPr sz="860" b="0">
                          <a:solidFill>
                            <a:srgbClr val="6B6F72"/>
                          </a:solidFill>
                          <a:latin typeface="PingFang SC"/>
                        </a:rPr>
                        <a:t>2.4</a:t>
                      </a:r>
                    </a:p>
                  </a:txBody>
                  <a:tcPr marL="28575" marR="28575" marT="0" marB="0" anchor="ctr">
                    <a:solidFill>
                      <a:srgbClr val="FDFEFE"/>
                    </a:solidFill>
                  </a:tcPr>
                </a:tc>
                <a:tc>
                  <a:txBody>
                    <a:bodyPr wrap="square"/>
                    <a:lstStyle/>
                    <a:p>
                      <a:pPr algn="ctr"/>
                      <a:r>
                        <a:rPr sz="860" b="0">
                          <a:solidFill>
                            <a:srgbClr val="9B9D9E"/>
                          </a:solidFill>
                          <a:latin typeface="PingFang SC"/>
                        </a:rPr>
                        <a:t>2.7</a:t>
                      </a:r>
                    </a:p>
                  </a:txBody>
                  <a:tcPr marL="28575" marR="28575" marT="0" marB="0" anchor="ctr">
                    <a:solidFill>
                      <a:srgbClr val="FDFEFE"/>
                    </a:solidFill>
                  </a:tcPr>
                </a:tc>
              </a:tr>
              <a:tr h="260604">
                <a:tc>
                  <a:txBody>
                    <a:bodyPr wrap="square"/>
                    <a:lstStyle/>
                    <a:p>
                      <a:pPr algn="ctr"/>
                      <a:r>
                        <a:rPr sz="860" b="0">
                          <a:solidFill>
                            <a:srgbClr val="9CA3A4"/>
                          </a:solidFill>
                          <a:latin typeface="PingFang SC"/>
                        </a:rPr>
                        <a:t>100(220)</a:t>
                      </a:r>
                    </a:p>
                  </a:txBody>
                  <a:tcPr marL="28575" marR="28575" marT="0" marB="0" anchor="ctr">
                    <a:solidFill>
                      <a:srgbClr val="FCFEFD"/>
                    </a:solidFill>
                  </a:tcPr>
                </a:tc>
                <a:tc>
                  <a:txBody>
                    <a:bodyPr wrap="square"/>
                    <a:lstStyle/>
                    <a:p>
                      <a:pPr algn="ctr"/>
                      <a:r>
                        <a:rPr sz="860" b="0">
                          <a:solidFill>
                            <a:srgbClr val="A5BEC4"/>
                          </a:solidFill>
                          <a:latin typeface="PingFang SC"/>
                        </a:rPr>
                        <a:t>2.1</a:t>
                      </a:r>
                    </a:p>
                  </a:txBody>
                  <a:tcPr marL="28575" marR="28575" marT="0" marB="0" anchor="ctr">
                    <a:solidFill>
                      <a:srgbClr val="FCFEFD"/>
                    </a:solidFill>
                  </a:tcPr>
                </a:tc>
                <a:tc>
                  <a:txBody>
                    <a:bodyPr wrap="square"/>
                    <a:lstStyle/>
                    <a:p>
                      <a:pPr algn="ctr"/>
                      <a:r>
                        <a:rPr sz="860" b="0">
                          <a:solidFill>
                            <a:srgbClr val="A4BFC6"/>
                          </a:solidFill>
                          <a:latin typeface="PingFang SC"/>
                        </a:rPr>
                        <a:t>2.5</a:t>
                      </a:r>
                    </a:p>
                  </a:txBody>
                  <a:tcPr marL="28575" marR="28575" marT="0" marB="0" anchor="ctr">
                    <a:solidFill>
                      <a:srgbClr val="FCFEFD"/>
                    </a:solidFill>
                  </a:tcPr>
                </a:tc>
                <a:tc>
                  <a:txBody>
                    <a:bodyPr wrap="square"/>
                    <a:lstStyle/>
                    <a:p>
                      <a:pPr algn="ctr"/>
                      <a:r>
                        <a:rPr sz="860" b="0">
                          <a:solidFill>
                            <a:srgbClr val="A5C0C6"/>
                          </a:solidFill>
                          <a:latin typeface="PingFang SC"/>
                        </a:rPr>
                        <a:t>3.0</a:t>
                      </a:r>
                    </a:p>
                  </a:txBody>
                  <a:tcPr marL="28575" marR="28575" marT="0" marB="0" anchor="ctr">
                    <a:solidFill>
                      <a:srgbClr val="FCFEFD"/>
                    </a:solidFill>
                  </a:tcPr>
                </a:tc>
              </a:tr>
            </a:tbl>
          </a:graphicData>
        </a:graphic>
      </p:graphicFrame>
      <p:graphicFrame>
        <p:nvGraphicFramePr>
          <p:cNvPr id="5" name="Table 4"/>
          <p:cNvGraphicFramePr>
            <a:graphicFrameLocks noGrp="1"/>
          </p:cNvGraphicFramePr>
          <p:nvPr/>
        </p:nvGraphicFramePr>
        <p:xfrm>
          <a:off x="5122926" y="3092500"/>
          <a:ext cx="4608575" cy="2084832"/>
        </p:xfrm>
        <a:graphic>
          <a:graphicData uri="http://schemas.openxmlformats.org/drawingml/2006/table">
            <a:tbl>
              <a:tblPr>
                <a:tableStyleId>{5C22544A-7EE6-4342-B048-85BDC9FD1C3A}</a:tableStyleId>
              </a:tblPr>
              <a:tblGrid>
                <a:gridCol w="1152143"/>
                <a:gridCol w="1152143"/>
                <a:gridCol w="1152143"/>
                <a:gridCol w="1152146"/>
              </a:tblGrid>
              <a:tr h="260604">
                <a:tc>
                  <a:txBody>
                    <a:bodyPr wrap="square"/>
                    <a:lstStyle/>
                    <a:p>
                      <a:pPr algn="ctr"/>
                      <a:r>
                        <a:rPr sz="860" b="1">
                          <a:solidFill>
                            <a:srgbClr val="A5EAF9"/>
                          </a:solidFill>
                          <a:latin typeface="PingFang SC"/>
                        </a:rPr>
                        <a:t>体重 (kg)
(磅)</a:t>
                      </a:r>
                    </a:p>
                  </a:txBody>
                  <a:tcPr marL="28575" marR="28575" marT="0" marB="0" anchor="ctr">
                    <a:solidFill>
                      <a:srgbClr val="0E9ED8"/>
                    </a:solidFill>
                  </a:tcPr>
                </a:tc>
                <a:tc>
                  <a:txBody>
                    <a:bodyPr wrap="square"/>
                    <a:lstStyle/>
                    <a:p>
                      <a:pPr algn="ctr"/>
                      <a:r>
                        <a:rPr sz="860" b="1">
                          <a:solidFill>
                            <a:srgbClr val="76D6EF"/>
                          </a:solidFill>
                          <a:latin typeface="PingFang SC"/>
                        </a:rPr>
                        <a:t>高度 (米)</a:t>
                      </a:r>
                    </a:p>
                  </a:txBody>
                  <a:tcPr marL="28575" marR="28575" marT="0" marB="0" anchor="ctr">
                    <a:solidFill>
                      <a:srgbClr val="119DD3"/>
                    </a:solidFill>
                  </a:tcPr>
                </a:tc>
                <a:tc>
                  <a:txBody>
                    <a:bodyPr wrap="square"/>
                    <a:lstStyle/>
                    <a:p>
                      <a:pPr algn="ctr"/>
                      <a:r>
                        <a:rPr sz="860" b="1">
                          <a:solidFill>
                            <a:srgbClr val="8DDCF7"/>
                          </a:solidFill>
                          <a:latin typeface="PingFang SC"/>
                        </a:rPr>
                        <a:t>高度 (米)</a:t>
                      </a:r>
                    </a:p>
                  </a:txBody>
                  <a:tcPr marL="28575" marR="28575" marT="0" marB="0" anchor="ctr">
                    <a:solidFill>
                      <a:srgbClr val="139DD3"/>
                    </a:solidFill>
                  </a:tcPr>
                </a:tc>
                <a:tc>
                  <a:txBody>
                    <a:bodyPr wrap="square"/>
                    <a:lstStyle/>
                    <a:p>
                      <a:pPr algn="ctr"/>
                      <a:r>
                        <a:rPr sz="860" b="1">
                          <a:solidFill>
                            <a:srgbClr val="6FDCFF"/>
                          </a:solidFill>
                          <a:latin typeface="PingFang SC"/>
                        </a:rPr>
                        <a:t>高度 (米)</a:t>
                      </a:r>
                    </a:p>
                  </a:txBody>
                  <a:tcPr marL="28575" marR="28575" marT="0" marB="0" anchor="ctr">
                    <a:solidFill>
                      <a:srgbClr val="129DD4"/>
                    </a:solidFill>
                  </a:tcPr>
                </a:tc>
              </a:tr>
              <a:tr h="260604">
                <a:tc>
                  <a:txBody>
                    <a:bodyPr wrap="square"/>
                    <a:lstStyle/>
                    <a:p>
                      <a:pPr algn="ctr"/>
                      <a:r>
                        <a:rPr sz="860" b="1">
                          <a:solidFill>
                            <a:srgbClr val="000000"/>
                          </a:solidFill>
                          <a:latin typeface="PingFang SC"/>
                        </a:rPr>
                        <a:t/>
                      </a:r>
                    </a:p>
                  </a:txBody>
                  <a:tcPr marL="28575" marR="28575" marT="0" marB="0" anchor="ctr">
                    <a:solidFill>
                      <a:srgbClr val="0E9ED5"/>
                    </a:solidFill>
                  </a:tcPr>
                </a:tc>
                <a:tc>
                  <a:txBody>
                    <a:bodyPr wrap="square"/>
                    <a:lstStyle/>
                    <a:p>
                      <a:pPr algn="ctr"/>
                      <a:r>
                        <a:rPr sz="860" b="1">
                          <a:solidFill>
                            <a:srgbClr val="C0F9FF"/>
                          </a:solidFill>
                          <a:latin typeface="PingFang SC"/>
                        </a:rPr>
                        <a:t>1.5m(4'11")</a:t>
                      </a:r>
                    </a:p>
                  </a:txBody>
                  <a:tcPr marL="28575" marR="28575" marT="0" marB="0" anchor="ctr">
                    <a:solidFill>
                      <a:srgbClr val="62CBF2"/>
                    </a:solidFill>
                  </a:tcPr>
                </a:tc>
                <a:tc>
                  <a:txBody>
                    <a:bodyPr wrap="square"/>
                    <a:lstStyle/>
                    <a:p>
                      <a:pPr algn="ctr"/>
                      <a:r>
                        <a:rPr sz="860" b="1">
                          <a:solidFill>
                            <a:srgbClr val="BEF8FF"/>
                          </a:solidFill>
                          <a:latin typeface="PingFang SC"/>
                        </a:rPr>
                        <a:t>1.7m(5'7")</a:t>
                      </a:r>
                    </a:p>
                  </a:txBody>
                  <a:tcPr marL="28575" marR="28575" marT="0" marB="0" anchor="ctr">
                    <a:solidFill>
                      <a:srgbClr val="62CAF2"/>
                    </a:solidFill>
                  </a:tcPr>
                </a:tc>
                <a:tc>
                  <a:txBody>
                    <a:bodyPr wrap="square"/>
                    <a:lstStyle/>
                    <a:p>
                      <a:pPr algn="ctr"/>
                      <a:r>
                        <a:rPr sz="860" b="1">
                          <a:solidFill>
                            <a:srgbClr val="BDF6FF"/>
                          </a:solidFill>
                          <a:latin typeface="PingFang SC"/>
                        </a:rPr>
                        <a:t>1.9m(6'3")</a:t>
                      </a:r>
                    </a:p>
                  </a:txBody>
                  <a:tcPr marL="28575" marR="28575" marT="0" marB="0" anchor="ctr">
                    <a:solidFill>
                      <a:srgbClr val="62CBF3"/>
                    </a:solidFill>
                  </a:tcPr>
                </a:tc>
              </a:tr>
              <a:tr h="260604">
                <a:tc>
                  <a:txBody>
                    <a:bodyPr wrap="square"/>
                    <a:lstStyle/>
                    <a:p>
                      <a:pPr algn="ctr"/>
                      <a:r>
                        <a:rPr sz="860" b="0">
                          <a:solidFill>
                            <a:srgbClr val="7E8487"/>
                          </a:solidFill>
                          <a:latin typeface="PingFang SC"/>
                        </a:rPr>
                        <a:t>110(242)</a:t>
                      </a:r>
                    </a:p>
                  </a:txBody>
                  <a:tcPr marL="28575" marR="28575" marT="0" marB="0" anchor="ctr">
                    <a:solidFill>
                      <a:srgbClr val="FCFEFD"/>
                    </a:solidFill>
                  </a:tcPr>
                </a:tc>
                <a:tc>
                  <a:txBody>
                    <a:bodyPr wrap="square"/>
                    <a:lstStyle/>
                    <a:p>
                      <a:pPr algn="ctr"/>
                      <a:r>
                        <a:rPr sz="860" b="0">
                          <a:solidFill>
                            <a:srgbClr val="6A6E6F"/>
                          </a:solidFill>
                          <a:latin typeface="PingFang SC"/>
                        </a:rPr>
                        <a:t>2.2</a:t>
                      </a:r>
                    </a:p>
                  </a:txBody>
                  <a:tcPr marL="28575" marR="28575" marT="0" marB="0" anchor="ctr">
                    <a:solidFill>
                      <a:srgbClr val="FCFEFD"/>
                    </a:solidFill>
                  </a:tcPr>
                </a:tc>
                <a:tc>
                  <a:txBody>
                    <a:bodyPr wrap="square"/>
                    <a:lstStyle/>
                    <a:p>
                      <a:pPr algn="ctr"/>
                      <a:r>
                        <a:rPr sz="860" b="0">
                          <a:solidFill>
                            <a:srgbClr val="696F6E"/>
                          </a:solidFill>
                          <a:latin typeface="PingFang SC"/>
                        </a:rPr>
                        <a:t>2.6</a:t>
                      </a:r>
                    </a:p>
                  </a:txBody>
                  <a:tcPr marL="28575" marR="28575" marT="0" marB="0" anchor="ctr">
                    <a:solidFill>
                      <a:srgbClr val="FCFEFE"/>
                    </a:solidFill>
                  </a:tcPr>
                </a:tc>
                <a:tc>
                  <a:txBody>
                    <a:bodyPr wrap="square"/>
                    <a:lstStyle/>
                    <a:p>
                      <a:pPr algn="ctr"/>
                      <a:r>
                        <a:rPr sz="860" b="0">
                          <a:solidFill>
                            <a:srgbClr val="818E8F"/>
                          </a:solidFill>
                          <a:latin typeface="PingFang SC"/>
                        </a:rPr>
                        <a:t>3.3</a:t>
                      </a:r>
                    </a:p>
                  </a:txBody>
                  <a:tcPr marL="28575" marR="28575" marT="0" marB="0" anchor="ctr">
                    <a:solidFill>
                      <a:srgbClr val="FDFEFE"/>
                    </a:solidFill>
                  </a:tcPr>
                </a:tc>
              </a:tr>
              <a:tr h="260604">
                <a:tc>
                  <a:txBody>
                    <a:bodyPr wrap="square"/>
                    <a:lstStyle/>
                    <a:p>
                      <a:pPr algn="ctr"/>
                      <a:r>
                        <a:rPr sz="860" b="0">
                          <a:solidFill>
                            <a:srgbClr val="828788"/>
                          </a:solidFill>
                          <a:latin typeface="PingFang SC"/>
                        </a:rPr>
                        <a:t>120(264)</a:t>
                      </a:r>
                    </a:p>
                  </a:txBody>
                  <a:tcPr marL="28575" marR="28575" marT="0" marB="0" anchor="ctr">
                    <a:solidFill>
                      <a:srgbClr val="FCFDFE"/>
                    </a:solidFill>
                  </a:tcPr>
                </a:tc>
                <a:tc>
                  <a:txBody>
                    <a:bodyPr wrap="square"/>
                    <a:lstStyle/>
                    <a:p>
                      <a:pPr algn="ctr"/>
                      <a:r>
                        <a:rPr sz="860" b="0">
                          <a:solidFill>
                            <a:srgbClr val="7E8385"/>
                          </a:solidFill>
                          <a:latin typeface="PingFang SC"/>
                        </a:rPr>
                        <a:t>2.3</a:t>
                      </a:r>
                    </a:p>
                  </a:txBody>
                  <a:tcPr marL="28575" marR="28575" marT="0" marB="0" anchor="ctr">
                    <a:solidFill>
                      <a:srgbClr val="FCFEFE"/>
                    </a:solidFill>
                  </a:tcPr>
                </a:tc>
                <a:tc>
                  <a:txBody>
                    <a:bodyPr wrap="square"/>
                    <a:lstStyle/>
                    <a:p>
                      <a:pPr algn="ctr"/>
                      <a:r>
                        <a:rPr sz="860" b="0">
                          <a:solidFill>
                            <a:srgbClr val="777A7B"/>
                          </a:solidFill>
                          <a:latin typeface="PingFang SC"/>
                        </a:rPr>
                        <a:t>2.7</a:t>
                      </a:r>
                    </a:p>
                  </a:txBody>
                  <a:tcPr marL="28575" marR="28575" marT="0" marB="0" anchor="ctr">
                    <a:solidFill>
                      <a:srgbClr val="FDFEFE"/>
                    </a:solidFill>
                  </a:tcPr>
                </a:tc>
                <a:tc>
                  <a:txBody>
                    <a:bodyPr wrap="square"/>
                    <a:lstStyle/>
                    <a:p>
                      <a:pPr algn="ctr"/>
                      <a:r>
                        <a:rPr sz="860" b="0">
                          <a:solidFill>
                            <a:srgbClr val="7F9E9F"/>
                          </a:solidFill>
                          <a:latin typeface="PingFang SC"/>
                        </a:rPr>
                        <a:t>3.0</a:t>
                      </a:r>
                    </a:p>
                  </a:txBody>
                  <a:tcPr marL="28575" marR="28575" marT="0" marB="0" anchor="ctr">
                    <a:solidFill>
                      <a:srgbClr val="FDFEFE"/>
                    </a:solidFill>
                  </a:tcPr>
                </a:tc>
              </a:tr>
              <a:tr h="260604">
                <a:tc>
                  <a:txBody>
                    <a:bodyPr wrap="square"/>
                    <a:lstStyle/>
                    <a:p>
                      <a:pPr algn="ctr"/>
                      <a:r>
                        <a:rPr sz="860" b="0">
                          <a:solidFill>
                            <a:srgbClr val="7C8484"/>
                          </a:solidFill>
                          <a:latin typeface="PingFang SC"/>
                        </a:rPr>
                        <a:t>130(287)</a:t>
                      </a:r>
                    </a:p>
                  </a:txBody>
                  <a:tcPr marL="28575" marR="28575" marT="0" marB="0" anchor="ctr">
                    <a:solidFill>
                      <a:srgbClr val="FBFEFE"/>
                    </a:solidFill>
                  </a:tcPr>
                </a:tc>
                <a:tc>
                  <a:txBody>
                    <a:bodyPr wrap="square"/>
                    <a:lstStyle/>
                    <a:p>
                      <a:pPr algn="ctr"/>
                      <a:r>
                        <a:rPr sz="860" b="0">
                          <a:solidFill>
                            <a:srgbClr val="798083"/>
                          </a:solidFill>
                          <a:latin typeface="PingFang SC"/>
                        </a:rPr>
                        <a:t>2.5</a:t>
                      </a:r>
                    </a:p>
                  </a:txBody>
                  <a:tcPr marL="28575" marR="28575" marT="0" marB="0" anchor="ctr">
                    <a:solidFill>
                      <a:srgbClr val="FDFEFE"/>
                    </a:solidFill>
                  </a:tcPr>
                </a:tc>
                <a:tc>
                  <a:txBody>
                    <a:bodyPr wrap="square"/>
                    <a:lstStyle/>
                    <a:p>
                      <a:pPr algn="ctr"/>
                      <a:r>
                        <a:rPr sz="860" b="0">
                          <a:solidFill>
                            <a:srgbClr val="797F7F"/>
                          </a:solidFill>
                          <a:latin typeface="PingFang SC"/>
                        </a:rPr>
                        <a:t>2.8</a:t>
                      </a:r>
                    </a:p>
                  </a:txBody>
                  <a:tcPr marL="28575" marR="28575" marT="0" marB="0" anchor="ctr">
                    <a:solidFill>
                      <a:srgbClr val="FDFEFD"/>
                    </a:solidFill>
                  </a:tcPr>
                </a:tc>
                <a:tc>
                  <a:txBody>
                    <a:bodyPr wrap="square"/>
                    <a:lstStyle/>
                    <a:p>
                      <a:pPr algn="ctr"/>
                      <a:r>
                        <a:rPr sz="860" b="0">
                          <a:solidFill>
                            <a:srgbClr val="7E989A"/>
                          </a:solidFill>
                          <a:latin typeface="PingFang SC"/>
                        </a:rPr>
                        <a:t>3.1</a:t>
                      </a:r>
                    </a:p>
                  </a:txBody>
                  <a:tcPr marL="28575" marR="28575" marT="0" marB="0" anchor="ctr">
                    <a:solidFill>
                      <a:srgbClr val="FDFEFD"/>
                    </a:solidFill>
                  </a:tcPr>
                </a:tc>
              </a:tr>
              <a:tr h="260604">
                <a:tc>
                  <a:txBody>
                    <a:bodyPr wrap="square"/>
                    <a:lstStyle/>
                    <a:p>
                      <a:pPr algn="ctr"/>
                      <a:r>
                        <a:rPr sz="860" b="0">
                          <a:solidFill>
                            <a:srgbClr val="7F8485"/>
                          </a:solidFill>
                          <a:latin typeface="PingFang SC"/>
                        </a:rPr>
                        <a:t>140(309)</a:t>
                      </a:r>
                    </a:p>
                  </a:txBody>
                  <a:tcPr marL="28575" marR="28575" marT="0" marB="0" anchor="ctr">
                    <a:solidFill>
                      <a:srgbClr val="FCFEFE"/>
                    </a:solidFill>
                  </a:tcPr>
                </a:tc>
                <a:tc>
                  <a:txBody>
                    <a:bodyPr wrap="square"/>
                    <a:lstStyle/>
                    <a:p>
                      <a:pPr algn="ctr"/>
                      <a:r>
                        <a:rPr sz="860" b="0">
                          <a:solidFill>
                            <a:srgbClr val="676F6F"/>
                          </a:solidFill>
                          <a:latin typeface="PingFang SC"/>
                        </a:rPr>
                        <a:t>2.6</a:t>
                      </a:r>
                    </a:p>
                  </a:txBody>
                  <a:tcPr marL="28575" marR="28575" marT="0" marB="0" anchor="ctr">
                    <a:solidFill>
                      <a:srgbClr val="FDFEFE"/>
                    </a:solidFill>
                  </a:tcPr>
                </a:tc>
                <a:tc>
                  <a:txBody>
                    <a:bodyPr wrap="square"/>
                    <a:lstStyle/>
                    <a:p>
                      <a:pPr algn="ctr"/>
                      <a:r>
                        <a:rPr sz="860" b="0">
                          <a:solidFill>
                            <a:srgbClr val="717577"/>
                          </a:solidFill>
                          <a:latin typeface="PingFang SC"/>
                        </a:rPr>
                        <a:t>3.0</a:t>
                      </a:r>
                    </a:p>
                  </a:txBody>
                  <a:tcPr marL="28575" marR="28575" marT="0" marB="0" anchor="ctr">
                    <a:solidFill>
                      <a:srgbClr val="FDFEFE"/>
                    </a:solidFill>
                  </a:tcPr>
                </a:tc>
                <a:tc>
                  <a:txBody>
                    <a:bodyPr wrap="square"/>
                    <a:lstStyle/>
                    <a:p>
                      <a:pPr algn="ctr"/>
                      <a:r>
                        <a:rPr sz="860" b="0">
                          <a:solidFill>
                            <a:srgbClr val="838B8D"/>
                          </a:solidFill>
                          <a:latin typeface="PingFang SC"/>
                        </a:rPr>
                        <a:t>3.2</a:t>
                      </a:r>
                    </a:p>
                  </a:txBody>
                  <a:tcPr marL="28575" marR="28575" marT="0" marB="0" anchor="ctr">
                    <a:solidFill>
                      <a:srgbClr val="FDFEFE"/>
                    </a:solidFill>
                  </a:tcPr>
                </a:tc>
              </a:tr>
              <a:tr h="260604">
                <a:tc>
                  <a:txBody>
                    <a:bodyPr wrap="square"/>
                    <a:lstStyle/>
                    <a:p>
                      <a:pPr algn="ctr"/>
                      <a:r>
                        <a:rPr sz="860" b="0">
                          <a:solidFill>
                            <a:srgbClr val="7A7E80"/>
                          </a:solidFill>
                          <a:latin typeface="PingFang SC"/>
                        </a:rPr>
                        <a:t>150(331)</a:t>
                      </a:r>
                    </a:p>
                  </a:txBody>
                  <a:tcPr marL="28575" marR="28575" marT="0" marB="0" anchor="ctr">
                    <a:solidFill>
                      <a:srgbClr val="FBFEFD"/>
                    </a:solidFill>
                  </a:tcPr>
                </a:tc>
                <a:tc>
                  <a:txBody>
                    <a:bodyPr wrap="square"/>
                    <a:lstStyle/>
                    <a:p>
                      <a:pPr algn="ctr"/>
                      <a:r>
                        <a:rPr sz="860" b="0">
                          <a:solidFill>
                            <a:srgbClr val="6E7374"/>
                          </a:solidFill>
                          <a:latin typeface="PingFang SC"/>
                        </a:rPr>
                        <a:t>2.7</a:t>
                      </a:r>
                    </a:p>
                  </a:txBody>
                  <a:tcPr marL="28575" marR="28575" marT="0" marB="0" anchor="ctr">
                    <a:solidFill>
                      <a:srgbClr val="FCFEFE"/>
                    </a:solidFill>
                  </a:tcPr>
                </a:tc>
                <a:tc>
                  <a:txBody>
                    <a:bodyPr wrap="square"/>
                    <a:lstStyle/>
                    <a:p>
                      <a:pPr algn="ctr"/>
                      <a:r>
                        <a:rPr sz="860" b="0">
                          <a:solidFill>
                            <a:srgbClr val="727675"/>
                          </a:solidFill>
                          <a:latin typeface="PingFang SC"/>
                        </a:rPr>
                        <a:t>3.1</a:t>
                      </a:r>
                    </a:p>
                  </a:txBody>
                  <a:tcPr marL="28575" marR="28575" marT="0" marB="0" anchor="ctr">
                    <a:solidFill>
                      <a:srgbClr val="FDFEFE"/>
                    </a:solidFill>
                  </a:tcPr>
                </a:tc>
                <a:tc>
                  <a:txBody>
                    <a:bodyPr wrap="square"/>
                    <a:lstStyle/>
                    <a:p>
                      <a:pPr algn="ctr"/>
                      <a:r>
                        <a:rPr sz="860" b="0">
                          <a:solidFill>
                            <a:srgbClr val="808788"/>
                          </a:solidFill>
                          <a:latin typeface="PingFang SC"/>
                        </a:rPr>
                        <a:t>3.3</a:t>
                      </a:r>
                    </a:p>
                  </a:txBody>
                  <a:tcPr marL="28575" marR="28575" marT="0" marB="0" anchor="ctr">
                    <a:solidFill>
                      <a:srgbClr val="FDFEFE"/>
                    </a:solidFill>
                  </a:tcPr>
                </a:tc>
              </a:tr>
              <a:tr h="260604">
                <a:tc>
                  <a:txBody>
                    <a:bodyPr wrap="square"/>
                    <a:lstStyle/>
                    <a:p>
                      <a:pPr algn="ctr"/>
                      <a:r>
                        <a:rPr sz="860" b="0">
                          <a:solidFill>
                            <a:srgbClr val="9DAEB0"/>
                          </a:solidFill>
                          <a:latin typeface="PingFang SC"/>
                        </a:rPr>
                        <a:t>160(353)</a:t>
                      </a:r>
                    </a:p>
                  </a:txBody>
                  <a:tcPr marL="28575" marR="28575" marT="0" marB="0" anchor="ctr">
                    <a:solidFill>
                      <a:srgbClr val="FCFEFD"/>
                    </a:solidFill>
                  </a:tcPr>
                </a:tc>
                <a:tc>
                  <a:txBody>
                    <a:bodyPr wrap="square"/>
                    <a:lstStyle/>
                    <a:p>
                      <a:pPr algn="ctr"/>
                      <a:r>
                        <a:rPr sz="860" b="0">
                          <a:solidFill>
                            <a:srgbClr val="A1BCC2"/>
                          </a:solidFill>
                          <a:latin typeface="PingFang SC"/>
                        </a:rPr>
                        <a:t>2.8</a:t>
                      </a:r>
                    </a:p>
                  </a:txBody>
                  <a:tcPr marL="28575" marR="28575" marT="0" marB="0" anchor="ctr">
                    <a:solidFill>
                      <a:srgbClr val="FDFEFD"/>
                    </a:solidFill>
                  </a:tcPr>
                </a:tc>
                <a:tc>
                  <a:txBody>
                    <a:bodyPr wrap="square"/>
                    <a:lstStyle/>
                    <a:p>
                      <a:pPr algn="ctr"/>
                      <a:r>
                        <a:rPr sz="860" b="0">
                          <a:solidFill>
                            <a:srgbClr val="A1BDBF"/>
                          </a:solidFill>
                          <a:latin typeface="PingFang SC"/>
                        </a:rPr>
                        <a:t>3.2</a:t>
                      </a:r>
                    </a:p>
                  </a:txBody>
                  <a:tcPr marL="28575" marR="28575" marT="0" marB="0" anchor="ctr">
                    <a:solidFill>
                      <a:srgbClr val="FCFEFE"/>
                    </a:solidFill>
                  </a:tcPr>
                </a:tc>
                <a:tc>
                  <a:txBody>
                    <a:bodyPr wrap="square"/>
                    <a:lstStyle/>
                    <a:p>
                      <a:pPr algn="ctr"/>
                      <a:r>
                        <a:rPr sz="860" b="0">
                          <a:solidFill>
                            <a:srgbClr val="A0BBC2"/>
                          </a:solidFill>
                          <a:latin typeface="PingFang SC"/>
                        </a:rPr>
                        <a:t>3.4</a:t>
                      </a:r>
                    </a:p>
                  </a:txBody>
                  <a:tcPr marL="28575" marR="28575" marT="0" marB="0" anchor="ctr">
                    <a:solidFill>
                      <a:srgbClr val="FDFEFD"/>
                    </a:solidFill>
                  </a:tcPr>
                </a:tc>
              </a:tr>
            </a:tbl>
          </a:graphicData>
        </a:graphic>
      </p:graphicFrame>
      <p:sp>
        <p:nvSpPr>
          <p:cNvPr id="6" name="TextBox 5"/>
          <p:cNvSpPr txBox="1"/>
          <p:nvPr/>
        </p:nvSpPr>
        <p:spPr>
          <a:xfrm>
            <a:off x="606933" y="388010"/>
            <a:ext cx="4367860" cy="318516"/>
          </a:xfrm>
          <a:prstGeom prst="rect">
            <a:avLst/>
          </a:prstGeom>
          <a:noFill/>
          <a:ln>
            <a:noFill/>
          </a:ln>
        </p:spPr>
        <p:txBody>
          <a:bodyPr wrap="none" lIns="19050" rIns="19050" tIns="0" bIns="0" anchor="ctr">
            <a:noAutofit/>
          </a:bodyPr>
          <a:lstStyle/>
          <a:p>
            <a:pPr algn="l"/>
            <a:r>
              <a:rPr sz="2700" b="1">
                <a:solidFill>
                  <a:srgbClr val="3F5190"/>
                </a:solidFill>
                <a:latin typeface="PingFang SC"/>
              </a:rPr>
              <a:t>初始液体复苏</a:t>
            </a:r>
          </a:p>
        </p:txBody>
      </p:sp>
      <p:sp>
        <p:nvSpPr>
          <p:cNvPr id="7" name="TextBox 6"/>
          <p:cNvSpPr txBox="1"/>
          <p:nvPr/>
        </p:nvSpPr>
        <p:spPr>
          <a:xfrm>
            <a:off x="1069848" y="1262481"/>
            <a:ext cx="7694675" cy="185318"/>
          </a:xfrm>
          <a:prstGeom prst="rect">
            <a:avLst/>
          </a:prstGeom>
          <a:noFill/>
          <a:ln>
            <a:noFill/>
          </a:ln>
        </p:spPr>
        <p:txBody>
          <a:bodyPr wrap="square" lIns="19050" rIns="19050" tIns="0" bIns="0" anchor="t">
            <a:normAutofit/>
          </a:bodyPr>
          <a:lstStyle/>
          <a:p>
            <a:pPr algn="l"/>
            <a:r>
              <a:rPr sz="1350" b="0">
                <a:solidFill>
                  <a:srgbClr val="70797D"/>
                </a:solidFill>
                <a:latin typeface="PingFang SC"/>
              </a:rPr>
              <a:t>9. 脓毒症和感染性休克属于医疗急症；应立即开始治疗和复苏（良好实践声明）</a:t>
            </a:r>
          </a:p>
        </p:txBody>
      </p:sp>
      <p:sp>
        <p:nvSpPr>
          <p:cNvPr id="8" name="TextBox 7"/>
          <p:cNvSpPr txBox="1"/>
          <p:nvPr/>
        </p:nvSpPr>
        <p:spPr>
          <a:xfrm>
            <a:off x="1069848" y="1517294"/>
            <a:ext cx="7694675" cy="185318"/>
          </a:xfrm>
          <a:prstGeom prst="rect">
            <a:avLst/>
          </a:prstGeom>
          <a:noFill/>
          <a:ln>
            <a:noFill/>
          </a:ln>
        </p:spPr>
        <p:txBody>
          <a:bodyPr wrap="square" lIns="19050" rIns="19050" tIns="0" bIns="0" anchor="t">
            <a:normAutofit/>
          </a:bodyPr>
          <a:lstStyle/>
          <a:p>
            <a:pPr algn="l"/>
            <a:r>
              <a:rPr sz="1080" b="0">
                <a:solidFill>
                  <a:srgbClr val="76807E"/>
                </a:solidFill>
                <a:latin typeface="PingFang SC"/>
              </a:rPr>
              <a:t>10. 对于因脓毒症导致灌注不足或感染性休克的成人，我们“建议”在最初3小时内静脉输注至少30mL/kg的晶体液。</a:t>
            </a:r>
          </a:p>
        </p:txBody>
      </p:sp>
      <p:sp>
        <p:nvSpPr>
          <p:cNvPr id="9" name="TextBox 8"/>
          <p:cNvSpPr txBox="1"/>
          <p:nvPr/>
        </p:nvSpPr>
        <p:spPr>
          <a:xfrm>
            <a:off x="1172718" y="1806854"/>
            <a:ext cx="1419606" cy="208483"/>
          </a:xfrm>
          <a:prstGeom prst="rect">
            <a:avLst/>
          </a:prstGeom>
          <a:noFill/>
          <a:ln>
            <a:noFill/>
          </a:ln>
        </p:spPr>
        <p:txBody>
          <a:bodyPr wrap="square" lIns="19050" rIns="19050" tIns="0" bIns="0" anchor="t">
            <a:normAutofit/>
          </a:bodyPr>
          <a:lstStyle/>
          <a:p>
            <a:pPr algn="l"/>
            <a:r>
              <a:rPr sz="1650" b="0">
                <a:solidFill>
                  <a:srgbClr val="7A8083"/>
                </a:solidFill>
                <a:latin typeface="PingFang SC"/>
              </a:rPr>
              <a:t>✓ ⊕ ⊖ ○ ○</a:t>
            </a:r>
          </a:p>
        </p:txBody>
      </p:sp>
      <p:sp>
        <p:nvSpPr>
          <p:cNvPr id="10" name="TextBox 9"/>
          <p:cNvSpPr txBox="1"/>
          <p:nvPr/>
        </p:nvSpPr>
        <p:spPr>
          <a:xfrm>
            <a:off x="1275587" y="2096414"/>
            <a:ext cx="7488936" cy="150571"/>
          </a:xfrm>
          <a:prstGeom prst="rect">
            <a:avLst/>
          </a:prstGeom>
          <a:noFill/>
          <a:ln>
            <a:noFill/>
          </a:ln>
        </p:spPr>
        <p:txBody>
          <a:bodyPr wrap="square" lIns="19050" rIns="19050" tIns="0" bIns="0" anchor="t">
            <a:normAutofit/>
          </a:bodyPr>
          <a:lstStyle/>
          <a:p>
            <a:pPr algn="l"/>
            <a:r>
              <a:rPr sz="1350" b="0">
                <a:solidFill>
                  <a:srgbClr val="ABC1A1"/>
                </a:solidFill>
                <a:latin typeface="PingFang SC"/>
              </a:rPr>
              <a:t>备注：选择初始液体量时应考虑患者的个体特征和具体情况。</a:t>
            </a:r>
          </a:p>
        </p:txBody>
      </p:sp>
      <p:sp>
        <p:nvSpPr>
          <p:cNvPr id="11" name="TextBox 10"/>
          <p:cNvSpPr txBox="1"/>
          <p:nvPr/>
        </p:nvSpPr>
        <p:spPr>
          <a:xfrm>
            <a:off x="1275587" y="2304897"/>
            <a:ext cx="7488936" cy="150571"/>
          </a:xfrm>
          <a:prstGeom prst="rect">
            <a:avLst/>
          </a:prstGeom>
          <a:noFill/>
          <a:ln>
            <a:noFill/>
          </a:ln>
        </p:spPr>
        <p:txBody>
          <a:bodyPr wrap="square" lIns="19050" rIns="19050" tIns="0" bIns="0" anchor="t">
            <a:normAutofit/>
          </a:bodyPr>
          <a:lstStyle/>
          <a:p>
            <a:pPr algn="l"/>
            <a:r>
              <a:rPr sz="980" b="0">
                <a:solidFill>
                  <a:srgbClr val="A8BB9D"/>
                </a:solidFill>
                <a:latin typeface="PingFang SC"/>
              </a:rPr>
              <a:t>备注：开具液体处方的临床医生应频繁且持续地进行重新评估，并密切监测患者，以避免复苏不足或过度复苏带来的危害。</a:t>
            </a:r>
          </a:p>
        </p:txBody>
      </p:sp>
      <p:sp>
        <p:nvSpPr>
          <p:cNvPr id="12" name="TextBox 11"/>
          <p:cNvSpPr txBox="1"/>
          <p:nvPr/>
        </p:nvSpPr>
        <p:spPr>
          <a:xfrm>
            <a:off x="1275587" y="2513380"/>
            <a:ext cx="7488936" cy="150571"/>
          </a:xfrm>
          <a:prstGeom prst="rect">
            <a:avLst/>
          </a:prstGeom>
          <a:noFill/>
          <a:ln>
            <a:noFill/>
          </a:ln>
        </p:spPr>
        <p:txBody>
          <a:bodyPr wrap="square" lIns="19050" rIns="19050" tIns="0" bIns="0" anchor="t">
            <a:normAutofit/>
          </a:bodyPr>
          <a:lstStyle/>
          <a:p>
            <a:pPr algn="l"/>
            <a:r>
              <a:rPr sz="919" b="0">
                <a:solidFill>
                  <a:srgbClr val="A9BEA0"/>
                </a:solidFill>
                <a:latin typeface="PingFang SC"/>
              </a:rPr>
              <a:t>备注：基于体重的液体量应根据实际体重计算，对于体重指数&gt;30kg/m²的患者，则应根据调整后的体重或理想体重计算（下表）。</a:t>
            </a:r>
          </a:p>
        </p:txBody>
      </p:sp>
      <p:sp>
        <p:nvSpPr>
          <p:cNvPr id="13" name="TextBox 12"/>
          <p:cNvSpPr txBox="1"/>
          <p:nvPr/>
        </p:nvSpPr>
        <p:spPr>
          <a:xfrm>
            <a:off x="9093708" y="1239316"/>
            <a:ext cx="859993" cy="162153"/>
          </a:xfrm>
          <a:prstGeom prst="rect">
            <a:avLst/>
          </a:prstGeom>
          <a:noFill/>
          <a:ln>
            <a:noFill/>
          </a:ln>
        </p:spPr>
        <p:txBody>
          <a:bodyPr wrap="none" lIns="19050" rIns="19050" tIns="0" bIns="0" anchor="ctr">
            <a:noAutofit/>
          </a:bodyPr>
          <a:lstStyle/>
          <a:p>
            <a:pPr algn="r"/>
            <a:r>
              <a:rPr sz="1500" b="0">
                <a:solidFill>
                  <a:srgbClr val="95B987"/>
                </a:solidFill>
                <a:latin typeface="PingFang SC"/>
              </a:rPr>
              <a:t>沿用</a:t>
            </a:r>
          </a:p>
        </p:txBody>
      </p:sp>
      <p:sp>
        <p:nvSpPr>
          <p:cNvPr id="14" name="TextBox 13"/>
          <p:cNvSpPr txBox="1"/>
          <p:nvPr/>
        </p:nvSpPr>
        <p:spPr>
          <a:xfrm>
            <a:off x="9093708" y="1575206"/>
            <a:ext cx="859993" cy="150571"/>
          </a:xfrm>
          <a:prstGeom prst="rect">
            <a:avLst/>
          </a:prstGeom>
          <a:noFill/>
          <a:ln>
            <a:noFill/>
          </a:ln>
        </p:spPr>
        <p:txBody>
          <a:bodyPr wrap="none" lIns="19050" rIns="19050" tIns="0" bIns="0" anchor="ctr">
            <a:noAutofit/>
          </a:bodyPr>
          <a:lstStyle/>
          <a:p>
            <a:pPr algn="r"/>
            <a:r>
              <a:rPr sz="1500" b="0">
                <a:solidFill>
                  <a:srgbClr val="586567"/>
                </a:solidFill>
                <a:latin typeface="PingFang SC"/>
              </a:rPr>
              <a:t>修订</a:t>
            </a:r>
          </a:p>
        </p:txBody>
      </p:sp>
      <p:sp>
        <p:nvSpPr>
          <p:cNvPr id="15" name="TextBox 14"/>
          <p:cNvSpPr txBox="1"/>
          <p:nvPr/>
        </p:nvSpPr>
        <p:spPr>
          <a:xfrm>
            <a:off x="606933" y="5455310"/>
            <a:ext cx="2376297" cy="127406"/>
          </a:xfrm>
          <a:prstGeom prst="rect">
            <a:avLst/>
          </a:prstGeom>
          <a:noFill/>
          <a:ln>
            <a:noFill/>
          </a:ln>
        </p:spPr>
        <p:txBody>
          <a:bodyPr wrap="none" lIns="19050" rIns="19050" tIns="0" bIns="0" anchor="ctr">
            <a:noAutofit/>
          </a:bodyPr>
          <a:lstStyle/>
          <a:p>
            <a:pPr algn="l"/>
            <a:r>
              <a:rPr sz="1200" b="0">
                <a:solidFill>
                  <a:srgbClr val="BEDAD8"/>
                </a:solidFill>
                <a:latin typeface="PingFang SC"/>
              </a:rPr>
              <a:t>公众号·指南导航</a:t>
            </a:r>
          </a:p>
        </p:txBody>
      </p:sp>
      <p:sp>
        <p:nvSpPr>
          <p:cNvPr id="16" name="TextBox 15"/>
          <p:cNvSpPr txBox="1"/>
          <p:nvPr/>
        </p:nvSpPr>
        <p:spPr>
          <a:xfrm>
            <a:off x="10287000" y="5339486"/>
            <a:ext cx="0" cy="208483"/>
          </a:xfrm>
          <a:prstGeom prst="rect">
            <a:avLst/>
          </a:prstGeom>
          <a:noFill/>
          <a:ln>
            <a:noFill/>
          </a:ln>
        </p:spPr>
        <p:txBody>
          <a:bodyPr wrap="none" lIns="19050" rIns="19050" tIns="0" bIns="0" anchor="ctr">
            <a:noAutofit/>
          </a:bodyPr>
          <a:lstStyle/>
          <a:p>
            <a:pPr algn="r"/>
            <a:r>
              <a:rPr sz="1500" b="0">
                <a:solidFill>
                  <a:srgbClr val="000000"/>
                </a:solidFill>
                <a:latin typeface="PingFang SC"/>
              </a:rPr>
              <a:t>9</a:t>
            </a:r>
          </a:p>
        </p:txBody>
      </p:sp>
      <p:sp>
        <p:nvSpPr>
          <p:cNvPr id="17" name="TextBox 16"/>
          <p:cNvSpPr txBox="1"/>
          <p:nvPr/>
        </p:nvSpPr>
        <p:spPr>
          <a:xfrm>
            <a:off x="8311896" y="173735"/>
            <a:ext cx="1759076" cy="416966"/>
          </a:xfrm>
          <a:prstGeom prst="rect">
            <a:avLst/>
          </a:prstGeom>
          <a:noFill/>
          <a:ln>
            <a:noFill/>
          </a:ln>
        </p:spPr>
        <p:txBody>
          <a:bodyPr wrap="square" lIns="19050" rIns="19050" tIns="0" bIns="0" anchor="t">
            <a:normAutofit/>
          </a:bodyPr>
          <a:lstStyle/>
          <a:p>
            <a:pPr algn="r"/>
            <a:r>
              <a:rPr sz="1210" b="0">
                <a:solidFill>
                  <a:srgbClr val="AEC3A8"/>
                </a:solidFill>
                <a:latin typeface="PingFang SC"/>
              </a:rPr>
              <a:t>Surviving Sepsis Campaign</a:t>
            </a:r>
          </a:p>
        </p:txBody>
      </p:sp>
      <p:pic>
        <p:nvPicPr>
          <p:cNvPr id="18" name="Picture 17" descr="tmpzv5_5wi5.png"/>
          <p:cNvPicPr>
            <a:picLocks noChangeAspect="1"/>
          </p:cNvPicPr>
          <p:nvPr/>
        </p:nvPicPr>
        <p:blipFill>
          <a:blip r:embed="rId2"/>
          <a:stretch>
            <a:fillRect/>
          </a:stretch>
        </p:blipFill>
        <p:spPr>
          <a:xfrm>
            <a:off x="9896475" y="247650"/>
            <a:ext cx="209550" cy="200025"/>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9squf2b_.png"/>
          <p:cNvPicPr>
            <a:picLocks noChangeAspect="1"/>
          </p:cNvPicPr>
          <p:nvPr/>
        </p:nvPicPr>
        <p:blipFill>
          <a:blip r:embed="rId2"/>
          <a:stretch>
            <a:fillRect/>
          </a:stretch>
        </p:blipFill>
        <p:spPr>
          <a:xfrm>
            <a:off x="571500" y="447675"/>
            <a:ext cx="371475" cy="238125"/>
          </a:xfrm>
          <a:prstGeom prst="rect">
            <a:avLst/>
          </a:prstGeom>
        </p:spPr>
      </p:pic>
      <p:pic>
        <p:nvPicPr>
          <p:cNvPr id="4" name="Picture 3" descr="tmptq4c1pwz.png"/>
          <p:cNvPicPr>
            <a:picLocks noChangeAspect="1"/>
          </p:cNvPicPr>
          <p:nvPr/>
        </p:nvPicPr>
        <p:blipFill>
          <a:blip r:embed="rId3"/>
          <a:stretch>
            <a:fillRect/>
          </a:stretch>
        </p:blipFill>
        <p:spPr>
          <a:xfrm>
            <a:off x="571500" y="3048000"/>
            <a:ext cx="371475" cy="219075"/>
          </a:xfrm>
          <a:prstGeom prst="rect">
            <a:avLst/>
          </a:prstGeom>
        </p:spPr>
      </p:pic>
      <p:pic>
        <p:nvPicPr>
          <p:cNvPr id="5" name="Picture 4" descr="tmp7bdyuhu4.png"/>
          <p:cNvPicPr>
            <a:picLocks noChangeAspect="1"/>
          </p:cNvPicPr>
          <p:nvPr/>
        </p:nvPicPr>
        <p:blipFill>
          <a:blip r:embed="rId4"/>
          <a:stretch>
            <a:fillRect/>
          </a:stretch>
        </p:blipFill>
        <p:spPr>
          <a:xfrm>
            <a:off x="1600200" y="5048250"/>
            <a:ext cx="1152525" cy="142875"/>
          </a:xfrm>
          <a:prstGeom prst="rect">
            <a:avLst/>
          </a:prstGeom>
        </p:spPr>
      </p:pic>
      <p:sp>
        <p:nvSpPr>
          <p:cNvPr id="6" name="Rounded Rectangle 5"/>
          <p:cNvSpPr/>
          <p:nvPr/>
        </p:nvSpPr>
        <p:spPr>
          <a:xfrm>
            <a:off x="576072" y="949756"/>
            <a:ext cx="9217151" cy="1870557"/>
          </a:xfrm>
          <a:prstGeom prst="roundRect">
            <a:avLst>
              <a:gd name="adj" fmla="val 6000"/>
            </a:avLst>
          </a:prstGeom>
          <a:solidFill>
            <a:srgbClr val="FEFEFE"/>
          </a:solidFill>
          <a:ln w="11430">
            <a:solidFill>
              <a:srgbClr val="245D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76072" y="3434181"/>
            <a:ext cx="9217151" cy="1604162"/>
          </a:xfrm>
          <a:prstGeom prst="roundRect">
            <a:avLst>
              <a:gd name="adj" fmla="val 6000"/>
            </a:avLst>
          </a:prstGeom>
          <a:solidFill>
            <a:srgbClr val="FDFEFE"/>
          </a:solidFill>
          <a:ln w="11430">
            <a:solidFill>
              <a:srgbClr val="FAFE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428548"/>
            <a:ext cx="8824722" cy="277977"/>
          </a:xfrm>
          <a:prstGeom prst="rect">
            <a:avLst/>
          </a:prstGeom>
          <a:noFill/>
          <a:ln>
            <a:noFill/>
          </a:ln>
        </p:spPr>
        <p:txBody>
          <a:bodyPr wrap="none" lIns="19050" rIns="19050" tIns="0" bIns="0" anchor="ctr">
            <a:noAutofit/>
          </a:bodyPr>
          <a:lstStyle/>
          <a:p>
            <a:pPr algn="l"/>
            <a:r>
              <a:rPr sz="2400" b="1">
                <a:solidFill>
                  <a:srgbClr val="5683AA"/>
                </a:solidFill>
                <a:latin typeface="PingFang SC"/>
              </a:rPr>
              <a:t>血管活性药物启动时机与液体复苏的关系</a:t>
            </a:r>
          </a:p>
        </p:txBody>
      </p:sp>
      <p:sp>
        <p:nvSpPr>
          <p:cNvPr id="9" name="TextBox 8"/>
          <p:cNvSpPr txBox="1"/>
          <p:nvPr/>
        </p:nvSpPr>
        <p:spPr>
          <a:xfrm>
            <a:off x="8322183" y="173735"/>
            <a:ext cx="3892600" cy="416966"/>
          </a:xfrm>
          <a:prstGeom prst="rect">
            <a:avLst/>
          </a:prstGeom>
          <a:noFill/>
          <a:ln>
            <a:noFill/>
          </a:ln>
        </p:spPr>
        <p:txBody>
          <a:bodyPr wrap="none" lIns="19050" rIns="19050" tIns="0" bIns="0" anchor="ctr">
            <a:noAutofit/>
          </a:bodyPr>
          <a:lstStyle/>
          <a:p>
            <a:pPr algn="r"/>
            <a:r>
              <a:rPr sz="1800" b="0">
                <a:solidFill>
                  <a:srgbClr val="AFC4A9"/>
                </a:solidFill>
                <a:latin typeface="PingFang SC"/>
              </a:rPr>
              <a:t>Surviving Sepsis Campaign</a:t>
            </a:r>
          </a:p>
        </p:txBody>
      </p:sp>
      <p:sp>
        <p:nvSpPr>
          <p:cNvPr id="10" name="TextBox 9"/>
          <p:cNvSpPr txBox="1"/>
          <p:nvPr/>
        </p:nvSpPr>
        <p:spPr>
          <a:xfrm>
            <a:off x="1038987" y="1227734"/>
            <a:ext cx="8137017" cy="347472"/>
          </a:xfrm>
          <a:prstGeom prst="rect">
            <a:avLst/>
          </a:prstGeom>
          <a:noFill/>
          <a:ln>
            <a:noFill/>
          </a:ln>
        </p:spPr>
        <p:txBody>
          <a:bodyPr wrap="square" lIns="19050" rIns="19050" tIns="0" bIns="0" anchor="t">
            <a:normAutofit/>
          </a:bodyPr>
          <a:lstStyle/>
          <a:p>
            <a:pPr algn="l"/>
            <a:r>
              <a:rPr sz="1500" b="0">
                <a:solidFill>
                  <a:srgbClr val="878E8B"/>
                </a:solidFill>
                <a:latin typeface="PingFang SC"/>
              </a:rPr>
              <a:t>11. 对于脓毒症诱导的低血压成人患者，我们“建议”先进行静脉晶体液冲击复苏，若低血压持续存在则给予血管活性药物支持。</a:t>
            </a:r>
          </a:p>
        </p:txBody>
      </p:sp>
      <p:sp>
        <p:nvSpPr>
          <p:cNvPr id="11" name="TextBox 10"/>
          <p:cNvSpPr txBox="1"/>
          <p:nvPr/>
        </p:nvSpPr>
        <p:spPr>
          <a:xfrm>
            <a:off x="9227439" y="1169822"/>
            <a:ext cx="792099" cy="138988"/>
          </a:xfrm>
          <a:prstGeom prst="rect">
            <a:avLst/>
          </a:prstGeom>
          <a:noFill/>
          <a:ln>
            <a:noFill/>
          </a:ln>
        </p:spPr>
        <p:txBody>
          <a:bodyPr wrap="none" lIns="19050" rIns="19050" tIns="0" bIns="0" anchor="ctr">
            <a:noAutofit/>
          </a:bodyPr>
          <a:lstStyle/>
          <a:p>
            <a:pPr algn="r"/>
            <a:r>
              <a:rPr sz="1200" b="1">
                <a:solidFill>
                  <a:srgbClr val="7999B1"/>
                </a:solidFill>
                <a:latin typeface="PingFang SC"/>
              </a:rPr>
              <a:t>新增</a:t>
            </a:r>
          </a:p>
        </p:txBody>
      </p:sp>
      <p:sp>
        <p:nvSpPr>
          <p:cNvPr id="12" name="TextBox 11"/>
          <p:cNvSpPr txBox="1"/>
          <p:nvPr/>
        </p:nvSpPr>
        <p:spPr>
          <a:xfrm>
            <a:off x="1038987" y="1922678"/>
            <a:ext cx="1501901" cy="231647"/>
          </a:xfrm>
          <a:prstGeom prst="rect">
            <a:avLst/>
          </a:prstGeom>
          <a:noFill/>
          <a:ln>
            <a:noFill/>
          </a:ln>
        </p:spPr>
        <p:txBody>
          <a:bodyPr wrap="square" lIns="19050" rIns="19050" tIns="0" bIns="0" anchor="t">
            <a:normAutofit/>
          </a:bodyPr>
          <a:lstStyle/>
          <a:p>
            <a:pPr algn="l"/>
            <a:r>
              <a:rPr sz="1789" b="0">
                <a:solidFill>
                  <a:srgbClr val="858B8A"/>
                </a:solidFill>
                <a:latin typeface="PingFang SC"/>
              </a:rPr>
              <a:t>✓ ⊕ ⊕ ○ ○</a:t>
            </a:r>
          </a:p>
        </p:txBody>
      </p:sp>
      <p:sp>
        <p:nvSpPr>
          <p:cNvPr id="13" name="TextBox 12"/>
          <p:cNvSpPr txBox="1"/>
          <p:nvPr/>
        </p:nvSpPr>
        <p:spPr>
          <a:xfrm>
            <a:off x="1038987" y="2270150"/>
            <a:ext cx="8137017" cy="347472"/>
          </a:xfrm>
          <a:prstGeom prst="rect">
            <a:avLst/>
          </a:prstGeom>
          <a:noFill/>
          <a:ln>
            <a:noFill/>
          </a:ln>
        </p:spPr>
        <p:txBody>
          <a:bodyPr wrap="square" lIns="19050" rIns="19050" tIns="0" bIns="0" anchor="t">
            <a:normAutofit/>
          </a:bodyPr>
          <a:lstStyle/>
          <a:p>
            <a:pPr algn="l"/>
            <a:r>
              <a:rPr sz="1050" b="0">
                <a:solidFill>
                  <a:srgbClr val="AFC4A5"/>
                </a:solidFill>
                <a:latin typeface="PingFang SC"/>
              </a:rPr>
              <a:t>备注：对于不稳定感染性休克患者，应根据具体情况决定是否立即同时给予血管活性药物和静脉晶体液。不稳定休克的存在应通过体格检查来确定。不稳定休克的提示临床特征包括严重低血压、皮肤花斑、面色灰白、发绀/氧饱和度降低、心动过速和精神状态改变。</a:t>
            </a:r>
          </a:p>
        </p:txBody>
      </p:sp>
      <p:sp>
        <p:nvSpPr>
          <p:cNvPr id="14" name="TextBox 13"/>
          <p:cNvSpPr txBox="1"/>
          <p:nvPr/>
        </p:nvSpPr>
        <p:spPr>
          <a:xfrm>
            <a:off x="576072" y="3023006"/>
            <a:ext cx="7075932" cy="266395"/>
          </a:xfrm>
          <a:prstGeom prst="rect">
            <a:avLst/>
          </a:prstGeom>
          <a:noFill/>
          <a:ln>
            <a:noFill/>
          </a:ln>
        </p:spPr>
        <p:txBody>
          <a:bodyPr wrap="none" lIns="19050" rIns="19050" tIns="0" bIns="0" anchor="ctr">
            <a:noAutofit/>
          </a:bodyPr>
          <a:lstStyle/>
          <a:p>
            <a:pPr algn="l"/>
            <a:r>
              <a:rPr sz="2400" b="1">
                <a:solidFill>
                  <a:srgbClr val="5C8CAF"/>
                </a:solidFill>
                <a:latin typeface="PingFang SC"/>
              </a:rPr>
              <a:t>血管活性药物的给药途径</a:t>
            </a:r>
          </a:p>
        </p:txBody>
      </p:sp>
      <p:sp>
        <p:nvSpPr>
          <p:cNvPr id="15" name="TextBox 14"/>
          <p:cNvSpPr txBox="1"/>
          <p:nvPr/>
        </p:nvSpPr>
        <p:spPr>
          <a:xfrm>
            <a:off x="1038987" y="3717950"/>
            <a:ext cx="8137017" cy="347471"/>
          </a:xfrm>
          <a:prstGeom prst="rect">
            <a:avLst/>
          </a:prstGeom>
          <a:noFill/>
          <a:ln>
            <a:noFill/>
          </a:ln>
        </p:spPr>
        <p:txBody>
          <a:bodyPr wrap="square" lIns="19050" rIns="19050" tIns="0" bIns="0" anchor="t">
            <a:normAutofit/>
          </a:bodyPr>
          <a:lstStyle/>
          <a:p>
            <a:pPr algn="l"/>
            <a:r>
              <a:rPr sz="1460" b="0">
                <a:solidFill>
                  <a:srgbClr val="898F8C"/>
                </a:solidFill>
                <a:latin typeface="PingFang SC"/>
              </a:rPr>
              <a:t>12. 对于成人感染性休克患者，我们“建议”从外周开始使用血管升压药以恢复平均动脉压，而非等到建立中心静脉通路后再开始使用。</a:t>
            </a:r>
          </a:p>
        </p:txBody>
      </p:sp>
      <p:sp>
        <p:nvSpPr>
          <p:cNvPr id="16" name="TextBox 15"/>
          <p:cNvSpPr txBox="1"/>
          <p:nvPr/>
        </p:nvSpPr>
        <p:spPr>
          <a:xfrm>
            <a:off x="9227439" y="3660038"/>
            <a:ext cx="792099" cy="138988"/>
          </a:xfrm>
          <a:prstGeom prst="rect">
            <a:avLst/>
          </a:prstGeom>
          <a:noFill/>
          <a:ln>
            <a:noFill/>
          </a:ln>
        </p:spPr>
        <p:txBody>
          <a:bodyPr wrap="none" lIns="19050" rIns="19050" tIns="0" bIns="0" anchor="ctr">
            <a:noAutofit/>
          </a:bodyPr>
          <a:lstStyle/>
          <a:p>
            <a:pPr algn="r"/>
            <a:r>
              <a:rPr sz="1200" b="1">
                <a:solidFill>
                  <a:srgbClr val="276A95"/>
                </a:solidFill>
                <a:latin typeface="PingFang SC"/>
              </a:rPr>
              <a:t>修订</a:t>
            </a:r>
          </a:p>
        </p:txBody>
      </p:sp>
      <p:sp>
        <p:nvSpPr>
          <p:cNvPr id="17" name="TextBox 16"/>
          <p:cNvSpPr txBox="1"/>
          <p:nvPr/>
        </p:nvSpPr>
        <p:spPr>
          <a:xfrm>
            <a:off x="1038987" y="4412894"/>
            <a:ext cx="1501901" cy="231648"/>
          </a:xfrm>
          <a:prstGeom prst="rect">
            <a:avLst/>
          </a:prstGeom>
          <a:noFill/>
          <a:ln>
            <a:noFill/>
          </a:ln>
        </p:spPr>
        <p:txBody>
          <a:bodyPr wrap="square" lIns="19050" rIns="19050" tIns="0" bIns="0" anchor="t">
            <a:normAutofit/>
          </a:bodyPr>
          <a:lstStyle/>
          <a:p>
            <a:pPr algn="l"/>
            <a:r>
              <a:rPr sz="1789" b="0">
                <a:solidFill>
                  <a:srgbClr val="858A8B"/>
                </a:solidFill>
                <a:latin typeface="PingFang SC"/>
              </a:rPr>
              <a:t>✓ ⊕ ⊕ ○ ○</a:t>
            </a:r>
          </a:p>
        </p:txBody>
      </p:sp>
      <p:sp>
        <p:nvSpPr>
          <p:cNvPr id="18" name="TextBox 17"/>
          <p:cNvSpPr txBox="1"/>
          <p:nvPr/>
        </p:nvSpPr>
        <p:spPr>
          <a:xfrm>
            <a:off x="1038987" y="4760366"/>
            <a:ext cx="8137017" cy="231648"/>
          </a:xfrm>
          <a:prstGeom prst="rect">
            <a:avLst/>
          </a:prstGeom>
          <a:noFill/>
          <a:ln>
            <a:noFill/>
          </a:ln>
        </p:spPr>
        <p:txBody>
          <a:bodyPr wrap="square" lIns="19050" rIns="19050" tIns="0" bIns="0" anchor="t">
            <a:normAutofit/>
          </a:bodyPr>
          <a:lstStyle/>
          <a:p>
            <a:pPr algn="l"/>
            <a:r>
              <a:rPr sz="1200" b="0">
                <a:solidFill>
                  <a:srgbClr val="A9BF9F"/>
                </a:solidFill>
                <a:latin typeface="PingFang SC"/>
              </a:rPr>
              <a:t>备注：数据不足以推荐使用时长、剂量或给药途径（外周静脉留置针尺寸或解剖位置）。未考虑使用中心导管。</a:t>
            </a:r>
          </a:p>
        </p:txBody>
      </p:sp>
      <p:sp>
        <p:nvSpPr>
          <p:cNvPr id="19" name="TextBox 18"/>
          <p:cNvSpPr txBox="1"/>
          <p:nvPr/>
        </p:nvSpPr>
        <p:spPr>
          <a:xfrm>
            <a:off x="576072" y="5455310"/>
            <a:ext cx="2625242" cy="138988"/>
          </a:xfrm>
          <a:prstGeom prst="rect">
            <a:avLst/>
          </a:prstGeom>
          <a:noFill/>
          <a:ln>
            <a:noFill/>
          </a:ln>
        </p:spPr>
        <p:txBody>
          <a:bodyPr wrap="none" lIns="19050" rIns="19050" tIns="0" bIns="0" anchor="ctr">
            <a:noAutofit/>
          </a:bodyPr>
          <a:lstStyle/>
          <a:p>
            <a:pPr algn="l"/>
            <a:r>
              <a:rPr sz="1050" b="0">
                <a:solidFill>
                  <a:srgbClr val="D3E8E8"/>
                </a:solidFill>
                <a:latin typeface="PingFang SC"/>
              </a:rPr>
              <a:t>公众号·指南导航</a:t>
            </a:r>
          </a:p>
        </p:txBody>
      </p:sp>
      <p:sp>
        <p:nvSpPr>
          <p:cNvPr id="20" name="TextBox 19"/>
          <p:cNvSpPr txBox="1"/>
          <p:nvPr/>
        </p:nvSpPr>
        <p:spPr>
          <a:xfrm>
            <a:off x="10287000" y="5374233"/>
            <a:ext cx="0" cy="196900"/>
          </a:xfrm>
          <a:prstGeom prst="rect">
            <a:avLst/>
          </a:prstGeom>
          <a:noFill/>
          <a:ln>
            <a:noFill/>
          </a:ln>
        </p:spPr>
        <p:txBody>
          <a:bodyPr wrap="none" lIns="19050" rIns="19050" tIns="0" bIns="0" anchor="ctr">
            <a:noAutofit/>
          </a:bodyPr>
          <a:lstStyle/>
          <a:p>
            <a:pPr algn="r"/>
            <a:r>
              <a:rPr sz="1500" b="0">
                <a:solidFill>
                  <a:srgbClr val="000000"/>
                </a:solidFill>
                <a:latin typeface="PingFang SC"/>
              </a:rPr>
              <a:t>10</a:t>
            </a:r>
          </a:p>
        </p:txBody>
      </p:sp>
      <p:pic>
        <p:nvPicPr>
          <p:cNvPr id="21" name="Picture 20" descr="tmplgez26lx.png"/>
          <p:cNvPicPr>
            <a:picLocks noChangeAspect="1"/>
          </p:cNvPicPr>
          <p:nvPr/>
        </p:nvPicPr>
        <p:blipFill>
          <a:blip r:embed="rId5"/>
          <a:stretch>
            <a:fillRect/>
          </a:stretch>
        </p:blipFill>
        <p:spPr>
          <a:xfrm>
            <a:off x="1038225" y="1924050"/>
            <a:ext cx="323850" cy="228600"/>
          </a:xfrm>
          <a:prstGeom prst="rect">
            <a:avLst/>
          </a:prstGeom>
        </p:spPr>
      </p:pic>
      <p:pic>
        <p:nvPicPr>
          <p:cNvPr id="22" name="Picture 21" descr="tmpzfrpkfwe.png"/>
          <p:cNvPicPr>
            <a:picLocks noChangeAspect="1"/>
          </p:cNvPicPr>
          <p:nvPr/>
        </p:nvPicPr>
        <p:blipFill>
          <a:blip r:embed="rId6"/>
          <a:stretch>
            <a:fillRect/>
          </a:stretch>
        </p:blipFill>
        <p:spPr>
          <a:xfrm>
            <a:off x="1038225" y="4410075"/>
            <a:ext cx="323850" cy="238125"/>
          </a:xfrm>
          <a:prstGeom prst="rect">
            <a:avLst/>
          </a:prstGeom>
        </p:spPr>
      </p:pic>
      <p:pic>
        <p:nvPicPr>
          <p:cNvPr id="23" name="Picture 22" descr="tmp94ru_stw.png"/>
          <p:cNvPicPr>
            <a:picLocks noChangeAspect="1"/>
          </p:cNvPicPr>
          <p:nvPr/>
        </p:nvPicPr>
        <p:blipFill>
          <a:blip r:embed="rId7"/>
          <a:stretch>
            <a:fillRect/>
          </a:stretch>
        </p:blipFill>
        <p:spPr>
          <a:xfrm>
            <a:off x="1400175" y="1924050"/>
            <a:ext cx="304800" cy="228600"/>
          </a:xfrm>
          <a:prstGeom prst="rect">
            <a:avLst/>
          </a:prstGeom>
        </p:spPr>
      </p:pic>
      <p:pic>
        <p:nvPicPr>
          <p:cNvPr id="24" name="Picture 23" descr="tmp5ywi5oax.png"/>
          <p:cNvPicPr>
            <a:picLocks noChangeAspect="1"/>
          </p:cNvPicPr>
          <p:nvPr/>
        </p:nvPicPr>
        <p:blipFill>
          <a:blip r:embed="rId8"/>
          <a:stretch>
            <a:fillRect/>
          </a:stretch>
        </p:blipFill>
        <p:spPr>
          <a:xfrm>
            <a:off x="1752600" y="1924050"/>
            <a:ext cx="304800" cy="228600"/>
          </a:xfrm>
          <a:prstGeom prst="rect">
            <a:avLst/>
          </a:prstGeom>
        </p:spPr>
      </p:pic>
      <p:pic>
        <p:nvPicPr>
          <p:cNvPr id="25" name="Picture 24" descr="tmpw44mt0hi.png"/>
          <p:cNvPicPr>
            <a:picLocks noChangeAspect="1"/>
          </p:cNvPicPr>
          <p:nvPr/>
        </p:nvPicPr>
        <p:blipFill>
          <a:blip r:embed="rId9"/>
          <a:stretch>
            <a:fillRect/>
          </a:stretch>
        </p:blipFill>
        <p:spPr>
          <a:xfrm>
            <a:off x="2095500" y="1924050"/>
            <a:ext cx="314325" cy="228600"/>
          </a:xfrm>
          <a:prstGeom prst="rect">
            <a:avLst/>
          </a:prstGeom>
        </p:spPr>
      </p:pic>
      <p:pic>
        <p:nvPicPr>
          <p:cNvPr id="26" name="Picture 25" descr="tmpctrqwff3.png"/>
          <p:cNvPicPr>
            <a:picLocks noChangeAspect="1"/>
          </p:cNvPicPr>
          <p:nvPr/>
        </p:nvPicPr>
        <p:blipFill>
          <a:blip r:embed="rId10"/>
          <a:stretch>
            <a:fillRect/>
          </a:stretch>
        </p:blipFill>
        <p:spPr>
          <a:xfrm>
            <a:off x="2447925" y="1924050"/>
            <a:ext cx="304800" cy="228600"/>
          </a:xfrm>
          <a:prstGeom prst="rect">
            <a:avLst/>
          </a:prstGeom>
        </p:spPr>
      </p:pic>
      <p:pic>
        <p:nvPicPr>
          <p:cNvPr id="27" name="Picture 26" descr="tmpxo7rfgnx.png"/>
          <p:cNvPicPr>
            <a:picLocks noChangeAspect="1"/>
          </p:cNvPicPr>
          <p:nvPr/>
        </p:nvPicPr>
        <p:blipFill>
          <a:blip r:embed="rId11"/>
          <a:stretch>
            <a:fillRect/>
          </a:stretch>
        </p:blipFill>
        <p:spPr>
          <a:xfrm>
            <a:off x="1400175" y="4410075"/>
            <a:ext cx="304800" cy="238125"/>
          </a:xfrm>
          <a:prstGeom prst="rect">
            <a:avLst/>
          </a:prstGeom>
        </p:spPr>
      </p:pic>
      <p:pic>
        <p:nvPicPr>
          <p:cNvPr id="28" name="Picture 27" descr="tmph53s77kf.png"/>
          <p:cNvPicPr>
            <a:picLocks noChangeAspect="1"/>
          </p:cNvPicPr>
          <p:nvPr/>
        </p:nvPicPr>
        <p:blipFill>
          <a:blip r:embed="rId12"/>
          <a:stretch>
            <a:fillRect/>
          </a:stretch>
        </p:blipFill>
        <p:spPr>
          <a:xfrm>
            <a:off x="1752600" y="4410075"/>
            <a:ext cx="304800" cy="238125"/>
          </a:xfrm>
          <a:prstGeom prst="rect">
            <a:avLst/>
          </a:prstGeom>
        </p:spPr>
      </p:pic>
      <p:pic>
        <p:nvPicPr>
          <p:cNvPr id="29" name="Picture 28" descr="tmpr0as730m.png"/>
          <p:cNvPicPr>
            <a:picLocks noChangeAspect="1"/>
          </p:cNvPicPr>
          <p:nvPr/>
        </p:nvPicPr>
        <p:blipFill>
          <a:blip r:embed="rId13"/>
          <a:stretch>
            <a:fillRect/>
          </a:stretch>
        </p:blipFill>
        <p:spPr>
          <a:xfrm>
            <a:off x="2095500" y="4410075"/>
            <a:ext cx="314325" cy="238125"/>
          </a:xfrm>
          <a:prstGeom prst="rect">
            <a:avLst/>
          </a:prstGeom>
        </p:spPr>
      </p:pic>
      <p:pic>
        <p:nvPicPr>
          <p:cNvPr id="30" name="Picture 29" descr="tmp7cbldxfl.png"/>
          <p:cNvPicPr>
            <a:picLocks noChangeAspect="1"/>
          </p:cNvPicPr>
          <p:nvPr/>
        </p:nvPicPr>
        <p:blipFill>
          <a:blip r:embed="rId14"/>
          <a:stretch>
            <a:fillRect/>
          </a:stretch>
        </p:blipFill>
        <p:spPr>
          <a:xfrm>
            <a:off x="2447925" y="4410075"/>
            <a:ext cx="304800" cy="238125"/>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qd686s3s.png"/>
          <p:cNvPicPr>
            <a:picLocks noChangeAspect="1"/>
          </p:cNvPicPr>
          <p:nvPr/>
        </p:nvPicPr>
        <p:blipFill>
          <a:blip r:embed="rId2"/>
          <a:stretch>
            <a:fillRect/>
          </a:stretch>
        </p:blipFill>
        <p:spPr>
          <a:xfrm>
            <a:off x="428625" y="4933950"/>
            <a:ext cx="2371725" cy="228600"/>
          </a:xfrm>
          <a:prstGeom prst="rect">
            <a:avLst/>
          </a:prstGeom>
        </p:spPr>
      </p:pic>
      <p:sp>
        <p:nvSpPr>
          <p:cNvPr id="4" name="Rounded Rectangle 3"/>
          <p:cNvSpPr/>
          <p:nvPr/>
        </p:nvSpPr>
        <p:spPr>
          <a:xfrm>
            <a:off x="576072" y="967130"/>
            <a:ext cx="9114281" cy="2322271"/>
          </a:xfrm>
          <a:prstGeom prst="roundRect">
            <a:avLst>
              <a:gd name="adj" fmla="val 6000"/>
            </a:avLst>
          </a:prstGeom>
          <a:solidFill>
            <a:srgbClr val="FEFEFE"/>
          </a:solidFill>
          <a:ln w="11430">
            <a:solidFill>
              <a:srgbClr val="1B54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76072" y="3955389"/>
            <a:ext cx="9114281" cy="1140866"/>
          </a:xfrm>
          <a:prstGeom prst="roundRect">
            <a:avLst>
              <a:gd name="adj" fmla="val 6000"/>
            </a:avLst>
          </a:prstGeom>
          <a:solidFill>
            <a:srgbClr val="FEFEFE"/>
          </a:solidFill>
          <a:ln w="11430">
            <a:solidFill>
              <a:srgbClr val="E2F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451713"/>
            <a:ext cx="7075932" cy="266395"/>
          </a:xfrm>
          <a:prstGeom prst="rect">
            <a:avLst/>
          </a:prstGeom>
          <a:noFill/>
          <a:ln>
            <a:noFill/>
          </a:ln>
        </p:spPr>
        <p:txBody>
          <a:bodyPr wrap="none" lIns="19050" rIns="19050" tIns="0" bIns="0" anchor="ctr">
            <a:noAutofit/>
          </a:bodyPr>
          <a:lstStyle/>
          <a:p>
            <a:pPr algn="l"/>
            <a:r>
              <a:rPr sz="2400" b="1">
                <a:solidFill>
                  <a:srgbClr val="5382A9"/>
                </a:solidFill>
                <a:latin typeface="PingFang SC"/>
              </a:rPr>
              <a:t>&gt;&gt; 平均动脉压（MAP）目标</a:t>
            </a:r>
          </a:p>
        </p:txBody>
      </p:sp>
      <p:sp>
        <p:nvSpPr>
          <p:cNvPr id="7" name="TextBox 6"/>
          <p:cNvSpPr txBox="1"/>
          <p:nvPr/>
        </p:nvSpPr>
        <p:spPr>
          <a:xfrm>
            <a:off x="1038987" y="1227734"/>
            <a:ext cx="8137017" cy="231648"/>
          </a:xfrm>
          <a:prstGeom prst="rect">
            <a:avLst/>
          </a:prstGeom>
          <a:noFill/>
          <a:ln>
            <a:noFill/>
          </a:ln>
        </p:spPr>
        <p:txBody>
          <a:bodyPr wrap="square" lIns="19050" rIns="19050" tIns="0" bIns="0" anchor="t">
            <a:normAutofit/>
          </a:bodyPr>
          <a:lstStyle/>
          <a:p>
            <a:pPr algn="l"/>
            <a:r>
              <a:rPr sz="1230" b="0">
                <a:solidFill>
                  <a:srgbClr val="847E81"/>
                </a:solidFill>
                <a:latin typeface="PingFang SC"/>
              </a:rPr>
              <a:t>13. 对于感染性休克的成人患者，我们“推荐”初始平均动脉压（MAP）目标设定为65mmHg，而非更高的MAP目标。</a:t>
            </a:r>
          </a:p>
        </p:txBody>
      </p:sp>
      <p:sp>
        <p:nvSpPr>
          <p:cNvPr id="8" name="TextBox 7"/>
          <p:cNvSpPr txBox="1"/>
          <p:nvPr/>
        </p:nvSpPr>
        <p:spPr>
          <a:xfrm>
            <a:off x="8970264" y="1262481"/>
            <a:ext cx="814730" cy="138988"/>
          </a:xfrm>
          <a:prstGeom prst="rect">
            <a:avLst/>
          </a:prstGeom>
          <a:noFill/>
          <a:ln>
            <a:noFill/>
          </a:ln>
        </p:spPr>
        <p:txBody>
          <a:bodyPr wrap="none" lIns="19050" rIns="19050" tIns="0" bIns="0" anchor="ctr">
            <a:noAutofit/>
          </a:bodyPr>
          <a:lstStyle/>
          <a:p>
            <a:pPr algn="r"/>
            <a:r>
              <a:rPr sz="1350" b="1">
                <a:solidFill>
                  <a:srgbClr val="5D6A73"/>
                </a:solidFill>
                <a:latin typeface="PingFang SC"/>
              </a:rPr>
              <a:t>修订</a:t>
            </a:r>
          </a:p>
        </p:txBody>
      </p:sp>
      <p:sp>
        <p:nvSpPr>
          <p:cNvPr id="9" name="TextBox 8"/>
          <p:cNvSpPr txBox="1"/>
          <p:nvPr/>
        </p:nvSpPr>
        <p:spPr>
          <a:xfrm>
            <a:off x="1038987" y="1575206"/>
            <a:ext cx="2170556" cy="208483"/>
          </a:xfrm>
          <a:prstGeom prst="rect">
            <a:avLst/>
          </a:prstGeom>
          <a:noFill/>
          <a:ln>
            <a:noFill/>
          </a:ln>
        </p:spPr>
        <p:txBody>
          <a:bodyPr wrap="square" lIns="19050" rIns="19050" tIns="0" bIns="0" anchor="t">
            <a:normAutofit/>
          </a:bodyPr>
          <a:lstStyle/>
          <a:p>
            <a:pPr algn="l"/>
            <a:r>
              <a:rPr sz="1500" b="0">
                <a:solidFill>
                  <a:srgbClr val="5E9C55"/>
                </a:solidFill>
                <a:latin typeface="PingFang SC"/>
              </a:rPr>
              <a:t>✓ ✓ ⊕ ⊕ ○ ○</a:t>
            </a:r>
          </a:p>
        </p:txBody>
      </p:sp>
      <p:sp>
        <p:nvSpPr>
          <p:cNvPr id="10" name="TextBox 9"/>
          <p:cNvSpPr txBox="1"/>
          <p:nvPr/>
        </p:nvSpPr>
        <p:spPr>
          <a:xfrm>
            <a:off x="1275587" y="1899513"/>
            <a:ext cx="7900416" cy="405384"/>
          </a:xfrm>
          <a:prstGeom prst="rect">
            <a:avLst/>
          </a:prstGeom>
          <a:noFill/>
          <a:ln>
            <a:noFill/>
          </a:ln>
        </p:spPr>
        <p:txBody>
          <a:bodyPr wrap="square" lIns="19050" rIns="19050" tIns="0" bIns="0" anchor="t">
            <a:normAutofit/>
          </a:bodyPr>
          <a:lstStyle/>
          <a:p>
            <a:pPr algn="l"/>
            <a:r>
              <a:rPr sz="1290" b="0">
                <a:solidFill>
                  <a:srgbClr val="A4BC99"/>
                </a:solidFill>
                <a:latin typeface="PingFang SC"/>
              </a:rPr>
              <a:t>备注：在实践中，将平均动脉压（MAP）精确维持在65mmHg是不可能的，因此应采用一个合理的范围（例如，在5mmHg以内）。应调整血管活性药物的剂量以将平均动脉压维持在该范围内。</a:t>
            </a:r>
          </a:p>
        </p:txBody>
      </p:sp>
      <p:sp>
        <p:nvSpPr>
          <p:cNvPr id="11" name="TextBox 10"/>
          <p:cNvSpPr txBox="1"/>
          <p:nvPr/>
        </p:nvSpPr>
        <p:spPr>
          <a:xfrm>
            <a:off x="1038987" y="2443886"/>
            <a:ext cx="8137017" cy="231648"/>
          </a:xfrm>
          <a:prstGeom prst="rect">
            <a:avLst/>
          </a:prstGeom>
          <a:noFill/>
          <a:ln>
            <a:noFill/>
          </a:ln>
        </p:spPr>
        <p:txBody>
          <a:bodyPr wrap="square" lIns="19050" rIns="19050" tIns="0" bIns="0" anchor="t">
            <a:normAutofit/>
          </a:bodyPr>
          <a:lstStyle/>
          <a:p>
            <a:pPr algn="l"/>
            <a:r>
              <a:rPr sz="1200" b="0">
                <a:solidFill>
                  <a:srgbClr val="818782"/>
                </a:solidFill>
                <a:latin typeface="PingFang SC"/>
              </a:rPr>
              <a:t>14. 对于65岁及以上的感染性休克成人患者，我们“建议”初始平均动脉压（MAP）维持在60-65mmHg，而非更高范围。</a:t>
            </a:r>
          </a:p>
        </p:txBody>
      </p:sp>
      <p:sp>
        <p:nvSpPr>
          <p:cNvPr id="12" name="TextBox 11"/>
          <p:cNvSpPr txBox="1"/>
          <p:nvPr/>
        </p:nvSpPr>
        <p:spPr>
          <a:xfrm>
            <a:off x="8970264" y="2478633"/>
            <a:ext cx="814730" cy="138988"/>
          </a:xfrm>
          <a:prstGeom prst="rect">
            <a:avLst/>
          </a:prstGeom>
          <a:noFill/>
          <a:ln>
            <a:noFill/>
          </a:ln>
        </p:spPr>
        <p:txBody>
          <a:bodyPr wrap="none" lIns="19050" rIns="19050" tIns="0" bIns="0" anchor="ctr">
            <a:noAutofit/>
          </a:bodyPr>
          <a:lstStyle/>
          <a:p>
            <a:pPr algn="r"/>
            <a:r>
              <a:rPr sz="1350" b="1">
                <a:solidFill>
                  <a:srgbClr val="6AB9C9"/>
                </a:solidFill>
                <a:latin typeface="PingFang SC"/>
              </a:rPr>
              <a:t>新增</a:t>
            </a:r>
          </a:p>
        </p:txBody>
      </p:sp>
      <p:sp>
        <p:nvSpPr>
          <p:cNvPr id="13" name="TextBox 12"/>
          <p:cNvSpPr txBox="1"/>
          <p:nvPr/>
        </p:nvSpPr>
        <p:spPr>
          <a:xfrm>
            <a:off x="1038987" y="2791358"/>
            <a:ext cx="2170556" cy="208483"/>
          </a:xfrm>
          <a:prstGeom prst="rect">
            <a:avLst/>
          </a:prstGeom>
          <a:noFill/>
          <a:ln>
            <a:noFill/>
          </a:ln>
        </p:spPr>
        <p:txBody>
          <a:bodyPr wrap="square" lIns="19050" rIns="19050" tIns="0" bIns="0" anchor="t">
            <a:normAutofit/>
          </a:bodyPr>
          <a:lstStyle/>
          <a:p>
            <a:pPr algn="l"/>
            <a:r>
              <a:rPr sz="1500" b="0">
                <a:solidFill>
                  <a:srgbClr val="858989"/>
                </a:solidFill>
                <a:latin typeface="PingFang SC"/>
              </a:rPr>
              <a:t>✓ ⊕ ⊕ ○ ○</a:t>
            </a:r>
          </a:p>
        </p:txBody>
      </p:sp>
      <p:sp>
        <p:nvSpPr>
          <p:cNvPr id="14" name="TextBox 13"/>
          <p:cNvSpPr txBox="1"/>
          <p:nvPr/>
        </p:nvSpPr>
        <p:spPr>
          <a:xfrm>
            <a:off x="576072" y="3428390"/>
            <a:ext cx="4888382" cy="266395"/>
          </a:xfrm>
          <a:prstGeom prst="rect">
            <a:avLst/>
          </a:prstGeom>
          <a:noFill/>
          <a:ln>
            <a:noFill/>
          </a:ln>
        </p:spPr>
        <p:txBody>
          <a:bodyPr wrap="none" lIns="19050" rIns="19050" tIns="0" bIns="0" anchor="ctr">
            <a:noAutofit/>
          </a:bodyPr>
          <a:lstStyle/>
          <a:p>
            <a:pPr algn="l"/>
            <a:r>
              <a:rPr sz="2400" b="1">
                <a:solidFill>
                  <a:srgbClr val="4F84AB"/>
                </a:solidFill>
                <a:latin typeface="PingFang SC"/>
              </a:rPr>
              <a:t>&gt;&gt; 入住ICU时机</a:t>
            </a:r>
          </a:p>
        </p:txBody>
      </p:sp>
      <p:sp>
        <p:nvSpPr>
          <p:cNvPr id="15" name="TextBox 14"/>
          <p:cNvSpPr txBox="1"/>
          <p:nvPr/>
        </p:nvSpPr>
        <p:spPr>
          <a:xfrm>
            <a:off x="1038987" y="4215993"/>
            <a:ext cx="8137017" cy="231648"/>
          </a:xfrm>
          <a:prstGeom prst="rect">
            <a:avLst/>
          </a:prstGeom>
          <a:noFill/>
          <a:ln>
            <a:noFill/>
          </a:ln>
        </p:spPr>
        <p:txBody>
          <a:bodyPr wrap="square" lIns="19050" rIns="19050" tIns="0" bIns="0" anchor="t">
            <a:normAutofit/>
          </a:bodyPr>
          <a:lstStyle/>
          <a:p>
            <a:pPr algn="l"/>
            <a:r>
              <a:rPr sz="1250" b="0">
                <a:solidFill>
                  <a:srgbClr val="878882"/>
                </a:solidFill>
                <a:latin typeface="PingFang SC"/>
              </a:rPr>
              <a:t>15. 对于需要入住重症监护病房（ICU）的脓毒症或感染性休克成人患者，我们“建议”在6小时内将患者收入ICU。</a:t>
            </a:r>
          </a:p>
        </p:txBody>
      </p:sp>
      <p:sp>
        <p:nvSpPr>
          <p:cNvPr id="16" name="TextBox 15"/>
          <p:cNvSpPr txBox="1"/>
          <p:nvPr/>
        </p:nvSpPr>
        <p:spPr>
          <a:xfrm>
            <a:off x="8970264" y="4250740"/>
            <a:ext cx="814730" cy="138988"/>
          </a:xfrm>
          <a:prstGeom prst="rect">
            <a:avLst/>
          </a:prstGeom>
          <a:noFill/>
          <a:ln>
            <a:noFill/>
          </a:ln>
        </p:spPr>
        <p:txBody>
          <a:bodyPr wrap="none" lIns="19050" rIns="19050" tIns="0" bIns="0" anchor="ctr">
            <a:noAutofit/>
          </a:bodyPr>
          <a:lstStyle/>
          <a:p>
            <a:pPr algn="r"/>
            <a:r>
              <a:rPr sz="1350" b="1">
                <a:solidFill>
                  <a:srgbClr val="90B181"/>
                </a:solidFill>
                <a:latin typeface="PingFang SC"/>
              </a:rPr>
              <a:t>沿用</a:t>
            </a:r>
          </a:p>
        </p:txBody>
      </p:sp>
      <p:sp>
        <p:nvSpPr>
          <p:cNvPr id="17" name="TextBox 16"/>
          <p:cNvSpPr txBox="1"/>
          <p:nvPr/>
        </p:nvSpPr>
        <p:spPr>
          <a:xfrm>
            <a:off x="1038987" y="4563465"/>
            <a:ext cx="2170556" cy="208483"/>
          </a:xfrm>
          <a:prstGeom prst="rect">
            <a:avLst/>
          </a:prstGeom>
          <a:noFill/>
          <a:ln>
            <a:noFill/>
          </a:ln>
        </p:spPr>
        <p:txBody>
          <a:bodyPr wrap="square" lIns="19050" rIns="19050" tIns="0" bIns="0" anchor="t">
            <a:normAutofit/>
          </a:bodyPr>
          <a:lstStyle/>
          <a:p>
            <a:pPr algn="l"/>
            <a:r>
              <a:rPr sz="1500" b="0">
                <a:solidFill>
                  <a:srgbClr val="838989"/>
                </a:solidFill>
                <a:latin typeface="PingFang SC"/>
              </a:rPr>
              <a:t>✓ ⊕ ⊕ ○ ○</a:t>
            </a:r>
          </a:p>
        </p:txBody>
      </p:sp>
      <p:sp>
        <p:nvSpPr>
          <p:cNvPr id="18" name="TextBox 17"/>
          <p:cNvSpPr txBox="1"/>
          <p:nvPr/>
        </p:nvSpPr>
        <p:spPr>
          <a:xfrm>
            <a:off x="576072" y="5455310"/>
            <a:ext cx="2851556" cy="138988"/>
          </a:xfrm>
          <a:prstGeom prst="rect">
            <a:avLst/>
          </a:prstGeom>
          <a:noFill/>
          <a:ln>
            <a:noFill/>
          </a:ln>
        </p:spPr>
        <p:txBody>
          <a:bodyPr wrap="none" lIns="19050" rIns="19050" tIns="0" bIns="0" anchor="ctr">
            <a:noAutofit/>
          </a:bodyPr>
          <a:lstStyle/>
          <a:p>
            <a:pPr algn="l"/>
            <a:r>
              <a:rPr sz="1200" b="0">
                <a:solidFill>
                  <a:srgbClr val="D3E6E8"/>
                </a:solidFill>
                <a:latin typeface="PingFang SC"/>
              </a:rPr>
              <a:t>公众号·指南导航</a:t>
            </a:r>
          </a:p>
        </p:txBody>
      </p:sp>
      <p:sp>
        <p:nvSpPr>
          <p:cNvPr id="19" name="TextBox 18"/>
          <p:cNvSpPr txBox="1"/>
          <p:nvPr/>
        </p:nvSpPr>
        <p:spPr>
          <a:xfrm>
            <a:off x="10287000" y="5339486"/>
            <a:ext cx="0" cy="196900"/>
          </a:xfrm>
          <a:prstGeom prst="rect">
            <a:avLst/>
          </a:prstGeom>
          <a:noFill/>
          <a:ln>
            <a:noFill/>
          </a:ln>
        </p:spPr>
        <p:txBody>
          <a:bodyPr wrap="none" lIns="19050" rIns="19050" tIns="0" bIns="0" anchor="ctr">
            <a:noAutofit/>
          </a:bodyPr>
          <a:lstStyle/>
          <a:p>
            <a:pPr algn="r"/>
            <a:r>
              <a:rPr sz="1500" b="0">
                <a:solidFill>
                  <a:srgbClr val="000000"/>
                </a:solidFill>
                <a:latin typeface="PingFang SC"/>
              </a:rPr>
              <a:t>11</a:t>
            </a:r>
          </a:p>
        </p:txBody>
      </p:sp>
      <p:sp>
        <p:nvSpPr>
          <p:cNvPr id="20" name="TextBox 19"/>
          <p:cNvSpPr txBox="1"/>
          <p:nvPr/>
        </p:nvSpPr>
        <p:spPr>
          <a:xfrm>
            <a:off x="8311896" y="173735"/>
            <a:ext cx="3937863" cy="428548"/>
          </a:xfrm>
          <a:prstGeom prst="rect">
            <a:avLst/>
          </a:prstGeom>
          <a:noFill/>
          <a:ln>
            <a:noFill/>
          </a:ln>
        </p:spPr>
        <p:txBody>
          <a:bodyPr wrap="none" lIns="19050" rIns="19050" tIns="0" bIns="0" anchor="ctr">
            <a:noAutofit/>
          </a:bodyPr>
          <a:lstStyle/>
          <a:p>
            <a:pPr algn="r"/>
            <a:r>
              <a:rPr sz="1800" b="0">
                <a:solidFill>
                  <a:srgbClr val="AFC3A9"/>
                </a:solidFill>
                <a:latin typeface="PingFang SC"/>
              </a:rPr>
              <a:t>Surviving Sepsis Campaign</a:t>
            </a:r>
          </a:p>
        </p:txBody>
      </p:sp>
      <p:pic>
        <p:nvPicPr>
          <p:cNvPr id="21" name="Picture 20" descr="tmpskiqufml.png"/>
          <p:cNvPicPr>
            <a:picLocks noChangeAspect="1"/>
          </p:cNvPicPr>
          <p:nvPr/>
        </p:nvPicPr>
        <p:blipFill>
          <a:blip r:embed="rId3"/>
          <a:stretch>
            <a:fillRect/>
          </a:stretch>
        </p:blipFill>
        <p:spPr>
          <a:xfrm>
            <a:off x="1666875" y="1609725"/>
            <a:ext cx="304800" cy="161925"/>
          </a:xfrm>
          <a:prstGeom prst="rect">
            <a:avLst/>
          </a:prstGeom>
        </p:spPr>
      </p:pic>
      <p:pic>
        <p:nvPicPr>
          <p:cNvPr id="22" name="Picture 21" descr="tmpdth79u4o.png"/>
          <p:cNvPicPr>
            <a:picLocks noChangeAspect="1"/>
          </p:cNvPicPr>
          <p:nvPr/>
        </p:nvPicPr>
        <p:blipFill>
          <a:blip r:embed="rId4"/>
          <a:stretch>
            <a:fillRect/>
          </a:stretch>
        </p:blipFill>
        <p:spPr>
          <a:xfrm>
            <a:off x="1971675" y="1609725"/>
            <a:ext cx="314325" cy="161925"/>
          </a:xfrm>
          <a:prstGeom prst="rect">
            <a:avLst/>
          </a:prstGeom>
        </p:spPr>
      </p:pic>
      <p:pic>
        <p:nvPicPr>
          <p:cNvPr id="23" name="Picture 22" descr="tmpkzcavib0.png"/>
          <p:cNvPicPr>
            <a:picLocks noChangeAspect="1"/>
          </p:cNvPicPr>
          <p:nvPr/>
        </p:nvPicPr>
        <p:blipFill>
          <a:blip r:embed="rId5"/>
          <a:stretch>
            <a:fillRect/>
          </a:stretch>
        </p:blipFill>
        <p:spPr>
          <a:xfrm>
            <a:off x="2286000" y="1609725"/>
            <a:ext cx="304800" cy="161925"/>
          </a:xfrm>
          <a:prstGeom prst="rect">
            <a:avLst/>
          </a:prstGeom>
        </p:spPr>
      </p:pic>
      <p:pic>
        <p:nvPicPr>
          <p:cNvPr id="24" name="Picture 23" descr="tmp6ur6ig08.png"/>
          <p:cNvPicPr>
            <a:picLocks noChangeAspect="1"/>
          </p:cNvPicPr>
          <p:nvPr/>
        </p:nvPicPr>
        <p:blipFill>
          <a:blip r:embed="rId6"/>
          <a:stretch>
            <a:fillRect/>
          </a:stretch>
        </p:blipFill>
        <p:spPr>
          <a:xfrm>
            <a:off x="2590800" y="1609725"/>
            <a:ext cx="314325" cy="161925"/>
          </a:xfrm>
          <a:prstGeom prst="rect">
            <a:avLst/>
          </a:prstGeom>
        </p:spPr>
      </p:pic>
      <p:pic>
        <p:nvPicPr>
          <p:cNvPr id="25" name="Picture 24" descr="tmp8ss_1izp.png"/>
          <p:cNvPicPr>
            <a:picLocks noChangeAspect="1"/>
          </p:cNvPicPr>
          <p:nvPr/>
        </p:nvPicPr>
        <p:blipFill>
          <a:blip r:embed="rId7"/>
          <a:stretch>
            <a:fillRect/>
          </a:stretch>
        </p:blipFill>
        <p:spPr>
          <a:xfrm>
            <a:off x="2905125" y="1609725"/>
            <a:ext cx="304800" cy="161925"/>
          </a:xfrm>
          <a:prstGeom prst="rect">
            <a:avLst/>
          </a:prstGeom>
        </p:spPr>
      </p:pic>
      <p:pic>
        <p:nvPicPr>
          <p:cNvPr id="26" name="Picture 25" descr="tmpxppsfmwv.png"/>
          <p:cNvPicPr>
            <a:picLocks noChangeAspect="1"/>
          </p:cNvPicPr>
          <p:nvPr/>
        </p:nvPicPr>
        <p:blipFill>
          <a:blip r:embed="rId8"/>
          <a:stretch>
            <a:fillRect/>
          </a:stretch>
        </p:blipFill>
        <p:spPr>
          <a:xfrm>
            <a:off x="3209925" y="1609725"/>
            <a:ext cx="304800" cy="161925"/>
          </a:xfrm>
          <a:prstGeom prst="rect">
            <a:avLst/>
          </a:prstGeom>
        </p:spPr>
      </p:pic>
      <p:pic>
        <p:nvPicPr>
          <p:cNvPr id="27" name="Picture 26" descr="tmpy7xcdfxk.png"/>
          <p:cNvPicPr>
            <a:picLocks noChangeAspect="1"/>
          </p:cNvPicPr>
          <p:nvPr/>
        </p:nvPicPr>
        <p:blipFill>
          <a:blip r:embed="rId9"/>
          <a:stretch>
            <a:fillRect/>
          </a:stretch>
        </p:blipFill>
        <p:spPr>
          <a:xfrm>
            <a:off x="1666875" y="2828925"/>
            <a:ext cx="304800" cy="161925"/>
          </a:xfrm>
          <a:prstGeom prst="rect">
            <a:avLst/>
          </a:prstGeom>
        </p:spPr>
      </p:pic>
      <p:pic>
        <p:nvPicPr>
          <p:cNvPr id="28" name="Picture 27" descr="tmpk98ajw4v.png"/>
          <p:cNvPicPr>
            <a:picLocks noChangeAspect="1"/>
          </p:cNvPicPr>
          <p:nvPr/>
        </p:nvPicPr>
        <p:blipFill>
          <a:blip r:embed="rId10"/>
          <a:stretch>
            <a:fillRect/>
          </a:stretch>
        </p:blipFill>
        <p:spPr>
          <a:xfrm>
            <a:off x="1971675" y="2828925"/>
            <a:ext cx="314325" cy="161925"/>
          </a:xfrm>
          <a:prstGeom prst="rect">
            <a:avLst/>
          </a:prstGeom>
        </p:spPr>
      </p:pic>
      <p:pic>
        <p:nvPicPr>
          <p:cNvPr id="29" name="Picture 28" descr="tmphbwict3h.png"/>
          <p:cNvPicPr>
            <a:picLocks noChangeAspect="1"/>
          </p:cNvPicPr>
          <p:nvPr/>
        </p:nvPicPr>
        <p:blipFill>
          <a:blip r:embed="rId11"/>
          <a:stretch>
            <a:fillRect/>
          </a:stretch>
        </p:blipFill>
        <p:spPr>
          <a:xfrm>
            <a:off x="2286000" y="2828925"/>
            <a:ext cx="304800" cy="161925"/>
          </a:xfrm>
          <a:prstGeom prst="rect">
            <a:avLst/>
          </a:prstGeom>
        </p:spPr>
      </p:pic>
      <p:pic>
        <p:nvPicPr>
          <p:cNvPr id="30" name="Picture 29" descr="tmp56n6in82.png"/>
          <p:cNvPicPr>
            <a:picLocks noChangeAspect="1"/>
          </p:cNvPicPr>
          <p:nvPr/>
        </p:nvPicPr>
        <p:blipFill>
          <a:blip r:embed="rId12"/>
          <a:stretch>
            <a:fillRect/>
          </a:stretch>
        </p:blipFill>
        <p:spPr>
          <a:xfrm>
            <a:off x="2590800" y="2828925"/>
            <a:ext cx="314325" cy="161925"/>
          </a:xfrm>
          <a:prstGeom prst="rect">
            <a:avLst/>
          </a:prstGeom>
        </p:spPr>
      </p:pic>
      <p:pic>
        <p:nvPicPr>
          <p:cNvPr id="31" name="Picture 30" descr="tmpxppsfmwv.png"/>
          <p:cNvPicPr>
            <a:picLocks noChangeAspect="1"/>
          </p:cNvPicPr>
          <p:nvPr/>
        </p:nvPicPr>
        <p:blipFill>
          <a:blip r:embed="rId8"/>
          <a:stretch>
            <a:fillRect/>
          </a:stretch>
        </p:blipFill>
        <p:spPr>
          <a:xfrm>
            <a:off x="2905125" y="2828925"/>
            <a:ext cx="304800" cy="161925"/>
          </a:xfrm>
          <a:prstGeom prst="rect">
            <a:avLst/>
          </a:prstGeom>
        </p:spPr>
      </p:pic>
      <p:pic>
        <p:nvPicPr>
          <p:cNvPr id="32" name="Picture 31" descr="tmpxppsfmwv.png"/>
          <p:cNvPicPr>
            <a:picLocks noChangeAspect="1"/>
          </p:cNvPicPr>
          <p:nvPr/>
        </p:nvPicPr>
        <p:blipFill>
          <a:blip r:embed="rId8"/>
          <a:stretch>
            <a:fillRect/>
          </a:stretch>
        </p:blipFill>
        <p:spPr>
          <a:xfrm>
            <a:off x="3209925" y="2828925"/>
            <a:ext cx="304800" cy="161925"/>
          </a:xfrm>
          <a:prstGeom prst="rect">
            <a:avLst/>
          </a:prstGeom>
        </p:spPr>
      </p:pic>
      <p:pic>
        <p:nvPicPr>
          <p:cNvPr id="33" name="Picture 32" descr="tmpciolaj69.png"/>
          <p:cNvPicPr>
            <a:picLocks noChangeAspect="1"/>
          </p:cNvPicPr>
          <p:nvPr/>
        </p:nvPicPr>
        <p:blipFill>
          <a:blip r:embed="rId13"/>
          <a:stretch>
            <a:fillRect/>
          </a:stretch>
        </p:blipFill>
        <p:spPr>
          <a:xfrm>
            <a:off x="1666875" y="4600575"/>
            <a:ext cx="304800" cy="161925"/>
          </a:xfrm>
          <a:prstGeom prst="rect">
            <a:avLst/>
          </a:prstGeom>
        </p:spPr>
      </p:pic>
      <p:pic>
        <p:nvPicPr>
          <p:cNvPr id="34" name="Picture 33" descr="tmpf90y5xj2.png"/>
          <p:cNvPicPr>
            <a:picLocks noChangeAspect="1"/>
          </p:cNvPicPr>
          <p:nvPr/>
        </p:nvPicPr>
        <p:blipFill>
          <a:blip r:embed="rId14"/>
          <a:stretch>
            <a:fillRect/>
          </a:stretch>
        </p:blipFill>
        <p:spPr>
          <a:xfrm>
            <a:off x="1971675" y="4600575"/>
            <a:ext cx="314325" cy="161925"/>
          </a:xfrm>
          <a:prstGeom prst="rect">
            <a:avLst/>
          </a:prstGeom>
        </p:spPr>
      </p:pic>
      <p:pic>
        <p:nvPicPr>
          <p:cNvPr id="35" name="Picture 34" descr="tmpnkxv4sis.png"/>
          <p:cNvPicPr>
            <a:picLocks noChangeAspect="1"/>
          </p:cNvPicPr>
          <p:nvPr/>
        </p:nvPicPr>
        <p:blipFill>
          <a:blip r:embed="rId15"/>
          <a:stretch>
            <a:fillRect/>
          </a:stretch>
        </p:blipFill>
        <p:spPr>
          <a:xfrm>
            <a:off x="2286000" y="4600575"/>
            <a:ext cx="304800" cy="161925"/>
          </a:xfrm>
          <a:prstGeom prst="rect">
            <a:avLst/>
          </a:prstGeom>
        </p:spPr>
      </p:pic>
      <p:pic>
        <p:nvPicPr>
          <p:cNvPr id="36" name="Picture 35" descr="tmp2_p78ox6.png"/>
          <p:cNvPicPr>
            <a:picLocks noChangeAspect="1"/>
          </p:cNvPicPr>
          <p:nvPr/>
        </p:nvPicPr>
        <p:blipFill>
          <a:blip r:embed="rId16"/>
          <a:stretch>
            <a:fillRect/>
          </a:stretch>
        </p:blipFill>
        <p:spPr>
          <a:xfrm>
            <a:off x="2590800" y="4600575"/>
            <a:ext cx="314325" cy="161925"/>
          </a:xfrm>
          <a:prstGeom prst="rect">
            <a:avLst/>
          </a:prstGeom>
        </p:spPr>
      </p:pic>
      <p:pic>
        <p:nvPicPr>
          <p:cNvPr id="37" name="Picture 36" descr="tmpxppsfmwv.png"/>
          <p:cNvPicPr>
            <a:picLocks noChangeAspect="1"/>
          </p:cNvPicPr>
          <p:nvPr/>
        </p:nvPicPr>
        <p:blipFill>
          <a:blip r:embed="rId8"/>
          <a:stretch>
            <a:fillRect/>
          </a:stretch>
        </p:blipFill>
        <p:spPr>
          <a:xfrm>
            <a:off x="2905125" y="4600575"/>
            <a:ext cx="304800" cy="161925"/>
          </a:xfrm>
          <a:prstGeom prst="rect">
            <a:avLst/>
          </a:prstGeom>
        </p:spPr>
      </p:pic>
      <p:pic>
        <p:nvPicPr>
          <p:cNvPr id="38" name="Picture 37" descr="tmpxppsfmwv.png"/>
          <p:cNvPicPr>
            <a:picLocks noChangeAspect="1"/>
          </p:cNvPicPr>
          <p:nvPr/>
        </p:nvPicPr>
        <p:blipFill>
          <a:blip r:embed="rId8"/>
          <a:stretch>
            <a:fillRect/>
          </a:stretch>
        </p:blipFill>
        <p:spPr>
          <a:xfrm>
            <a:off x="3209925" y="4600575"/>
            <a:ext cx="304800" cy="161925"/>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fro53ivg.png"/>
          <p:cNvPicPr>
            <a:picLocks noChangeAspect="1"/>
          </p:cNvPicPr>
          <p:nvPr/>
        </p:nvPicPr>
        <p:blipFill>
          <a:blip r:embed="rId2"/>
          <a:stretch>
            <a:fillRect/>
          </a:stretch>
        </p:blipFill>
        <p:spPr>
          <a:xfrm>
            <a:off x="533400" y="4924425"/>
            <a:ext cx="1095375" cy="333375"/>
          </a:xfrm>
          <a:prstGeom prst="rect">
            <a:avLst/>
          </a:prstGeom>
        </p:spPr>
      </p:pic>
      <p:pic>
        <p:nvPicPr>
          <p:cNvPr id="4" name="Picture 3" descr="tmpvi4xbwfd.png"/>
          <p:cNvPicPr>
            <a:picLocks noChangeAspect="1"/>
          </p:cNvPicPr>
          <p:nvPr/>
        </p:nvPicPr>
        <p:blipFill>
          <a:blip r:embed="rId3"/>
          <a:stretch>
            <a:fillRect/>
          </a:stretch>
        </p:blipFill>
        <p:spPr>
          <a:xfrm>
            <a:off x="1666875" y="4924425"/>
            <a:ext cx="981075" cy="333375"/>
          </a:xfrm>
          <a:prstGeom prst="rect">
            <a:avLst/>
          </a:prstGeom>
        </p:spPr>
      </p:pic>
      <p:sp>
        <p:nvSpPr>
          <p:cNvPr id="5" name="Rectangle 4"/>
          <p:cNvSpPr/>
          <p:nvPr/>
        </p:nvSpPr>
        <p:spPr>
          <a:xfrm>
            <a:off x="3919347" y="1772107"/>
            <a:ext cx="1707641" cy="75285"/>
          </a:xfrm>
          <a:prstGeom prst="rect">
            <a:avLst/>
          </a:prstGeom>
          <a:solidFill>
            <a:srgbClr val="9AC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3949598"/>
            <a:ext cx="7067169" cy="75285"/>
          </a:xfrm>
          <a:prstGeom prst="rect">
            <a:avLst/>
          </a:prstGeom>
          <a:solidFill>
            <a:srgbClr val="F9F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933956" y="2443886"/>
            <a:ext cx="2919450" cy="810768"/>
          </a:xfrm>
          <a:prstGeom prst="rect">
            <a:avLst/>
          </a:prstGeom>
          <a:noFill/>
          <a:ln>
            <a:noFill/>
          </a:ln>
        </p:spPr>
        <p:txBody>
          <a:bodyPr wrap="none" lIns="19050" rIns="19050" tIns="0" bIns="0" anchor="ctr">
            <a:noAutofit/>
          </a:bodyPr>
          <a:lstStyle/>
          <a:p>
            <a:pPr algn="l"/>
            <a:r>
              <a:rPr sz="10500" b="1">
                <a:solidFill>
                  <a:srgbClr val="139ED4"/>
                </a:solidFill>
                <a:latin typeface="PingFang SC"/>
              </a:rPr>
              <a:t>02</a:t>
            </a:r>
          </a:p>
        </p:txBody>
      </p:sp>
      <p:sp>
        <p:nvSpPr>
          <p:cNvPr id="8" name="TextBox 7"/>
          <p:cNvSpPr txBox="1"/>
          <p:nvPr/>
        </p:nvSpPr>
        <p:spPr>
          <a:xfrm>
            <a:off x="3919347" y="2443886"/>
            <a:ext cx="2466822" cy="810768"/>
          </a:xfrm>
          <a:prstGeom prst="rect">
            <a:avLst/>
          </a:prstGeom>
          <a:noFill/>
          <a:ln>
            <a:noFill/>
          </a:ln>
        </p:spPr>
        <p:txBody>
          <a:bodyPr wrap="none" lIns="19050" rIns="19050" tIns="0" bIns="0" anchor="ctr">
            <a:noAutofit/>
          </a:bodyPr>
          <a:lstStyle/>
          <a:p>
            <a:pPr algn="l"/>
            <a:r>
              <a:rPr sz="4800" b="1">
                <a:solidFill>
                  <a:srgbClr val="394855"/>
                </a:solidFill>
                <a:latin typeface="PingFang SC"/>
              </a:rPr>
              <a:t>感染</a:t>
            </a:r>
          </a:p>
          <a:p>
            <a:pPr algn="l"/>
            <a:r>
              <a:rPr sz="4800" b="1">
                <a:solidFill>
                  <a:srgbClr val="394855"/>
                </a:solidFill>
                <a:latin typeface="PingFang SC"/>
              </a:rPr>
              <a:t>Infection</a:t>
            </a:r>
          </a:p>
        </p:txBody>
      </p:sp>
      <p:sp>
        <p:nvSpPr>
          <p:cNvPr id="9" name="TextBox 8"/>
          <p:cNvSpPr txBox="1"/>
          <p:nvPr/>
        </p:nvSpPr>
        <p:spPr>
          <a:xfrm>
            <a:off x="8322183" y="173735"/>
            <a:ext cx="3915232" cy="428548"/>
          </a:xfrm>
          <a:prstGeom prst="rect">
            <a:avLst/>
          </a:prstGeom>
          <a:noFill/>
          <a:ln>
            <a:noFill/>
          </a:ln>
        </p:spPr>
        <p:txBody>
          <a:bodyPr wrap="none" lIns="19050" rIns="19050" tIns="0" bIns="0" anchor="ctr">
            <a:noAutofit/>
          </a:bodyPr>
          <a:lstStyle/>
          <a:p>
            <a:pPr algn="r"/>
            <a:r>
              <a:rPr sz="1800" b="0">
                <a:solidFill>
                  <a:srgbClr val="AFC3AA"/>
                </a:solidFill>
                <a:latin typeface="PingFang SC"/>
              </a:rPr>
              <a:t>Surviving Sepsis Campaign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ia6lcshf.png"/>
          <p:cNvPicPr>
            <a:picLocks noChangeAspect="1"/>
          </p:cNvPicPr>
          <p:nvPr/>
        </p:nvPicPr>
        <p:blipFill>
          <a:blip r:embed="rId2"/>
          <a:stretch>
            <a:fillRect/>
          </a:stretch>
        </p:blipFill>
        <p:spPr>
          <a:xfrm>
            <a:off x="1666875" y="4972050"/>
            <a:ext cx="1028700" cy="190500"/>
          </a:xfrm>
          <a:prstGeom prst="rect">
            <a:avLst/>
          </a:prstGeom>
        </p:spPr>
      </p:pic>
      <p:pic>
        <p:nvPicPr>
          <p:cNvPr id="4" name="Picture 3" descr="tmp5_vnlb4q.png"/>
          <p:cNvPicPr>
            <a:picLocks noChangeAspect="1"/>
          </p:cNvPicPr>
          <p:nvPr/>
        </p:nvPicPr>
        <p:blipFill>
          <a:blip r:embed="rId3"/>
          <a:stretch>
            <a:fillRect/>
          </a:stretch>
        </p:blipFill>
        <p:spPr>
          <a:xfrm>
            <a:off x="504825" y="4972050"/>
            <a:ext cx="1057275" cy="190500"/>
          </a:xfrm>
          <a:prstGeom prst="rect">
            <a:avLst/>
          </a:prstGeom>
        </p:spPr>
      </p:pic>
      <p:sp>
        <p:nvSpPr>
          <p:cNvPr id="5" name="Rounded Rectangle 4"/>
          <p:cNvSpPr/>
          <p:nvPr/>
        </p:nvSpPr>
        <p:spPr>
          <a:xfrm>
            <a:off x="555498" y="967130"/>
            <a:ext cx="9237725" cy="3955389"/>
          </a:xfrm>
          <a:prstGeom prst="roundRect">
            <a:avLst>
              <a:gd name="adj" fmla="val 6000"/>
            </a:avLst>
          </a:prstGeom>
          <a:solidFill>
            <a:srgbClr val="FEFEFE"/>
          </a:solidFill>
          <a:ln w="11430">
            <a:solidFill>
              <a:srgbClr val="6996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6933" y="399592"/>
            <a:ext cx="5952058" cy="306933"/>
          </a:xfrm>
          <a:prstGeom prst="rect">
            <a:avLst/>
          </a:prstGeom>
          <a:noFill/>
          <a:ln>
            <a:noFill/>
          </a:ln>
        </p:spPr>
        <p:txBody>
          <a:bodyPr wrap="none" lIns="19050" rIns="19050" tIns="0" bIns="0" anchor="ctr">
            <a:noAutofit/>
          </a:bodyPr>
          <a:lstStyle/>
          <a:p>
            <a:pPr algn="l"/>
            <a:r>
              <a:rPr sz="3150" b="1">
                <a:solidFill>
                  <a:srgbClr val="3E508E"/>
                </a:solidFill>
                <a:latin typeface="PingFang SC"/>
              </a:rPr>
              <a:t>医内抗生素启动时机</a:t>
            </a:r>
          </a:p>
        </p:txBody>
      </p:sp>
      <p:sp>
        <p:nvSpPr>
          <p:cNvPr id="7" name="TextBox 6"/>
          <p:cNvSpPr txBox="1"/>
          <p:nvPr/>
        </p:nvSpPr>
        <p:spPr>
          <a:xfrm>
            <a:off x="8322183" y="179527"/>
            <a:ext cx="3892600" cy="411175"/>
          </a:xfrm>
          <a:prstGeom prst="rect">
            <a:avLst/>
          </a:prstGeom>
          <a:noFill/>
          <a:ln>
            <a:noFill/>
          </a:ln>
        </p:spPr>
        <p:txBody>
          <a:bodyPr wrap="none" lIns="19050" rIns="19050" tIns="0" bIns="0" anchor="ctr">
            <a:noAutofit/>
          </a:bodyPr>
          <a:lstStyle/>
          <a:p>
            <a:pPr algn="r"/>
            <a:r>
              <a:rPr sz="1800" b="0">
                <a:solidFill>
                  <a:srgbClr val="B0C3AA"/>
                </a:solidFill>
                <a:latin typeface="PingFang SC"/>
              </a:rPr>
              <a:t>Surviving Sepsis Campaign</a:t>
            </a:r>
          </a:p>
        </p:txBody>
      </p:sp>
      <p:sp>
        <p:nvSpPr>
          <p:cNvPr id="8" name="TextBox 7"/>
          <p:cNvSpPr txBox="1"/>
          <p:nvPr/>
        </p:nvSpPr>
        <p:spPr>
          <a:xfrm>
            <a:off x="1069848" y="1262481"/>
            <a:ext cx="7694675" cy="312724"/>
          </a:xfrm>
          <a:prstGeom prst="rect">
            <a:avLst/>
          </a:prstGeom>
          <a:noFill/>
          <a:ln>
            <a:noFill/>
          </a:ln>
        </p:spPr>
        <p:txBody>
          <a:bodyPr wrap="square" lIns="19050" rIns="19050" tIns="0" bIns="0" anchor="t">
            <a:normAutofit/>
          </a:bodyPr>
          <a:lstStyle/>
          <a:p>
            <a:pPr algn="l"/>
            <a:r>
              <a:rPr sz="1380" b="0">
                <a:solidFill>
                  <a:srgbClr val="7C9096"/>
                </a:solidFill>
                <a:latin typeface="PingFang SC"/>
              </a:rPr>
              <a:t>16. 对于可能、很可能或确诊为感染性休克的成人患者，我们 “推荐” 立即给予抗菌治疗，理想情况下在识别后的1小时内进行。</a:t>
            </a:r>
          </a:p>
        </p:txBody>
      </p:sp>
      <p:sp>
        <p:nvSpPr>
          <p:cNvPr id="9" name="TextBox 8"/>
          <p:cNvSpPr txBox="1"/>
          <p:nvPr/>
        </p:nvSpPr>
        <p:spPr>
          <a:xfrm>
            <a:off x="1069848" y="2154326"/>
            <a:ext cx="7694675" cy="312724"/>
          </a:xfrm>
          <a:prstGeom prst="rect">
            <a:avLst/>
          </a:prstGeom>
          <a:noFill/>
          <a:ln>
            <a:noFill/>
          </a:ln>
        </p:spPr>
        <p:txBody>
          <a:bodyPr wrap="square" lIns="19050" rIns="19050" tIns="0" bIns="0" anchor="t">
            <a:normAutofit/>
          </a:bodyPr>
          <a:lstStyle/>
          <a:p>
            <a:pPr algn="l"/>
            <a:r>
              <a:rPr sz="1320" b="0">
                <a:solidFill>
                  <a:srgbClr val="778D93"/>
                </a:solidFill>
                <a:latin typeface="PingFang SC"/>
              </a:rPr>
              <a:t>17. 对于可能患有或确诊患有脓毒症但未发生休克的成年人，我们 “建议” 立即给予抗菌治疗，理想情况是在识别出病情后的1小时内进行。</a:t>
            </a:r>
          </a:p>
        </p:txBody>
      </p:sp>
      <p:sp>
        <p:nvSpPr>
          <p:cNvPr id="10" name="TextBox 9"/>
          <p:cNvSpPr txBox="1"/>
          <p:nvPr/>
        </p:nvSpPr>
        <p:spPr>
          <a:xfrm>
            <a:off x="1069848" y="3046171"/>
            <a:ext cx="7694675" cy="312724"/>
          </a:xfrm>
          <a:prstGeom prst="rect">
            <a:avLst/>
          </a:prstGeom>
          <a:noFill/>
          <a:ln>
            <a:noFill/>
          </a:ln>
        </p:spPr>
        <p:txBody>
          <a:bodyPr wrap="square" lIns="19050" rIns="19050" tIns="0" bIns="0" anchor="t">
            <a:normAutofit/>
          </a:bodyPr>
          <a:lstStyle/>
          <a:p>
            <a:pPr algn="l"/>
            <a:r>
              <a:rPr sz="1270" b="0">
                <a:solidFill>
                  <a:srgbClr val="A18784"/>
                </a:solidFill>
                <a:latin typeface="PingFang SC"/>
              </a:rPr>
              <a:t>18. 对于可能患有脓毒症但未发生休克的成年人，我们 “建议” 进行限时快速检查，若仍怀疑存在感染，应在首次怀疑脓毒症后的3小时内给予抗菌治疗。</a:t>
            </a:r>
          </a:p>
        </p:txBody>
      </p:sp>
      <p:sp>
        <p:nvSpPr>
          <p:cNvPr id="11" name="TextBox 10"/>
          <p:cNvSpPr txBox="1"/>
          <p:nvPr/>
        </p:nvSpPr>
        <p:spPr>
          <a:xfrm>
            <a:off x="1069848" y="3938016"/>
            <a:ext cx="7694675" cy="185318"/>
          </a:xfrm>
          <a:prstGeom prst="rect">
            <a:avLst/>
          </a:prstGeom>
          <a:noFill/>
          <a:ln>
            <a:noFill/>
          </a:ln>
        </p:spPr>
        <p:txBody>
          <a:bodyPr wrap="square" lIns="19050" rIns="19050" tIns="0" bIns="0" anchor="t">
            <a:normAutofit/>
          </a:bodyPr>
          <a:lstStyle/>
          <a:p>
            <a:pPr algn="l"/>
            <a:r>
              <a:rPr sz="1160" b="0">
                <a:solidFill>
                  <a:srgbClr val="837B7E"/>
                </a:solidFill>
                <a:latin typeface="PingFang SC"/>
              </a:rPr>
              <a:t>19. 临床医生应快速评估无休克的疑似脓毒症成年患者急性疾病由感染性病因与非感染性病因所致的可能性。</a:t>
            </a:r>
          </a:p>
        </p:txBody>
      </p:sp>
      <p:sp>
        <p:nvSpPr>
          <p:cNvPr id="12" name="TextBox 11"/>
          <p:cNvSpPr txBox="1"/>
          <p:nvPr/>
        </p:nvSpPr>
        <p:spPr>
          <a:xfrm>
            <a:off x="1069848" y="4412894"/>
            <a:ext cx="7694675" cy="312724"/>
          </a:xfrm>
          <a:prstGeom prst="rect">
            <a:avLst/>
          </a:prstGeom>
          <a:noFill/>
          <a:ln>
            <a:noFill/>
          </a:ln>
        </p:spPr>
        <p:txBody>
          <a:bodyPr wrap="square" lIns="19050" rIns="19050" tIns="0" bIns="0" anchor="t">
            <a:normAutofit/>
          </a:bodyPr>
          <a:lstStyle/>
          <a:p>
            <a:pPr algn="l"/>
            <a:r>
              <a:rPr sz="1500" b="0">
                <a:solidFill>
                  <a:srgbClr val="8C9592"/>
                </a:solidFill>
                <a:latin typeface="PingFang SC"/>
              </a:rPr>
              <a:t>20. 对于感染可能性较低且未出现休克的成年人，我们 “建议” 推迟抗菌治疗，同时继续密切监测患者情况。</a:t>
            </a:r>
          </a:p>
        </p:txBody>
      </p:sp>
      <p:sp>
        <p:nvSpPr>
          <p:cNvPr id="13" name="TextBox 12"/>
          <p:cNvSpPr txBox="1"/>
          <p:nvPr/>
        </p:nvSpPr>
        <p:spPr>
          <a:xfrm>
            <a:off x="9176004" y="1262481"/>
            <a:ext cx="905256" cy="150571"/>
          </a:xfrm>
          <a:prstGeom prst="rect">
            <a:avLst/>
          </a:prstGeom>
          <a:noFill/>
          <a:ln>
            <a:noFill/>
          </a:ln>
        </p:spPr>
        <p:txBody>
          <a:bodyPr wrap="none" lIns="19050" rIns="19050" tIns="0" bIns="0" anchor="ctr">
            <a:noAutofit/>
          </a:bodyPr>
          <a:lstStyle/>
          <a:p>
            <a:pPr algn="r"/>
            <a:r>
              <a:rPr sz="1500" b="0">
                <a:solidFill>
                  <a:srgbClr val="4A6786"/>
                </a:solidFill>
                <a:latin typeface="PingFang SC"/>
              </a:rPr>
              <a:t>修订</a:t>
            </a:r>
          </a:p>
        </p:txBody>
      </p:sp>
      <p:sp>
        <p:nvSpPr>
          <p:cNvPr id="14" name="TextBox 13"/>
          <p:cNvSpPr txBox="1"/>
          <p:nvPr/>
        </p:nvSpPr>
        <p:spPr>
          <a:xfrm>
            <a:off x="9176004" y="2154326"/>
            <a:ext cx="905256" cy="150571"/>
          </a:xfrm>
          <a:prstGeom prst="rect">
            <a:avLst/>
          </a:prstGeom>
          <a:noFill/>
          <a:ln>
            <a:noFill/>
          </a:ln>
        </p:spPr>
        <p:txBody>
          <a:bodyPr wrap="none" lIns="19050" rIns="19050" tIns="0" bIns="0" anchor="ctr">
            <a:noAutofit/>
          </a:bodyPr>
          <a:lstStyle/>
          <a:p>
            <a:pPr algn="r"/>
            <a:r>
              <a:rPr sz="1500" b="0">
                <a:solidFill>
                  <a:srgbClr val="547E88"/>
                </a:solidFill>
                <a:latin typeface="PingFang SC"/>
              </a:rPr>
              <a:t>修订</a:t>
            </a:r>
          </a:p>
        </p:txBody>
      </p:sp>
      <p:sp>
        <p:nvSpPr>
          <p:cNvPr id="15" name="TextBox 14"/>
          <p:cNvSpPr txBox="1"/>
          <p:nvPr/>
        </p:nvSpPr>
        <p:spPr>
          <a:xfrm>
            <a:off x="9176004" y="3046171"/>
            <a:ext cx="905256" cy="150571"/>
          </a:xfrm>
          <a:prstGeom prst="rect">
            <a:avLst/>
          </a:prstGeom>
          <a:noFill/>
          <a:ln>
            <a:noFill/>
          </a:ln>
        </p:spPr>
        <p:txBody>
          <a:bodyPr wrap="none" lIns="19050" rIns="19050" tIns="0" bIns="0" anchor="ctr">
            <a:noAutofit/>
          </a:bodyPr>
          <a:lstStyle/>
          <a:p>
            <a:pPr algn="r"/>
            <a:r>
              <a:rPr sz="1500" b="0">
                <a:solidFill>
                  <a:srgbClr val="6C9981"/>
                </a:solidFill>
                <a:latin typeface="PingFang SC"/>
              </a:rPr>
              <a:t>修订</a:t>
            </a:r>
          </a:p>
        </p:txBody>
      </p:sp>
      <p:sp>
        <p:nvSpPr>
          <p:cNvPr id="16" name="TextBox 15"/>
          <p:cNvSpPr txBox="1"/>
          <p:nvPr/>
        </p:nvSpPr>
        <p:spPr>
          <a:xfrm>
            <a:off x="9176004" y="3938016"/>
            <a:ext cx="905256" cy="150571"/>
          </a:xfrm>
          <a:prstGeom prst="rect">
            <a:avLst/>
          </a:prstGeom>
          <a:noFill/>
          <a:ln>
            <a:noFill/>
          </a:ln>
        </p:spPr>
        <p:txBody>
          <a:bodyPr wrap="none" lIns="19050" rIns="19050" tIns="0" bIns="0" anchor="ctr">
            <a:noAutofit/>
          </a:bodyPr>
          <a:lstStyle/>
          <a:p>
            <a:pPr algn="r"/>
            <a:r>
              <a:rPr sz="1500" b="0">
                <a:solidFill>
                  <a:srgbClr val="8AB07D"/>
                </a:solidFill>
                <a:latin typeface="PingFang SC"/>
              </a:rPr>
              <a:t>修订</a:t>
            </a:r>
          </a:p>
        </p:txBody>
      </p:sp>
      <p:sp>
        <p:nvSpPr>
          <p:cNvPr id="17" name="TextBox 16"/>
          <p:cNvSpPr txBox="1"/>
          <p:nvPr/>
        </p:nvSpPr>
        <p:spPr>
          <a:xfrm>
            <a:off x="9176004" y="4412894"/>
            <a:ext cx="905256" cy="150571"/>
          </a:xfrm>
          <a:prstGeom prst="rect">
            <a:avLst/>
          </a:prstGeom>
          <a:noFill/>
          <a:ln>
            <a:noFill/>
          </a:ln>
        </p:spPr>
        <p:txBody>
          <a:bodyPr wrap="none" lIns="19050" rIns="19050" tIns="0" bIns="0" anchor="ctr">
            <a:noAutofit/>
          </a:bodyPr>
          <a:lstStyle/>
          <a:p>
            <a:pPr algn="r"/>
            <a:r>
              <a:rPr sz="1500" b="0">
                <a:solidFill>
                  <a:srgbClr val="9DBB7B"/>
                </a:solidFill>
                <a:latin typeface="PingFang SC"/>
              </a:rPr>
              <a:t>修订</a:t>
            </a:r>
          </a:p>
        </p:txBody>
      </p:sp>
      <p:sp>
        <p:nvSpPr>
          <p:cNvPr id="18" name="TextBox 17"/>
          <p:cNvSpPr txBox="1"/>
          <p:nvPr/>
        </p:nvSpPr>
        <p:spPr>
          <a:xfrm>
            <a:off x="504063" y="4968849"/>
            <a:ext cx="2331034" cy="196900"/>
          </a:xfrm>
          <a:prstGeom prst="rect">
            <a:avLst/>
          </a:prstGeom>
          <a:noFill/>
          <a:ln>
            <a:noFill/>
          </a:ln>
        </p:spPr>
        <p:txBody>
          <a:bodyPr wrap="none" lIns="19050" rIns="19050" tIns="0" bIns="0" anchor="ctr">
            <a:noAutofit/>
          </a:bodyPr>
          <a:lstStyle/>
          <a:p>
            <a:pPr algn="l"/>
            <a:r>
              <a:rPr sz="900" b="0">
                <a:solidFill>
                  <a:srgbClr val="A4A696"/>
                </a:solidFill>
                <a:latin typeface="PingFang SC"/>
              </a:rPr>
              <a:t>Society of Critical Care Medicine</a:t>
            </a:r>
          </a:p>
          <a:p>
            <a:pPr algn="l"/>
            <a:r>
              <a:rPr sz="900" b="0">
                <a:solidFill>
                  <a:srgbClr val="A4A696"/>
                </a:solidFill>
                <a:latin typeface="PingFang SC"/>
              </a:rPr>
              <a:t>The Intensive Care Professionals</a:t>
            </a:r>
          </a:p>
        </p:txBody>
      </p:sp>
      <p:sp>
        <p:nvSpPr>
          <p:cNvPr id="19" name="TextBox 18"/>
          <p:cNvSpPr txBox="1"/>
          <p:nvPr/>
        </p:nvSpPr>
        <p:spPr>
          <a:xfrm>
            <a:off x="1666494" y="4968849"/>
            <a:ext cx="2263140" cy="196900"/>
          </a:xfrm>
          <a:prstGeom prst="rect">
            <a:avLst/>
          </a:prstGeom>
          <a:noFill/>
          <a:ln>
            <a:noFill/>
          </a:ln>
        </p:spPr>
        <p:txBody>
          <a:bodyPr wrap="none" lIns="19050" rIns="19050" tIns="0" bIns="0" anchor="ctr">
            <a:noAutofit/>
          </a:bodyPr>
          <a:lstStyle/>
          <a:p>
            <a:pPr algn="l"/>
            <a:r>
              <a:rPr sz="900" b="0">
                <a:solidFill>
                  <a:srgbClr val="7B5CA5"/>
                </a:solidFill>
                <a:latin typeface="PingFang SC"/>
              </a:rPr>
              <a:t>ESICM</a:t>
            </a:r>
          </a:p>
          <a:p>
            <a:pPr algn="l"/>
            <a:r>
              <a:rPr sz="900" b="0">
                <a:solidFill>
                  <a:srgbClr val="7B5CA5"/>
                </a:solidFill>
                <a:latin typeface="PingFang SC"/>
              </a:rPr>
              <a:t>European Society of Intensive Care Medicine</a:t>
            </a:r>
          </a:p>
        </p:txBody>
      </p:sp>
      <p:sp>
        <p:nvSpPr>
          <p:cNvPr id="20" name="TextBox 19"/>
          <p:cNvSpPr txBox="1"/>
          <p:nvPr/>
        </p:nvSpPr>
        <p:spPr>
          <a:xfrm>
            <a:off x="606933" y="5466892"/>
            <a:ext cx="2331034" cy="127406"/>
          </a:xfrm>
          <a:prstGeom prst="rect">
            <a:avLst/>
          </a:prstGeom>
          <a:noFill/>
          <a:ln>
            <a:noFill/>
          </a:ln>
        </p:spPr>
        <p:txBody>
          <a:bodyPr wrap="none" lIns="19050" rIns="19050" tIns="0" bIns="0" anchor="ctr">
            <a:noAutofit/>
          </a:bodyPr>
          <a:lstStyle/>
          <a:p>
            <a:pPr algn="l"/>
            <a:r>
              <a:rPr sz="1200" b="0">
                <a:solidFill>
                  <a:srgbClr val="BDDCDC"/>
                </a:solidFill>
                <a:latin typeface="PingFang SC"/>
              </a:rPr>
              <a:t>公众号 指南导航</a:t>
            </a:r>
          </a:p>
        </p:txBody>
      </p:sp>
      <p:sp>
        <p:nvSpPr>
          <p:cNvPr id="21" name="TextBox 20"/>
          <p:cNvSpPr txBox="1"/>
          <p:nvPr/>
        </p:nvSpPr>
        <p:spPr>
          <a:xfrm>
            <a:off x="10287000" y="5351068"/>
            <a:ext cx="0" cy="185318"/>
          </a:xfrm>
          <a:prstGeom prst="rect">
            <a:avLst/>
          </a:prstGeom>
          <a:noFill/>
          <a:ln>
            <a:noFill/>
          </a:ln>
        </p:spPr>
        <p:txBody>
          <a:bodyPr wrap="none" lIns="19050" rIns="19050" tIns="0" bIns="0" anchor="ctr">
            <a:noAutofit/>
          </a:bodyPr>
          <a:lstStyle/>
          <a:p>
            <a:pPr algn="r"/>
            <a:r>
              <a:rPr sz="1800" b="0">
                <a:solidFill>
                  <a:srgbClr val="000000"/>
                </a:solidFill>
                <a:latin typeface="PingFang SC"/>
              </a:rPr>
              <a:t>13</a:t>
            </a:r>
          </a:p>
        </p:txBody>
      </p:sp>
      <p:pic>
        <p:nvPicPr>
          <p:cNvPr id="22" name="Picture 21" descr="tmpppfc7dp9.png"/>
          <p:cNvPicPr>
            <a:picLocks noChangeAspect="1"/>
          </p:cNvPicPr>
          <p:nvPr/>
        </p:nvPicPr>
        <p:blipFill>
          <a:blip r:embed="rId4"/>
          <a:stretch>
            <a:fillRect/>
          </a:stretch>
        </p:blipFill>
        <p:spPr>
          <a:xfrm>
            <a:off x="1228725" y="1876425"/>
            <a:ext cx="333375" cy="180975"/>
          </a:xfrm>
          <a:prstGeom prst="rect">
            <a:avLst/>
          </a:prstGeom>
        </p:spPr>
      </p:pic>
      <p:pic>
        <p:nvPicPr>
          <p:cNvPr id="23" name="Picture 22" descr="tmpzxy2x0oc.png"/>
          <p:cNvPicPr>
            <a:picLocks noChangeAspect="1"/>
          </p:cNvPicPr>
          <p:nvPr/>
        </p:nvPicPr>
        <p:blipFill>
          <a:blip r:embed="rId5"/>
          <a:stretch>
            <a:fillRect/>
          </a:stretch>
        </p:blipFill>
        <p:spPr>
          <a:xfrm>
            <a:off x="1666875" y="1876425"/>
            <a:ext cx="342900" cy="180975"/>
          </a:xfrm>
          <a:prstGeom prst="rect">
            <a:avLst/>
          </a:prstGeom>
        </p:spPr>
      </p:pic>
      <p:pic>
        <p:nvPicPr>
          <p:cNvPr id="24" name="Picture 23" descr="tmp4k231ya0.png"/>
          <p:cNvPicPr>
            <a:picLocks noChangeAspect="1"/>
          </p:cNvPicPr>
          <p:nvPr/>
        </p:nvPicPr>
        <p:blipFill>
          <a:blip r:embed="rId6"/>
          <a:stretch>
            <a:fillRect/>
          </a:stretch>
        </p:blipFill>
        <p:spPr>
          <a:xfrm>
            <a:off x="2105025" y="1876425"/>
            <a:ext cx="342900" cy="180975"/>
          </a:xfrm>
          <a:prstGeom prst="rect">
            <a:avLst/>
          </a:prstGeom>
        </p:spPr>
      </p:pic>
      <p:pic>
        <p:nvPicPr>
          <p:cNvPr id="25" name="Picture 24" descr="tmp0dnhqs5c.png"/>
          <p:cNvPicPr>
            <a:picLocks noChangeAspect="1"/>
          </p:cNvPicPr>
          <p:nvPr/>
        </p:nvPicPr>
        <p:blipFill>
          <a:blip r:embed="rId7"/>
          <a:stretch>
            <a:fillRect/>
          </a:stretch>
        </p:blipFill>
        <p:spPr>
          <a:xfrm>
            <a:off x="2552700" y="1876425"/>
            <a:ext cx="333375" cy="180975"/>
          </a:xfrm>
          <a:prstGeom prst="rect">
            <a:avLst/>
          </a:prstGeom>
        </p:spPr>
      </p:pic>
      <p:pic>
        <p:nvPicPr>
          <p:cNvPr id="26" name="Picture 25" descr="tmpu3fjxafg.png"/>
          <p:cNvPicPr>
            <a:picLocks noChangeAspect="1"/>
          </p:cNvPicPr>
          <p:nvPr/>
        </p:nvPicPr>
        <p:blipFill>
          <a:blip r:embed="rId8"/>
          <a:stretch>
            <a:fillRect/>
          </a:stretch>
        </p:blipFill>
        <p:spPr>
          <a:xfrm>
            <a:off x="2990850" y="1876425"/>
            <a:ext cx="342900" cy="180975"/>
          </a:xfrm>
          <a:prstGeom prst="rect">
            <a:avLst/>
          </a:prstGeom>
        </p:spPr>
      </p:pic>
      <p:pic>
        <p:nvPicPr>
          <p:cNvPr id="27" name="Picture 26" descr="tmpskgjiw_7.png"/>
          <p:cNvPicPr>
            <a:picLocks noChangeAspect="1"/>
          </p:cNvPicPr>
          <p:nvPr/>
        </p:nvPicPr>
        <p:blipFill>
          <a:blip r:embed="rId9"/>
          <a:stretch>
            <a:fillRect/>
          </a:stretch>
        </p:blipFill>
        <p:spPr>
          <a:xfrm>
            <a:off x="1228725" y="2771775"/>
            <a:ext cx="333375" cy="180975"/>
          </a:xfrm>
          <a:prstGeom prst="rect">
            <a:avLst/>
          </a:prstGeom>
        </p:spPr>
      </p:pic>
      <p:pic>
        <p:nvPicPr>
          <p:cNvPr id="28" name="Picture 27" descr="tmpnby1h93h.png"/>
          <p:cNvPicPr>
            <a:picLocks noChangeAspect="1"/>
          </p:cNvPicPr>
          <p:nvPr/>
        </p:nvPicPr>
        <p:blipFill>
          <a:blip r:embed="rId10"/>
          <a:stretch>
            <a:fillRect/>
          </a:stretch>
        </p:blipFill>
        <p:spPr>
          <a:xfrm>
            <a:off x="1666875" y="2771775"/>
            <a:ext cx="342900" cy="180975"/>
          </a:xfrm>
          <a:prstGeom prst="rect">
            <a:avLst/>
          </a:prstGeom>
        </p:spPr>
      </p:pic>
      <p:pic>
        <p:nvPicPr>
          <p:cNvPr id="29" name="Picture 28" descr="tmp7jjal413.png"/>
          <p:cNvPicPr>
            <a:picLocks noChangeAspect="1"/>
          </p:cNvPicPr>
          <p:nvPr/>
        </p:nvPicPr>
        <p:blipFill>
          <a:blip r:embed="rId11"/>
          <a:stretch>
            <a:fillRect/>
          </a:stretch>
        </p:blipFill>
        <p:spPr>
          <a:xfrm>
            <a:off x="2105025" y="2771775"/>
            <a:ext cx="342900" cy="180975"/>
          </a:xfrm>
          <a:prstGeom prst="rect">
            <a:avLst/>
          </a:prstGeom>
        </p:spPr>
      </p:pic>
      <p:pic>
        <p:nvPicPr>
          <p:cNvPr id="30" name="Picture 29" descr="tmpmvdkjvxg.png"/>
          <p:cNvPicPr>
            <a:picLocks noChangeAspect="1"/>
          </p:cNvPicPr>
          <p:nvPr/>
        </p:nvPicPr>
        <p:blipFill>
          <a:blip r:embed="rId12"/>
          <a:stretch>
            <a:fillRect/>
          </a:stretch>
        </p:blipFill>
        <p:spPr>
          <a:xfrm>
            <a:off x="2552700" y="2771775"/>
            <a:ext cx="333375" cy="180975"/>
          </a:xfrm>
          <a:prstGeom prst="rect">
            <a:avLst/>
          </a:prstGeom>
        </p:spPr>
      </p:pic>
      <p:pic>
        <p:nvPicPr>
          <p:cNvPr id="31" name="Picture 30" descr="tmpg9a2tk4d.png"/>
          <p:cNvPicPr>
            <a:picLocks noChangeAspect="1"/>
          </p:cNvPicPr>
          <p:nvPr/>
        </p:nvPicPr>
        <p:blipFill>
          <a:blip r:embed="rId13"/>
          <a:stretch>
            <a:fillRect/>
          </a:stretch>
        </p:blipFill>
        <p:spPr>
          <a:xfrm>
            <a:off x="2990850" y="2771775"/>
            <a:ext cx="342900" cy="180975"/>
          </a:xfrm>
          <a:prstGeom prst="rect">
            <a:avLst/>
          </a:prstGeom>
        </p:spPr>
      </p:pic>
      <p:pic>
        <p:nvPicPr>
          <p:cNvPr id="32" name="Picture 31" descr="tmpdp_msfrh.png"/>
          <p:cNvPicPr>
            <a:picLocks noChangeAspect="1"/>
          </p:cNvPicPr>
          <p:nvPr/>
        </p:nvPicPr>
        <p:blipFill>
          <a:blip r:embed="rId14"/>
          <a:stretch>
            <a:fillRect/>
          </a:stretch>
        </p:blipFill>
        <p:spPr>
          <a:xfrm>
            <a:off x="1228725" y="3657600"/>
            <a:ext cx="333375" cy="190500"/>
          </a:xfrm>
          <a:prstGeom prst="rect">
            <a:avLst/>
          </a:prstGeom>
        </p:spPr>
      </p:pic>
      <p:pic>
        <p:nvPicPr>
          <p:cNvPr id="33" name="Picture 32" descr="tmpd1ilj8_x.png"/>
          <p:cNvPicPr>
            <a:picLocks noChangeAspect="1"/>
          </p:cNvPicPr>
          <p:nvPr/>
        </p:nvPicPr>
        <p:blipFill>
          <a:blip r:embed="rId15"/>
          <a:stretch>
            <a:fillRect/>
          </a:stretch>
        </p:blipFill>
        <p:spPr>
          <a:xfrm>
            <a:off x="1666875" y="3657600"/>
            <a:ext cx="342900" cy="190500"/>
          </a:xfrm>
          <a:prstGeom prst="rect">
            <a:avLst/>
          </a:prstGeom>
        </p:spPr>
      </p:pic>
      <p:pic>
        <p:nvPicPr>
          <p:cNvPr id="34" name="Picture 33" descr="tmp5ds8y9rt.png"/>
          <p:cNvPicPr>
            <a:picLocks noChangeAspect="1"/>
          </p:cNvPicPr>
          <p:nvPr/>
        </p:nvPicPr>
        <p:blipFill>
          <a:blip r:embed="rId16"/>
          <a:stretch>
            <a:fillRect/>
          </a:stretch>
        </p:blipFill>
        <p:spPr>
          <a:xfrm>
            <a:off x="2105025" y="3657600"/>
            <a:ext cx="342900" cy="190500"/>
          </a:xfrm>
          <a:prstGeom prst="rect">
            <a:avLst/>
          </a:prstGeom>
        </p:spPr>
      </p:pic>
      <p:pic>
        <p:nvPicPr>
          <p:cNvPr id="35" name="Picture 34" descr="tmpfvlfz6nf.png"/>
          <p:cNvPicPr>
            <a:picLocks noChangeAspect="1"/>
          </p:cNvPicPr>
          <p:nvPr/>
        </p:nvPicPr>
        <p:blipFill>
          <a:blip r:embed="rId17"/>
          <a:stretch>
            <a:fillRect/>
          </a:stretch>
        </p:blipFill>
        <p:spPr>
          <a:xfrm>
            <a:off x="2552700" y="3657600"/>
            <a:ext cx="333375" cy="190500"/>
          </a:xfrm>
          <a:prstGeom prst="rect">
            <a:avLst/>
          </a:prstGeom>
        </p:spPr>
      </p:pic>
      <p:pic>
        <p:nvPicPr>
          <p:cNvPr id="36" name="Picture 35" descr="tmp3paorxlh.png"/>
          <p:cNvPicPr>
            <a:picLocks noChangeAspect="1"/>
          </p:cNvPicPr>
          <p:nvPr/>
        </p:nvPicPr>
        <p:blipFill>
          <a:blip r:embed="rId18"/>
          <a:stretch>
            <a:fillRect/>
          </a:stretch>
        </p:blipFill>
        <p:spPr>
          <a:xfrm>
            <a:off x="2990850" y="3657600"/>
            <a:ext cx="342900" cy="190500"/>
          </a:xfrm>
          <a:prstGeom prst="rect">
            <a:avLst/>
          </a:prstGeom>
        </p:spPr>
      </p:pic>
      <p:pic>
        <p:nvPicPr>
          <p:cNvPr id="37" name="Picture 36" descr="tmp4ql58o7w.png"/>
          <p:cNvPicPr>
            <a:picLocks noChangeAspect="1"/>
          </p:cNvPicPr>
          <p:nvPr/>
        </p:nvPicPr>
        <p:blipFill>
          <a:blip r:embed="rId19"/>
          <a:stretch>
            <a:fillRect/>
          </a:stretch>
        </p:blipFill>
        <p:spPr>
          <a:xfrm>
            <a:off x="1228725" y="4552950"/>
            <a:ext cx="333375" cy="180975"/>
          </a:xfrm>
          <a:prstGeom prst="rect">
            <a:avLst/>
          </a:prstGeom>
        </p:spPr>
      </p:pic>
      <p:pic>
        <p:nvPicPr>
          <p:cNvPr id="38" name="Picture 37" descr="tmpxhdy289n.png"/>
          <p:cNvPicPr>
            <a:picLocks noChangeAspect="1"/>
          </p:cNvPicPr>
          <p:nvPr/>
        </p:nvPicPr>
        <p:blipFill>
          <a:blip r:embed="rId20"/>
          <a:stretch>
            <a:fillRect/>
          </a:stretch>
        </p:blipFill>
        <p:spPr>
          <a:xfrm>
            <a:off x="1666875" y="4552950"/>
            <a:ext cx="342900" cy="180975"/>
          </a:xfrm>
          <a:prstGeom prst="rect">
            <a:avLst/>
          </a:prstGeom>
        </p:spPr>
      </p:pic>
      <p:pic>
        <p:nvPicPr>
          <p:cNvPr id="39" name="Picture 38" descr="tmpfo155m2s.png"/>
          <p:cNvPicPr>
            <a:picLocks noChangeAspect="1"/>
          </p:cNvPicPr>
          <p:nvPr/>
        </p:nvPicPr>
        <p:blipFill>
          <a:blip r:embed="rId21"/>
          <a:stretch>
            <a:fillRect/>
          </a:stretch>
        </p:blipFill>
        <p:spPr>
          <a:xfrm>
            <a:off x="2105025" y="4552950"/>
            <a:ext cx="342900" cy="180975"/>
          </a:xfrm>
          <a:prstGeom prst="rect">
            <a:avLst/>
          </a:prstGeom>
        </p:spPr>
      </p:pic>
      <p:pic>
        <p:nvPicPr>
          <p:cNvPr id="40" name="Picture 39" descr="tmpj45duuxz.png"/>
          <p:cNvPicPr>
            <a:picLocks noChangeAspect="1"/>
          </p:cNvPicPr>
          <p:nvPr/>
        </p:nvPicPr>
        <p:blipFill>
          <a:blip r:embed="rId22"/>
          <a:stretch>
            <a:fillRect/>
          </a:stretch>
        </p:blipFill>
        <p:spPr>
          <a:xfrm>
            <a:off x="2552700" y="4552950"/>
            <a:ext cx="333375" cy="180975"/>
          </a:xfrm>
          <a:prstGeom prst="rect">
            <a:avLst/>
          </a:prstGeom>
        </p:spPr>
      </p:pic>
      <p:pic>
        <p:nvPicPr>
          <p:cNvPr id="41" name="Picture 40" descr="tmpu3fjxafg.png"/>
          <p:cNvPicPr>
            <a:picLocks noChangeAspect="1"/>
          </p:cNvPicPr>
          <p:nvPr/>
        </p:nvPicPr>
        <p:blipFill>
          <a:blip r:embed="rId8"/>
          <a:stretch>
            <a:fillRect/>
          </a:stretch>
        </p:blipFill>
        <p:spPr>
          <a:xfrm>
            <a:off x="2990850" y="4552950"/>
            <a:ext cx="342900" cy="180975"/>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55498" y="943965"/>
            <a:ext cx="9217152" cy="2542336"/>
          </a:xfrm>
          <a:prstGeom prst="roundRect">
            <a:avLst>
              <a:gd name="adj" fmla="val 6000"/>
            </a:avLst>
          </a:prstGeom>
          <a:solidFill>
            <a:srgbClr val="FDFEFE"/>
          </a:solidFill>
          <a:ln w="11430">
            <a:solidFill>
              <a:srgbClr val="99A8A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55498" y="3573170"/>
            <a:ext cx="9217152" cy="1534668"/>
          </a:xfrm>
          <a:prstGeom prst="rect">
            <a:avLst/>
          </a:prstGeom>
          <a:solidFill>
            <a:srgbClr val="FDFEFE"/>
          </a:solidFill>
          <a:ln w="11430">
            <a:solidFill>
              <a:srgbClr val="F9FE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129409" y="1621536"/>
            <a:ext cx="3188970" cy="1777898"/>
          </a:xfrm>
          <a:prstGeom prst="roundRect">
            <a:avLst>
              <a:gd name="adj" fmla="val 6000"/>
            </a:avLst>
          </a:prstGeom>
          <a:solidFill>
            <a:srgbClr val="00AB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00675" y="1621536"/>
            <a:ext cx="4032504" cy="793394"/>
          </a:xfrm>
          <a:prstGeom prst="roundRect">
            <a:avLst>
              <a:gd name="adj" fmla="val 6000"/>
            </a:avLst>
          </a:prstGeom>
          <a:solidFill>
            <a:srgbClr val="00A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00675" y="2443886"/>
            <a:ext cx="4032504" cy="955547"/>
          </a:xfrm>
          <a:prstGeom prst="roundRect">
            <a:avLst>
              <a:gd name="adj" fmla="val 6000"/>
            </a:avLst>
          </a:prstGeom>
          <a:solidFill>
            <a:srgbClr val="99CD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6933" y="393801"/>
            <a:ext cx="2783662" cy="312724"/>
          </a:xfrm>
          <a:prstGeom prst="rect">
            <a:avLst/>
          </a:prstGeom>
          <a:noFill/>
          <a:ln>
            <a:noFill/>
          </a:ln>
        </p:spPr>
        <p:txBody>
          <a:bodyPr wrap="none" lIns="19050" rIns="19050" tIns="0" bIns="0" anchor="ctr">
            <a:noAutofit/>
          </a:bodyPr>
          <a:lstStyle/>
          <a:p>
            <a:pPr algn="l"/>
            <a:r>
              <a:rPr sz="3150" b="1">
                <a:solidFill>
                  <a:srgbClr val="3E4F8F"/>
                </a:solidFill>
                <a:latin typeface="PingFang SC"/>
              </a:rPr>
              <a:t>抗菌时机</a:t>
            </a:r>
          </a:p>
        </p:txBody>
      </p:sp>
      <p:sp>
        <p:nvSpPr>
          <p:cNvPr id="9" name="TextBox 8"/>
          <p:cNvSpPr txBox="1"/>
          <p:nvPr/>
        </p:nvSpPr>
        <p:spPr>
          <a:xfrm>
            <a:off x="8353044" y="185318"/>
            <a:ext cx="3779443" cy="416966"/>
          </a:xfrm>
          <a:prstGeom prst="rect">
            <a:avLst/>
          </a:prstGeom>
          <a:noFill/>
          <a:ln>
            <a:noFill/>
          </a:ln>
        </p:spPr>
        <p:txBody>
          <a:bodyPr wrap="none" lIns="19050" rIns="19050" tIns="0" bIns="0" anchor="ctr">
            <a:noAutofit/>
          </a:bodyPr>
          <a:lstStyle/>
          <a:p>
            <a:pPr algn="r"/>
            <a:r>
              <a:rPr sz="1800" b="0">
                <a:solidFill>
                  <a:srgbClr val="AFC3A9"/>
                </a:solidFill>
                <a:latin typeface="PingFang SC"/>
              </a:rPr>
              <a:t>Surviving Sepsis Campaign</a:t>
            </a:r>
          </a:p>
        </p:txBody>
      </p:sp>
      <p:sp>
        <p:nvSpPr>
          <p:cNvPr id="10" name="TextBox 9"/>
          <p:cNvSpPr txBox="1"/>
          <p:nvPr/>
        </p:nvSpPr>
        <p:spPr>
          <a:xfrm>
            <a:off x="740663" y="1053998"/>
            <a:ext cx="4299966" cy="243230"/>
          </a:xfrm>
          <a:prstGeom prst="rect">
            <a:avLst/>
          </a:prstGeom>
          <a:noFill/>
          <a:ln>
            <a:noFill/>
          </a:ln>
        </p:spPr>
        <p:txBody>
          <a:bodyPr wrap="none" lIns="19050" rIns="19050" tIns="0" bIns="0" anchor="ctr">
            <a:noAutofit/>
          </a:bodyPr>
          <a:lstStyle/>
          <a:p>
            <a:pPr algn="ctr"/>
            <a:r>
              <a:rPr sz="1650" b="0">
                <a:solidFill>
                  <a:srgbClr val="6B7479"/>
                </a:solidFill>
                <a:latin typeface="PingFang SC"/>
              </a:rPr>
              <a:t>抗菌治疗的时机</a:t>
            </a:r>
          </a:p>
        </p:txBody>
      </p:sp>
      <p:sp>
        <p:nvSpPr>
          <p:cNvPr id="11" name="TextBox 10"/>
          <p:cNvSpPr txBox="1"/>
          <p:nvPr/>
        </p:nvSpPr>
        <p:spPr>
          <a:xfrm>
            <a:off x="3312414" y="1285646"/>
            <a:ext cx="2263140" cy="173736"/>
          </a:xfrm>
          <a:prstGeom prst="rect">
            <a:avLst/>
          </a:prstGeom>
          <a:noFill/>
          <a:ln>
            <a:noFill/>
          </a:ln>
        </p:spPr>
        <p:txBody>
          <a:bodyPr wrap="none" lIns="19050" rIns="19050" tIns="0" bIns="0" anchor="ctr">
            <a:noAutofit/>
          </a:bodyPr>
          <a:lstStyle/>
          <a:p>
            <a:pPr algn="ctr"/>
            <a:r>
              <a:rPr sz="1800" b="1">
                <a:solidFill>
                  <a:srgbClr val="515C5F"/>
                </a:solidFill>
                <a:latin typeface="PingFang SC"/>
              </a:rPr>
              <a:t>存在休克</a:t>
            </a:r>
          </a:p>
        </p:txBody>
      </p:sp>
      <p:sp>
        <p:nvSpPr>
          <p:cNvPr id="12" name="TextBox 11"/>
          <p:cNvSpPr txBox="1"/>
          <p:nvPr/>
        </p:nvSpPr>
        <p:spPr>
          <a:xfrm>
            <a:off x="6809994" y="1285646"/>
            <a:ext cx="2263140" cy="173736"/>
          </a:xfrm>
          <a:prstGeom prst="rect">
            <a:avLst/>
          </a:prstGeom>
          <a:noFill/>
          <a:ln>
            <a:noFill/>
          </a:ln>
        </p:spPr>
        <p:txBody>
          <a:bodyPr wrap="none" lIns="19050" rIns="19050" tIns="0" bIns="0" anchor="ctr">
            <a:noAutofit/>
          </a:bodyPr>
          <a:lstStyle/>
          <a:p>
            <a:pPr algn="ctr"/>
            <a:r>
              <a:rPr sz="1800" b="1">
                <a:solidFill>
                  <a:srgbClr val="5B6368"/>
                </a:solidFill>
                <a:latin typeface="PingFang SC"/>
              </a:rPr>
              <a:t>无休克表现</a:t>
            </a:r>
          </a:p>
        </p:txBody>
      </p:sp>
      <p:sp>
        <p:nvSpPr>
          <p:cNvPr id="13" name="TextBox 12"/>
          <p:cNvSpPr txBox="1"/>
          <p:nvPr/>
        </p:nvSpPr>
        <p:spPr>
          <a:xfrm>
            <a:off x="740663" y="1864766"/>
            <a:ext cx="2715768" cy="405384"/>
          </a:xfrm>
          <a:prstGeom prst="rect">
            <a:avLst/>
          </a:prstGeom>
          <a:noFill/>
          <a:ln>
            <a:noFill/>
          </a:ln>
        </p:spPr>
        <p:txBody>
          <a:bodyPr wrap="none" lIns="19050" rIns="19050" tIns="0" bIns="0" anchor="ctr">
            <a:noAutofit/>
          </a:bodyPr>
          <a:lstStyle/>
          <a:p>
            <a:pPr algn="l"/>
            <a:r>
              <a:rPr sz="1650" b="1">
                <a:solidFill>
                  <a:srgbClr val="5E6A70"/>
                </a:solidFill>
                <a:latin typeface="PingFang SC"/>
              </a:rPr>
              <a:t>脓毒症为确诊或疑似</a:t>
            </a:r>
          </a:p>
        </p:txBody>
      </p:sp>
      <p:sp>
        <p:nvSpPr>
          <p:cNvPr id="14" name="TextBox 13"/>
          <p:cNvSpPr txBox="1"/>
          <p:nvPr/>
        </p:nvSpPr>
        <p:spPr>
          <a:xfrm>
            <a:off x="740663" y="2733446"/>
            <a:ext cx="2715768" cy="405384"/>
          </a:xfrm>
          <a:prstGeom prst="rect">
            <a:avLst/>
          </a:prstGeom>
          <a:noFill/>
          <a:ln>
            <a:noFill/>
          </a:ln>
        </p:spPr>
        <p:txBody>
          <a:bodyPr wrap="none" lIns="19050" rIns="19050" tIns="0" bIns="0" anchor="ctr">
            <a:noAutofit/>
          </a:bodyPr>
          <a:lstStyle/>
          <a:p>
            <a:pPr algn="l"/>
            <a:r>
              <a:rPr sz="1650" b="1">
                <a:solidFill>
                  <a:srgbClr val="5F686E"/>
                </a:solidFill>
                <a:latin typeface="PingFang SC"/>
              </a:rPr>
              <a:t>可能存在脓毒症</a:t>
            </a:r>
          </a:p>
        </p:txBody>
      </p:sp>
      <p:sp>
        <p:nvSpPr>
          <p:cNvPr id="15" name="TextBox 14"/>
          <p:cNvSpPr txBox="1"/>
          <p:nvPr/>
        </p:nvSpPr>
        <p:spPr>
          <a:xfrm>
            <a:off x="2283714" y="2270150"/>
            <a:ext cx="2777490" cy="289559"/>
          </a:xfrm>
          <a:prstGeom prst="rect">
            <a:avLst/>
          </a:prstGeom>
          <a:noFill/>
          <a:ln>
            <a:noFill/>
          </a:ln>
        </p:spPr>
        <p:txBody>
          <a:bodyPr wrap="square" lIns="19050" rIns="19050" tIns="0" bIns="0" anchor="t">
            <a:normAutofit/>
          </a:bodyPr>
          <a:lstStyle/>
          <a:p>
            <a:pPr algn="ctr"/>
            <a:r>
              <a:rPr sz="1190" b="0">
                <a:solidFill>
                  <a:srgbClr val="71D99D"/>
                </a:solidFill>
                <a:latin typeface="PingFang SC"/>
              </a:rPr>
              <a:t>立即给予抗菌治疗，理想情况下应在确诊后1小时内进行。</a:t>
            </a:r>
          </a:p>
        </p:txBody>
      </p:sp>
      <p:sp>
        <p:nvSpPr>
          <p:cNvPr id="16" name="TextBox 15"/>
          <p:cNvSpPr txBox="1"/>
          <p:nvPr/>
        </p:nvSpPr>
        <p:spPr>
          <a:xfrm>
            <a:off x="5554980" y="1980590"/>
            <a:ext cx="3621023" cy="289560"/>
          </a:xfrm>
          <a:prstGeom prst="rect">
            <a:avLst/>
          </a:prstGeom>
          <a:noFill/>
          <a:ln>
            <a:noFill/>
          </a:ln>
        </p:spPr>
        <p:txBody>
          <a:bodyPr wrap="square" lIns="19050" rIns="19050" tIns="0" bIns="0" anchor="t">
            <a:normAutofit/>
          </a:bodyPr>
          <a:lstStyle/>
          <a:p>
            <a:pPr algn="ctr"/>
            <a:r>
              <a:rPr sz="1350" b="0">
                <a:solidFill>
                  <a:srgbClr val="00632F"/>
                </a:solidFill>
                <a:latin typeface="PingFang SC"/>
              </a:rPr>
              <a:t>立即给予抗菌治疗，理想情况下应在确诊后1小时内进行。</a:t>
            </a:r>
          </a:p>
        </p:txBody>
      </p:sp>
      <p:sp>
        <p:nvSpPr>
          <p:cNvPr id="17" name="TextBox 16"/>
          <p:cNvSpPr txBox="1"/>
          <p:nvPr/>
        </p:nvSpPr>
        <p:spPr>
          <a:xfrm>
            <a:off x="5554980" y="2791358"/>
            <a:ext cx="3621023" cy="405384"/>
          </a:xfrm>
          <a:prstGeom prst="rect">
            <a:avLst/>
          </a:prstGeom>
          <a:noFill/>
          <a:ln>
            <a:noFill/>
          </a:ln>
        </p:spPr>
        <p:txBody>
          <a:bodyPr wrap="square" lIns="19050" rIns="19050" tIns="0" bIns="0" anchor="t">
            <a:normAutofit/>
          </a:bodyPr>
          <a:lstStyle/>
          <a:p>
            <a:pPr algn="ctr"/>
            <a:r>
              <a:rPr sz="1250" b="0">
                <a:solidFill>
                  <a:srgbClr val="416F54"/>
                </a:solidFill>
                <a:latin typeface="PingFang SC"/>
              </a:rPr>
              <a:t>急性疾病感染性与非感染性病因的快速评估*。</a:t>
            </a:r>
          </a:p>
          <a:p>
            <a:pPr algn="ctr"/>
            <a:r>
              <a:rPr sz="1250" b="0">
                <a:solidFill>
                  <a:srgbClr val="416F54"/>
                </a:solidFill>
                <a:latin typeface="PingFang SC"/>
              </a:rPr>
              <a:t>若仍怀疑存在感染，应在3小时内给予抗菌治疗。</a:t>
            </a:r>
          </a:p>
        </p:txBody>
      </p:sp>
      <p:sp>
        <p:nvSpPr>
          <p:cNvPr id="18" name="TextBox 17"/>
          <p:cNvSpPr txBox="1"/>
          <p:nvPr/>
        </p:nvSpPr>
        <p:spPr>
          <a:xfrm>
            <a:off x="3003803" y="3023006"/>
            <a:ext cx="3621024" cy="202691"/>
          </a:xfrm>
          <a:prstGeom prst="rect">
            <a:avLst/>
          </a:prstGeom>
          <a:noFill/>
          <a:ln>
            <a:noFill/>
          </a:ln>
        </p:spPr>
        <p:txBody>
          <a:bodyPr wrap="none" lIns="19050" rIns="19050" tIns="0" bIns="0" anchor="ctr">
            <a:noAutofit/>
          </a:bodyPr>
          <a:lstStyle/>
          <a:p>
            <a:pPr algn="ctr"/>
            <a:r>
              <a:rPr sz="1350" b="0">
                <a:solidFill>
                  <a:srgbClr val="54DEA3"/>
                </a:solidFill>
                <a:latin typeface="PingFang SC"/>
              </a:rPr>
              <a:t>公众号: 指南导航</a:t>
            </a:r>
          </a:p>
        </p:txBody>
      </p:sp>
      <p:sp>
        <p:nvSpPr>
          <p:cNvPr id="19" name="TextBox 18"/>
          <p:cNvSpPr txBox="1"/>
          <p:nvPr/>
        </p:nvSpPr>
        <p:spPr>
          <a:xfrm>
            <a:off x="637793" y="3602126"/>
            <a:ext cx="2674620" cy="405384"/>
          </a:xfrm>
          <a:prstGeom prst="rect">
            <a:avLst/>
          </a:prstGeom>
          <a:noFill/>
          <a:ln>
            <a:noFill/>
          </a:ln>
        </p:spPr>
        <p:txBody>
          <a:bodyPr wrap="square" lIns="19050" rIns="19050" tIns="0" bIns="0" anchor="t">
            <a:normAutofit/>
          </a:bodyPr>
          <a:lstStyle/>
          <a:p>
            <a:pPr algn="l"/>
            <a:r>
              <a:rPr sz="1120" b="0">
                <a:solidFill>
                  <a:srgbClr val="5C656B"/>
                </a:solidFill>
                <a:latin typeface="PingFang SC"/>
              </a:rPr>
              <a:t>✓ ✓ 强烈推荐（"werecommend"）</a:t>
            </a:r>
          </a:p>
          <a:p>
            <a:pPr algn="l"/>
            <a:r>
              <a:rPr sz="1120" b="0">
                <a:solidFill>
                  <a:srgbClr val="5C656B"/>
                </a:solidFill>
                <a:latin typeface="PingFang SC"/>
              </a:rPr>
              <a:t>✓ 条件性推荐("wesuggest")</a:t>
            </a:r>
          </a:p>
        </p:txBody>
      </p:sp>
      <p:sp>
        <p:nvSpPr>
          <p:cNvPr id="20" name="TextBox 19"/>
          <p:cNvSpPr txBox="1"/>
          <p:nvPr/>
        </p:nvSpPr>
        <p:spPr>
          <a:xfrm>
            <a:off x="637793" y="4065422"/>
            <a:ext cx="8949690" cy="115824"/>
          </a:xfrm>
          <a:prstGeom prst="rect">
            <a:avLst/>
          </a:prstGeom>
          <a:noFill/>
          <a:ln>
            <a:noFill/>
          </a:ln>
        </p:spPr>
        <p:txBody>
          <a:bodyPr wrap="square" lIns="19050" rIns="19050" tIns="0" bIns="0" anchor="t">
            <a:normAutofit/>
          </a:bodyPr>
          <a:lstStyle/>
          <a:p>
            <a:pPr algn="l"/>
            <a:r>
              <a:rPr sz="1050" b="0">
                <a:solidFill>
                  <a:srgbClr val="D6DADC"/>
                </a:solidFill>
                <a:latin typeface="PingFang SC"/>
              </a:rPr>
              <a:t>确诊脓毒症：根据病史、临床检查和诊断性检查确诊为脓毒症。其他诊断的可能性极小。</a:t>
            </a:r>
          </a:p>
        </p:txBody>
      </p:sp>
      <p:sp>
        <p:nvSpPr>
          <p:cNvPr id="21" name="TextBox 20"/>
          <p:cNvSpPr txBox="1"/>
          <p:nvPr/>
        </p:nvSpPr>
        <p:spPr>
          <a:xfrm>
            <a:off x="637793" y="4210202"/>
            <a:ext cx="8949690" cy="115824"/>
          </a:xfrm>
          <a:prstGeom prst="rect">
            <a:avLst/>
          </a:prstGeom>
          <a:noFill/>
          <a:ln>
            <a:noFill/>
          </a:ln>
        </p:spPr>
        <p:txBody>
          <a:bodyPr wrap="square" lIns="19050" rIns="19050" tIns="0" bIns="0" anchor="t">
            <a:normAutofit/>
          </a:bodyPr>
          <a:lstStyle/>
          <a:p>
            <a:pPr algn="l"/>
            <a:r>
              <a:rPr sz="960" b="0">
                <a:solidFill>
                  <a:srgbClr val="828B8F"/>
                </a:solidFill>
                <a:latin typeface="PingFang SC"/>
              </a:rPr>
              <a:t>疑似脓毒症：高度怀疑脓毒症。根据病史、临床检查和诊断性检查，脓毒症是最可能的诊断。其他诊断的可能性较小。</a:t>
            </a:r>
          </a:p>
        </p:txBody>
      </p:sp>
      <p:sp>
        <p:nvSpPr>
          <p:cNvPr id="22" name="TextBox 21"/>
          <p:cNvSpPr txBox="1"/>
          <p:nvPr/>
        </p:nvSpPr>
        <p:spPr>
          <a:xfrm>
            <a:off x="637793" y="4354982"/>
            <a:ext cx="8949690" cy="115824"/>
          </a:xfrm>
          <a:prstGeom prst="rect">
            <a:avLst/>
          </a:prstGeom>
          <a:noFill/>
          <a:ln>
            <a:noFill/>
          </a:ln>
        </p:spPr>
        <p:txBody>
          <a:bodyPr wrap="square" lIns="19050" rIns="19050" tIns="0" bIns="0" anchor="t">
            <a:normAutofit/>
          </a:bodyPr>
          <a:lstStyle/>
          <a:p>
            <a:pPr algn="l"/>
            <a:r>
              <a:rPr sz="919" b="0">
                <a:solidFill>
                  <a:srgbClr val="838A8F"/>
                </a:solidFill>
                <a:latin typeface="PingFang SC"/>
              </a:rPr>
              <a:t>可能的脓毒症：中度怀疑脓毒症。脓毒症是一种可能的诊断；然而，根据病史、临床检查和诊断性检查，另一种诊断也有可能。</a:t>
            </a:r>
          </a:p>
        </p:txBody>
      </p:sp>
      <p:sp>
        <p:nvSpPr>
          <p:cNvPr id="23" name="TextBox 22"/>
          <p:cNvSpPr txBox="1"/>
          <p:nvPr/>
        </p:nvSpPr>
        <p:spPr>
          <a:xfrm>
            <a:off x="637793" y="4528718"/>
            <a:ext cx="8949690" cy="289559"/>
          </a:xfrm>
          <a:prstGeom prst="rect">
            <a:avLst/>
          </a:prstGeom>
          <a:noFill/>
          <a:ln>
            <a:noFill/>
          </a:ln>
        </p:spPr>
        <p:txBody>
          <a:bodyPr wrap="square" lIns="19050" rIns="19050" tIns="0" bIns="0" anchor="t">
            <a:normAutofit/>
          </a:bodyPr>
          <a:lstStyle/>
          <a:p>
            <a:pPr algn="l"/>
            <a:r>
              <a:rPr sz="900" b="0">
                <a:solidFill>
                  <a:srgbClr val="858C90"/>
                </a:solidFill>
                <a:latin typeface="PingFang SC"/>
              </a:rPr>
              <a:t>*快速评估包括病史采集和临床检查、针对急性疾病的感染性和非感染性病因进行检测，以及对可能类似败血症的急性病症进行即时治疗。只要有可能，应在患者就诊后3小时内完成此项评估，以便就患者症状由感染性病因引起的可能性做出判断，若认为可能性较高，则及时给予抗菌治疗。</a:t>
            </a:r>
          </a:p>
        </p:txBody>
      </p:sp>
      <p:sp>
        <p:nvSpPr>
          <p:cNvPr id="24" name="TextBox 23"/>
          <p:cNvSpPr txBox="1"/>
          <p:nvPr/>
        </p:nvSpPr>
        <p:spPr>
          <a:xfrm>
            <a:off x="555498" y="5397398"/>
            <a:ext cx="2670505" cy="144779"/>
          </a:xfrm>
          <a:prstGeom prst="rect">
            <a:avLst/>
          </a:prstGeom>
          <a:noFill/>
          <a:ln>
            <a:noFill/>
          </a:ln>
        </p:spPr>
        <p:txBody>
          <a:bodyPr wrap="none" lIns="19050" rIns="19050" tIns="0" bIns="0" anchor="ctr">
            <a:noAutofit/>
          </a:bodyPr>
          <a:lstStyle/>
          <a:p>
            <a:pPr algn="l"/>
            <a:r>
              <a:rPr sz="1050" b="0">
                <a:solidFill>
                  <a:srgbClr val="BFD9D6"/>
                </a:solidFill>
                <a:latin typeface="PingFang SC"/>
              </a:rPr>
              <a:t>公众号: 指南导航</a:t>
            </a:r>
          </a:p>
        </p:txBody>
      </p:sp>
      <p:sp>
        <p:nvSpPr>
          <p:cNvPr id="25" name="TextBox 24"/>
          <p:cNvSpPr txBox="1"/>
          <p:nvPr/>
        </p:nvSpPr>
        <p:spPr>
          <a:xfrm>
            <a:off x="10287000" y="5339486"/>
            <a:ext cx="0" cy="202691"/>
          </a:xfrm>
          <a:prstGeom prst="rect">
            <a:avLst/>
          </a:prstGeom>
          <a:noFill/>
          <a:ln>
            <a:noFill/>
          </a:ln>
        </p:spPr>
        <p:txBody>
          <a:bodyPr wrap="none" lIns="19050" rIns="19050" tIns="0" bIns="0" anchor="ctr">
            <a:noAutofit/>
          </a:bodyPr>
          <a:lstStyle/>
          <a:p>
            <a:pPr algn="r"/>
            <a:r>
              <a:rPr sz="1200" b="0">
                <a:solidFill>
                  <a:srgbClr val="000000"/>
                </a:solidFill>
                <a:latin typeface="PingFang SC"/>
              </a:rPr>
              <a:t>14</a:t>
            </a:r>
          </a:p>
        </p:txBody>
      </p:sp>
      <p:pic>
        <p:nvPicPr>
          <p:cNvPr id="26" name="Picture 25" descr="tmp_9jk2muy.png"/>
          <p:cNvPicPr>
            <a:picLocks noChangeAspect="1"/>
          </p:cNvPicPr>
          <p:nvPr/>
        </p:nvPicPr>
        <p:blipFill>
          <a:blip r:embed="rId2"/>
          <a:stretch>
            <a:fillRect/>
          </a:stretch>
        </p:blipFill>
        <p:spPr>
          <a:xfrm>
            <a:off x="3419475" y="1724025"/>
            <a:ext cx="304800" cy="200025"/>
          </a:xfrm>
          <a:prstGeom prst="rect">
            <a:avLst/>
          </a:prstGeom>
        </p:spPr>
      </p:pic>
      <p:pic>
        <p:nvPicPr>
          <p:cNvPr id="27" name="Picture 26" descr="tmptpr9cada.png"/>
          <p:cNvPicPr>
            <a:picLocks noChangeAspect="1"/>
          </p:cNvPicPr>
          <p:nvPr/>
        </p:nvPicPr>
        <p:blipFill>
          <a:blip r:embed="rId3"/>
          <a:stretch>
            <a:fillRect/>
          </a:stretch>
        </p:blipFill>
        <p:spPr>
          <a:xfrm>
            <a:off x="3933825" y="1724025"/>
            <a:ext cx="304800" cy="200025"/>
          </a:xfrm>
          <a:prstGeom prst="rect">
            <a:avLst/>
          </a:prstGeom>
        </p:spPr>
      </p:pic>
      <p:pic>
        <p:nvPicPr>
          <p:cNvPr id="28" name="Picture 27" descr="tmp4xekog4v.png"/>
          <p:cNvPicPr>
            <a:picLocks noChangeAspect="1"/>
          </p:cNvPicPr>
          <p:nvPr/>
        </p:nvPicPr>
        <p:blipFill>
          <a:blip r:embed="rId4"/>
          <a:stretch>
            <a:fillRect/>
          </a:stretch>
        </p:blipFill>
        <p:spPr>
          <a:xfrm>
            <a:off x="7019925" y="1724025"/>
            <a:ext cx="304800" cy="200025"/>
          </a:xfrm>
          <a:prstGeom prst="rect">
            <a:avLst/>
          </a:prstGeom>
        </p:spPr>
      </p:pic>
      <p:pic>
        <p:nvPicPr>
          <p:cNvPr id="29" name="Picture 28" descr="tmpqghsnmlp.png"/>
          <p:cNvPicPr>
            <a:picLocks noChangeAspect="1"/>
          </p:cNvPicPr>
          <p:nvPr/>
        </p:nvPicPr>
        <p:blipFill>
          <a:blip r:embed="rId5"/>
          <a:stretch>
            <a:fillRect/>
          </a:stretch>
        </p:blipFill>
        <p:spPr>
          <a:xfrm>
            <a:off x="7534275" y="1724025"/>
            <a:ext cx="304800" cy="200025"/>
          </a:xfrm>
          <a:prstGeom prst="rect">
            <a:avLst/>
          </a:prstGeom>
        </p:spPr>
      </p:pic>
      <p:pic>
        <p:nvPicPr>
          <p:cNvPr id="30" name="Picture 29" descr="tmpfcsvrt80.png"/>
          <p:cNvPicPr>
            <a:picLocks noChangeAspect="1"/>
          </p:cNvPicPr>
          <p:nvPr/>
        </p:nvPicPr>
        <p:blipFill>
          <a:blip r:embed="rId6"/>
          <a:stretch>
            <a:fillRect/>
          </a:stretch>
        </p:blipFill>
        <p:spPr>
          <a:xfrm>
            <a:off x="7219950" y="2562225"/>
            <a:ext cx="314325" cy="200025"/>
          </a:xfrm>
          <a:prstGeom prst="rect">
            <a:avLst/>
          </a:prstGeom>
        </p:spPr>
      </p:pic>
      <p:pic>
        <p:nvPicPr>
          <p:cNvPr id="31" name="Picture 30" descr="tmpwitpt64s.png"/>
          <p:cNvPicPr>
            <a:picLocks noChangeAspect="1"/>
          </p:cNvPicPr>
          <p:nvPr/>
        </p:nvPicPr>
        <p:blipFill>
          <a:blip r:embed="rId7"/>
          <a:stretch>
            <a:fillRect/>
          </a:stretch>
        </p:blipFill>
        <p:spPr>
          <a:xfrm>
            <a:off x="638175" y="3600450"/>
            <a:ext cx="209550" cy="171450"/>
          </a:xfrm>
          <a:prstGeom prst="rect">
            <a:avLst/>
          </a:prstGeom>
        </p:spPr>
      </p:pic>
      <p:pic>
        <p:nvPicPr>
          <p:cNvPr id="32" name="Picture 31" descr="tmpplptm2np.png"/>
          <p:cNvPicPr>
            <a:picLocks noChangeAspect="1"/>
          </p:cNvPicPr>
          <p:nvPr/>
        </p:nvPicPr>
        <p:blipFill>
          <a:blip r:embed="rId8"/>
          <a:stretch>
            <a:fillRect/>
          </a:stretch>
        </p:blipFill>
        <p:spPr>
          <a:xfrm>
            <a:off x="895350" y="3600450"/>
            <a:ext cx="209550" cy="171450"/>
          </a:xfrm>
          <a:prstGeom prst="rect">
            <a:avLst/>
          </a:prstGeom>
        </p:spPr>
      </p:pic>
      <p:pic>
        <p:nvPicPr>
          <p:cNvPr id="33" name="Picture 32" descr="tmp6t9gj07m.png"/>
          <p:cNvPicPr>
            <a:picLocks noChangeAspect="1"/>
          </p:cNvPicPr>
          <p:nvPr/>
        </p:nvPicPr>
        <p:blipFill>
          <a:blip r:embed="rId9"/>
          <a:stretch>
            <a:fillRect/>
          </a:stretch>
        </p:blipFill>
        <p:spPr>
          <a:xfrm>
            <a:off x="638175" y="3829050"/>
            <a:ext cx="209550" cy="180975"/>
          </a:xfrm>
          <a:prstGeom prst="rect">
            <a:avLst/>
          </a:prstGeom>
        </p:spPr>
      </p:pic>
      <p:pic>
        <p:nvPicPr>
          <p:cNvPr id="34" name="Picture 33" descr="tmpwmfoktn0.png"/>
          <p:cNvPicPr>
            <a:picLocks noChangeAspect="1"/>
          </p:cNvPicPr>
          <p:nvPr/>
        </p:nvPicPr>
        <p:blipFill>
          <a:blip r:embed="rId10"/>
          <a:stretch>
            <a:fillRect/>
          </a:stretch>
        </p:blipFill>
        <p:spPr>
          <a:xfrm>
            <a:off x="3000375" y="3019425"/>
            <a:ext cx="257175" cy="180975"/>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vj2gt1pk.png"/>
          <p:cNvPicPr>
            <a:picLocks noChangeAspect="1"/>
          </p:cNvPicPr>
          <p:nvPr/>
        </p:nvPicPr>
        <p:blipFill>
          <a:blip r:embed="rId2"/>
          <a:stretch>
            <a:fillRect/>
          </a:stretch>
        </p:blipFill>
        <p:spPr>
          <a:xfrm>
            <a:off x="590550" y="4933950"/>
            <a:ext cx="2057400" cy="266700"/>
          </a:xfrm>
          <a:prstGeom prst="rect">
            <a:avLst/>
          </a:prstGeom>
        </p:spPr>
      </p:pic>
      <p:sp>
        <p:nvSpPr>
          <p:cNvPr id="4" name="Rounded Rectangle 3"/>
          <p:cNvSpPr/>
          <p:nvPr/>
        </p:nvSpPr>
        <p:spPr>
          <a:xfrm>
            <a:off x="586359" y="949756"/>
            <a:ext cx="9114281" cy="1609953"/>
          </a:xfrm>
          <a:prstGeom prst="roundRect">
            <a:avLst>
              <a:gd name="adj" fmla="val 6000"/>
            </a:avLst>
          </a:prstGeom>
          <a:solidFill>
            <a:srgbClr val="FEFEFE"/>
          </a:solidFill>
          <a:ln w="11430">
            <a:solidFill>
              <a:srgbClr val="EDF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86359" y="3231489"/>
            <a:ext cx="9114281" cy="1384096"/>
          </a:xfrm>
          <a:prstGeom prst="roundRect">
            <a:avLst>
              <a:gd name="adj" fmla="val 6000"/>
            </a:avLst>
          </a:prstGeom>
          <a:solidFill>
            <a:srgbClr val="FEFEFE"/>
          </a:solidFill>
          <a:ln w="11430">
            <a:solidFill>
              <a:srgbClr val="F3FE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6359" y="428548"/>
            <a:ext cx="6757035" cy="266395"/>
          </a:xfrm>
          <a:prstGeom prst="rect">
            <a:avLst/>
          </a:prstGeom>
          <a:noFill/>
          <a:ln>
            <a:noFill/>
          </a:ln>
        </p:spPr>
        <p:txBody>
          <a:bodyPr wrap="none" lIns="19050" rIns="19050" tIns="0" bIns="0" anchor="ctr">
            <a:noAutofit/>
          </a:bodyPr>
          <a:lstStyle/>
          <a:p>
            <a:pPr algn="l"/>
            <a:r>
              <a:rPr sz="2400" b="1">
                <a:solidFill>
                  <a:srgbClr val="5283AB"/>
                </a:solidFill>
                <a:latin typeface="PingFang SC"/>
              </a:rPr>
              <a:t>院前抗生素的启动时机</a:t>
            </a:r>
          </a:p>
        </p:txBody>
      </p:sp>
      <p:sp>
        <p:nvSpPr>
          <p:cNvPr id="7" name="TextBox 6"/>
          <p:cNvSpPr txBox="1"/>
          <p:nvPr/>
        </p:nvSpPr>
        <p:spPr>
          <a:xfrm>
            <a:off x="946404" y="1262481"/>
            <a:ext cx="7746111" cy="428548"/>
          </a:xfrm>
          <a:prstGeom prst="rect">
            <a:avLst/>
          </a:prstGeom>
          <a:noFill/>
          <a:ln>
            <a:noFill/>
          </a:ln>
        </p:spPr>
        <p:txBody>
          <a:bodyPr wrap="square" lIns="19050" rIns="19050" tIns="0" bIns="0" anchor="t">
            <a:normAutofit/>
          </a:bodyPr>
          <a:lstStyle/>
          <a:p>
            <a:pPr algn="l"/>
            <a:r>
              <a:rPr sz="1430" b="0">
                <a:solidFill>
                  <a:srgbClr val="858C8B"/>
                </a:solidFill>
                <a:latin typeface="PingFang SC"/>
              </a:rPr>
              <a:t>21. 对于确诊或疑似脓毒症且伴有低血压（即感染性休克）、预计入院接受医疗评估时间超过60分钟的成人患者，我们</a:t>
            </a:r>
          </a:p>
          <a:p>
            <a:pPr algn="l"/>
            <a:r>
              <a:rPr sz="1430" b="0">
                <a:solidFill>
                  <a:srgbClr val="858C8B"/>
                </a:solidFill>
                <a:latin typeface="PingFang SC"/>
              </a:rPr>
              <a:t>“建议” 在救护车上或转运途中给予抗菌治疗。</a:t>
            </a:r>
          </a:p>
        </p:txBody>
      </p:sp>
      <p:sp>
        <p:nvSpPr>
          <p:cNvPr id="8" name="TextBox 7"/>
          <p:cNvSpPr txBox="1"/>
          <p:nvPr/>
        </p:nvSpPr>
        <p:spPr>
          <a:xfrm>
            <a:off x="9031986" y="1262481"/>
            <a:ext cx="769467" cy="138988"/>
          </a:xfrm>
          <a:prstGeom prst="rect">
            <a:avLst/>
          </a:prstGeom>
          <a:noFill/>
          <a:ln>
            <a:noFill/>
          </a:ln>
        </p:spPr>
        <p:txBody>
          <a:bodyPr wrap="none" lIns="19050" rIns="19050" tIns="0" bIns="0" anchor="ctr">
            <a:noAutofit/>
          </a:bodyPr>
          <a:lstStyle/>
          <a:p>
            <a:pPr algn="r"/>
            <a:r>
              <a:rPr sz="1350" b="1">
                <a:solidFill>
                  <a:srgbClr val="89AFC8"/>
                </a:solidFill>
                <a:latin typeface="PingFang SC"/>
              </a:rPr>
              <a:t>新增</a:t>
            </a:r>
          </a:p>
        </p:txBody>
      </p:sp>
      <p:sp>
        <p:nvSpPr>
          <p:cNvPr id="9" name="TextBox 8"/>
          <p:cNvSpPr txBox="1"/>
          <p:nvPr/>
        </p:nvSpPr>
        <p:spPr>
          <a:xfrm>
            <a:off x="1152144" y="1841601"/>
            <a:ext cx="1368171" cy="214274"/>
          </a:xfrm>
          <a:prstGeom prst="rect">
            <a:avLst/>
          </a:prstGeom>
          <a:noFill/>
          <a:ln>
            <a:noFill/>
          </a:ln>
        </p:spPr>
        <p:txBody>
          <a:bodyPr wrap="square" lIns="19050" rIns="19050" tIns="0" bIns="0" anchor="t">
            <a:normAutofit/>
          </a:bodyPr>
          <a:lstStyle/>
          <a:p>
            <a:pPr algn="l"/>
            <a:r>
              <a:rPr sz="1639" b="0">
                <a:solidFill>
                  <a:srgbClr val="909493"/>
                </a:solidFill>
                <a:latin typeface="PingFang SC"/>
              </a:rPr>
              <a:t>✓ ⊕ ○ ○ ○</a:t>
            </a:r>
          </a:p>
        </p:txBody>
      </p:sp>
      <p:sp>
        <p:nvSpPr>
          <p:cNvPr id="10" name="TextBox 9"/>
          <p:cNvSpPr txBox="1"/>
          <p:nvPr/>
        </p:nvSpPr>
        <p:spPr>
          <a:xfrm>
            <a:off x="905255" y="2171700"/>
            <a:ext cx="7581519" cy="156362"/>
          </a:xfrm>
          <a:prstGeom prst="rect">
            <a:avLst/>
          </a:prstGeom>
          <a:noFill/>
          <a:ln>
            <a:noFill/>
          </a:ln>
        </p:spPr>
        <p:txBody>
          <a:bodyPr wrap="square" lIns="19050" rIns="19050" tIns="0" bIns="0" anchor="t">
            <a:normAutofit/>
          </a:bodyPr>
          <a:lstStyle/>
          <a:p>
            <a:pPr algn="l"/>
            <a:r>
              <a:rPr sz="990" b="0">
                <a:solidFill>
                  <a:srgbClr val="ADC3A2"/>
                </a:solidFill>
                <a:latin typeface="PingFang SC"/>
              </a:rPr>
              <a:t>备注：如建议中所述，只有在建立一套完善的流程，用于在救护车或救护飞机上筛查脓毒症之后，才应实施院前抗生素给药。</a:t>
            </a:r>
          </a:p>
        </p:txBody>
      </p:sp>
      <p:sp>
        <p:nvSpPr>
          <p:cNvPr id="11" name="TextBox 10"/>
          <p:cNvSpPr txBox="1"/>
          <p:nvPr/>
        </p:nvSpPr>
        <p:spPr>
          <a:xfrm>
            <a:off x="586359" y="2762402"/>
            <a:ext cx="7374255" cy="260604"/>
          </a:xfrm>
          <a:prstGeom prst="rect">
            <a:avLst/>
          </a:prstGeom>
          <a:noFill/>
          <a:ln>
            <a:noFill/>
          </a:ln>
        </p:spPr>
        <p:txBody>
          <a:bodyPr wrap="none" lIns="19050" rIns="19050" tIns="0" bIns="0" anchor="ctr">
            <a:noAutofit/>
          </a:bodyPr>
          <a:lstStyle/>
          <a:p>
            <a:pPr algn="l"/>
            <a:r>
              <a:rPr sz="2400" b="1">
                <a:solidFill>
                  <a:srgbClr val="5B8CAE"/>
                </a:solidFill>
                <a:latin typeface="PingFang SC"/>
              </a:rPr>
              <a:t>生物标志物指导抗菌治疗启动</a:t>
            </a:r>
          </a:p>
        </p:txBody>
      </p:sp>
      <p:sp>
        <p:nvSpPr>
          <p:cNvPr id="12" name="TextBox 11"/>
          <p:cNvSpPr txBox="1"/>
          <p:nvPr/>
        </p:nvSpPr>
        <p:spPr>
          <a:xfrm>
            <a:off x="946404" y="3544214"/>
            <a:ext cx="7879842" cy="428548"/>
          </a:xfrm>
          <a:prstGeom prst="rect">
            <a:avLst/>
          </a:prstGeom>
          <a:noFill/>
          <a:ln>
            <a:noFill/>
          </a:ln>
        </p:spPr>
        <p:txBody>
          <a:bodyPr wrap="square" lIns="19050" rIns="19050" tIns="0" bIns="0" anchor="t">
            <a:normAutofit/>
          </a:bodyPr>
          <a:lstStyle/>
          <a:p>
            <a:pPr algn="l"/>
            <a:r>
              <a:rPr sz="1500" b="0">
                <a:solidFill>
                  <a:srgbClr val="819EA1"/>
                </a:solidFill>
                <a:latin typeface="PingFang SC"/>
              </a:rPr>
              <a:t>22. 对于可能患有或疑似患有脓毒症或感染性休克的成年人，我们 “建议” 仅采用临床评估而非降钙素原检测结合临床评估来决定是否启动抗菌治疗。</a:t>
            </a:r>
          </a:p>
        </p:txBody>
      </p:sp>
      <p:sp>
        <p:nvSpPr>
          <p:cNvPr id="13" name="TextBox 12"/>
          <p:cNvSpPr txBox="1"/>
          <p:nvPr/>
        </p:nvSpPr>
        <p:spPr>
          <a:xfrm>
            <a:off x="9134856" y="3544214"/>
            <a:ext cx="769467" cy="138988"/>
          </a:xfrm>
          <a:prstGeom prst="rect">
            <a:avLst/>
          </a:prstGeom>
          <a:noFill/>
          <a:ln>
            <a:noFill/>
          </a:ln>
        </p:spPr>
        <p:txBody>
          <a:bodyPr wrap="none" lIns="19050" rIns="19050" tIns="0" bIns="0" anchor="ctr">
            <a:noAutofit/>
          </a:bodyPr>
          <a:lstStyle/>
          <a:p>
            <a:pPr algn="r"/>
            <a:r>
              <a:rPr sz="1350" b="1">
                <a:solidFill>
                  <a:srgbClr val="8AAE7B"/>
                </a:solidFill>
                <a:latin typeface="PingFang SC"/>
              </a:rPr>
              <a:t>沿用</a:t>
            </a:r>
          </a:p>
        </p:txBody>
      </p:sp>
      <p:sp>
        <p:nvSpPr>
          <p:cNvPr id="14" name="TextBox 13"/>
          <p:cNvSpPr txBox="1"/>
          <p:nvPr/>
        </p:nvSpPr>
        <p:spPr>
          <a:xfrm>
            <a:off x="1152144" y="4123334"/>
            <a:ext cx="1368171" cy="214274"/>
          </a:xfrm>
          <a:prstGeom prst="rect">
            <a:avLst/>
          </a:prstGeom>
          <a:noFill/>
          <a:ln>
            <a:noFill/>
          </a:ln>
        </p:spPr>
        <p:txBody>
          <a:bodyPr wrap="square" lIns="19050" rIns="19050" tIns="0" bIns="0" anchor="t">
            <a:normAutofit/>
          </a:bodyPr>
          <a:lstStyle/>
          <a:p>
            <a:pPr algn="l"/>
            <a:r>
              <a:rPr sz="1639" b="0">
                <a:solidFill>
                  <a:srgbClr val="8E9294"/>
                </a:solidFill>
                <a:latin typeface="PingFang SC"/>
              </a:rPr>
              <a:t>✓ ⊕ ○ ○ ○</a:t>
            </a:r>
          </a:p>
        </p:txBody>
      </p:sp>
      <p:sp>
        <p:nvSpPr>
          <p:cNvPr id="15" name="TextBox 14"/>
          <p:cNvSpPr txBox="1"/>
          <p:nvPr/>
        </p:nvSpPr>
        <p:spPr>
          <a:xfrm>
            <a:off x="586359" y="5455310"/>
            <a:ext cx="2376297" cy="127406"/>
          </a:xfrm>
          <a:prstGeom prst="rect">
            <a:avLst/>
          </a:prstGeom>
          <a:noFill/>
          <a:ln>
            <a:noFill/>
          </a:ln>
        </p:spPr>
        <p:txBody>
          <a:bodyPr wrap="none" lIns="19050" rIns="19050" tIns="0" bIns="0" anchor="ctr">
            <a:noAutofit/>
          </a:bodyPr>
          <a:lstStyle/>
          <a:p>
            <a:pPr algn="l"/>
            <a:r>
              <a:rPr sz="1200" b="0">
                <a:solidFill>
                  <a:srgbClr val="BDD8D9"/>
                </a:solidFill>
                <a:latin typeface="PingFang SC"/>
              </a:rPr>
              <a:t>公众号:指南导航</a:t>
            </a:r>
          </a:p>
        </p:txBody>
      </p:sp>
      <p:sp>
        <p:nvSpPr>
          <p:cNvPr id="16" name="TextBox 15"/>
          <p:cNvSpPr txBox="1"/>
          <p:nvPr/>
        </p:nvSpPr>
        <p:spPr>
          <a:xfrm>
            <a:off x="10287000" y="5339486"/>
            <a:ext cx="0" cy="243230"/>
          </a:xfrm>
          <a:prstGeom prst="rect">
            <a:avLst/>
          </a:prstGeom>
          <a:noFill/>
          <a:ln>
            <a:noFill/>
          </a:ln>
        </p:spPr>
        <p:txBody>
          <a:bodyPr wrap="none" lIns="19050" rIns="19050" tIns="0" bIns="0" anchor="ctr">
            <a:noAutofit/>
          </a:bodyPr>
          <a:lstStyle/>
          <a:p>
            <a:pPr algn="r"/>
            <a:r>
              <a:rPr sz="1500" b="0">
                <a:solidFill>
                  <a:srgbClr val="000000"/>
                </a:solidFill>
                <a:latin typeface="PingFang SC"/>
              </a:rPr>
              <a:t>15</a:t>
            </a:r>
          </a:p>
        </p:txBody>
      </p:sp>
      <p:sp>
        <p:nvSpPr>
          <p:cNvPr id="17" name="TextBox 16"/>
          <p:cNvSpPr txBox="1"/>
          <p:nvPr/>
        </p:nvSpPr>
        <p:spPr>
          <a:xfrm>
            <a:off x="8311896" y="162153"/>
            <a:ext cx="3937863" cy="440131"/>
          </a:xfrm>
          <a:prstGeom prst="rect">
            <a:avLst/>
          </a:prstGeom>
          <a:noFill/>
          <a:ln>
            <a:noFill/>
          </a:ln>
        </p:spPr>
        <p:txBody>
          <a:bodyPr wrap="none" lIns="19050" rIns="19050" tIns="0" bIns="0" anchor="ctr">
            <a:noAutofit/>
          </a:bodyPr>
          <a:lstStyle/>
          <a:p>
            <a:pPr algn="r"/>
            <a:r>
              <a:rPr sz="1800" b="0">
                <a:solidFill>
                  <a:srgbClr val="AFC4A9"/>
                </a:solidFill>
                <a:latin typeface="PingFang SC"/>
              </a:rPr>
              <a:t>Surviving Sepsis Campaign</a:t>
            </a:r>
          </a:p>
        </p:txBody>
      </p:sp>
      <p:pic>
        <p:nvPicPr>
          <p:cNvPr id="18" name="Picture 17" descr="tmpn_lleuru.png"/>
          <p:cNvPicPr>
            <a:picLocks noChangeAspect="1"/>
          </p:cNvPicPr>
          <p:nvPr/>
        </p:nvPicPr>
        <p:blipFill>
          <a:blip r:embed="rId3"/>
          <a:stretch>
            <a:fillRect/>
          </a:stretch>
        </p:blipFill>
        <p:spPr>
          <a:xfrm>
            <a:off x="2743200" y="4933950"/>
            <a:ext cx="257175" cy="228600"/>
          </a:xfrm>
          <a:prstGeom prst="rect">
            <a:avLst/>
          </a:prstGeom>
        </p:spPr>
      </p:pic>
      <p:pic>
        <p:nvPicPr>
          <p:cNvPr id="19" name="Picture 18" descr="tmpm6dyd99c.png"/>
          <p:cNvPicPr>
            <a:picLocks noChangeAspect="1"/>
          </p:cNvPicPr>
          <p:nvPr/>
        </p:nvPicPr>
        <p:blipFill>
          <a:blip r:embed="rId4"/>
          <a:stretch>
            <a:fillRect/>
          </a:stretch>
        </p:blipFill>
        <p:spPr>
          <a:xfrm>
            <a:off x="3057525" y="4933950"/>
            <a:ext cx="257175" cy="228600"/>
          </a:xfrm>
          <a:prstGeom prst="rect">
            <a:avLst/>
          </a:prstGeom>
        </p:spPr>
      </p:pic>
      <p:pic>
        <p:nvPicPr>
          <p:cNvPr id="20" name="Picture 19" descr="tmpm6dyd99c.png"/>
          <p:cNvPicPr>
            <a:picLocks noChangeAspect="1"/>
          </p:cNvPicPr>
          <p:nvPr/>
        </p:nvPicPr>
        <p:blipFill>
          <a:blip r:embed="rId4"/>
          <a:stretch>
            <a:fillRect/>
          </a:stretch>
        </p:blipFill>
        <p:spPr>
          <a:xfrm>
            <a:off x="3362325" y="4933950"/>
            <a:ext cx="257175" cy="228600"/>
          </a:xfrm>
          <a:prstGeom prst="rect">
            <a:avLst/>
          </a:prstGeom>
        </p:spPr>
      </p:pic>
      <p:pic>
        <p:nvPicPr>
          <p:cNvPr id="21" name="Picture 20" descr="tmpm6dyd99c.png"/>
          <p:cNvPicPr>
            <a:picLocks noChangeAspect="1"/>
          </p:cNvPicPr>
          <p:nvPr/>
        </p:nvPicPr>
        <p:blipFill>
          <a:blip r:embed="rId4"/>
          <a:stretch>
            <a:fillRect/>
          </a:stretch>
        </p:blipFill>
        <p:spPr>
          <a:xfrm>
            <a:off x="3676650" y="4933950"/>
            <a:ext cx="257175" cy="228600"/>
          </a:xfrm>
          <a:prstGeom prst="rect">
            <a:avLst/>
          </a:prstGeom>
        </p:spPr>
      </p:pic>
      <p:pic>
        <p:nvPicPr>
          <p:cNvPr id="22" name="Picture 21" descr="tmpm6dyd99c.png"/>
          <p:cNvPicPr>
            <a:picLocks noChangeAspect="1"/>
          </p:cNvPicPr>
          <p:nvPr/>
        </p:nvPicPr>
        <p:blipFill>
          <a:blip r:embed="rId4"/>
          <a:stretch>
            <a:fillRect/>
          </a:stretch>
        </p:blipFill>
        <p:spPr>
          <a:xfrm>
            <a:off x="3981450" y="4933950"/>
            <a:ext cx="257175" cy="228600"/>
          </a:xfrm>
          <a:prstGeom prst="rect">
            <a:avLst/>
          </a:prstGeom>
        </p:spPr>
      </p:pic>
      <p:pic>
        <p:nvPicPr>
          <p:cNvPr id="23" name="Picture 22" descr="tmpm6dyd99c.png"/>
          <p:cNvPicPr>
            <a:picLocks noChangeAspect="1"/>
          </p:cNvPicPr>
          <p:nvPr/>
        </p:nvPicPr>
        <p:blipFill>
          <a:blip r:embed="rId4"/>
          <a:stretch>
            <a:fillRect/>
          </a:stretch>
        </p:blipFill>
        <p:spPr>
          <a:xfrm>
            <a:off x="4286250" y="4933950"/>
            <a:ext cx="257175" cy="228600"/>
          </a:xfrm>
          <a:prstGeom prst="rect">
            <a:avLst/>
          </a:prstGeom>
        </p:spPr>
      </p:pic>
      <p:pic>
        <p:nvPicPr>
          <p:cNvPr id="24" name="Picture 23" descr="tmpm6dyd99c.png"/>
          <p:cNvPicPr>
            <a:picLocks noChangeAspect="1"/>
          </p:cNvPicPr>
          <p:nvPr/>
        </p:nvPicPr>
        <p:blipFill>
          <a:blip r:embed="rId4"/>
          <a:stretch>
            <a:fillRect/>
          </a:stretch>
        </p:blipFill>
        <p:spPr>
          <a:xfrm>
            <a:off x="4600575" y="4933950"/>
            <a:ext cx="257175" cy="228600"/>
          </a:xfrm>
          <a:prstGeom prst="rect">
            <a:avLst/>
          </a:prstGeom>
        </p:spPr>
      </p:pic>
      <p:pic>
        <p:nvPicPr>
          <p:cNvPr id="25" name="Picture 24" descr="tmpm6dyd99c.png"/>
          <p:cNvPicPr>
            <a:picLocks noChangeAspect="1"/>
          </p:cNvPicPr>
          <p:nvPr/>
        </p:nvPicPr>
        <p:blipFill>
          <a:blip r:embed="rId4"/>
          <a:stretch>
            <a:fillRect/>
          </a:stretch>
        </p:blipFill>
        <p:spPr>
          <a:xfrm>
            <a:off x="4905375" y="4933950"/>
            <a:ext cx="257175" cy="228600"/>
          </a:xfrm>
          <a:prstGeom prst="rect">
            <a:avLst/>
          </a:prstGeom>
        </p:spPr>
      </p:pic>
      <p:pic>
        <p:nvPicPr>
          <p:cNvPr id="26" name="Picture 25" descr="tmpm6dyd99c.png"/>
          <p:cNvPicPr>
            <a:picLocks noChangeAspect="1"/>
          </p:cNvPicPr>
          <p:nvPr/>
        </p:nvPicPr>
        <p:blipFill>
          <a:blip r:embed="rId4"/>
          <a:stretch>
            <a:fillRect/>
          </a:stretch>
        </p:blipFill>
        <p:spPr>
          <a:xfrm>
            <a:off x="5219700" y="4933950"/>
            <a:ext cx="257175" cy="228600"/>
          </a:xfrm>
          <a:prstGeom prst="rect">
            <a:avLst/>
          </a:prstGeom>
        </p:spPr>
      </p:pic>
      <p:pic>
        <p:nvPicPr>
          <p:cNvPr id="27" name="Picture 26" descr="tmpm6dyd99c.png"/>
          <p:cNvPicPr>
            <a:picLocks noChangeAspect="1"/>
          </p:cNvPicPr>
          <p:nvPr/>
        </p:nvPicPr>
        <p:blipFill>
          <a:blip r:embed="rId4"/>
          <a:stretch>
            <a:fillRect/>
          </a:stretch>
        </p:blipFill>
        <p:spPr>
          <a:xfrm>
            <a:off x="5524500" y="4933950"/>
            <a:ext cx="257175" cy="228600"/>
          </a:xfrm>
          <a:prstGeom prst="rect">
            <a:avLst/>
          </a:prstGeom>
        </p:spPr>
      </p:pic>
      <p:pic>
        <p:nvPicPr>
          <p:cNvPr id="28" name="Picture 27" descr="tmpm6dyd99c.png"/>
          <p:cNvPicPr>
            <a:picLocks noChangeAspect="1"/>
          </p:cNvPicPr>
          <p:nvPr/>
        </p:nvPicPr>
        <p:blipFill>
          <a:blip r:embed="rId4"/>
          <a:stretch>
            <a:fillRect/>
          </a:stretch>
        </p:blipFill>
        <p:spPr>
          <a:xfrm>
            <a:off x="5829300" y="4933950"/>
            <a:ext cx="257175" cy="228600"/>
          </a:xfrm>
          <a:prstGeom prst="rect">
            <a:avLst/>
          </a:prstGeom>
        </p:spPr>
      </p:pic>
      <p:pic>
        <p:nvPicPr>
          <p:cNvPr id="29" name="Picture 28" descr="tmpm6dyd99c.png"/>
          <p:cNvPicPr>
            <a:picLocks noChangeAspect="1"/>
          </p:cNvPicPr>
          <p:nvPr/>
        </p:nvPicPr>
        <p:blipFill>
          <a:blip r:embed="rId4"/>
          <a:stretch>
            <a:fillRect/>
          </a:stretch>
        </p:blipFill>
        <p:spPr>
          <a:xfrm>
            <a:off x="6143625" y="4933950"/>
            <a:ext cx="257175" cy="228600"/>
          </a:xfrm>
          <a:prstGeom prst="rect">
            <a:avLst/>
          </a:prstGeom>
        </p:spPr>
      </p:pic>
      <p:pic>
        <p:nvPicPr>
          <p:cNvPr id="30" name="Picture 29" descr="tmpm6dyd99c.png"/>
          <p:cNvPicPr>
            <a:picLocks noChangeAspect="1"/>
          </p:cNvPicPr>
          <p:nvPr/>
        </p:nvPicPr>
        <p:blipFill>
          <a:blip r:embed="rId4"/>
          <a:stretch>
            <a:fillRect/>
          </a:stretch>
        </p:blipFill>
        <p:spPr>
          <a:xfrm>
            <a:off x="6448425" y="4933950"/>
            <a:ext cx="257175" cy="228600"/>
          </a:xfrm>
          <a:prstGeom prst="rect">
            <a:avLst/>
          </a:prstGeom>
        </p:spPr>
      </p:pic>
      <p:pic>
        <p:nvPicPr>
          <p:cNvPr id="31" name="Picture 30" descr="tmpm6dyd99c.png"/>
          <p:cNvPicPr>
            <a:picLocks noChangeAspect="1"/>
          </p:cNvPicPr>
          <p:nvPr/>
        </p:nvPicPr>
        <p:blipFill>
          <a:blip r:embed="rId4"/>
          <a:stretch>
            <a:fillRect/>
          </a:stretch>
        </p:blipFill>
        <p:spPr>
          <a:xfrm>
            <a:off x="6762750" y="4933950"/>
            <a:ext cx="257175" cy="228600"/>
          </a:xfrm>
          <a:prstGeom prst="rect">
            <a:avLst/>
          </a:prstGeom>
        </p:spPr>
      </p:pic>
      <p:pic>
        <p:nvPicPr>
          <p:cNvPr id="32" name="Picture 31" descr="tmpm6dyd99c.png"/>
          <p:cNvPicPr>
            <a:picLocks noChangeAspect="1"/>
          </p:cNvPicPr>
          <p:nvPr/>
        </p:nvPicPr>
        <p:blipFill>
          <a:blip r:embed="rId4"/>
          <a:stretch>
            <a:fillRect/>
          </a:stretch>
        </p:blipFill>
        <p:spPr>
          <a:xfrm>
            <a:off x="7067550" y="4933950"/>
            <a:ext cx="257175" cy="228600"/>
          </a:xfrm>
          <a:prstGeom prst="rect">
            <a:avLst/>
          </a:prstGeom>
        </p:spPr>
      </p:pic>
      <p:pic>
        <p:nvPicPr>
          <p:cNvPr id="33" name="Picture 32" descr="tmpm6dyd99c.png"/>
          <p:cNvPicPr>
            <a:picLocks noChangeAspect="1"/>
          </p:cNvPicPr>
          <p:nvPr/>
        </p:nvPicPr>
        <p:blipFill>
          <a:blip r:embed="rId4"/>
          <a:stretch>
            <a:fillRect/>
          </a:stretch>
        </p:blipFill>
        <p:spPr>
          <a:xfrm>
            <a:off x="7372350" y="4933950"/>
            <a:ext cx="257175" cy="228600"/>
          </a:xfrm>
          <a:prstGeom prst="rect">
            <a:avLst/>
          </a:prstGeom>
        </p:spPr>
      </p:pic>
      <p:pic>
        <p:nvPicPr>
          <p:cNvPr id="34" name="Picture 33" descr="tmpm6dyd99c.png"/>
          <p:cNvPicPr>
            <a:picLocks noChangeAspect="1"/>
          </p:cNvPicPr>
          <p:nvPr/>
        </p:nvPicPr>
        <p:blipFill>
          <a:blip r:embed="rId4"/>
          <a:stretch>
            <a:fillRect/>
          </a:stretch>
        </p:blipFill>
        <p:spPr>
          <a:xfrm>
            <a:off x="7686675" y="4933950"/>
            <a:ext cx="257175" cy="228600"/>
          </a:xfrm>
          <a:prstGeom prst="rect">
            <a:avLst/>
          </a:prstGeom>
        </p:spPr>
      </p:pic>
      <p:pic>
        <p:nvPicPr>
          <p:cNvPr id="35" name="Picture 34" descr="tmpm6dyd99c.png"/>
          <p:cNvPicPr>
            <a:picLocks noChangeAspect="1"/>
          </p:cNvPicPr>
          <p:nvPr/>
        </p:nvPicPr>
        <p:blipFill>
          <a:blip r:embed="rId4"/>
          <a:stretch>
            <a:fillRect/>
          </a:stretch>
        </p:blipFill>
        <p:spPr>
          <a:xfrm>
            <a:off x="7991475" y="4933950"/>
            <a:ext cx="257175" cy="228600"/>
          </a:xfrm>
          <a:prstGeom prst="rect">
            <a:avLst/>
          </a:prstGeom>
        </p:spPr>
      </p:pic>
      <p:pic>
        <p:nvPicPr>
          <p:cNvPr id="36" name="Picture 35" descr="tmpm6dyd99c.png"/>
          <p:cNvPicPr>
            <a:picLocks noChangeAspect="1"/>
          </p:cNvPicPr>
          <p:nvPr/>
        </p:nvPicPr>
        <p:blipFill>
          <a:blip r:embed="rId4"/>
          <a:stretch>
            <a:fillRect/>
          </a:stretch>
        </p:blipFill>
        <p:spPr>
          <a:xfrm>
            <a:off x="8305800" y="4933950"/>
            <a:ext cx="257175" cy="228600"/>
          </a:xfrm>
          <a:prstGeom prst="rect">
            <a:avLst/>
          </a:prstGeom>
        </p:spPr>
      </p:pic>
      <p:pic>
        <p:nvPicPr>
          <p:cNvPr id="37" name="Picture 36" descr="tmpm6dyd99c.png"/>
          <p:cNvPicPr>
            <a:picLocks noChangeAspect="1"/>
          </p:cNvPicPr>
          <p:nvPr/>
        </p:nvPicPr>
        <p:blipFill>
          <a:blip r:embed="rId4"/>
          <a:stretch>
            <a:fillRect/>
          </a:stretch>
        </p:blipFill>
        <p:spPr>
          <a:xfrm>
            <a:off x="8610600" y="4933950"/>
            <a:ext cx="257175" cy="228600"/>
          </a:xfrm>
          <a:prstGeom prst="rect">
            <a:avLst/>
          </a:prstGeom>
        </p:spPr>
      </p:pic>
      <p:pic>
        <p:nvPicPr>
          <p:cNvPr id="38" name="Picture 37" descr="tmpm6dyd99c.png"/>
          <p:cNvPicPr>
            <a:picLocks noChangeAspect="1"/>
          </p:cNvPicPr>
          <p:nvPr/>
        </p:nvPicPr>
        <p:blipFill>
          <a:blip r:embed="rId4"/>
          <a:stretch>
            <a:fillRect/>
          </a:stretch>
        </p:blipFill>
        <p:spPr>
          <a:xfrm>
            <a:off x="8915400" y="4933950"/>
            <a:ext cx="257175" cy="228600"/>
          </a:xfrm>
          <a:prstGeom prst="rect">
            <a:avLst/>
          </a:prstGeom>
        </p:spPr>
      </p:pic>
      <p:pic>
        <p:nvPicPr>
          <p:cNvPr id="39" name="Picture 38" descr="tmpm6dyd99c.png"/>
          <p:cNvPicPr>
            <a:picLocks noChangeAspect="1"/>
          </p:cNvPicPr>
          <p:nvPr/>
        </p:nvPicPr>
        <p:blipFill>
          <a:blip r:embed="rId4"/>
          <a:stretch>
            <a:fillRect/>
          </a:stretch>
        </p:blipFill>
        <p:spPr>
          <a:xfrm>
            <a:off x="9229725" y="4933950"/>
            <a:ext cx="257175" cy="228600"/>
          </a:xfrm>
          <a:prstGeom prst="rect">
            <a:avLst/>
          </a:prstGeom>
        </p:spPr>
      </p:pic>
      <p:pic>
        <p:nvPicPr>
          <p:cNvPr id="40" name="Picture 39" descr="tmpm6dyd99c.png"/>
          <p:cNvPicPr>
            <a:picLocks noChangeAspect="1"/>
          </p:cNvPicPr>
          <p:nvPr/>
        </p:nvPicPr>
        <p:blipFill>
          <a:blip r:embed="rId4"/>
          <a:stretch>
            <a:fillRect/>
          </a:stretch>
        </p:blipFill>
        <p:spPr>
          <a:xfrm>
            <a:off x="9534525" y="4933950"/>
            <a:ext cx="257175" cy="228600"/>
          </a:xfrm>
          <a:prstGeom prst="rect">
            <a:avLst/>
          </a:prstGeom>
        </p:spPr>
      </p:pic>
      <p:pic>
        <p:nvPicPr>
          <p:cNvPr id="41" name="Picture 40" descr="tmpm6dyd99c.png"/>
          <p:cNvPicPr>
            <a:picLocks noChangeAspect="1"/>
          </p:cNvPicPr>
          <p:nvPr/>
        </p:nvPicPr>
        <p:blipFill>
          <a:blip r:embed="rId4"/>
          <a:stretch>
            <a:fillRect/>
          </a:stretch>
        </p:blipFill>
        <p:spPr>
          <a:xfrm>
            <a:off x="9848850" y="4933950"/>
            <a:ext cx="257175" cy="228600"/>
          </a:xfrm>
          <a:prstGeom prst="rect">
            <a:avLst/>
          </a:prstGeom>
        </p:spPr>
      </p:pic>
      <p:pic>
        <p:nvPicPr>
          <p:cNvPr id="42" name="Picture 41" descr="tmpuz379lj0.png"/>
          <p:cNvPicPr>
            <a:picLocks noChangeAspect="1"/>
          </p:cNvPicPr>
          <p:nvPr/>
        </p:nvPicPr>
        <p:blipFill>
          <a:blip r:embed="rId5"/>
          <a:stretch>
            <a:fillRect/>
          </a:stretch>
        </p:blipFill>
        <p:spPr>
          <a:xfrm>
            <a:off x="10153650" y="4933950"/>
            <a:ext cx="133350" cy="2286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34924" y="967130"/>
            <a:ext cx="9217152" cy="1505711"/>
          </a:xfrm>
          <a:prstGeom prst="roundRect">
            <a:avLst>
              <a:gd name="adj" fmla="val 6000"/>
            </a:avLst>
          </a:prstGeom>
          <a:solidFill>
            <a:srgbClr val="FDFEFE"/>
          </a:solidFill>
          <a:ln w="11430">
            <a:solidFill>
              <a:srgbClr val="1B55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4924" y="2565501"/>
            <a:ext cx="9217152" cy="891844"/>
          </a:xfrm>
          <a:prstGeom prst="rect">
            <a:avLst/>
          </a:prstGeom>
          <a:solidFill>
            <a:srgbClr val="ED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34924" y="3550005"/>
            <a:ext cx="9217152" cy="1673656"/>
          </a:xfrm>
          <a:prstGeom prst="rect">
            <a:avLst/>
          </a:prstGeom>
          <a:solidFill>
            <a:srgbClr val="F1FEFE"/>
          </a:solidFill>
          <a:ln w="11430">
            <a:solidFill>
              <a:srgbClr val="FAFE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6646" y="388010"/>
            <a:ext cx="3439972" cy="318516"/>
          </a:xfrm>
          <a:prstGeom prst="rect">
            <a:avLst/>
          </a:prstGeom>
          <a:noFill/>
          <a:ln>
            <a:noFill/>
          </a:ln>
        </p:spPr>
        <p:txBody>
          <a:bodyPr wrap="none" lIns="19050" rIns="19050" tIns="0" bIns="0" anchor="ctr">
            <a:noAutofit/>
          </a:bodyPr>
          <a:lstStyle/>
          <a:p>
            <a:pPr algn="l"/>
            <a:r>
              <a:rPr sz="3150" b="1">
                <a:solidFill>
                  <a:srgbClr val="43548E"/>
                </a:solidFill>
                <a:latin typeface="PingFang SC"/>
              </a:rPr>
              <a:t>感染源控制</a:t>
            </a:r>
          </a:p>
        </p:txBody>
      </p:sp>
      <p:sp>
        <p:nvSpPr>
          <p:cNvPr id="7" name="TextBox 6"/>
          <p:cNvSpPr txBox="1"/>
          <p:nvPr/>
        </p:nvSpPr>
        <p:spPr>
          <a:xfrm>
            <a:off x="8311896" y="185318"/>
            <a:ext cx="1748789" cy="405384"/>
          </a:xfrm>
          <a:prstGeom prst="rect">
            <a:avLst/>
          </a:prstGeom>
          <a:noFill/>
          <a:ln>
            <a:noFill/>
          </a:ln>
        </p:spPr>
        <p:txBody>
          <a:bodyPr wrap="square" lIns="19050" rIns="19050" tIns="0" bIns="0" anchor="t">
            <a:normAutofit/>
          </a:bodyPr>
          <a:lstStyle/>
          <a:p>
            <a:pPr algn="r"/>
            <a:r>
              <a:rPr sz="1190" b="0">
                <a:solidFill>
                  <a:srgbClr val="AFC3A9"/>
                </a:solidFill>
                <a:latin typeface="PingFang SC"/>
              </a:rPr>
              <a:t>Surviving Sepsis Campaign</a:t>
            </a:r>
          </a:p>
        </p:txBody>
      </p:sp>
      <p:sp>
        <p:nvSpPr>
          <p:cNvPr id="8" name="TextBox 7"/>
          <p:cNvSpPr txBox="1"/>
          <p:nvPr/>
        </p:nvSpPr>
        <p:spPr>
          <a:xfrm>
            <a:off x="864108" y="1169822"/>
            <a:ext cx="8558784" cy="1216151"/>
          </a:xfrm>
          <a:prstGeom prst="rect">
            <a:avLst/>
          </a:prstGeom>
          <a:noFill/>
          <a:ln>
            <a:noFill/>
          </a:ln>
        </p:spPr>
        <p:txBody>
          <a:bodyPr wrap="square" lIns="19050" rIns="19050" tIns="0" bIns="0" anchor="t">
            <a:normAutofit/>
          </a:bodyPr>
          <a:lstStyle/>
          <a:p>
            <a:pPr algn="l"/>
            <a:r>
              <a:rPr sz="1350" b="0">
                <a:solidFill>
                  <a:srgbClr val="808E8E"/>
                </a:solidFill>
                <a:latin typeface="PingFang SC"/>
              </a:rPr>
              <a:t>23. 对脓毒症或脓毒性休克成人，应尽快评估是否存在需要紧急感染源控制的特定解剖学诊断或感染灶。（良好实践声明） 沿用</a:t>
            </a:r>
          </a:p>
          <a:p>
            <a:pPr algn="l"/>
            <a:r>
              <a:rPr sz="1350" b="0">
                <a:solidFill>
                  <a:srgbClr val="808E8E"/>
                </a:solidFill>
                <a:latin typeface="PingFang SC"/>
              </a:rPr>
              <a:t>24. 对存在需要感染源控制的明确解剖学感染灶/诊断的脓毒症或脓毒性休克成人，建议早期而非延迟感染源控制，理想情况下应在确诊后6小时内完成。 修订</a:t>
            </a:r>
          </a:p>
          <a:p>
            <a:pPr algn="l"/>
            <a:r>
              <a:rPr sz="1350" b="0">
                <a:solidFill>
                  <a:srgbClr val="808E8E"/>
                </a:solidFill>
                <a:latin typeface="PingFang SC"/>
              </a:rPr>
              <a:t>✓ ⊕ ○ ○ ○</a:t>
            </a:r>
          </a:p>
        </p:txBody>
      </p:sp>
      <p:sp>
        <p:nvSpPr>
          <p:cNvPr id="9" name="TextBox 8"/>
          <p:cNvSpPr txBox="1"/>
          <p:nvPr/>
        </p:nvSpPr>
        <p:spPr>
          <a:xfrm>
            <a:off x="864108" y="2652369"/>
            <a:ext cx="3123133" cy="138988"/>
          </a:xfrm>
          <a:prstGeom prst="rect">
            <a:avLst/>
          </a:prstGeom>
          <a:noFill/>
          <a:ln>
            <a:noFill/>
          </a:ln>
        </p:spPr>
        <p:txBody>
          <a:bodyPr wrap="none" lIns="19050" rIns="19050" tIns="0" bIns="0" anchor="ctr">
            <a:noAutofit/>
          </a:bodyPr>
          <a:lstStyle/>
          <a:p>
            <a:pPr algn="l"/>
            <a:r>
              <a:rPr sz="1350" b="1">
                <a:solidFill>
                  <a:srgbClr val="6FA6B8"/>
                </a:solidFill>
                <a:latin typeface="PingFang SC"/>
              </a:rPr>
              <a:t>2021年声明（24）</a:t>
            </a:r>
          </a:p>
        </p:txBody>
      </p:sp>
      <p:sp>
        <p:nvSpPr>
          <p:cNvPr id="10" name="TextBox 9"/>
          <p:cNvSpPr txBox="1"/>
          <p:nvPr/>
        </p:nvSpPr>
        <p:spPr>
          <a:xfrm>
            <a:off x="864108" y="2895600"/>
            <a:ext cx="8558784" cy="416966"/>
          </a:xfrm>
          <a:prstGeom prst="rect">
            <a:avLst/>
          </a:prstGeom>
          <a:noFill/>
          <a:ln>
            <a:noFill/>
          </a:ln>
        </p:spPr>
        <p:txBody>
          <a:bodyPr wrap="square" lIns="19050" rIns="19050" tIns="0" bIns="0" anchor="t">
            <a:normAutofit/>
          </a:bodyPr>
          <a:lstStyle/>
          <a:p>
            <a:pPr algn="l"/>
            <a:r>
              <a:rPr sz="1200" b="0">
                <a:solidFill>
                  <a:srgbClr val="9DA5AC"/>
                </a:solidFill>
                <a:latin typeface="PingFang SC"/>
              </a:rPr>
              <a:t>对于患有脓毒症或感染性休克的成人，我们建议迅速识别或排除需要紧急进行感染源控制的特定解剖学感染诊断，并在医疗和后勤条件允许的情况下尽快实施任何必要的感染源控制干预措施。（最好实践声明）</a:t>
            </a:r>
          </a:p>
        </p:txBody>
      </p:sp>
      <p:sp>
        <p:nvSpPr>
          <p:cNvPr id="11" name="TextBox 10"/>
          <p:cNvSpPr txBox="1"/>
          <p:nvPr/>
        </p:nvSpPr>
        <p:spPr>
          <a:xfrm>
            <a:off x="637793" y="3660038"/>
            <a:ext cx="3682746" cy="138988"/>
          </a:xfrm>
          <a:prstGeom prst="rect">
            <a:avLst/>
          </a:prstGeom>
          <a:noFill/>
          <a:ln>
            <a:noFill/>
          </a:ln>
        </p:spPr>
        <p:txBody>
          <a:bodyPr wrap="square" lIns="19050" rIns="19050" tIns="0" bIns="0" anchor="t">
            <a:normAutofit/>
          </a:bodyPr>
          <a:lstStyle/>
          <a:p>
            <a:pPr algn="l"/>
            <a:r>
              <a:rPr sz="969" b="1">
                <a:solidFill>
                  <a:srgbClr val="556771"/>
                </a:solidFill>
                <a:latin typeface="PingFang SC"/>
              </a:rPr>
              <a:t>感染源控制是脓毒症和感染性休克管理的一项基本原则。</a:t>
            </a:r>
          </a:p>
        </p:txBody>
      </p:sp>
      <p:sp>
        <p:nvSpPr>
          <p:cNvPr id="12" name="TextBox 11"/>
          <p:cNvSpPr txBox="1"/>
          <p:nvPr/>
        </p:nvSpPr>
        <p:spPr>
          <a:xfrm>
            <a:off x="637793" y="3856939"/>
            <a:ext cx="8990838" cy="1250899"/>
          </a:xfrm>
          <a:prstGeom prst="rect">
            <a:avLst/>
          </a:prstGeom>
          <a:noFill/>
          <a:ln>
            <a:noFill/>
          </a:ln>
        </p:spPr>
        <p:txBody>
          <a:bodyPr wrap="square" lIns="19050" rIns="19050" tIns="0" bIns="0" anchor="t">
            <a:normAutofit/>
          </a:bodyPr>
          <a:lstStyle/>
          <a:p>
            <a:pPr algn="l"/>
            <a:r>
              <a:rPr sz="1200" b="0">
                <a:solidFill>
                  <a:srgbClr val="7B8B8E"/>
                </a:solidFill>
                <a:latin typeface="PingFang SC"/>
              </a:rPr>
              <a:t>• 它包括手术和操作干预，以去除感染源、降低病原体负荷，或纠正妨碍感染正常清除的解剖学问题。例如引流脓肿、清创感染的坏死组织、移除可能受感染的装置，或解除解剖学梗阻（如胆管狭窄）。</a:t>
            </a:r>
          </a:p>
          <a:p>
            <a:pPr algn="l"/>
            <a:r>
              <a:rPr sz="1200" b="0">
                <a:solidFill>
                  <a:srgbClr val="7B8B8E"/>
                </a:solidFill>
                <a:latin typeface="PingFang SC"/>
              </a:rPr>
              <a:t>• 适合进行感染源控制的常见感染病灶包括腹腔内脓肿、胃肠道穿孔所致的腹膜炎、胆管炎、胆囊炎、盆腔脓肿、伴有梗阻或脓肿的肾盂肾炎、坏死性软组织感染、其他深部间隙感染（如脓胸或化脓性关节炎），以及与包括中心导管在内的植入装置相关的感染。初始复苏后应尽快实现感染源控制，但最佳时间框架尚不清楚。</a:t>
            </a:r>
          </a:p>
        </p:txBody>
      </p:sp>
      <p:sp>
        <p:nvSpPr>
          <p:cNvPr id="13" name="TextBox 12"/>
          <p:cNvSpPr txBox="1"/>
          <p:nvPr/>
        </p:nvSpPr>
        <p:spPr>
          <a:xfrm>
            <a:off x="534924" y="5397398"/>
            <a:ext cx="2715768" cy="115823"/>
          </a:xfrm>
          <a:prstGeom prst="rect">
            <a:avLst/>
          </a:prstGeom>
          <a:noFill/>
          <a:ln>
            <a:noFill/>
          </a:ln>
        </p:spPr>
        <p:txBody>
          <a:bodyPr wrap="none" lIns="19050" rIns="19050" tIns="0" bIns="0" anchor="ctr">
            <a:noAutofit/>
          </a:bodyPr>
          <a:lstStyle/>
          <a:p>
            <a:pPr algn="l"/>
            <a:r>
              <a:rPr sz="1050" b="0">
                <a:solidFill>
                  <a:srgbClr val="D3E6E9"/>
                </a:solidFill>
                <a:latin typeface="PingFang SC"/>
              </a:rPr>
              <a:t>公众号·指南导航</a:t>
            </a:r>
          </a:p>
        </p:txBody>
      </p:sp>
      <p:sp>
        <p:nvSpPr>
          <p:cNvPr id="14" name="TextBox 13"/>
          <p:cNvSpPr txBox="1"/>
          <p:nvPr/>
        </p:nvSpPr>
        <p:spPr>
          <a:xfrm>
            <a:off x="10287000" y="5339486"/>
            <a:ext cx="0" cy="208483"/>
          </a:xfrm>
          <a:prstGeom prst="rect">
            <a:avLst/>
          </a:prstGeom>
          <a:noFill/>
          <a:ln>
            <a:noFill/>
          </a:ln>
        </p:spPr>
        <p:txBody>
          <a:bodyPr wrap="none" lIns="19050" rIns="19050" tIns="0" bIns="0" anchor="ctr">
            <a:noAutofit/>
          </a:bodyPr>
          <a:lstStyle/>
          <a:p>
            <a:pPr algn="r"/>
            <a:r>
              <a:rPr sz="1350" b="0">
                <a:solidFill>
                  <a:srgbClr val="000000"/>
                </a:solidFill>
                <a:latin typeface="PingFang SC"/>
              </a:rPr>
              <a:t>16</a:t>
            </a:r>
          </a:p>
        </p:txBody>
      </p:sp>
      <p:pic>
        <p:nvPicPr>
          <p:cNvPr id="15" name="Picture 14" descr="tmpde2rog3d.png"/>
          <p:cNvPicPr>
            <a:picLocks noChangeAspect="1"/>
          </p:cNvPicPr>
          <p:nvPr/>
        </p:nvPicPr>
        <p:blipFill>
          <a:blip r:embed="rId2"/>
          <a:stretch>
            <a:fillRect/>
          </a:stretch>
        </p:blipFill>
        <p:spPr>
          <a:xfrm>
            <a:off x="1257300" y="2152650"/>
            <a:ext cx="266700" cy="171450"/>
          </a:xfrm>
          <a:prstGeom prst="rect">
            <a:avLst/>
          </a:prstGeom>
        </p:spPr>
      </p:pic>
      <p:pic>
        <p:nvPicPr>
          <p:cNvPr id="16" name="Picture 15" descr="tmpdjcgpfny.png"/>
          <p:cNvPicPr>
            <a:picLocks noChangeAspect="1"/>
          </p:cNvPicPr>
          <p:nvPr/>
        </p:nvPicPr>
        <p:blipFill>
          <a:blip r:embed="rId3"/>
          <a:stretch>
            <a:fillRect/>
          </a:stretch>
        </p:blipFill>
        <p:spPr>
          <a:xfrm>
            <a:off x="1562100" y="2152650"/>
            <a:ext cx="266700" cy="171450"/>
          </a:xfrm>
          <a:prstGeom prst="rect">
            <a:avLst/>
          </a:prstGeom>
        </p:spPr>
      </p:pic>
      <p:pic>
        <p:nvPicPr>
          <p:cNvPr id="17" name="Picture 16" descr="tmpuqraufne.png"/>
          <p:cNvPicPr>
            <a:picLocks noChangeAspect="1"/>
          </p:cNvPicPr>
          <p:nvPr/>
        </p:nvPicPr>
        <p:blipFill>
          <a:blip r:embed="rId4"/>
          <a:stretch>
            <a:fillRect/>
          </a:stretch>
        </p:blipFill>
        <p:spPr>
          <a:xfrm>
            <a:off x="1876425" y="2152650"/>
            <a:ext cx="266700" cy="171450"/>
          </a:xfrm>
          <a:prstGeom prst="rect">
            <a:avLst/>
          </a:prstGeom>
        </p:spPr>
      </p:pic>
      <p:pic>
        <p:nvPicPr>
          <p:cNvPr id="18" name="Picture 17" descr="tmpvcogy015.png"/>
          <p:cNvPicPr>
            <a:picLocks noChangeAspect="1"/>
          </p:cNvPicPr>
          <p:nvPr/>
        </p:nvPicPr>
        <p:blipFill>
          <a:blip r:embed="rId5"/>
          <a:stretch>
            <a:fillRect/>
          </a:stretch>
        </p:blipFill>
        <p:spPr>
          <a:xfrm>
            <a:off x="2181225" y="2152650"/>
            <a:ext cx="266700" cy="171450"/>
          </a:xfrm>
          <a:prstGeom prst="rect">
            <a:avLst/>
          </a:prstGeom>
        </p:spPr>
      </p:pic>
      <p:pic>
        <p:nvPicPr>
          <p:cNvPr id="19" name="Picture 18" descr="tmpskkj1nq4.png"/>
          <p:cNvPicPr>
            <a:picLocks noChangeAspect="1"/>
          </p:cNvPicPr>
          <p:nvPr/>
        </p:nvPicPr>
        <p:blipFill>
          <a:blip r:embed="rId6"/>
          <a:stretch>
            <a:fillRect/>
          </a:stretch>
        </p:blipFill>
        <p:spPr>
          <a:xfrm>
            <a:off x="2486025" y="2152650"/>
            <a:ext cx="266700" cy="17145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55498" y="938174"/>
            <a:ext cx="9114281" cy="2756611"/>
          </a:xfrm>
          <a:prstGeom prst="roundRect">
            <a:avLst>
              <a:gd name="adj" fmla="val 6000"/>
            </a:avLst>
          </a:prstGeom>
          <a:solidFill>
            <a:srgbClr val="FEFEFE"/>
          </a:solidFill>
          <a:ln w="11430">
            <a:solidFill>
              <a:srgbClr val="F3FE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55498" y="3746906"/>
            <a:ext cx="9114281" cy="1418843"/>
          </a:xfrm>
          <a:prstGeom prst="rect">
            <a:avLst/>
          </a:prstGeom>
          <a:solidFill>
            <a:srgbClr val="F1FEFE"/>
          </a:solidFill>
          <a:ln w="11430">
            <a:solidFill>
              <a:srgbClr val="75A2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6646" y="376428"/>
            <a:ext cx="9421368" cy="330098"/>
          </a:xfrm>
          <a:prstGeom prst="rect">
            <a:avLst/>
          </a:prstGeom>
          <a:noFill/>
          <a:ln>
            <a:noFill/>
          </a:ln>
        </p:spPr>
        <p:txBody>
          <a:bodyPr wrap="none" lIns="19050" rIns="19050" tIns="0" bIns="0" anchor="ctr">
            <a:noAutofit/>
          </a:bodyPr>
          <a:lstStyle/>
          <a:p>
            <a:pPr algn="l"/>
            <a:r>
              <a:rPr sz="2700" b="1">
                <a:solidFill>
                  <a:srgbClr val="415391"/>
                </a:solidFill>
                <a:latin typeface="PingFang SC"/>
              </a:rPr>
              <a:t>经验性多重耐药（MDR）病原体覆盖</a:t>
            </a:r>
          </a:p>
        </p:txBody>
      </p:sp>
      <p:sp>
        <p:nvSpPr>
          <p:cNvPr id="6" name="TextBox 5"/>
          <p:cNvSpPr txBox="1"/>
          <p:nvPr/>
        </p:nvSpPr>
        <p:spPr>
          <a:xfrm>
            <a:off x="8301609" y="173735"/>
            <a:ext cx="1800224" cy="416966"/>
          </a:xfrm>
          <a:prstGeom prst="rect">
            <a:avLst/>
          </a:prstGeom>
          <a:noFill/>
          <a:ln>
            <a:noFill/>
          </a:ln>
        </p:spPr>
        <p:txBody>
          <a:bodyPr wrap="square" lIns="19050" rIns="19050" tIns="0" bIns="0" anchor="t">
            <a:normAutofit/>
          </a:bodyPr>
          <a:lstStyle/>
          <a:p>
            <a:pPr algn="r"/>
            <a:r>
              <a:rPr sz="1220" b="0">
                <a:solidFill>
                  <a:srgbClr val="AFC3A9"/>
                </a:solidFill>
                <a:latin typeface="PingFang SC"/>
              </a:rPr>
              <a:t>Surviving Sepsis Campaign</a:t>
            </a:r>
          </a:p>
        </p:txBody>
      </p:sp>
      <p:sp>
        <p:nvSpPr>
          <p:cNvPr id="7" name="TextBox 6"/>
          <p:cNvSpPr txBox="1"/>
          <p:nvPr/>
        </p:nvSpPr>
        <p:spPr>
          <a:xfrm>
            <a:off x="1049274" y="1262481"/>
            <a:ext cx="7735824" cy="428548"/>
          </a:xfrm>
          <a:prstGeom prst="rect">
            <a:avLst/>
          </a:prstGeom>
          <a:noFill/>
          <a:ln>
            <a:noFill/>
          </a:ln>
        </p:spPr>
        <p:txBody>
          <a:bodyPr wrap="square" lIns="19050" rIns="19050" tIns="0" bIns="0" anchor="t">
            <a:normAutofit/>
          </a:bodyPr>
          <a:lstStyle/>
          <a:p>
            <a:pPr algn="l"/>
            <a:r>
              <a:rPr sz="1350" b="0">
                <a:solidFill>
                  <a:srgbClr val="858B8A"/>
                </a:solidFill>
                <a:latin typeface="PingFang SC"/>
              </a:rPr>
              <a:t>25. 对于感染特定多重耐药（MDR）病原体风险较高的脓毒症或感染性休克成人患者，我们 “建议” 采用能覆盖该MDR病原体的经验性抗菌治疗。</a:t>
            </a:r>
          </a:p>
        </p:txBody>
      </p:sp>
      <p:sp>
        <p:nvSpPr>
          <p:cNvPr id="8" name="TextBox 7"/>
          <p:cNvSpPr txBox="1"/>
          <p:nvPr/>
        </p:nvSpPr>
        <p:spPr>
          <a:xfrm>
            <a:off x="1049274" y="1806854"/>
            <a:ext cx="1471041" cy="231647"/>
          </a:xfrm>
          <a:prstGeom prst="rect">
            <a:avLst/>
          </a:prstGeom>
          <a:noFill/>
          <a:ln>
            <a:noFill/>
          </a:ln>
        </p:spPr>
        <p:txBody>
          <a:bodyPr wrap="square" lIns="19050" rIns="19050" tIns="0" bIns="0" anchor="t">
            <a:normAutofit/>
          </a:bodyPr>
          <a:lstStyle/>
          <a:p>
            <a:pPr algn="l"/>
            <a:r>
              <a:rPr sz="1500" b="0">
                <a:solidFill>
                  <a:srgbClr val="939994"/>
                </a:solidFill>
                <a:latin typeface="PingFang SC"/>
              </a:rPr>
              <a:t>✓ ⊕ ○ ○ ○ ○</a:t>
            </a:r>
          </a:p>
        </p:txBody>
      </p:sp>
      <p:sp>
        <p:nvSpPr>
          <p:cNvPr id="9" name="TextBox 8"/>
          <p:cNvSpPr txBox="1"/>
          <p:nvPr/>
        </p:nvSpPr>
        <p:spPr>
          <a:xfrm>
            <a:off x="1255014" y="2096414"/>
            <a:ext cx="7530083" cy="428548"/>
          </a:xfrm>
          <a:prstGeom prst="rect">
            <a:avLst/>
          </a:prstGeom>
          <a:noFill/>
          <a:ln>
            <a:noFill/>
          </a:ln>
        </p:spPr>
        <p:txBody>
          <a:bodyPr wrap="square" lIns="19050" rIns="19050" tIns="0" bIns="0" anchor="t">
            <a:normAutofit/>
          </a:bodyPr>
          <a:lstStyle/>
          <a:p>
            <a:pPr algn="l"/>
            <a:r>
              <a:rPr sz="1200" b="0">
                <a:solidFill>
                  <a:srgbClr val="AEC6A3"/>
                </a:solidFill>
                <a:latin typeface="PingFang SC"/>
              </a:rPr>
              <a:t>备注：多重耐药病原体的危险因素包括所关注的多重耐药病原体定植、曾感染所关注的多重耐药病原体、长期使用广谱抗生素，以及在存在高流行率的所关注多重耐药病原体的病房长期住院。</a:t>
            </a:r>
          </a:p>
        </p:txBody>
      </p:sp>
      <p:sp>
        <p:nvSpPr>
          <p:cNvPr id="10" name="TextBox 9"/>
          <p:cNvSpPr txBox="1"/>
          <p:nvPr/>
        </p:nvSpPr>
        <p:spPr>
          <a:xfrm>
            <a:off x="1049274" y="2710281"/>
            <a:ext cx="7735824" cy="428548"/>
          </a:xfrm>
          <a:prstGeom prst="rect">
            <a:avLst/>
          </a:prstGeom>
          <a:noFill/>
          <a:ln>
            <a:noFill/>
          </a:ln>
        </p:spPr>
        <p:txBody>
          <a:bodyPr wrap="square" lIns="19050" rIns="19050" tIns="0" bIns="0" anchor="t">
            <a:normAutofit/>
          </a:bodyPr>
          <a:lstStyle/>
          <a:p>
            <a:pPr algn="l"/>
            <a:r>
              <a:rPr sz="1350" b="0">
                <a:solidFill>
                  <a:srgbClr val="8C9390"/>
                </a:solidFill>
                <a:latin typeface="PingFang SC"/>
              </a:rPr>
              <a:t>26. 对于感染特定多重耐药（MDR）病原体风险较低的脓毒症或感染性休克成人患者，我们 “建议不” 使用针对该MDR病原体的经验性抗菌治疗。</a:t>
            </a:r>
          </a:p>
        </p:txBody>
      </p:sp>
      <p:sp>
        <p:nvSpPr>
          <p:cNvPr id="11" name="TextBox 10"/>
          <p:cNvSpPr txBox="1"/>
          <p:nvPr/>
        </p:nvSpPr>
        <p:spPr>
          <a:xfrm>
            <a:off x="1049274" y="3254654"/>
            <a:ext cx="1471041" cy="231647"/>
          </a:xfrm>
          <a:prstGeom prst="rect">
            <a:avLst/>
          </a:prstGeom>
          <a:noFill/>
          <a:ln>
            <a:noFill/>
          </a:ln>
        </p:spPr>
        <p:txBody>
          <a:bodyPr wrap="square" lIns="19050" rIns="19050" tIns="0" bIns="0" anchor="t">
            <a:normAutofit/>
          </a:bodyPr>
          <a:lstStyle/>
          <a:p>
            <a:pPr algn="l"/>
            <a:r>
              <a:rPr sz="1500" b="0">
                <a:solidFill>
                  <a:srgbClr val="8D8B80"/>
                </a:solidFill>
                <a:latin typeface="PingFang SC"/>
              </a:rPr>
              <a:t>✕ ⊕ ○ ○ ○ ○</a:t>
            </a:r>
          </a:p>
        </p:txBody>
      </p:sp>
      <p:sp>
        <p:nvSpPr>
          <p:cNvPr id="12" name="TextBox 11"/>
          <p:cNvSpPr txBox="1"/>
          <p:nvPr/>
        </p:nvSpPr>
        <p:spPr>
          <a:xfrm>
            <a:off x="637793" y="3833774"/>
            <a:ext cx="8949690" cy="173735"/>
          </a:xfrm>
          <a:prstGeom prst="rect">
            <a:avLst/>
          </a:prstGeom>
          <a:noFill/>
          <a:ln>
            <a:noFill/>
          </a:ln>
        </p:spPr>
        <p:txBody>
          <a:bodyPr wrap="square" lIns="19050" rIns="19050" tIns="0" bIns="0" anchor="t">
            <a:normAutofit/>
          </a:bodyPr>
          <a:lstStyle/>
          <a:p>
            <a:pPr algn="l"/>
            <a:r>
              <a:rPr sz="1100" b="1">
                <a:solidFill>
                  <a:srgbClr val="51636C"/>
                </a:solidFill>
                <a:latin typeface="PingFang SC"/>
              </a:rPr>
              <a:t>对于成人脓毒症或感染性休克患者，是否在经验性治疗方案中加入针对特定多重耐药（MDR）病原体的抗菌药物，取决于以下因素：</a:t>
            </a:r>
          </a:p>
        </p:txBody>
      </p:sp>
      <p:sp>
        <p:nvSpPr>
          <p:cNvPr id="13" name="TextBox 12"/>
          <p:cNvSpPr txBox="1"/>
          <p:nvPr/>
        </p:nvSpPr>
        <p:spPr>
          <a:xfrm>
            <a:off x="637793" y="4065422"/>
            <a:ext cx="8949690" cy="868679"/>
          </a:xfrm>
          <a:prstGeom prst="rect">
            <a:avLst/>
          </a:prstGeom>
          <a:noFill/>
          <a:ln>
            <a:noFill/>
          </a:ln>
        </p:spPr>
        <p:txBody>
          <a:bodyPr wrap="square" lIns="19050" rIns="19050" tIns="0" bIns="0" anchor="t">
            <a:normAutofit/>
          </a:bodyPr>
          <a:lstStyle/>
          <a:p>
            <a:pPr algn="l"/>
            <a:r>
              <a:rPr sz="1350" b="0">
                <a:solidFill>
                  <a:srgbClr val="79898D"/>
                </a:solidFill>
                <a:latin typeface="PingFang SC"/>
              </a:rPr>
              <a:t>1. 患者感染由特定MDR病原体引起的可能性；</a:t>
            </a:r>
          </a:p>
          <a:p>
            <a:pPr algn="l"/>
            <a:r>
              <a:rPr sz="1350" b="0">
                <a:solidFill>
                  <a:srgbClr val="79898D"/>
                </a:solidFill>
                <a:latin typeface="PingFang SC"/>
              </a:rPr>
              <a:t>2. 对特定MDR病原体不进行经验性治疗所带来不良影响的风险；</a:t>
            </a:r>
          </a:p>
          <a:p>
            <a:pPr algn="l"/>
            <a:r>
              <a:rPr sz="1350" b="0">
                <a:solidFill>
                  <a:srgbClr val="79898D"/>
                </a:solidFill>
                <a:latin typeface="PingFang SC"/>
              </a:rPr>
              <a:t>3. 对未感染特定MDR病原体的患者进行包含针对该病原体覆盖的经验性治疗所带来不良影响的风险；</a:t>
            </a:r>
          </a:p>
          <a:p>
            <a:pPr algn="l"/>
            <a:r>
              <a:rPr sz="1350" b="0">
                <a:solidFill>
                  <a:srgbClr val="79898D"/>
                </a:solidFill>
                <a:latin typeface="PingFang SC"/>
              </a:rPr>
              <a:t>4. 患者的疾病严重程度。</a:t>
            </a:r>
          </a:p>
        </p:txBody>
      </p:sp>
      <p:sp>
        <p:nvSpPr>
          <p:cNvPr id="14" name="TextBox 13"/>
          <p:cNvSpPr txBox="1"/>
          <p:nvPr/>
        </p:nvSpPr>
        <p:spPr>
          <a:xfrm>
            <a:off x="596646" y="5432145"/>
            <a:ext cx="2127351" cy="115823"/>
          </a:xfrm>
          <a:prstGeom prst="rect">
            <a:avLst/>
          </a:prstGeom>
          <a:noFill/>
          <a:ln>
            <a:noFill/>
          </a:ln>
        </p:spPr>
        <p:txBody>
          <a:bodyPr wrap="none" lIns="19050" rIns="19050" tIns="0" bIns="0" anchor="ctr">
            <a:noAutofit/>
          </a:bodyPr>
          <a:lstStyle/>
          <a:p>
            <a:pPr algn="l"/>
            <a:r>
              <a:rPr sz="1050" b="0">
                <a:solidFill>
                  <a:srgbClr val="BBDAD9"/>
                </a:solidFill>
                <a:latin typeface="PingFang SC"/>
              </a:rPr>
              <a:t>公众号·指南导航</a:t>
            </a:r>
          </a:p>
        </p:txBody>
      </p:sp>
      <p:sp>
        <p:nvSpPr>
          <p:cNvPr id="15" name="TextBox 14"/>
          <p:cNvSpPr txBox="1"/>
          <p:nvPr/>
        </p:nvSpPr>
        <p:spPr>
          <a:xfrm>
            <a:off x="10287000" y="5339486"/>
            <a:ext cx="0" cy="173736"/>
          </a:xfrm>
          <a:prstGeom prst="rect">
            <a:avLst/>
          </a:prstGeom>
          <a:noFill/>
          <a:ln>
            <a:noFill/>
          </a:ln>
        </p:spPr>
        <p:txBody>
          <a:bodyPr wrap="none" lIns="19050" rIns="19050" tIns="0" bIns="0" anchor="ctr">
            <a:noAutofit/>
          </a:bodyPr>
          <a:lstStyle/>
          <a:p>
            <a:pPr algn="r"/>
            <a:r>
              <a:rPr sz="1500" b="0">
                <a:solidFill>
                  <a:srgbClr val="000000"/>
                </a:solidFill>
                <a:latin typeface="PingFang SC"/>
              </a:rPr>
              <a:t>17</a:t>
            </a:r>
          </a:p>
        </p:txBody>
      </p:sp>
      <p:sp>
        <p:nvSpPr>
          <p:cNvPr id="16" name="TextBox 15"/>
          <p:cNvSpPr txBox="1"/>
          <p:nvPr/>
        </p:nvSpPr>
        <p:spPr>
          <a:xfrm>
            <a:off x="9073134" y="1204569"/>
            <a:ext cx="814730" cy="138988"/>
          </a:xfrm>
          <a:prstGeom prst="rect">
            <a:avLst/>
          </a:prstGeom>
          <a:noFill/>
          <a:ln>
            <a:noFill/>
          </a:ln>
        </p:spPr>
        <p:txBody>
          <a:bodyPr wrap="none" lIns="19050" rIns="19050" tIns="0" bIns="0" anchor="ctr">
            <a:noAutofit/>
          </a:bodyPr>
          <a:lstStyle/>
          <a:p>
            <a:pPr algn="r"/>
            <a:r>
              <a:rPr sz="1200" b="1">
                <a:solidFill>
                  <a:srgbClr val="86AEC9"/>
                </a:solidFill>
                <a:latin typeface="PingFang SC"/>
              </a:rPr>
              <a:t>新增</a:t>
            </a:r>
          </a:p>
        </p:txBody>
      </p:sp>
      <p:sp>
        <p:nvSpPr>
          <p:cNvPr id="17" name="TextBox 16"/>
          <p:cNvSpPr txBox="1"/>
          <p:nvPr/>
        </p:nvSpPr>
        <p:spPr>
          <a:xfrm>
            <a:off x="9073134" y="2675534"/>
            <a:ext cx="814730" cy="138988"/>
          </a:xfrm>
          <a:prstGeom prst="rect">
            <a:avLst/>
          </a:prstGeom>
          <a:noFill/>
          <a:ln>
            <a:noFill/>
          </a:ln>
        </p:spPr>
        <p:txBody>
          <a:bodyPr wrap="none" lIns="19050" rIns="19050" tIns="0" bIns="0" anchor="ctr">
            <a:noAutofit/>
          </a:bodyPr>
          <a:lstStyle/>
          <a:p>
            <a:pPr algn="r"/>
            <a:r>
              <a:rPr sz="1200" b="1">
                <a:solidFill>
                  <a:srgbClr val="91B0C3"/>
                </a:solidFill>
                <a:latin typeface="PingFang SC"/>
              </a:rPr>
              <a:t>新增</a:t>
            </a:r>
          </a:p>
        </p:txBody>
      </p:sp>
      <p:pic>
        <p:nvPicPr>
          <p:cNvPr id="18" name="Picture 17" descr="tmpuwrgrsl3.png"/>
          <p:cNvPicPr>
            <a:picLocks noChangeAspect="1"/>
          </p:cNvPicPr>
          <p:nvPr/>
        </p:nvPicPr>
        <p:blipFill>
          <a:blip r:embed="rId2"/>
          <a:stretch>
            <a:fillRect/>
          </a:stretch>
        </p:blipFill>
        <p:spPr>
          <a:xfrm>
            <a:off x="1190625" y="1828800"/>
            <a:ext cx="247650" cy="190500"/>
          </a:xfrm>
          <a:prstGeom prst="rect">
            <a:avLst/>
          </a:prstGeom>
        </p:spPr>
      </p:pic>
      <p:pic>
        <p:nvPicPr>
          <p:cNvPr id="19" name="Picture 18" descr="tmpsxfq22jy.png"/>
          <p:cNvPicPr>
            <a:picLocks noChangeAspect="1"/>
          </p:cNvPicPr>
          <p:nvPr/>
        </p:nvPicPr>
        <p:blipFill>
          <a:blip r:embed="rId3"/>
          <a:stretch>
            <a:fillRect/>
          </a:stretch>
        </p:blipFill>
        <p:spPr>
          <a:xfrm>
            <a:off x="1190625" y="3276600"/>
            <a:ext cx="247650" cy="1905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2vkwm173.png"/>
          <p:cNvPicPr>
            <a:picLocks noChangeAspect="1"/>
          </p:cNvPicPr>
          <p:nvPr/>
        </p:nvPicPr>
        <p:blipFill>
          <a:blip r:embed="rId2"/>
          <a:stretch>
            <a:fillRect/>
          </a:stretch>
        </p:blipFill>
        <p:spPr>
          <a:xfrm>
            <a:off x="552450" y="4933950"/>
            <a:ext cx="1114425" cy="228600"/>
          </a:xfrm>
          <a:prstGeom prst="rect">
            <a:avLst/>
          </a:prstGeom>
        </p:spPr>
      </p:pic>
      <p:pic>
        <p:nvPicPr>
          <p:cNvPr id="4" name="Picture 3" descr="tmpi_y7yupp.png"/>
          <p:cNvPicPr>
            <a:picLocks noChangeAspect="1"/>
          </p:cNvPicPr>
          <p:nvPr/>
        </p:nvPicPr>
        <p:blipFill>
          <a:blip r:embed="rId3"/>
          <a:stretch>
            <a:fillRect/>
          </a:stretch>
        </p:blipFill>
        <p:spPr>
          <a:xfrm>
            <a:off x="1771650" y="4933950"/>
            <a:ext cx="1028700" cy="228600"/>
          </a:xfrm>
          <a:prstGeom prst="rect">
            <a:avLst/>
          </a:prstGeom>
        </p:spPr>
      </p:pic>
      <p:sp>
        <p:nvSpPr>
          <p:cNvPr id="5" name="Rounded Rectangle 4"/>
          <p:cNvSpPr/>
          <p:nvPr/>
        </p:nvSpPr>
        <p:spPr>
          <a:xfrm>
            <a:off x="555498" y="967130"/>
            <a:ext cx="9176003" cy="1592580"/>
          </a:xfrm>
          <a:prstGeom prst="roundRect">
            <a:avLst>
              <a:gd name="adj" fmla="val 6000"/>
            </a:avLst>
          </a:prstGeom>
          <a:solidFill>
            <a:srgbClr val="FDFEFD"/>
          </a:solidFill>
          <a:ln w="11430">
            <a:solidFill>
              <a:srgbClr val="10559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55498" y="2652369"/>
            <a:ext cx="9176003" cy="1824228"/>
          </a:xfrm>
          <a:prstGeom prst="roundRect">
            <a:avLst>
              <a:gd name="adj" fmla="val 6000"/>
            </a:avLst>
          </a:prstGeom>
          <a:solidFill>
            <a:srgbClr val="EDF6FE"/>
          </a:solidFill>
          <a:ln w="11430">
            <a:solidFill>
              <a:srgbClr val="F1F5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6933" y="388010"/>
            <a:ext cx="7147941" cy="318516"/>
          </a:xfrm>
          <a:prstGeom prst="rect">
            <a:avLst/>
          </a:prstGeom>
          <a:noFill/>
          <a:ln>
            <a:noFill/>
          </a:ln>
        </p:spPr>
        <p:txBody>
          <a:bodyPr wrap="none" lIns="19050" rIns="19050" tIns="0" bIns="0" anchor="ctr">
            <a:noAutofit/>
          </a:bodyPr>
          <a:lstStyle/>
          <a:p>
            <a:pPr algn="l"/>
            <a:r>
              <a:rPr sz="2700" b="1">
                <a:solidFill>
                  <a:srgbClr val="43558E"/>
                </a:solidFill>
                <a:latin typeface="PingFang SC"/>
              </a:rPr>
              <a:t>经验性抗真菌覆盖治疗</a:t>
            </a:r>
          </a:p>
        </p:txBody>
      </p:sp>
      <p:sp>
        <p:nvSpPr>
          <p:cNvPr id="8" name="TextBox 7"/>
          <p:cNvSpPr txBox="1"/>
          <p:nvPr/>
        </p:nvSpPr>
        <p:spPr>
          <a:xfrm>
            <a:off x="966978" y="1285646"/>
            <a:ext cx="8003286" cy="173736"/>
          </a:xfrm>
          <a:prstGeom prst="rect">
            <a:avLst/>
          </a:prstGeom>
          <a:noFill/>
          <a:ln>
            <a:noFill/>
          </a:ln>
        </p:spPr>
        <p:txBody>
          <a:bodyPr wrap="square" lIns="19050" rIns="19050" tIns="0" bIns="0" anchor="t">
            <a:normAutofit/>
          </a:bodyPr>
          <a:lstStyle/>
          <a:p>
            <a:pPr algn="l"/>
            <a:r>
              <a:rPr sz="1280" b="0">
                <a:solidFill>
                  <a:srgbClr val="899089"/>
                </a:solidFill>
                <a:latin typeface="PingFang SC"/>
              </a:rPr>
              <a:t>27. 对于患有脓毒症或感染性休克的成年人，我们“建议不”使用经验性抗真菌治疗。</a:t>
            </a:r>
          </a:p>
        </p:txBody>
      </p:sp>
      <p:sp>
        <p:nvSpPr>
          <p:cNvPr id="9" name="TextBox 8"/>
          <p:cNvSpPr txBox="1"/>
          <p:nvPr/>
        </p:nvSpPr>
        <p:spPr>
          <a:xfrm>
            <a:off x="1275587" y="1905304"/>
            <a:ext cx="8044434" cy="434339"/>
          </a:xfrm>
          <a:prstGeom prst="rect">
            <a:avLst/>
          </a:prstGeom>
          <a:noFill/>
          <a:ln>
            <a:noFill/>
          </a:ln>
        </p:spPr>
        <p:txBody>
          <a:bodyPr wrap="square" lIns="19050" rIns="19050" tIns="0" bIns="0" anchor="t">
            <a:normAutofit/>
          </a:bodyPr>
          <a:lstStyle/>
          <a:p>
            <a:pPr algn="l"/>
            <a:r>
              <a:rPr sz="1200" b="0">
                <a:solidFill>
                  <a:srgbClr val="AAC1A0"/>
                </a:solidFill>
                <a:latin typeface="PingFang SC"/>
              </a:rPr>
              <a:t>备注：对于患有脓毒症或感染性休克且存在真菌感染危险因素（包括免疫抑制、长期使用抗生素、长期住院以及腹腔内感染源）的特定患者，应根据具体情况考虑经验性抗真菌治疗。</a:t>
            </a:r>
          </a:p>
        </p:txBody>
      </p:sp>
      <p:sp>
        <p:nvSpPr>
          <p:cNvPr id="10" name="TextBox 9"/>
          <p:cNvSpPr txBox="1"/>
          <p:nvPr/>
        </p:nvSpPr>
        <p:spPr>
          <a:xfrm>
            <a:off x="864108" y="2820314"/>
            <a:ext cx="2896819" cy="144779"/>
          </a:xfrm>
          <a:prstGeom prst="rect">
            <a:avLst/>
          </a:prstGeom>
          <a:noFill/>
          <a:ln>
            <a:noFill/>
          </a:ln>
        </p:spPr>
        <p:txBody>
          <a:bodyPr wrap="none" lIns="19050" rIns="19050" tIns="0" bIns="0" anchor="ctr">
            <a:noAutofit/>
          </a:bodyPr>
          <a:lstStyle/>
          <a:p>
            <a:pPr algn="l"/>
            <a:r>
              <a:rPr sz="1350" b="1">
                <a:solidFill>
                  <a:srgbClr val="6EA4B6"/>
                </a:solidFill>
                <a:latin typeface="PingFang SC"/>
              </a:rPr>
              <a:t>2021年声明（27）</a:t>
            </a:r>
          </a:p>
        </p:txBody>
      </p:sp>
      <p:sp>
        <p:nvSpPr>
          <p:cNvPr id="11" name="TextBox 10"/>
          <p:cNvSpPr txBox="1"/>
          <p:nvPr/>
        </p:nvSpPr>
        <p:spPr>
          <a:xfrm>
            <a:off x="864108" y="3051962"/>
            <a:ext cx="6851142" cy="173736"/>
          </a:xfrm>
          <a:prstGeom prst="rect">
            <a:avLst/>
          </a:prstGeom>
          <a:noFill/>
          <a:ln>
            <a:noFill/>
          </a:ln>
        </p:spPr>
        <p:txBody>
          <a:bodyPr wrap="square" lIns="19050" rIns="19050" tIns="0" bIns="0" anchor="t">
            <a:normAutofit/>
          </a:bodyPr>
          <a:lstStyle/>
          <a:p>
            <a:pPr algn="l"/>
            <a:r>
              <a:rPr sz="1050" b="0">
                <a:solidFill>
                  <a:srgbClr val="9FA4A9"/>
                </a:solidFill>
                <a:latin typeface="PingFang SC"/>
              </a:rPr>
              <a:t>对于有高真菌传播风险的脓毒症或感染性休克成人患者，我们建议采用经验性抗真菌治疗而非不进行抗真菌治疗。</a:t>
            </a:r>
          </a:p>
        </p:txBody>
      </p:sp>
      <p:sp>
        <p:nvSpPr>
          <p:cNvPr id="12" name="TextBox 11"/>
          <p:cNvSpPr txBox="1"/>
          <p:nvPr/>
        </p:nvSpPr>
        <p:spPr>
          <a:xfrm>
            <a:off x="864108" y="3602126"/>
            <a:ext cx="6851142" cy="173736"/>
          </a:xfrm>
          <a:prstGeom prst="rect">
            <a:avLst/>
          </a:prstGeom>
          <a:noFill/>
          <a:ln>
            <a:noFill/>
          </a:ln>
        </p:spPr>
        <p:txBody>
          <a:bodyPr wrap="square" lIns="19050" rIns="19050" tIns="0" bIns="0" anchor="t">
            <a:normAutofit/>
          </a:bodyPr>
          <a:lstStyle/>
          <a:p>
            <a:pPr algn="l"/>
            <a:r>
              <a:rPr sz="1100" b="0">
                <a:solidFill>
                  <a:srgbClr val="A2A8AE"/>
                </a:solidFill>
                <a:latin typeface="PingFang SC"/>
              </a:rPr>
              <a:t>对于发生真菌性感染风险较低的脓毒症或感染性休克成人患者，我们建议不要经验性使用抗真菌治疗。</a:t>
            </a:r>
          </a:p>
        </p:txBody>
      </p:sp>
      <p:sp>
        <p:nvSpPr>
          <p:cNvPr id="13" name="TextBox 12"/>
          <p:cNvSpPr txBox="1"/>
          <p:nvPr/>
        </p:nvSpPr>
        <p:spPr>
          <a:xfrm>
            <a:off x="606933" y="5455310"/>
            <a:ext cx="2557348" cy="115823"/>
          </a:xfrm>
          <a:prstGeom prst="rect">
            <a:avLst/>
          </a:prstGeom>
          <a:noFill/>
          <a:ln>
            <a:noFill/>
          </a:ln>
        </p:spPr>
        <p:txBody>
          <a:bodyPr wrap="none" lIns="19050" rIns="19050" tIns="0" bIns="0" anchor="ctr">
            <a:noAutofit/>
          </a:bodyPr>
          <a:lstStyle/>
          <a:p>
            <a:pPr algn="l"/>
            <a:r>
              <a:rPr sz="1050" b="0">
                <a:solidFill>
                  <a:srgbClr val="BFDFDC"/>
                </a:solidFill>
                <a:latin typeface="PingFang SC"/>
              </a:rPr>
              <a:t>公众号·指南导航</a:t>
            </a:r>
          </a:p>
        </p:txBody>
      </p:sp>
      <p:sp>
        <p:nvSpPr>
          <p:cNvPr id="14" name="TextBox 13"/>
          <p:cNvSpPr txBox="1"/>
          <p:nvPr/>
        </p:nvSpPr>
        <p:spPr>
          <a:xfrm>
            <a:off x="10287000" y="5339486"/>
            <a:ext cx="0" cy="231647"/>
          </a:xfrm>
          <a:prstGeom prst="rect">
            <a:avLst/>
          </a:prstGeom>
          <a:noFill/>
          <a:ln>
            <a:noFill/>
          </a:ln>
        </p:spPr>
        <p:txBody>
          <a:bodyPr wrap="none" lIns="19050" rIns="19050" tIns="0" bIns="0" anchor="ctr">
            <a:noAutofit/>
          </a:bodyPr>
          <a:lstStyle/>
          <a:p>
            <a:pPr algn="r"/>
            <a:r>
              <a:rPr sz="1200" b="0">
                <a:solidFill>
                  <a:srgbClr val="000000"/>
                </a:solidFill>
                <a:latin typeface="PingFang SC"/>
              </a:rPr>
              <a:t>18</a:t>
            </a:r>
          </a:p>
        </p:txBody>
      </p:sp>
      <p:sp>
        <p:nvSpPr>
          <p:cNvPr id="15" name="TextBox 14"/>
          <p:cNvSpPr txBox="1"/>
          <p:nvPr/>
        </p:nvSpPr>
        <p:spPr>
          <a:xfrm>
            <a:off x="8301609" y="185318"/>
            <a:ext cx="3960494" cy="405384"/>
          </a:xfrm>
          <a:prstGeom prst="rect">
            <a:avLst/>
          </a:prstGeom>
          <a:noFill/>
          <a:ln>
            <a:noFill/>
          </a:ln>
        </p:spPr>
        <p:txBody>
          <a:bodyPr wrap="none" lIns="19050" rIns="19050" tIns="0" bIns="0" anchor="ctr">
            <a:noAutofit/>
          </a:bodyPr>
          <a:lstStyle/>
          <a:p>
            <a:pPr algn="r"/>
            <a:r>
              <a:rPr sz="1800" b="0">
                <a:solidFill>
                  <a:srgbClr val="AFC3A9"/>
                </a:solidFill>
                <a:latin typeface="PingFang SC"/>
              </a:rPr>
              <a:t>Surviving Sepsis Campaign</a:t>
            </a:r>
          </a:p>
        </p:txBody>
      </p:sp>
      <p:pic>
        <p:nvPicPr>
          <p:cNvPr id="16" name="Picture 15" descr="tmp0i5px7tu.png"/>
          <p:cNvPicPr>
            <a:picLocks noChangeAspect="1"/>
          </p:cNvPicPr>
          <p:nvPr/>
        </p:nvPicPr>
        <p:blipFill>
          <a:blip r:embed="rId4"/>
          <a:stretch>
            <a:fillRect/>
          </a:stretch>
        </p:blipFill>
        <p:spPr>
          <a:xfrm>
            <a:off x="1238250" y="1600200"/>
            <a:ext cx="219075" cy="180975"/>
          </a:xfrm>
          <a:prstGeom prst="rect">
            <a:avLst/>
          </a:prstGeom>
        </p:spPr>
      </p:pic>
      <p:pic>
        <p:nvPicPr>
          <p:cNvPr id="17" name="Picture 16" descr="tmpzycxxxh2.png"/>
          <p:cNvPicPr>
            <a:picLocks noChangeAspect="1"/>
          </p:cNvPicPr>
          <p:nvPr/>
        </p:nvPicPr>
        <p:blipFill>
          <a:blip r:embed="rId5"/>
          <a:stretch>
            <a:fillRect/>
          </a:stretch>
        </p:blipFill>
        <p:spPr>
          <a:xfrm>
            <a:off x="1562100" y="1600200"/>
            <a:ext cx="228600" cy="180975"/>
          </a:xfrm>
          <a:prstGeom prst="rect">
            <a:avLst/>
          </a:prstGeom>
        </p:spPr>
      </p:pic>
      <p:pic>
        <p:nvPicPr>
          <p:cNvPr id="18" name="Picture 17" descr="tmp22p4mmz8.png"/>
          <p:cNvPicPr>
            <a:picLocks noChangeAspect="1"/>
          </p:cNvPicPr>
          <p:nvPr/>
        </p:nvPicPr>
        <p:blipFill>
          <a:blip r:embed="rId6"/>
          <a:stretch>
            <a:fillRect/>
          </a:stretch>
        </p:blipFill>
        <p:spPr>
          <a:xfrm>
            <a:off x="1895475" y="1600200"/>
            <a:ext cx="219075" cy="180975"/>
          </a:xfrm>
          <a:prstGeom prst="rect">
            <a:avLst/>
          </a:prstGeom>
        </p:spPr>
      </p:pic>
      <p:pic>
        <p:nvPicPr>
          <p:cNvPr id="19" name="Picture 18" descr="tmplpznadev.png"/>
          <p:cNvPicPr>
            <a:picLocks noChangeAspect="1"/>
          </p:cNvPicPr>
          <p:nvPr/>
        </p:nvPicPr>
        <p:blipFill>
          <a:blip r:embed="rId7"/>
          <a:stretch>
            <a:fillRect/>
          </a:stretch>
        </p:blipFill>
        <p:spPr>
          <a:xfrm>
            <a:off x="2219325" y="1600200"/>
            <a:ext cx="228600" cy="180975"/>
          </a:xfrm>
          <a:prstGeom prst="rect">
            <a:avLst/>
          </a:prstGeom>
        </p:spPr>
      </p:pic>
      <p:pic>
        <p:nvPicPr>
          <p:cNvPr id="20" name="Picture 19" descr="tmpntj31crw.png"/>
          <p:cNvPicPr>
            <a:picLocks noChangeAspect="1"/>
          </p:cNvPicPr>
          <p:nvPr/>
        </p:nvPicPr>
        <p:blipFill>
          <a:blip r:embed="rId8"/>
          <a:stretch>
            <a:fillRect/>
          </a:stretch>
        </p:blipFill>
        <p:spPr>
          <a:xfrm>
            <a:off x="2552700" y="1600200"/>
            <a:ext cx="228600" cy="180975"/>
          </a:xfrm>
          <a:prstGeom prst="rect">
            <a:avLst/>
          </a:prstGeom>
        </p:spPr>
      </p:pic>
      <p:pic>
        <p:nvPicPr>
          <p:cNvPr id="21" name="Picture 20" descr="tmpcifborm9.png"/>
          <p:cNvPicPr>
            <a:picLocks noChangeAspect="1"/>
          </p:cNvPicPr>
          <p:nvPr/>
        </p:nvPicPr>
        <p:blipFill>
          <a:blip r:embed="rId9"/>
          <a:stretch>
            <a:fillRect/>
          </a:stretch>
        </p:blipFill>
        <p:spPr>
          <a:xfrm>
            <a:off x="1238250" y="3371850"/>
            <a:ext cx="219075" cy="171450"/>
          </a:xfrm>
          <a:prstGeom prst="rect">
            <a:avLst/>
          </a:prstGeom>
        </p:spPr>
      </p:pic>
      <p:pic>
        <p:nvPicPr>
          <p:cNvPr id="22" name="Picture 21" descr="tmphi1jc6kl.png"/>
          <p:cNvPicPr>
            <a:picLocks noChangeAspect="1"/>
          </p:cNvPicPr>
          <p:nvPr/>
        </p:nvPicPr>
        <p:blipFill>
          <a:blip r:embed="rId10"/>
          <a:stretch>
            <a:fillRect/>
          </a:stretch>
        </p:blipFill>
        <p:spPr>
          <a:xfrm>
            <a:off x="1562100" y="3371850"/>
            <a:ext cx="228600" cy="171450"/>
          </a:xfrm>
          <a:prstGeom prst="rect">
            <a:avLst/>
          </a:prstGeom>
        </p:spPr>
      </p:pic>
      <p:pic>
        <p:nvPicPr>
          <p:cNvPr id="23" name="Picture 22" descr="tmp1v9smau1.png"/>
          <p:cNvPicPr>
            <a:picLocks noChangeAspect="1"/>
          </p:cNvPicPr>
          <p:nvPr/>
        </p:nvPicPr>
        <p:blipFill>
          <a:blip r:embed="rId11"/>
          <a:stretch>
            <a:fillRect/>
          </a:stretch>
        </p:blipFill>
        <p:spPr>
          <a:xfrm>
            <a:off x="1895475" y="3371850"/>
            <a:ext cx="219075" cy="171450"/>
          </a:xfrm>
          <a:prstGeom prst="rect">
            <a:avLst/>
          </a:prstGeom>
        </p:spPr>
      </p:pic>
      <p:pic>
        <p:nvPicPr>
          <p:cNvPr id="24" name="Picture 23" descr="tmpxob5jxhb.png"/>
          <p:cNvPicPr>
            <a:picLocks noChangeAspect="1"/>
          </p:cNvPicPr>
          <p:nvPr/>
        </p:nvPicPr>
        <p:blipFill>
          <a:blip r:embed="rId12"/>
          <a:stretch>
            <a:fillRect/>
          </a:stretch>
        </p:blipFill>
        <p:spPr>
          <a:xfrm>
            <a:off x="2219325" y="3371850"/>
            <a:ext cx="228600" cy="171450"/>
          </a:xfrm>
          <a:prstGeom prst="rect">
            <a:avLst/>
          </a:prstGeom>
        </p:spPr>
      </p:pic>
      <p:pic>
        <p:nvPicPr>
          <p:cNvPr id="25" name="Picture 24" descr="tmpr6h3tgd5.png"/>
          <p:cNvPicPr>
            <a:picLocks noChangeAspect="1"/>
          </p:cNvPicPr>
          <p:nvPr/>
        </p:nvPicPr>
        <p:blipFill>
          <a:blip r:embed="rId13"/>
          <a:stretch>
            <a:fillRect/>
          </a:stretch>
        </p:blipFill>
        <p:spPr>
          <a:xfrm>
            <a:off x="2552700" y="3371850"/>
            <a:ext cx="228600" cy="171450"/>
          </a:xfrm>
          <a:prstGeom prst="rect">
            <a:avLst/>
          </a:prstGeom>
        </p:spPr>
      </p:pic>
      <p:pic>
        <p:nvPicPr>
          <p:cNvPr id="26" name="Picture 25" descr="tmp28hj6ajm.png"/>
          <p:cNvPicPr>
            <a:picLocks noChangeAspect="1"/>
          </p:cNvPicPr>
          <p:nvPr/>
        </p:nvPicPr>
        <p:blipFill>
          <a:blip r:embed="rId14"/>
          <a:stretch>
            <a:fillRect/>
          </a:stretch>
        </p:blipFill>
        <p:spPr>
          <a:xfrm>
            <a:off x="1238250" y="3924300"/>
            <a:ext cx="219075" cy="171450"/>
          </a:xfrm>
          <a:prstGeom prst="rect">
            <a:avLst/>
          </a:prstGeom>
        </p:spPr>
      </p:pic>
      <p:pic>
        <p:nvPicPr>
          <p:cNvPr id="27" name="Picture 26" descr="tmppoy9rssd.png"/>
          <p:cNvPicPr>
            <a:picLocks noChangeAspect="1"/>
          </p:cNvPicPr>
          <p:nvPr/>
        </p:nvPicPr>
        <p:blipFill>
          <a:blip r:embed="rId15"/>
          <a:stretch>
            <a:fillRect/>
          </a:stretch>
        </p:blipFill>
        <p:spPr>
          <a:xfrm>
            <a:off x="1562100" y="3924300"/>
            <a:ext cx="228600" cy="171450"/>
          </a:xfrm>
          <a:prstGeom prst="rect">
            <a:avLst/>
          </a:prstGeom>
        </p:spPr>
      </p:pic>
      <p:pic>
        <p:nvPicPr>
          <p:cNvPr id="28" name="Picture 27" descr="tmpppcb_1ie.png"/>
          <p:cNvPicPr>
            <a:picLocks noChangeAspect="1"/>
          </p:cNvPicPr>
          <p:nvPr/>
        </p:nvPicPr>
        <p:blipFill>
          <a:blip r:embed="rId16"/>
          <a:stretch>
            <a:fillRect/>
          </a:stretch>
        </p:blipFill>
        <p:spPr>
          <a:xfrm>
            <a:off x="1895475" y="3924300"/>
            <a:ext cx="219075" cy="171450"/>
          </a:xfrm>
          <a:prstGeom prst="rect">
            <a:avLst/>
          </a:prstGeom>
        </p:spPr>
      </p:pic>
      <p:pic>
        <p:nvPicPr>
          <p:cNvPr id="29" name="Picture 28" descr="tmpr8p6ugek.png"/>
          <p:cNvPicPr>
            <a:picLocks noChangeAspect="1"/>
          </p:cNvPicPr>
          <p:nvPr/>
        </p:nvPicPr>
        <p:blipFill>
          <a:blip r:embed="rId17"/>
          <a:stretch>
            <a:fillRect/>
          </a:stretch>
        </p:blipFill>
        <p:spPr>
          <a:xfrm>
            <a:off x="2219325" y="3924300"/>
            <a:ext cx="228600" cy="171450"/>
          </a:xfrm>
          <a:prstGeom prst="rect">
            <a:avLst/>
          </a:prstGeom>
        </p:spPr>
      </p:pic>
      <p:pic>
        <p:nvPicPr>
          <p:cNvPr id="30" name="Picture 29" descr="tmp0wmxx3t0.png"/>
          <p:cNvPicPr>
            <a:picLocks noChangeAspect="1"/>
          </p:cNvPicPr>
          <p:nvPr/>
        </p:nvPicPr>
        <p:blipFill>
          <a:blip r:embed="rId18"/>
          <a:stretch>
            <a:fillRect/>
          </a:stretch>
        </p:blipFill>
        <p:spPr>
          <a:xfrm>
            <a:off x="2552700" y="3924300"/>
            <a:ext cx="228600" cy="171450"/>
          </a:xfrm>
          <a:prstGeom prst="rect">
            <a:avLst/>
          </a:prstGeom>
        </p:spPr>
      </p:pic>
      <p:pic>
        <p:nvPicPr>
          <p:cNvPr id="31" name="Picture 30" descr="tmpyx0kr5a_.png"/>
          <p:cNvPicPr>
            <a:picLocks noChangeAspect="1"/>
          </p:cNvPicPr>
          <p:nvPr/>
        </p:nvPicPr>
        <p:blipFill>
          <a:blip r:embed="rId19"/>
          <a:stretch>
            <a:fillRect/>
          </a:stretch>
        </p:blipFill>
        <p:spPr>
          <a:xfrm>
            <a:off x="9734550" y="180975"/>
            <a:ext cx="371475" cy="409575"/>
          </a:xfrm>
          <a:prstGeom prst="rect">
            <a:avLst/>
          </a:prstGeom>
        </p:spPr>
      </p:pic>
      <p:pic>
        <p:nvPicPr>
          <p:cNvPr id="32" name="Picture 31" descr="tmpolapigkn.png"/>
          <p:cNvPicPr>
            <a:picLocks noChangeAspect="1"/>
          </p:cNvPicPr>
          <p:nvPr/>
        </p:nvPicPr>
        <p:blipFill>
          <a:blip r:embed="rId20"/>
          <a:stretch>
            <a:fillRect/>
          </a:stretch>
        </p:blipFill>
        <p:spPr>
          <a:xfrm>
            <a:off x="9277350" y="1257300"/>
            <a:ext cx="314325" cy="17145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amaadvo1.png"/>
          <p:cNvPicPr>
            <a:picLocks noChangeAspect="1"/>
          </p:cNvPicPr>
          <p:nvPr/>
        </p:nvPicPr>
        <p:blipFill>
          <a:blip r:embed="rId2"/>
          <a:stretch>
            <a:fillRect/>
          </a:stretch>
        </p:blipFill>
        <p:spPr>
          <a:xfrm>
            <a:off x="533400" y="4933950"/>
            <a:ext cx="2114550" cy="257175"/>
          </a:xfrm>
          <a:prstGeom prst="rect">
            <a:avLst/>
          </a:prstGeom>
        </p:spPr>
      </p:pic>
      <p:sp>
        <p:nvSpPr>
          <p:cNvPr id="4" name="Rounded Rectangle 3"/>
          <p:cNvSpPr/>
          <p:nvPr/>
        </p:nvSpPr>
        <p:spPr>
          <a:xfrm>
            <a:off x="555498" y="967130"/>
            <a:ext cx="9196577" cy="3104083"/>
          </a:xfrm>
          <a:prstGeom prst="roundRect">
            <a:avLst>
              <a:gd name="adj" fmla="val 6000"/>
            </a:avLst>
          </a:prstGeom>
          <a:solidFill>
            <a:srgbClr val="FEFEFE"/>
          </a:solidFill>
          <a:ln w="11430">
            <a:solidFill>
              <a:srgbClr val="095B9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6933" y="393801"/>
            <a:ext cx="4707331" cy="295351"/>
          </a:xfrm>
          <a:prstGeom prst="rect">
            <a:avLst/>
          </a:prstGeom>
          <a:noFill/>
          <a:ln>
            <a:noFill/>
          </a:ln>
        </p:spPr>
        <p:txBody>
          <a:bodyPr wrap="none" lIns="19050" rIns="19050" tIns="0" bIns="0" anchor="ctr">
            <a:noAutofit/>
          </a:bodyPr>
          <a:lstStyle/>
          <a:p>
            <a:pPr algn="l"/>
            <a:r>
              <a:rPr sz="2700" b="1">
                <a:solidFill>
                  <a:srgbClr val="455690"/>
                </a:solidFill>
                <a:latin typeface="PingFang SC"/>
              </a:rPr>
              <a:t>经验性厌氧覆盖</a:t>
            </a:r>
          </a:p>
        </p:txBody>
      </p:sp>
      <p:sp>
        <p:nvSpPr>
          <p:cNvPr id="6" name="TextBox 5"/>
          <p:cNvSpPr txBox="1"/>
          <p:nvPr/>
        </p:nvSpPr>
        <p:spPr>
          <a:xfrm>
            <a:off x="946404" y="1268272"/>
            <a:ext cx="7920990" cy="451713"/>
          </a:xfrm>
          <a:prstGeom prst="rect">
            <a:avLst/>
          </a:prstGeom>
          <a:noFill/>
          <a:ln>
            <a:noFill/>
          </a:ln>
        </p:spPr>
        <p:txBody>
          <a:bodyPr wrap="square" lIns="19050" rIns="19050" tIns="0" bIns="0" anchor="t">
            <a:normAutofit/>
          </a:bodyPr>
          <a:lstStyle/>
          <a:p>
            <a:pPr algn="l"/>
            <a:r>
              <a:rPr sz="1500" b="0">
                <a:solidFill>
                  <a:srgbClr val="848B88"/>
                </a:solidFill>
                <a:latin typeface="PingFang SC"/>
              </a:rPr>
              <a:t>28. 对于无厌氧菌感染危险因素的脓毒症或感染性休克成人患者，我们 “建议” 采用不覆盖厌氧菌的经验性抗生素治疗方案。</a:t>
            </a:r>
          </a:p>
        </p:txBody>
      </p:sp>
      <p:sp>
        <p:nvSpPr>
          <p:cNvPr id="7" name="TextBox 6"/>
          <p:cNvSpPr txBox="1"/>
          <p:nvPr/>
        </p:nvSpPr>
        <p:spPr>
          <a:xfrm>
            <a:off x="1275587" y="2183282"/>
            <a:ext cx="7591806" cy="202691"/>
          </a:xfrm>
          <a:prstGeom prst="rect">
            <a:avLst/>
          </a:prstGeom>
          <a:noFill/>
          <a:ln>
            <a:noFill/>
          </a:ln>
        </p:spPr>
        <p:txBody>
          <a:bodyPr wrap="square" lIns="19050" rIns="19050" tIns="0" bIns="0" anchor="t">
            <a:normAutofit/>
          </a:bodyPr>
          <a:lstStyle/>
          <a:p>
            <a:pPr algn="l"/>
            <a:r>
              <a:rPr sz="930" b="0">
                <a:solidFill>
                  <a:srgbClr val="ABC1A1"/>
                </a:solidFill>
                <a:latin typeface="PingFang SC"/>
              </a:rPr>
              <a:t>备注：当需要覆盖潜在多重耐药（MDR）病原体时，若缺乏抗厌氧菌活性的替代药物效果不佳，则具有抗厌氧菌活性的药物（如哌拉西林-他唑巴坦或碳青霉烯类药物）是合适的选择。</a:t>
            </a:r>
          </a:p>
        </p:txBody>
      </p:sp>
      <p:sp>
        <p:nvSpPr>
          <p:cNvPr id="8" name="TextBox 7"/>
          <p:cNvSpPr txBox="1"/>
          <p:nvPr/>
        </p:nvSpPr>
        <p:spPr>
          <a:xfrm>
            <a:off x="946404" y="2762402"/>
            <a:ext cx="7920990" cy="451713"/>
          </a:xfrm>
          <a:prstGeom prst="rect">
            <a:avLst/>
          </a:prstGeom>
          <a:noFill/>
          <a:ln>
            <a:noFill/>
          </a:ln>
        </p:spPr>
        <p:txBody>
          <a:bodyPr wrap="square" lIns="19050" rIns="19050" tIns="0" bIns="0" anchor="t">
            <a:normAutofit/>
          </a:bodyPr>
          <a:lstStyle/>
          <a:p>
            <a:pPr algn="l"/>
            <a:r>
              <a:rPr sz="1500" b="0">
                <a:solidFill>
                  <a:srgbClr val="838987"/>
                </a:solidFill>
                <a:latin typeface="PingFang SC"/>
              </a:rPr>
              <a:t>29. 对于存在厌氧菌感染特定危险因素的脓毒症或感染性休克成人患者，我们 “建议” 采用包含抗厌氧菌治疗的经验性抗生素治疗方案。</a:t>
            </a:r>
          </a:p>
        </p:txBody>
      </p:sp>
      <p:sp>
        <p:nvSpPr>
          <p:cNvPr id="9" name="TextBox 8"/>
          <p:cNvSpPr txBox="1"/>
          <p:nvPr/>
        </p:nvSpPr>
        <p:spPr>
          <a:xfrm>
            <a:off x="1275587" y="3677412"/>
            <a:ext cx="7591806" cy="202692"/>
          </a:xfrm>
          <a:prstGeom prst="rect">
            <a:avLst/>
          </a:prstGeom>
          <a:noFill/>
          <a:ln>
            <a:noFill/>
          </a:ln>
        </p:spPr>
        <p:txBody>
          <a:bodyPr wrap="square" lIns="19050" rIns="19050" tIns="0" bIns="0" anchor="t">
            <a:normAutofit/>
          </a:bodyPr>
          <a:lstStyle/>
          <a:p>
            <a:pPr algn="l"/>
            <a:r>
              <a:rPr sz="1100" b="0">
                <a:solidFill>
                  <a:srgbClr val="A8C09E"/>
                </a:solidFill>
                <a:latin typeface="PingFang SC"/>
              </a:rPr>
              <a:t>备注：厌氧菌感染的危险因素包括腹腔内或深部妇科/产科感染源、坏死性软组织感染、头颈部感染以及中枢神经系统脓肿或积脓。</a:t>
            </a:r>
          </a:p>
        </p:txBody>
      </p:sp>
      <p:sp>
        <p:nvSpPr>
          <p:cNvPr id="10" name="TextBox 9"/>
          <p:cNvSpPr txBox="1"/>
          <p:nvPr/>
        </p:nvSpPr>
        <p:spPr>
          <a:xfrm>
            <a:off x="9134856" y="1198778"/>
            <a:ext cx="769467" cy="144780"/>
          </a:xfrm>
          <a:prstGeom prst="rect">
            <a:avLst/>
          </a:prstGeom>
          <a:noFill/>
          <a:ln>
            <a:noFill/>
          </a:ln>
        </p:spPr>
        <p:txBody>
          <a:bodyPr wrap="none" lIns="19050" rIns="19050" tIns="0" bIns="0" anchor="ctr">
            <a:noAutofit/>
          </a:bodyPr>
          <a:lstStyle/>
          <a:p>
            <a:pPr algn="r"/>
            <a:r>
              <a:rPr sz="1350" b="1">
                <a:solidFill>
                  <a:srgbClr val="87ABC5"/>
                </a:solidFill>
                <a:latin typeface="PingFang SC"/>
              </a:rPr>
              <a:t>新增</a:t>
            </a:r>
          </a:p>
        </p:txBody>
      </p:sp>
      <p:sp>
        <p:nvSpPr>
          <p:cNvPr id="11" name="TextBox 10"/>
          <p:cNvSpPr txBox="1"/>
          <p:nvPr/>
        </p:nvSpPr>
        <p:spPr>
          <a:xfrm>
            <a:off x="9134856" y="2704490"/>
            <a:ext cx="769467" cy="144779"/>
          </a:xfrm>
          <a:prstGeom prst="rect">
            <a:avLst/>
          </a:prstGeom>
          <a:noFill/>
          <a:ln>
            <a:noFill/>
          </a:ln>
        </p:spPr>
        <p:txBody>
          <a:bodyPr wrap="none" lIns="19050" rIns="19050" tIns="0" bIns="0" anchor="ctr">
            <a:noAutofit/>
          </a:bodyPr>
          <a:lstStyle/>
          <a:p>
            <a:pPr algn="r"/>
            <a:r>
              <a:rPr sz="1350" b="1">
                <a:solidFill>
                  <a:srgbClr val="8AA9BE"/>
                </a:solidFill>
                <a:latin typeface="PingFang SC"/>
              </a:rPr>
              <a:t>新增</a:t>
            </a:r>
          </a:p>
        </p:txBody>
      </p:sp>
      <p:sp>
        <p:nvSpPr>
          <p:cNvPr id="12" name="TextBox 11"/>
          <p:cNvSpPr txBox="1"/>
          <p:nvPr/>
        </p:nvSpPr>
        <p:spPr>
          <a:xfrm>
            <a:off x="606933" y="5455310"/>
            <a:ext cx="2331034" cy="127406"/>
          </a:xfrm>
          <a:prstGeom prst="rect">
            <a:avLst/>
          </a:prstGeom>
          <a:noFill/>
          <a:ln>
            <a:noFill/>
          </a:ln>
        </p:spPr>
        <p:txBody>
          <a:bodyPr wrap="none" lIns="19050" rIns="19050" tIns="0" bIns="0" anchor="ctr">
            <a:noAutofit/>
          </a:bodyPr>
          <a:lstStyle/>
          <a:p>
            <a:pPr algn="l"/>
            <a:r>
              <a:rPr sz="1050" b="0">
                <a:solidFill>
                  <a:srgbClr val="D3E7E7"/>
                </a:solidFill>
                <a:latin typeface="PingFang SC"/>
              </a:rPr>
              <a:t>公众号·指南导航</a:t>
            </a:r>
          </a:p>
        </p:txBody>
      </p:sp>
      <p:sp>
        <p:nvSpPr>
          <p:cNvPr id="13" name="TextBox 12"/>
          <p:cNvSpPr txBox="1"/>
          <p:nvPr/>
        </p:nvSpPr>
        <p:spPr>
          <a:xfrm>
            <a:off x="10287000" y="5339486"/>
            <a:ext cx="0" cy="208483"/>
          </a:xfrm>
          <a:prstGeom prst="rect">
            <a:avLst/>
          </a:prstGeom>
          <a:noFill/>
          <a:ln>
            <a:noFill/>
          </a:ln>
        </p:spPr>
        <p:txBody>
          <a:bodyPr wrap="none" lIns="19050" rIns="19050" tIns="0" bIns="0" anchor="ctr">
            <a:noAutofit/>
          </a:bodyPr>
          <a:lstStyle/>
          <a:p>
            <a:pPr algn="r"/>
            <a:r>
              <a:rPr sz="1350" b="0">
                <a:solidFill>
                  <a:srgbClr val="000000"/>
                </a:solidFill>
                <a:latin typeface="PingFang SC"/>
              </a:rPr>
              <a:t>19</a:t>
            </a:r>
          </a:p>
        </p:txBody>
      </p:sp>
      <p:sp>
        <p:nvSpPr>
          <p:cNvPr id="14" name="TextBox 13"/>
          <p:cNvSpPr txBox="1"/>
          <p:nvPr/>
        </p:nvSpPr>
        <p:spPr>
          <a:xfrm>
            <a:off x="8353044" y="185318"/>
            <a:ext cx="3847337" cy="416966"/>
          </a:xfrm>
          <a:prstGeom prst="rect">
            <a:avLst/>
          </a:prstGeom>
          <a:noFill/>
          <a:ln>
            <a:noFill/>
          </a:ln>
        </p:spPr>
        <p:txBody>
          <a:bodyPr wrap="none" lIns="19050" rIns="19050" tIns="0" bIns="0" anchor="ctr">
            <a:noAutofit/>
          </a:bodyPr>
          <a:lstStyle/>
          <a:p>
            <a:pPr algn="r"/>
            <a:r>
              <a:rPr sz="1800" b="0">
                <a:solidFill>
                  <a:srgbClr val="AFC3A8"/>
                </a:solidFill>
                <a:latin typeface="PingFang SC"/>
              </a:rPr>
              <a:t>Surviving Sepsis Campaign</a:t>
            </a:r>
          </a:p>
        </p:txBody>
      </p:sp>
      <p:pic>
        <p:nvPicPr>
          <p:cNvPr id="15" name="Picture 14" descr="tmp7294v02w.png"/>
          <p:cNvPicPr>
            <a:picLocks noChangeAspect="1"/>
          </p:cNvPicPr>
          <p:nvPr/>
        </p:nvPicPr>
        <p:blipFill>
          <a:blip r:embed="rId3"/>
          <a:stretch>
            <a:fillRect/>
          </a:stretch>
        </p:blipFill>
        <p:spPr>
          <a:xfrm>
            <a:off x="1228725" y="1876425"/>
            <a:ext cx="257175" cy="190500"/>
          </a:xfrm>
          <a:prstGeom prst="rect">
            <a:avLst/>
          </a:prstGeom>
        </p:spPr>
      </p:pic>
      <p:pic>
        <p:nvPicPr>
          <p:cNvPr id="16" name="Picture 15" descr="tmpr4tudrz1.png"/>
          <p:cNvPicPr>
            <a:picLocks noChangeAspect="1"/>
          </p:cNvPicPr>
          <p:nvPr/>
        </p:nvPicPr>
        <p:blipFill>
          <a:blip r:embed="rId4"/>
          <a:stretch>
            <a:fillRect/>
          </a:stretch>
        </p:blipFill>
        <p:spPr>
          <a:xfrm>
            <a:off x="1228725" y="3324225"/>
            <a:ext cx="257175" cy="190500"/>
          </a:xfrm>
          <a:prstGeom prst="rect">
            <a:avLst/>
          </a:prstGeom>
        </p:spPr>
      </p:pic>
      <p:pic>
        <p:nvPicPr>
          <p:cNvPr id="17" name="Picture 16" descr="tmpq0q5r5to.png"/>
          <p:cNvPicPr>
            <a:picLocks noChangeAspect="1"/>
          </p:cNvPicPr>
          <p:nvPr/>
        </p:nvPicPr>
        <p:blipFill>
          <a:blip r:embed="rId5"/>
          <a:stretch>
            <a:fillRect/>
          </a:stretch>
        </p:blipFill>
        <p:spPr>
          <a:xfrm>
            <a:off x="1562100" y="1876425"/>
            <a:ext cx="962025" cy="190500"/>
          </a:xfrm>
          <a:prstGeom prst="rect">
            <a:avLst/>
          </a:prstGeom>
        </p:spPr>
      </p:pic>
      <p:pic>
        <p:nvPicPr>
          <p:cNvPr id="18" name="Picture 17" descr="tmptlry0gor.png"/>
          <p:cNvPicPr>
            <a:picLocks noChangeAspect="1"/>
          </p:cNvPicPr>
          <p:nvPr/>
        </p:nvPicPr>
        <p:blipFill>
          <a:blip r:embed="rId6"/>
          <a:stretch>
            <a:fillRect/>
          </a:stretch>
        </p:blipFill>
        <p:spPr>
          <a:xfrm>
            <a:off x="1562100" y="3324225"/>
            <a:ext cx="962025" cy="1905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55498" y="967130"/>
            <a:ext cx="9196577" cy="1013460"/>
          </a:xfrm>
          <a:prstGeom prst="roundRect">
            <a:avLst>
              <a:gd name="adj" fmla="val 6000"/>
            </a:avLst>
          </a:prstGeom>
          <a:solidFill>
            <a:srgbClr val="FEFEFE"/>
          </a:solidFill>
          <a:ln w="11430">
            <a:solidFill>
              <a:srgbClr val="1458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55498" y="2820314"/>
            <a:ext cx="9196577" cy="1343558"/>
          </a:xfrm>
          <a:prstGeom prst="roundRect">
            <a:avLst>
              <a:gd name="adj" fmla="val 6000"/>
            </a:avLst>
          </a:prstGeom>
          <a:solidFill>
            <a:srgbClr val="FDFEFE"/>
          </a:solidFill>
          <a:ln w="11430">
            <a:solidFill>
              <a:srgbClr val="F3FE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55498" y="428548"/>
            <a:ext cx="8228075" cy="289560"/>
          </a:xfrm>
          <a:prstGeom prst="rect">
            <a:avLst/>
          </a:prstGeom>
          <a:noFill/>
          <a:ln>
            <a:noFill/>
          </a:ln>
        </p:spPr>
        <p:txBody>
          <a:bodyPr wrap="none" lIns="19050" rIns="19050" tIns="0" bIns="0" anchor="ctr">
            <a:noAutofit/>
          </a:bodyPr>
          <a:lstStyle/>
          <a:p>
            <a:pPr algn="l"/>
            <a:r>
              <a:rPr sz="2100" b="1">
                <a:solidFill>
                  <a:srgbClr val="5885AA"/>
                </a:solidFill>
                <a:latin typeface="PingFang SC"/>
              </a:rPr>
              <a:t>微生物监测以指导经验性抗菌治疗</a:t>
            </a:r>
          </a:p>
        </p:txBody>
      </p:sp>
      <p:sp>
        <p:nvSpPr>
          <p:cNvPr id="6" name="TextBox 5"/>
          <p:cNvSpPr txBox="1"/>
          <p:nvPr/>
        </p:nvSpPr>
        <p:spPr>
          <a:xfrm>
            <a:off x="905255" y="1256690"/>
            <a:ext cx="8065008" cy="463295"/>
          </a:xfrm>
          <a:prstGeom prst="rect">
            <a:avLst/>
          </a:prstGeom>
          <a:noFill/>
          <a:ln>
            <a:noFill/>
          </a:ln>
        </p:spPr>
        <p:txBody>
          <a:bodyPr wrap="square" lIns="19050" rIns="19050" tIns="0" bIns="0" anchor="t">
            <a:normAutofit/>
          </a:bodyPr>
          <a:lstStyle/>
          <a:p>
            <a:pPr algn="l"/>
            <a:r>
              <a:rPr sz="1350" b="0">
                <a:solidFill>
                  <a:srgbClr val="848B8E"/>
                </a:solidFill>
                <a:latin typeface="PingFang SC"/>
              </a:rPr>
              <a:t>30. 关于使用科室（即重症监护病房范围内）上呼吸道微生物监测样本指导经验性抗菌治疗，目前“证据不足”，无法给出相关建议。</a:t>
            </a:r>
          </a:p>
        </p:txBody>
      </p:sp>
      <p:sp>
        <p:nvSpPr>
          <p:cNvPr id="7" name="TextBox 6"/>
          <p:cNvSpPr txBox="1"/>
          <p:nvPr/>
        </p:nvSpPr>
        <p:spPr>
          <a:xfrm>
            <a:off x="555498" y="2299106"/>
            <a:ext cx="7302246" cy="289560"/>
          </a:xfrm>
          <a:prstGeom prst="rect">
            <a:avLst/>
          </a:prstGeom>
          <a:noFill/>
          <a:ln>
            <a:noFill/>
          </a:ln>
        </p:spPr>
        <p:txBody>
          <a:bodyPr wrap="none" lIns="19050" rIns="19050" tIns="0" bIns="0" anchor="ctr">
            <a:noAutofit/>
          </a:bodyPr>
          <a:lstStyle/>
          <a:p>
            <a:pPr algn="l"/>
            <a:r>
              <a:rPr sz="2100" b="1">
                <a:solidFill>
                  <a:srgbClr val="5B8CB0"/>
                </a:solidFill>
                <a:latin typeface="PingFang SC"/>
              </a:rPr>
              <a:t>病原体特异性快速诊断检测</a:t>
            </a:r>
          </a:p>
        </p:txBody>
      </p:sp>
      <p:sp>
        <p:nvSpPr>
          <p:cNvPr id="8" name="TextBox 7"/>
          <p:cNvSpPr txBox="1"/>
          <p:nvPr/>
        </p:nvSpPr>
        <p:spPr>
          <a:xfrm>
            <a:off x="905255" y="3109874"/>
            <a:ext cx="8065008" cy="463295"/>
          </a:xfrm>
          <a:prstGeom prst="rect">
            <a:avLst/>
          </a:prstGeom>
          <a:noFill/>
          <a:ln>
            <a:noFill/>
          </a:ln>
        </p:spPr>
        <p:txBody>
          <a:bodyPr wrap="square" lIns="19050" rIns="19050" tIns="0" bIns="0" anchor="t">
            <a:normAutofit/>
          </a:bodyPr>
          <a:lstStyle/>
          <a:p>
            <a:pPr algn="l"/>
            <a:r>
              <a:rPr sz="1350" b="0">
                <a:solidFill>
                  <a:srgbClr val="899090"/>
                </a:solidFill>
                <a:latin typeface="PingFang SC"/>
              </a:rPr>
              <a:t>31. 对于患有脓毒症或感染性休克的成年人，我们“建议”根据临床特征、当地病原体及耐药模式、季节性、检测手段的可及性以及抗菌药物管理指南，对经过筛选的患者逐例使用病原体特异性快速诊断检测。</a:t>
            </a:r>
          </a:p>
        </p:txBody>
      </p:sp>
      <p:sp>
        <p:nvSpPr>
          <p:cNvPr id="9" name="TextBox 8"/>
          <p:cNvSpPr txBox="1"/>
          <p:nvPr/>
        </p:nvSpPr>
        <p:spPr>
          <a:xfrm>
            <a:off x="9134856" y="1181404"/>
            <a:ext cx="814730" cy="144780"/>
          </a:xfrm>
          <a:prstGeom prst="rect">
            <a:avLst/>
          </a:prstGeom>
          <a:noFill/>
          <a:ln>
            <a:noFill/>
          </a:ln>
        </p:spPr>
        <p:txBody>
          <a:bodyPr wrap="none" lIns="19050" rIns="19050" tIns="0" bIns="0" anchor="ctr">
            <a:noAutofit/>
          </a:bodyPr>
          <a:lstStyle/>
          <a:p>
            <a:pPr algn="r"/>
            <a:r>
              <a:rPr sz="1200" b="1">
                <a:solidFill>
                  <a:srgbClr val="88AEC8"/>
                </a:solidFill>
                <a:latin typeface="PingFang SC"/>
              </a:rPr>
              <a:t>新增</a:t>
            </a:r>
          </a:p>
        </p:txBody>
      </p:sp>
      <p:sp>
        <p:nvSpPr>
          <p:cNvPr id="10" name="TextBox 9"/>
          <p:cNvSpPr txBox="1"/>
          <p:nvPr/>
        </p:nvSpPr>
        <p:spPr>
          <a:xfrm>
            <a:off x="9134856" y="3034588"/>
            <a:ext cx="814730" cy="144780"/>
          </a:xfrm>
          <a:prstGeom prst="rect">
            <a:avLst/>
          </a:prstGeom>
          <a:noFill/>
          <a:ln>
            <a:noFill/>
          </a:ln>
        </p:spPr>
        <p:txBody>
          <a:bodyPr wrap="none" lIns="19050" rIns="19050" tIns="0" bIns="0" anchor="ctr">
            <a:noAutofit/>
          </a:bodyPr>
          <a:lstStyle/>
          <a:p>
            <a:pPr algn="r"/>
            <a:r>
              <a:rPr sz="1200" b="1">
                <a:solidFill>
                  <a:srgbClr val="8FADC3"/>
                </a:solidFill>
                <a:latin typeface="PingFang SC"/>
              </a:rPr>
              <a:t>新增</a:t>
            </a:r>
          </a:p>
        </p:txBody>
      </p:sp>
      <p:sp>
        <p:nvSpPr>
          <p:cNvPr id="11" name="TextBox 10"/>
          <p:cNvSpPr txBox="1"/>
          <p:nvPr/>
        </p:nvSpPr>
        <p:spPr>
          <a:xfrm>
            <a:off x="555498" y="4905146"/>
            <a:ext cx="2444191" cy="318516"/>
          </a:xfrm>
          <a:prstGeom prst="rect">
            <a:avLst/>
          </a:prstGeom>
          <a:noFill/>
          <a:ln>
            <a:noFill/>
          </a:ln>
        </p:spPr>
        <p:txBody>
          <a:bodyPr wrap="none" lIns="19050" rIns="19050" tIns="0" bIns="0" anchor="ctr">
            <a:noAutofit/>
          </a:bodyPr>
          <a:lstStyle/>
          <a:p>
            <a:pPr algn="l"/>
            <a:r>
              <a:rPr sz="900" b="0">
                <a:solidFill>
                  <a:srgbClr val="979797"/>
                </a:solidFill>
                <a:latin typeface="PingFang SC"/>
              </a:rPr>
              <a:t>Society of Critical Care Medicine</a:t>
            </a:r>
          </a:p>
          <a:p>
            <a:pPr algn="l"/>
            <a:r>
              <a:rPr sz="900" b="0">
                <a:solidFill>
                  <a:srgbClr val="979797"/>
                </a:solidFill>
                <a:latin typeface="PingFang SC"/>
              </a:rPr>
              <a:t>The Intensive Care Professionals</a:t>
            </a:r>
          </a:p>
        </p:txBody>
      </p:sp>
      <p:sp>
        <p:nvSpPr>
          <p:cNvPr id="12" name="TextBox 11"/>
          <p:cNvSpPr txBox="1"/>
          <p:nvPr/>
        </p:nvSpPr>
        <p:spPr>
          <a:xfrm>
            <a:off x="1769364" y="4905146"/>
            <a:ext cx="2036826" cy="260604"/>
          </a:xfrm>
          <a:prstGeom prst="rect">
            <a:avLst/>
          </a:prstGeom>
          <a:noFill/>
          <a:ln>
            <a:noFill/>
          </a:ln>
        </p:spPr>
        <p:txBody>
          <a:bodyPr wrap="none" lIns="19050" rIns="19050" tIns="0" bIns="0" anchor="ctr">
            <a:noAutofit/>
          </a:bodyPr>
          <a:lstStyle/>
          <a:p>
            <a:pPr algn="l"/>
            <a:r>
              <a:rPr sz="900" b="0">
                <a:solidFill>
                  <a:srgbClr val="7254AE"/>
                </a:solidFill>
                <a:latin typeface="PingFang SC"/>
              </a:rPr>
              <a:t>esicm</a:t>
            </a:r>
          </a:p>
          <a:p>
            <a:pPr algn="l"/>
            <a:r>
              <a:rPr sz="900" b="0">
                <a:solidFill>
                  <a:srgbClr val="7254AE"/>
                </a:solidFill>
                <a:latin typeface="PingFang SC"/>
              </a:rPr>
              <a:t>European Society of Intensive Care Medicine</a:t>
            </a:r>
          </a:p>
        </p:txBody>
      </p:sp>
      <p:sp>
        <p:nvSpPr>
          <p:cNvPr id="13" name="TextBox 12"/>
          <p:cNvSpPr txBox="1"/>
          <p:nvPr/>
        </p:nvSpPr>
        <p:spPr>
          <a:xfrm>
            <a:off x="555498" y="5455310"/>
            <a:ext cx="2444191" cy="144780"/>
          </a:xfrm>
          <a:prstGeom prst="rect">
            <a:avLst/>
          </a:prstGeom>
          <a:noFill/>
          <a:ln>
            <a:noFill/>
          </a:ln>
        </p:spPr>
        <p:txBody>
          <a:bodyPr wrap="none" lIns="19050" rIns="19050" tIns="0" bIns="0" anchor="ctr">
            <a:noAutofit/>
          </a:bodyPr>
          <a:lstStyle/>
          <a:p>
            <a:pPr algn="l"/>
            <a:r>
              <a:rPr sz="1050" b="0">
                <a:solidFill>
                  <a:srgbClr val="D3E7E7"/>
                </a:solidFill>
                <a:latin typeface="PingFang SC"/>
              </a:rPr>
              <a:t>公众号·指南导航</a:t>
            </a:r>
          </a:p>
        </p:txBody>
      </p:sp>
      <p:sp>
        <p:nvSpPr>
          <p:cNvPr id="14" name="TextBox 13"/>
          <p:cNvSpPr txBox="1"/>
          <p:nvPr/>
        </p:nvSpPr>
        <p:spPr>
          <a:xfrm>
            <a:off x="10287000" y="5339486"/>
            <a:ext cx="0" cy="231647"/>
          </a:xfrm>
          <a:prstGeom prst="rect">
            <a:avLst/>
          </a:prstGeom>
          <a:noFill/>
          <a:ln>
            <a:noFill/>
          </a:ln>
        </p:spPr>
        <p:txBody>
          <a:bodyPr wrap="none" lIns="19050" rIns="19050" tIns="0" bIns="0" anchor="ctr">
            <a:noAutofit/>
          </a:bodyPr>
          <a:lstStyle/>
          <a:p>
            <a:pPr algn="r"/>
            <a:r>
              <a:rPr sz="1350" b="0">
                <a:solidFill>
                  <a:srgbClr val="000000"/>
                </a:solidFill>
                <a:latin typeface="PingFang SC"/>
              </a:rPr>
              <a:t>20</a:t>
            </a:r>
          </a:p>
        </p:txBody>
      </p:sp>
      <p:sp>
        <p:nvSpPr>
          <p:cNvPr id="15" name="TextBox 14"/>
          <p:cNvSpPr txBox="1"/>
          <p:nvPr/>
        </p:nvSpPr>
        <p:spPr>
          <a:xfrm>
            <a:off x="8353044" y="162153"/>
            <a:ext cx="3847337" cy="440131"/>
          </a:xfrm>
          <a:prstGeom prst="rect">
            <a:avLst/>
          </a:prstGeom>
          <a:noFill/>
          <a:ln>
            <a:noFill/>
          </a:ln>
        </p:spPr>
        <p:txBody>
          <a:bodyPr wrap="none" lIns="19050" rIns="19050" tIns="0" bIns="0" anchor="ctr">
            <a:noAutofit/>
          </a:bodyPr>
          <a:lstStyle/>
          <a:p>
            <a:pPr algn="r"/>
            <a:r>
              <a:rPr sz="1500" b="0">
                <a:solidFill>
                  <a:srgbClr val="AFC4A8"/>
                </a:solidFill>
                <a:latin typeface="PingFang SC"/>
              </a:rPr>
              <a:t>Surviving Sepsis Campaign</a:t>
            </a:r>
          </a:p>
        </p:txBody>
      </p:sp>
      <p:pic>
        <p:nvPicPr>
          <p:cNvPr id="16" name="Picture 15" descr="tmp5kyw4mey.png"/>
          <p:cNvPicPr>
            <a:picLocks noChangeAspect="1"/>
          </p:cNvPicPr>
          <p:nvPr/>
        </p:nvPicPr>
        <p:blipFill>
          <a:blip r:embed="rId2"/>
          <a:stretch>
            <a:fillRect/>
          </a:stretch>
        </p:blipFill>
        <p:spPr>
          <a:xfrm>
            <a:off x="1171575" y="3743325"/>
            <a:ext cx="247650" cy="209550"/>
          </a:xfrm>
          <a:prstGeom prst="rect">
            <a:avLst/>
          </a:prstGeom>
        </p:spPr>
      </p:pic>
      <p:pic>
        <p:nvPicPr>
          <p:cNvPr id="17" name="Picture 16" descr="tmp2x5tx62v.png"/>
          <p:cNvPicPr>
            <a:picLocks noChangeAspect="1"/>
          </p:cNvPicPr>
          <p:nvPr/>
        </p:nvPicPr>
        <p:blipFill>
          <a:blip r:embed="rId3"/>
          <a:stretch>
            <a:fillRect/>
          </a:stretch>
        </p:blipFill>
        <p:spPr>
          <a:xfrm>
            <a:off x="1524000" y="3743325"/>
            <a:ext cx="247650" cy="209550"/>
          </a:xfrm>
          <a:prstGeom prst="rect">
            <a:avLst/>
          </a:prstGeom>
        </p:spPr>
      </p:pic>
      <p:pic>
        <p:nvPicPr>
          <p:cNvPr id="18" name="Picture 17" descr="tmpcqw1twgp.png"/>
          <p:cNvPicPr>
            <a:picLocks noChangeAspect="1"/>
          </p:cNvPicPr>
          <p:nvPr/>
        </p:nvPicPr>
        <p:blipFill>
          <a:blip r:embed="rId4"/>
          <a:stretch>
            <a:fillRect/>
          </a:stretch>
        </p:blipFill>
        <p:spPr>
          <a:xfrm>
            <a:off x="1876425" y="3743325"/>
            <a:ext cx="238125" cy="209550"/>
          </a:xfrm>
          <a:prstGeom prst="rect">
            <a:avLst/>
          </a:prstGeom>
        </p:spPr>
      </p:pic>
      <p:pic>
        <p:nvPicPr>
          <p:cNvPr id="19" name="Picture 18" descr="tmpdr2c3oa5.png"/>
          <p:cNvPicPr>
            <a:picLocks noChangeAspect="1"/>
          </p:cNvPicPr>
          <p:nvPr/>
        </p:nvPicPr>
        <p:blipFill>
          <a:blip r:embed="rId5"/>
          <a:stretch>
            <a:fillRect/>
          </a:stretch>
        </p:blipFill>
        <p:spPr>
          <a:xfrm>
            <a:off x="2219325" y="3743325"/>
            <a:ext cx="247650" cy="209550"/>
          </a:xfrm>
          <a:prstGeom prst="rect">
            <a:avLst/>
          </a:prstGeom>
        </p:spPr>
      </p:pic>
      <p:pic>
        <p:nvPicPr>
          <p:cNvPr id="20" name="Picture 19" descr="tmpvef7ox66.png"/>
          <p:cNvPicPr>
            <a:picLocks noChangeAspect="1"/>
          </p:cNvPicPr>
          <p:nvPr/>
        </p:nvPicPr>
        <p:blipFill>
          <a:blip r:embed="rId6"/>
          <a:stretch>
            <a:fillRect/>
          </a:stretch>
        </p:blipFill>
        <p:spPr>
          <a:xfrm>
            <a:off x="2571750" y="3743325"/>
            <a:ext cx="247650" cy="209550"/>
          </a:xfrm>
          <a:prstGeom prst="rect">
            <a:avLst/>
          </a:prstGeom>
        </p:spPr>
      </p:pic>
      <p:pic>
        <p:nvPicPr>
          <p:cNvPr id="21" name="Picture 20" descr="tmp45rmf84k.png"/>
          <p:cNvPicPr>
            <a:picLocks noChangeAspect="1"/>
          </p:cNvPicPr>
          <p:nvPr/>
        </p:nvPicPr>
        <p:blipFill>
          <a:blip r:embed="rId7"/>
          <a:stretch>
            <a:fillRect/>
          </a:stretch>
        </p:blipFill>
        <p:spPr>
          <a:xfrm>
            <a:off x="552450" y="476250"/>
            <a:ext cx="352425" cy="200025"/>
          </a:xfrm>
          <a:prstGeom prst="rect">
            <a:avLst/>
          </a:prstGeom>
        </p:spPr>
      </p:pic>
      <p:pic>
        <p:nvPicPr>
          <p:cNvPr id="22" name="Picture 21" descr="tmp4zv626ra.png"/>
          <p:cNvPicPr>
            <a:picLocks noChangeAspect="1"/>
          </p:cNvPicPr>
          <p:nvPr/>
        </p:nvPicPr>
        <p:blipFill>
          <a:blip r:embed="rId8"/>
          <a:stretch>
            <a:fillRect/>
          </a:stretch>
        </p:blipFill>
        <p:spPr>
          <a:xfrm>
            <a:off x="552450" y="2352675"/>
            <a:ext cx="352425" cy="20955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86359" y="972921"/>
            <a:ext cx="9103995" cy="1517294"/>
          </a:xfrm>
          <a:prstGeom prst="roundRect">
            <a:avLst>
              <a:gd name="adj" fmla="val 6000"/>
            </a:avLst>
          </a:prstGeom>
          <a:solidFill>
            <a:srgbClr val="FEFEFD"/>
          </a:solidFill>
          <a:ln w="11430">
            <a:solidFill>
              <a:srgbClr val="1B55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86359" y="3109874"/>
            <a:ext cx="9103995" cy="1511503"/>
          </a:xfrm>
          <a:prstGeom prst="roundRect">
            <a:avLst>
              <a:gd name="adj" fmla="val 6000"/>
            </a:avLst>
          </a:prstGeom>
          <a:solidFill>
            <a:srgbClr val="FDFEFE"/>
          </a:solidFill>
          <a:ln w="11430">
            <a:solidFill>
              <a:srgbClr val="E2F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86359" y="4656124"/>
            <a:ext cx="9103995" cy="857097"/>
          </a:xfrm>
          <a:prstGeom prst="rect">
            <a:avLst/>
          </a:prstGeom>
          <a:solidFill>
            <a:srgbClr val="E1E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6359" y="434340"/>
            <a:ext cx="9822561" cy="272186"/>
          </a:xfrm>
          <a:prstGeom prst="rect">
            <a:avLst/>
          </a:prstGeom>
          <a:noFill/>
          <a:ln>
            <a:noFill/>
          </a:ln>
        </p:spPr>
        <p:txBody>
          <a:bodyPr wrap="none" lIns="19050" rIns="19050" tIns="0" bIns="0" anchor="ctr">
            <a:noAutofit/>
          </a:bodyPr>
          <a:lstStyle/>
          <a:p>
            <a:pPr algn="l"/>
            <a:r>
              <a:rPr sz="2400" b="1">
                <a:solidFill>
                  <a:srgbClr val="5583AB"/>
                </a:solidFill>
                <a:latin typeface="PingFang SC"/>
              </a:rPr>
              <a:t>念珠菌真菌生物标志物用于指导抗真菌治疗的启动</a:t>
            </a:r>
          </a:p>
        </p:txBody>
      </p:sp>
      <p:sp>
        <p:nvSpPr>
          <p:cNvPr id="7" name="TextBox 6"/>
          <p:cNvSpPr txBox="1"/>
          <p:nvPr/>
        </p:nvSpPr>
        <p:spPr>
          <a:xfrm>
            <a:off x="8353044" y="185318"/>
            <a:ext cx="3734181" cy="405384"/>
          </a:xfrm>
          <a:prstGeom prst="rect">
            <a:avLst/>
          </a:prstGeom>
          <a:noFill/>
          <a:ln>
            <a:noFill/>
          </a:ln>
        </p:spPr>
        <p:txBody>
          <a:bodyPr wrap="none" lIns="19050" rIns="19050" tIns="0" bIns="0" anchor="ctr">
            <a:noAutofit/>
          </a:bodyPr>
          <a:lstStyle/>
          <a:p>
            <a:pPr algn="r"/>
            <a:r>
              <a:rPr sz="1800" b="0">
                <a:solidFill>
                  <a:srgbClr val="B0C3A9"/>
                </a:solidFill>
                <a:latin typeface="PingFang SC"/>
              </a:rPr>
              <a:t>Surviving Sepsis Campaign</a:t>
            </a:r>
          </a:p>
        </p:txBody>
      </p:sp>
      <p:sp>
        <p:nvSpPr>
          <p:cNvPr id="8" name="TextBox 7"/>
          <p:cNvSpPr txBox="1"/>
          <p:nvPr/>
        </p:nvSpPr>
        <p:spPr>
          <a:xfrm>
            <a:off x="1049274" y="1262481"/>
            <a:ext cx="8126730" cy="196900"/>
          </a:xfrm>
          <a:prstGeom prst="rect">
            <a:avLst/>
          </a:prstGeom>
          <a:noFill/>
          <a:ln>
            <a:noFill/>
          </a:ln>
        </p:spPr>
        <p:txBody>
          <a:bodyPr wrap="square" lIns="19050" rIns="19050" tIns="0" bIns="0" anchor="t">
            <a:normAutofit/>
          </a:bodyPr>
          <a:lstStyle/>
          <a:p>
            <a:pPr algn="l"/>
            <a:r>
              <a:rPr sz="1160" b="0">
                <a:solidFill>
                  <a:srgbClr val="878E8A"/>
                </a:solidFill>
                <a:latin typeface="PingFang SC"/>
              </a:rPr>
              <a:t>32. 对于患有脓毒症或感染性休克的成年人，我们“建议不”使用念珠菌真菌生物标志物来指导经验性抗真菌治疗的启动。</a:t>
            </a:r>
          </a:p>
        </p:txBody>
      </p:sp>
      <p:sp>
        <p:nvSpPr>
          <p:cNvPr id="9" name="TextBox 8"/>
          <p:cNvSpPr txBox="1"/>
          <p:nvPr/>
        </p:nvSpPr>
        <p:spPr>
          <a:xfrm>
            <a:off x="1255014" y="1899513"/>
            <a:ext cx="7920990" cy="370636"/>
          </a:xfrm>
          <a:prstGeom prst="rect">
            <a:avLst/>
          </a:prstGeom>
          <a:noFill/>
          <a:ln>
            <a:noFill/>
          </a:ln>
        </p:spPr>
        <p:txBody>
          <a:bodyPr wrap="square" lIns="19050" rIns="19050" tIns="0" bIns="0" anchor="t">
            <a:normAutofit/>
          </a:bodyPr>
          <a:lstStyle/>
          <a:p>
            <a:pPr algn="l"/>
            <a:r>
              <a:rPr sz="1210" b="0">
                <a:solidFill>
                  <a:srgbClr val="AAC2A0"/>
                </a:solidFill>
                <a:latin typeface="PingFang SC"/>
              </a:rPr>
              <a:t>备注：对于经筛选的、存在念珠菌感染高风险的患者（包括免疫抑制者、长期使用抗生素者、长期住院者以及腹腔内感染源患者），可根据具体情况考虑使用念珠菌生物标志物来指导经验性抗真菌治疗的启动。</a:t>
            </a:r>
          </a:p>
        </p:txBody>
      </p:sp>
      <p:sp>
        <p:nvSpPr>
          <p:cNvPr id="10" name="TextBox 9"/>
          <p:cNvSpPr txBox="1"/>
          <p:nvPr/>
        </p:nvSpPr>
        <p:spPr>
          <a:xfrm>
            <a:off x="586359" y="2617622"/>
            <a:ext cx="7888605" cy="249021"/>
          </a:xfrm>
          <a:prstGeom prst="rect">
            <a:avLst/>
          </a:prstGeom>
          <a:noFill/>
          <a:ln>
            <a:noFill/>
          </a:ln>
        </p:spPr>
        <p:txBody>
          <a:bodyPr wrap="none" lIns="19050" rIns="19050" tIns="0" bIns="0" anchor="ctr">
            <a:noAutofit/>
          </a:bodyPr>
          <a:lstStyle/>
          <a:p>
            <a:pPr algn="l"/>
            <a:r>
              <a:rPr sz="2400" b="1">
                <a:solidFill>
                  <a:srgbClr val="5585AD"/>
                </a:solidFill>
                <a:latin typeface="PingFang SC"/>
              </a:rPr>
              <a:t>β-内酰胺类抗生素的持续输注</a:t>
            </a:r>
          </a:p>
        </p:txBody>
      </p:sp>
      <p:sp>
        <p:nvSpPr>
          <p:cNvPr id="11" name="TextBox 10"/>
          <p:cNvSpPr txBox="1"/>
          <p:nvPr/>
        </p:nvSpPr>
        <p:spPr>
          <a:xfrm>
            <a:off x="1049274" y="3399434"/>
            <a:ext cx="8126730" cy="376428"/>
          </a:xfrm>
          <a:prstGeom prst="rect">
            <a:avLst/>
          </a:prstGeom>
          <a:noFill/>
          <a:ln>
            <a:noFill/>
          </a:ln>
        </p:spPr>
        <p:txBody>
          <a:bodyPr wrap="square" lIns="19050" rIns="19050" tIns="0" bIns="0" anchor="t">
            <a:normAutofit/>
          </a:bodyPr>
          <a:lstStyle/>
          <a:p>
            <a:pPr algn="l"/>
            <a:r>
              <a:rPr sz="1460" b="0">
                <a:solidFill>
                  <a:srgbClr val="828588"/>
                </a:solidFill>
                <a:latin typeface="PingFang SC"/>
              </a:rPr>
              <a:t>33. 对于患有脓毒症或感染性休克的成年人，我们“推荐”在初始负荷剂量后，采用β-内酰胺类药物长时间输注维持治疗，而非单次大剂量给药。</a:t>
            </a:r>
          </a:p>
        </p:txBody>
      </p:sp>
      <p:sp>
        <p:nvSpPr>
          <p:cNvPr id="12" name="TextBox 11"/>
          <p:cNvSpPr txBox="1"/>
          <p:nvPr/>
        </p:nvSpPr>
        <p:spPr>
          <a:xfrm>
            <a:off x="586359" y="4621377"/>
            <a:ext cx="3734181" cy="150571"/>
          </a:xfrm>
          <a:prstGeom prst="rect">
            <a:avLst/>
          </a:prstGeom>
          <a:noFill/>
          <a:ln>
            <a:noFill/>
          </a:ln>
        </p:spPr>
        <p:txBody>
          <a:bodyPr wrap="none" lIns="19050" rIns="19050" tIns="0" bIns="0" anchor="ctr">
            <a:noAutofit/>
          </a:bodyPr>
          <a:lstStyle/>
          <a:p>
            <a:pPr algn="l"/>
            <a:r>
              <a:rPr sz="1350" b="1">
                <a:solidFill>
                  <a:srgbClr val="66A1BE"/>
                </a:solidFill>
                <a:latin typeface="PingFang SC"/>
              </a:rPr>
              <a:t>2021年声明 (33)</a:t>
            </a:r>
          </a:p>
        </p:txBody>
      </p:sp>
      <p:sp>
        <p:nvSpPr>
          <p:cNvPr id="13" name="TextBox 12"/>
          <p:cNvSpPr txBox="1"/>
          <p:nvPr/>
        </p:nvSpPr>
        <p:spPr>
          <a:xfrm>
            <a:off x="1049274" y="4876190"/>
            <a:ext cx="8126730" cy="196900"/>
          </a:xfrm>
          <a:prstGeom prst="rect">
            <a:avLst/>
          </a:prstGeom>
          <a:noFill/>
          <a:ln>
            <a:noFill/>
          </a:ln>
        </p:spPr>
        <p:txBody>
          <a:bodyPr wrap="square" lIns="19050" rIns="19050" tIns="0" bIns="0" anchor="t">
            <a:normAutofit/>
          </a:bodyPr>
          <a:lstStyle/>
          <a:p>
            <a:pPr algn="l"/>
            <a:r>
              <a:rPr sz="1090" b="0">
                <a:solidFill>
                  <a:srgbClr val="969FAA"/>
                </a:solidFill>
                <a:latin typeface="PingFang SC"/>
              </a:rPr>
              <a:t>对于患有脓毒症或脓毒性休克的成人，建议在初始负荷剂量后，采用β-内酰胺类药物长时间输注维持治疗，而非传统的单次推注输注方式。</a:t>
            </a:r>
          </a:p>
        </p:txBody>
      </p:sp>
      <p:sp>
        <p:nvSpPr>
          <p:cNvPr id="14" name="TextBox 13"/>
          <p:cNvSpPr txBox="1"/>
          <p:nvPr/>
        </p:nvSpPr>
        <p:spPr>
          <a:xfrm>
            <a:off x="10287000" y="5339486"/>
            <a:ext cx="0" cy="173736"/>
          </a:xfrm>
          <a:prstGeom prst="rect">
            <a:avLst/>
          </a:prstGeom>
          <a:noFill/>
          <a:ln>
            <a:noFill/>
          </a:ln>
        </p:spPr>
        <p:txBody>
          <a:bodyPr wrap="none" lIns="19050" rIns="19050" tIns="0" bIns="0" anchor="ctr">
            <a:noAutofit/>
          </a:bodyPr>
          <a:lstStyle/>
          <a:p>
            <a:pPr algn="r"/>
            <a:r>
              <a:rPr sz="1350" b="0">
                <a:solidFill>
                  <a:srgbClr val="000000"/>
                </a:solidFill>
                <a:latin typeface="PingFang SC"/>
              </a:rPr>
              <a:t>21</a:t>
            </a:r>
          </a:p>
        </p:txBody>
      </p:sp>
      <p:sp>
        <p:nvSpPr>
          <p:cNvPr id="15" name="TextBox 14"/>
          <p:cNvSpPr txBox="1"/>
          <p:nvPr/>
        </p:nvSpPr>
        <p:spPr>
          <a:xfrm>
            <a:off x="586359" y="5455310"/>
            <a:ext cx="3055239" cy="92659"/>
          </a:xfrm>
          <a:prstGeom prst="rect">
            <a:avLst/>
          </a:prstGeom>
          <a:noFill/>
          <a:ln>
            <a:noFill/>
          </a:ln>
        </p:spPr>
        <p:txBody>
          <a:bodyPr wrap="none" lIns="19050" rIns="19050" tIns="0" bIns="0" anchor="ctr">
            <a:noAutofit/>
          </a:bodyPr>
          <a:lstStyle/>
          <a:p>
            <a:pPr algn="l"/>
            <a:r>
              <a:rPr sz="1050" b="0">
                <a:solidFill>
                  <a:srgbClr val="68BED3"/>
                </a:solidFill>
                <a:latin typeface="PingFang SC"/>
              </a:rPr>
              <a:t>公众号·指南导航</a:t>
            </a:r>
          </a:p>
        </p:txBody>
      </p:sp>
      <p:sp>
        <p:nvSpPr>
          <p:cNvPr id="16" name="TextBox 15"/>
          <p:cNvSpPr txBox="1"/>
          <p:nvPr/>
        </p:nvSpPr>
        <p:spPr>
          <a:xfrm>
            <a:off x="9176004" y="1169822"/>
            <a:ext cx="678941" cy="127406"/>
          </a:xfrm>
          <a:prstGeom prst="rect">
            <a:avLst/>
          </a:prstGeom>
          <a:noFill/>
          <a:ln>
            <a:noFill/>
          </a:ln>
        </p:spPr>
        <p:txBody>
          <a:bodyPr wrap="none" lIns="19050" rIns="19050" tIns="0" bIns="0" anchor="ctr">
            <a:noAutofit/>
          </a:bodyPr>
          <a:lstStyle/>
          <a:p>
            <a:pPr algn="r"/>
            <a:r>
              <a:rPr sz="1200" b="1">
                <a:solidFill>
                  <a:srgbClr val="91AEC5"/>
                </a:solidFill>
                <a:latin typeface="PingFang SC"/>
              </a:rPr>
              <a:t>新增</a:t>
            </a:r>
          </a:p>
        </p:txBody>
      </p:sp>
      <p:sp>
        <p:nvSpPr>
          <p:cNvPr id="17" name="TextBox 16"/>
          <p:cNvSpPr txBox="1"/>
          <p:nvPr/>
        </p:nvSpPr>
        <p:spPr>
          <a:xfrm>
            <a:off x="9176004" y="3312566"/>
            <a:ext cx="678941" cy="127406"/>
          </a:xfrm>
          <a:prstGeom prst="rect">
            <a:avLst/>
          </a:prstGeom>
          <a:noFill/>
          <a:ln>
            <a:noFill/>
          </a:ln>
        </p:spPr>
        <p:txBody>
          <a:bodyPr wrap="none" lIns="19050" rIns="19050" tIns="0" bIns="0" anchor="ctr">
            <a:noAutofit/>
          </a:bodyPr>
          <a:lstStyle/>
          <a:p>
            <a:pPr algn="r"/>
            <a:r>
              <a:rPr sz="1200" b="1">
                <a:solidFill>
                  <a:srgbClr val="5C5F64"/>
                </a:solidFill>
                <a:latin typeface="PingFang SC"/>
              </a:rPr>
              <a:t>修订</a:t>
            </a:r>
          </a:p>
        </p:txBody>
      </p:sp>
      <p:pic>
        <p:nvPicPr>
          <p:cNvPr id="18" name="Picture 17" descr="tmpntfvotph.png"/>
          <p:cNvPicPr>
            <a:picLocks noChangeAspect="1"/>
          </p:cNvPicPr>
          <p:nvPr/>
        </p:nvPicPr>
        <p:blipFill>
          <a:blip r:embed="rId2"/>
          <a:stretch>
            <a:fillRect/>
          </a:stretch>
        </p:blipFill>
        <p:spPr>
          <a:xfrm>
            <a:off x="1257300" y="1609725"/>
            <a:ext cx="266700" cy="171450"/>
          </a:xfrm>
          <a:prstGeom prst="rect">
            <a:avLst/>
          </a:prstGeom>
        </p:spPr>
      </p:pic>
      <p:pic>
        <p:nvPicPr>
          <p:cNvPr id="19" name="Picture 18" descr="tmpee6knh05.png"/>
          <p:cNvPicPr>
            <a:picLocks noChangeAspect="1"/>
          </p:cNvPicPr>
          <p:nvPr/>
        </p:nvPicPr>
        <p:blipFill>
          <a:blip r:embed="rId3"/>
          <a:stretch>
            <a:fillRect/>
          </a:stretch>
        </p:blipFill>
        <p:spPr>
          <a:xfrm>
            <a:off x="1628775" y="1609725"/>
            <a:ext cx="266700" cy="171450"/>
          </a:xfrm>
          <a:prstGeom prst="rect">
            <a:avLst/>
          </a:prstGeom>
        </p:spPr>
      </p:pic>
      <p:pic>
        <p:nvPicPr>
          <p:cNvPr id="20" name="Picture 19" descr="tmp6lo0by7j.png"/>
          <p:cNvPicPr>
            <a:picLocks noChangeAspect="1"/>
          </p:cNvPicPr>
          <p:nvPr/>
        </p:nvPicPr>
        <p:blipFill>
          <a:blip r:embed="rId4"/>
          <a:stretch>
            <a:fillRect/>
          </a:stretch>
        </p:blipFill>
        <p:spPr>
          <a:xfrm>
            <a:off x="2000250" y="1609725"/>
            <a:ext cx="266700" cy="171450"/>
          </a:xfrm>
          <a:prstGeom prst="rect">
            <a:avLst/>
          </a:prstGeom>
        </p:spPr>
      </p:pic>
      <p:pic>
        <p:nvPicPr>
          <p:cNvPr id="21" name="Picture 20" descr="tmp99ksbauy.png"/>
          <p:cNvPicPr>
            <a:picLocks noChangeAspect="1"/>
          </p:cNvPicPr>
          <p:nvPr/>
        </p:nvPicPr>
        <p:blipFill>
          <a:blip r:embed="rId5"/>
          <a:stretch>
            <a:fillRect/>
          </a:stretch>
        </p:blipFill>
        <p:spPr>
          <a:xfrm>
            <a:off x="2362200" y="1609725"/>
            <a:ext cx="266700" cy="171450"/>
          </a:xfrm>
          <a:prstGeom prst="rect">
            <a:avLst/>
          </a:prstGeom>
        </p:spPr>
      </p:pic>
      <p:pic>
        <p:nvPicPr>
          <p:cNvPr id="22" name="Picture 21" descr="tmp6r5o15ne.png"/>
          <p:cNvPicPr>
            <a:picLocks noChangeAspect="1"/>
          </p:cNvPicPr>
          <p:nvPr/>
        </p:nvPicPr>
        <p:blipFill>
          <a:blip r:embed="rId6"/>
          <a:stretch>
            <a:fillRect/>
          </a:stretch>
        </p:blipFill>
        <p:spPr>
          <a:xfrm>
            <a:off x="2733675" y="1609725"/>
            <a:ext cx="266700" cy="171450"/>
          </a:xfrm>
          <a:prstGeom prst="rect">
            <a:avLst/>
          </a:prstGeom>
        </p:spPr>
      </p:pic>
      <p:pic>
        <p:nvPicPr>
          <p:cNvPr id="23" name="Picture 22" descr="tmpd1emiza6.png"/>
          <p:cNvPicPr>
            <a:picLocks noChangeAspect="1"/>
          </p:cNvPicPr>
          <p:nvPr/>
        </p:nvPicPr>
        <p:blipFill>
          <a:blip r:embed="rId7"/>
          <a:stretch>
            <a:fillRect/>
          </a:stretch>
        </p:blipFill>
        <p:spPr>
          <a:xfrm>
            <a:off x="1257300" y="4038600"/>
            <a:ext cx="266700" cy="180975"/>
          </a:xfrm>
          <a:prstGeom prst="rect">
            <a:avLst/>
          </a:prstGeom>
        </p:spPr>
      </p:pic>
      <p:pic>
        <p:nvPicPr>
          <p:cNvPr id="24" name="Picture 23" descr="tmp6w9zs4m7.png"/>
          <p:cNvPicPr>
            <a:picLocks noChangeAspect="1"/>
          </p:cNvPicPr>
          <p:nvPr/>
        </p:nvPicPr>
        <p:blipFill>
          <a:blip r:embed="rId8"/>
          <a:stretch>
            <a:fillRect/>
          </a:stretch>
        </p:blipFill>
        <p:spPr>
          <a:xfrm>
            <a:off x="1628775" y="4038600"/>
            <a:ext cx="266700" cy="180975"/>
          </a:xfrm>
          <a:prstGeom prst="rect">
            <a:avLst/>
          </a:prstGeom>
        </p:spPr>
      </p:pic>
      <p:pic>
        <p:nvPicPr>
          <p:cNvPr id="25" name="Picture 24" descr="tmpyvuzke6y.png"/>
          <p:cNvPicPr>
            <a:picLocks noChangeAspect="1"/>
          </p:cNvPicPr>
          <p:nvPr/>
        </p:nvPicPr>
        <p:blipFill>
          <a:blip r:embed="rId9"/>
          <a:stretch>
            <a:fillRect/>
          </a:stretch>
        </p:blipFill>
        <p:spPr>
          <a:xfrm>
            <a:off x="2000250" y="4038600"/>
            <a:ext cx="266700" cy="180975"/>
          </a:xfrm>
          <a:prstGeom prst="rect">
            <a:avLst/>
          </a:prstGeom>
        </p:spPr>
      </p:pic>
      <p:pic>
        <p:nvPicPr>
          <p:cNvPr id="26" name="Picture 25" descr="tmpzanc4y1j.png"/>
          <p:cNvPicPr>
            <a:picLocks noChangeAspect="1"/>
          </p:cNvPicPr>
          <p:nvPr/>
        </p:nvPicPr>
        <p:blipFill>
          <a:blip r:embed="rId10"/>
          <a:stretch>
            <a:fillRect/>
          </a:stretch>
        </p:blipFill>
        <p:spPr>
          <a:xfrm>
            <a:off x="2362200" y="4038600"/>
            <a:ext cx="266700" cy="180975"/>
          </a:xfrm>
          <a:prstGeom prst="rect">
            <a:avLst/>
          </a:prstGeom>
        </p:spPr>
      </p:pic>
      <p:pic>
        <p:nvPicPr>
          <p:cNvPr id="27" name="Picture 26" descr="tmp45us6cqn.png"/>
          <p:cNvPicPr>
            <a:picLocks noChangeAspect="1"/>
          </p:cNvPicPr>
          <p:nvPr/>
        </p:nvPicPr>
        <p:blipFill>
          <a:blip r:embed="rId11"/>
          <a:stretch>
            <a:fillRect/>
          </a:stretch>
        </p:blipFill>
        <p:spPr>
          <a:xfrm>
            <a:off x="2733675" y="4038600"/>
            <a:ext cx="266700" cy="180975"/>
          </a:xfrm>
          <a:prstGeom prst="rect">
            <a:avLst/>
          </a:prstGeom>
        </p:spPr>
      </p:pic>
      <p:pic>
        <p:nvPicPr>
          <p:cNvPr id="28" name="Picture 27" descr="tmp72opnzxu.png"/>
          <p:cNvPicPr>
            <a:picLocks noChangeAspect="1"/>
          </p:cNvPicPr>
          <p:nvPr/>
        </p:nvPicPr>
        <p:blipFill>
          <a:blip r:embed="rId12"/>
          <a:stretch>
            <a:fillRect/>
          </a:stretch>
        </p:blipFill>
        <p:spPr>
          <a:xfrm>
            <a:off x="1257300" y="5162550"/>
            <a:ext cx="266700" cy="180975"/>
          </a:xfrm>
          <a:prstGeom prst="rect">
            <a:avLst/>
          </a:prstGeom>
        </p:spPr>
      </p:pic>
      <p:pic>
        <p:nvPicPr>
          <p:cNvPr id="29" name="Picture 28" descr="tmpn_f0hkdd.png"/>
          <p:cNvPicPr>
            <a:picLocks noChangeAspect="1"/>
          </p:cNvPicPr>
          <p:nvPr/>
        </p:nvPicPr>
        <p:blipFill>
          <a:blip r:embed="rId13"/>
          <a:stretch>
            <a:fillRect/>
          </a:stretch>
        </p:blipFill>
        <p:spPr>
          <a:xfrm>
            <a:off x="1628775" y="5162550"/>
            <a:ext cx="266700" cy="180975"/>
          </a:xfrm>
          <a:prstGeom prst="rect">
            <a:avLst/>
          </a:prstGeom>
        </p:spPr>
      </p:pic>
      <p:pic>
        <p:nvPicPr>
          <p:cNvPr id="30" name="Picture 29" descr="tmpspff59fl.png"/>
          <p:cNvPicPr>
            <a:picLocks noChangeAspect="1"/>
          </p:cNvPicPr>
          <p:nvPr/>
        </p:nvPicPr>
        <p:blipFill>
          <a:blip r:embed="rId14"/>
          <a:stretch>
            <a:fillRect/>
          </a:stretch>
        </p:blipFill>
        <p:spPr>
          <a:xfrm>
            <a:off x="2000250" y="5162550"/>
            <a:ext cx="266700" cy="180975"/>
          </a:xfrm>
          <a:prstGeom prst="rect">
            <a:avLst/>
          </a:prstGeom>
        </p:spPr>
      </p:pic>
      <p:pic>
        <p:nvPicPr>
          <p:cNvPr id="31" name="Picture 30" descr="tmp4kz3027c.png"/>
          <p:cNvPicPr>
            <a:picLocks noChangeAspect="1"/>
          </p:cNvPicPr>
          <p:nvPr/>
        </p:nvPicPr>
        <p:blipFill>
          <a:blip r:embed="rId15"/>
          <a:stretch>
            <a:fillRect/>
          </a:stretch>
        </p:blipFill>
        <p:spPr>
          <a:xfrm>
            <a:off x="2362200" y="5162550"/>
            <a:ext cx="266700" cy="180975"/>
          </a:xfrm>
          <a:prstGeom prst="rect">
            <a:avLst/>
          </a:prstGeom>
        </p:spPr>
      </p:pic>
      <p:pic>
        <p:nvPicPr>
          <p:cNvPr id="32" name="Picture 31" descr="tmp88m9ot4x.png"/>
          <p:cNvPicPr>
            <a:picLocks noChangeAspect="1"/>
          </p:cNvPicPr>
          <p:nvPr/>
        </p:nvPicPr>
        <p:blipFill>
          <a:blip r:embed="rId16"/>
          <a:stretch>
            <a:fillRect/>
          </a:stretch>
        </p:blipFill>
        <p:spPr>
          <a:xfrm>
            <a:off x="2733675" y="5162550"/>
            <a:ext cx="266700" cy="180975"/>
          </a:xfrm>
          <a:prstGeom prst="rect">
            <a:avLst/>
          </a:prstGeom>
        </p:spPr>
      </p:pic>
      <p:pic>
        <p:nvPicPr>
          <p:cNvPr id="33" name="Picture 32" descr="tmplwak88zq.png"/>
          <p:cNvPicPr>
            <a:picLocks noChangeAspect="1"/>
          </p:cNvPicPr>
          <p:nvPr/>
        </p:nvPicPr>
        <p:blipFill>
          <a:blip r:embed="rId17"/>
          <a:stretch>
            <a:fillRect/>
          </a:stretch>
        </p:blipFill>
        <p:spPr>
          <a:xfrm>
            <a:off x="590550" y="476250"/>
            <a:ext cx="257175" cy="171450"/>
          </a:xfrm>
          <a:prstGeom prst="rect">
            <a:avLst/>
          </a:prstGeom>
        </p:spPr>
      </p:pic>
      <p:pic>
        <p:nvPicPr>
          <p:cNvPr id="34" name="Picture 33" descr="tmphocz7xpq.png"/>
          <p:cNvPicPr>
            <a:picLocks noChangeAspect="1"/>
          </p:cNvPicPr>
          <p:nvPr/>
        </p:nvPicPr>
        <p:blipFill>
          <a:blip r:embed="rId18"/>
          <a:stretch>
            <a:fillRect/>
          </a:stretch>
        </p:blipFill>
        <p:spPr>
          <a:xfrm>
            <a:off x="590550" y="2676525"/>
            <a:ext cx="257175" cy="171450"/>
          </a:xfrm>
          <a:prstGeom prst="rect">
            <a:avLst/>
          </a:prstGeom>
        </p:spPr>
      </p:pic>
      <p:pic>
        <p:nvPicPr>
          <p:cNvPr id="35" name="Picture 34" descr="tmpymz78wva.png"/>
          <p:cNvPicPr>
            <a:picLocks noChangeAspect="1"/>
          </p:cNvPicPr>
          <p:nvPr/>
        </p:nvPicPr>
        <p:blipFill>
          <a:blip r:embed="rId19"/>
          <a:stretch>
            <a:fillRect/>
          </a:stretch>
        </p:blipFill>
        <p:spPr>
          <a:xfrm>
            <a:off x="590550" y="3400425"/>
            <a:ext cx="200025" cy="17145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qfts983x.png"/>
          <p:cNvPicPr>
            <a:picLocks noChangeAspect="1"/>
          </p:cNvPicPr>
          <p:nvPr/>
        </p:nvPicPr>
        <p:blipFill>
          <a:blip r:embed="rId2"/>
          <a:stretch>
            <a:fillRect/>
          </a:stretch>
        </p:blipFill>
        <p:spPr>
          <a:xfrm>
            <a:off x="1828800" y="5048250"/>
            <a:ext cx="866775" cy="114300"/>
          </a:xfrm>
          <a:prstGeom prst="rect">
            <a:avLst/>
          </a:prstGeom>
        </p:spPr>
      </p:pic>
      <p:pic>
        <p:nvPicPr>
          <p:cNvPr id="4" name="Picture 3" descr="tmpgsl7udtw.png"/>
          <p:cNvPicPr>
            <a:picLocks noChangeAspect="1"/>
          </p:cNvPicPr>
          <p:nvPr/>
        </p:nvPicPr>
        <p:blipFill>
          <a:blip r:embed="rId3"/>
          <a:stretch>
            <a:fillRect/>
          </a:stretch>
        </p:blipFill>
        <p:spPr>
          <a:xfrm>
            <a:off x="2752725" y="5048250"/>
            <a:ext cx="866775" cy="114300"/>
          </a:xfrm>
          <a:prstGeom prst="rect">
            <a:avLst/>
          </a:prstGeom>
        </p:spPr>
      </p:pic>
      <p:sp>
        <p:nvSpPr>
          <p:cNvPr id="5" name="Rounded Rectangle 4"/>
          <p:cNvSpPr/>
          <p:nvPr/>
        </p:nvSpPr>
        <p:spPr>
          <a:xfrm>
            <a:off x="555498" y="967130"/>
            <a:ext cx="9196577" cy="1303020"/>
          </a:xfrm>
          <a:prstGeom prst="roundRect">
            <a:avLst>
              <a:gd name="adj" fmla="val 6000"/>
            </a:avLst>
          </a:prstGeom>
          <a:solidFill>
            <a:srgbClr val="FEFEFE"/>
          </a:solidFill>
          <a:ln w="11430">
            <a:solidFill>
              <a:srgbClr val="2A60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55498" y="2374391"/>
            <a:ext cx="9196577" cy="955547"/>
          </a:xfrm>
          <a:prstGeom prst="roundRect">
            <a:avLst>
              <a:gd name="adj" fmla="val 6000"/>
            </a:avLst>
          </a:prstGeom>
          <a:solidFill>
            <a:srgbClr val="EDF6FE"/>
          </a:solidFill>
          <a:ln w="11430">
            <a:solidFill>
              <a:srgbClr val="FCFD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55498" y="3434181"/>
            <a:ext cx="9196577" cy="1615744"/>
          </a:xfrm>
          <a:prstGeom prst="rect">
            <a:avLst/>
          </a:prstGeom>
          <a:solidFill>
            <a:srgbClr val="F1FEFE"/>
          </a:solidFill>
          <a:ln w="11430">
            <a:solidFill>
              <a:srgbClr val="FEFD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5498" y="376428"/>
            <a:ext cx="7610856" cy="330098"/>
          </a:xfrm>
          <a:prstGeom prst="rect">
            <a:avLst/>
          </a:prstGeom>
          <a:noFill/>
          <a:ln>
            <a:noFill/>
          </a:ln>
        </p:spPr>
        <p:txBody>
          <a:bodyPr wrap="none" lIns="19050" rIns="19050" tIns="0" bIns="0" anchor="ctr">
            <a:noAutofit/>
          </a:bodyPr>
          <a:lstStyle/>
          <a:p>
            <a:pPr algn="l"/>
            <a:r>
              <a:rPr sz="2700" b="1">
                <a:solidFill>
                  <a:srgbClr val="3E508F"/>
                </a:solidFill>
                <a:latin typeface="PingFang SC"/>
              </a:rPr>
              <a:t>抗菌治疗的药物监测（TDM）</a:t>
            </a:r>
          </a:p>
        </p:txBody>
      </p:sp>
      <p:sp>
        <p:nvSpPr>
          <p:cNvPr id="9" name="TextBox 8"/>
          <p:cNvSpPr txBox="1"/>
          <p:nvPr/>
        </p:nvSpPr>
        <p:spPr>
          <a:xfrm>
            <a:off x="8353044" y="173735"/>
            <a:ext cx="3847337" cy="416966"/>
          </a:xfrm>
          <a:prstGeom prst="rect">
            <a:avLst/>
          </a:prstGeom>
          <a:noFill/>
          <a:ln>
            <a:noFill/>
          </a:ln>
        </p:spPr>
        <p:txBody>
          <a:bodyPr wrap="none" lIns="19050" rIns="19050" tIns="0" bIns="0" anchor="ctr">
            <a:noAutofit/>
          </a:bodyPr>
          <a:lstStyle/>
          <a:p>
            <a:pPr algn="r"/>
            <a:r>
              <a:rPr sz="1800" b="0">
                <a:solidFill>
                  <a:srgbClr val="B0C4A9"/>
                </a:solidFill>
                <a:latin typeface="PingFang SC"/>
              </a:rPr>
              <a:t>Surviving Sepsis Campaign</a:t>
            </a:r>
          </a:p>
        </p:txBody>
      </p:sp>
      <p:sp>
        <p:nvSpPr>
          <p:cNvPr id="10" name="TextBox 9"/>
          <p:cNvSpPr txBox="1"/>
          <p:nvPr/>
        </p:nvSpPr>
        <p:spPr>
          <a:xfrm>
            <a:off x="740663" y="1227734"/>
            <a:ext cx="8332470" cy="347472"/>
          </a:xfrm>
          <a:prstGeom prst="rect">
            <a:avLst/>
          </a:prstGeom>
          <a:noFill/>
          <a:ln>
            <a:noFill/>
          </a:ln>
        </p:spPr>
        <p:txBody>
          <a:bodyPr wrap="square" lIns="19050" rIns="19050" tIns="0" bIns="0" anchor="t">
            <a:normAutofit/>
          </a:bodyPr>
          <a:lstStyle/>
          <a:p>
            <a:pPr algn="l"/>
            <a:r>
              <a:rPr sz="1290" b="0">
                <a:solidFill>
                  <a:srgbClr val="848B88"/>
                </a:solidFill>
                <a:latin typeface="PingFang SC"/>
              </a:rPr>
              <a:t>34. 对脓毒症或脓毒性休克成人，建议在特定患者中个体化使用抗微生物治疗药物浓度监测（TDM），依据临床特征、当地病原体与耐药谱、药物类别以及TDM可及性来决定。</a:t>
            </a:r>
          </a:p>
        </p:txBody>
      </p:sp>
      <p:sp>
        <p:nvSpPr>
          <p:cNvPr id="11" name="TextBox 10"/>
          <p:cNvSpPr txBox="1"/>
          <p:nvPr/>
        </p:nvSpPr>
        <p:spPr>
          <a:xfrm>
            <a:off x="9176004" y="1227734"/>
            <a:ext cx="814730" cy="173736"/>
          </a:xfrm>
          <a:prstGeom prst="rect">
            <a:avLst/>
          </a:prstGeom>
          <a:noFill/>
          <a:ln>
            <a:noFill/>
          </a:ln>
        </p:spPr>
        <p:txBody>
          <a:bodyPr wrap="none" lIns="19050" rIns="19050" tIns="0" bIns="0" anchor="ctr">
            <a:noAutofit/>
          </a:bodyPr>
          <a:lstStyle/>
          <a:p>
            <a:pPr algn="r"/>
            <a:r>
              <a:rPr sz="1350" b="0">
                <a:solidFill>
                  <a:srgbClr val="93B581"/>
                </a:solidFill>
                <a:latin typeface="PingFang SC"/>
              </a:rPr>
              <a:t>修订</a:t>
            </a:r>
          </a:p>
        </p:txBody>
      </p:sp>
      <p:sp>
        <p:nvSpPr>
          <p:cNvPr id="12" name="TextBox 11"/>
          <p:cNvSpPr txBox="1"/>
          <p:nvPr/>
        </p:nvSpPr>
        <p:spPr>
          <a:xfrm>
            <a:off x="740663" y="2420721"/>
            <a:ext cx="2715768" cy="138988"/>
          </a:xfrm>
          <a:prstGeom prst="rect">
            <a:avLst/>
          </a:prstGeom>
          <a:noFill/>
          <a:ln>
            <a:noFill/>
          </a:ln>
        </p:spPr>
        <p:txBody>
          <a:bodyPr wrap="none" lIns="19050" rIns="19050" tIns="0" bIns="0" anchor="ctr">
            <a:noAutofit/>
          </a:bodyPr>
          <a:lstStyle/>
          <a:p>
            <a:pPr algn="l"/>
            <a:r>
              <a:rPr sz="1350" b="1">
                <a:solidFill>
                  <a:srgbClr val="70A8BC"/>
                </a:solidFill>
                <a:latin typeface="PingFang SC"/>
              </a:rPr>
              <a:t>2021年声明（34）</a:t>
            </a:r>
          </a:p>
        </p:txBody>
      </p:sp>
      <p:sp>
        <p:nvSpPr>
          <p:cNvPr id="13" name="TextBox 12"/>
          <p:cNvSpPr txBox="1"/>
          <p:nvPr/>
        </p:nvSpPr>
        <p:spPr>
          <a:xfrm>
            <a:off x="740663" y="2617622"/>
            <a:ext cx="8332470" cy="289559"/>
          </a:xfrm>
          <a:prstGeom prst="rect">
            <a:avLst/>
          </a:prstGeom>
          <a:noFill/>
          <a:ln>
            <a:noFill/>
          </a:ln>
        </p:spPr>
        <p:txBody>
          <a:bodyPr wrap="square" lIns="19050" rIns="19050" tIns="0" bIns="0" anchor="t">
            <a:normAutofit/>
          </a:bodyPr>
          <a:lstStyle/>
          <a:p>
            <a:pPr algn="l"/>
            <a:r>
              <a:rPr sz="1320" b="0">
                <a:solidFill>
                  <a:srgbClr val="A4A9AF"/>
                </a:solidFill>
                <a:latin typeface="PingFang SC"/>
              </a:rPr>
              <a:t>对于患有脓毒症或感染性休克的患者，我们建议根据公认的药代动力学/药效学（PK/PD）原则和特定药物特性来优化抗菌药物的设计策略。</a:t>
            </a:r>
          </a:p>
        </p:txBody>
      </p:sp>
      <p:sp>
        <p:nvSpPr>
          <p:cNvPr id="14" name="TextBox 13"/>
          <p:cNvSpPr txBox="1"/>
          <p:nvPr/>
        </p:nvSpPr>
        <p:spPr>
          <a:xfrm>
            <a:off x="740663" y="3660038"/>
            <a:ext cx="8805672" cy="1158239"/>
          </a:xfrm>
          <a:prstGeom prst="rect">
            <a:avLst/>
          </a:prstGeom>
          <a:noFill/>
          <a:ln>
            <a:noFill/>
          </a:ln>
        </p:spPr>
        <p:txBody>
          <a:bodyPr wrap="square" lIns="19050" rIns="19050" tIns="0" bIns="0" anchor="t">
            <a:normAutofit/>
          </a:bodyPr>
          <a:lstStyle/>
          <a:p>
            <a:pPr algn="l"/>
            <a:r>
              <a:rPr sz="1500" b="0">
                <a:solidFill>
                  <a:srgbClr val="78888B"/>
                </a:solidFill>
                <a:latin typeface="PingFang SC"/>
              </a:rPr>
              <a:t>• 在脓毒症和感染性休克中，抗菌治疗会受到药代动力学（PK）和药效动力学（PD）特性变化的影响。这可能导致药物浓度过低（有临床治疗失败的风险）或过高（可能导致毒性）。</a:t>
            </a:r>
          </a:p>
          <a:p>
            <a:pPr algn="l"/>
            <a:r>
              <a:rPr sz="1500" b="0">
                <a:solidFill>
                  <a:srgbClr val="78888B"/>
                </a:solidFill>
                <a:latin typeface="PingFang SC"/>
              </a:rPr>
              <a:t>• 增强肾清除、急性肾损伤、低白蛋白血症、肾脏替代治疗（RTT）、体外生命支持以及其他情况会影响危重症患者体内许多抗菌药物的浓度。治疗药物监测（TDM）是一种应用PK/PD原理的给药干预措施，可使抗菌治疗的给药更有效、更安全。</a:t>
            </a:r>
          </a:p>
        </p:txBody>
      </p:sp>
      <p:sp>
        <p:nvSpPr>
          <p:cNvPr id="15" name="TextBox 14"/>
          <p:cNvSpPr txBox="1"/>
          <p:nvPr/>
        </p:nvSpPr>
        <p:spPr>
          <a:xfrm>
            <a:off x="555498" y="5049926"/>
            <a:ext cx="2670505" cy="115823"/>
          </a:xfrm>
          <a:prstGeom prst="rect">
            <a:avLst/>
          </a:prstGeom>
          <a:noFill/>
          <a:ln>
            <a:noFill/>
          </a:ln>
        </p:spPr>
        <p:txBody>
          <a:bodyPr wrap="none" lIns="19050" rIns="19050" tIns="0" bIns="0" anchor="ctr">
            <a:noAutofit/>
          </a:bodyPr>
          <a:lstStyle/>
          <a:p>
            <a:pPr algn="l"/>
            <a:r>
              <a:rPr sz="900" b="0">
                <a:solidFill>
                  <a:srgbClr val="849A9A"/>
                </a:solidFill>
                <a:latin typeface="PingFang SC"/>
              </a:rPr>
              <a:t>Critical Care Medicine</a:t>
            </a:r>
          </a:p>
        </p:txBody>
      </p:sp>
      <p:sp>
        <p:nvSpPr>
          <p:cNvPr id="16" name="TextBox 15"/>
          <p:cNvSpPr txBox="1"/>
          <p:nvPr/>
        </p:nvSpPr>
        <p:spPr>
          <a:xfrm>
            <a:off x="555498" y="5455310"/>
            <a:ext cx="2670505" cy="115823"/>
          </a:xfrm>
          <a:prstGeom prst="rect">
            <a:avLst/>
          </a:prstGeom>
          <a:noFill/>
          <a:ln>
            <a:noFill/>
          </a:ln>
        </p:spPr>
        <p:txBody>
          <a:bodyPr wrap="none" lIns="19050" rIns="19050" tIns="0" bIns="0" anchor="ctr">
            <a:noAutofit/>
          </a:bodyPr>
          <a:lstStyle/>
          <a:p>
            <a:pPr algn="l"/>
            <a:r>
              <a:rPr sz="1050" b="0">
                <a:solidFill>
                  <a:srgbClr val="BEDEDC"/>
                </a:solidFill>
                <a:latin typeface="PingFang SC"/>
              </a:rPr>
              <a:t>公众号-指南导航</a:t>
            </a:r>
          </a:p>
        </p:txBody>
      </p:sp>
      <p:sp>
        <p:nvSpPr>
          <p:cNvPr id="17" name="TextBox 16"/>
          <p:cNvSpPr txBox="1"/>
          <p:nvPr/>
        </p:nvSpPr>
        <p:spPr>
          <a:xfrm>
            <a:off x="10287000" y="5339486"/>
            <a:ext cx="0" cy="173736"/>
          </a:xfrm>
          <a:prstGeom prst="rect">
            <a:avLst/>
          </a:prstGeom>
          <a:noFill/>
          <a:ln>
            <a:noFill/>
          </a:ln>
        </p:spPr>
        <p:txBody>
          <a:bodyPr wrap="none" lIns="19050" rIns="19050" tIns="0" bIns="0" anchor="ctr">
            <a:noAutofit/>
          </a:bodyPr>
          <a:lstStyle/>
          <a:p>
            <a:pPr algn="r"/>
            <a:r>
              <a:rPr sz="1350" b="0">
                <a:solidFill>
                  <a:srgbClr val="000000"/>
                </a:solidFill>
                <a:latin typeface="PingFang SC"/>
              </a:rPr>
              <a:t>22</a:t>
            </a:r>
          </a:p>
        </p:txBody>
      </p:sp>
      <p:pic>
        <p:nvPicPr>
          <p:cNvPr id="18" name="Picture 17" descr="tmp9whurfbo.png"/>
          <p:cNvPicPr>
            <a:picLocks noChangeAspect="1"/>
          </p:cNvPicPr>
          <p:nvPr/>
        </p:nvPicPr>
        <p:blipFill>
          <a:blip r:embed="rId4"/>
          <a:stretch>
            <a:fillRect/>
          </a:stretch>
        </p:blipFill>
        <p:spPr>
          <a:xfrm>
            <a:off x="1209675" y="1866900"/>
            <a:ext cx="276225" cy="209550"/>
          </a:xfrm>
          <a:prstGeom prst="rect">
            <a:avLst/>
          </a:prstGeom>
        </p:spPr>
      </p:pic>
      <p:pic>
        <p:nvPicPr>
          <p:cNvPr id="19" name="Picture 18" descr="tmp8c6zfz43.png"/>
          <p:cNvPicPr>
            <a:picLocks noChangeAspect="1"/>
          </p:cNvPicPr>
          <p:nvPr/>
        </p:nvPicPr>
        <p:blipFill>
          <a:blip r:embed="rId5"/>
          <a:stretch>
            <a:fillRect/>
          </a:stretch>
        </p:blipFill>
        <p:spPr>
          <a:xfrm>
            <a:off x="1581150" y="1866900"/>
            <a:ext cx="266700" cy="209550"/>
          </a:xfrm>
          <a:prstGeom prst="rect">
            <a:avLst/>
          </a:prstGeom>
        </p:spPr>
      </p:pic>
      <p:pic>
        <p:nvPicPr>
          <p:cNvPr id="20" name="Picture 19" descr="tmpjtv2pzh8.png"/>
          <p:cNvPicPr>
            <a:picLocks noChangeAspect="1"/>
          </p:cNvPicPr>
          <p:nvPr/>
        </p:nvPicPr>
        <p:blipFill>
          <a:blip r:embed="rId6"/>
          <a:stretch>
            <a:fillRect/>
          </a:stretch>
        </p:blipFill>
        <p:spPr>
          <a:xfrm>
            <a:off x="1952625" y="1866900"/>
            <a:ext cx="266700" cy="209550"/>
          </a:xfrm>
          <a:prstGeom prst="rect">
            <a:avLst/>
          </a:prstGeom>
        </p:spPr>
      </p:pic>
      <p:pic>
        <p:nvPicPr>
          <p:cNvPr id="21" name="Picture 20" descr="tmplibtuo_2.png"/>
          <p:cNvPicPr>
            <a:picLocks noChangeAspect="1"/>
          </p:cNvPicPr>
          <p:nvPr/>
        </p:nvPicPr>
        <p:blipFill>
          <a:blip r:embed="rId7"/>
          <a:stretch>
            <a:fillRect/>
          </a:stretch>
        </p:blipFill>
        <p:spPr>
          <a:xfrm>
            <a:off x="2324100" y="1866900"/>
            <a:ext cx="266700" cy="209550"/>
          </a:xfrm>
          <a:prstGeom prst="rect">
            <a:avLst/>
          </a:prstGeom>
        </p:spPr>
      </p:pic>
      <p:pic>
        <p:nvPicPr>
          <p:cNvPr id="22" name="Picture 21" descr="tmp0dl8h61i.png"/>
          <p:cNvPicPr>
            <a:picLocks noChangeAspect="1"/>
          </p:cNvPicPr>
          <p:nvPr/>
        </p:nvPicPr>
        <p:blipFill>
          <a:blip r:embed="rId8"/>
          <a:stretch>
            <a:fillRect/>
          </a:stretch>
        </p:blipFill>
        <p:spPr>
          <a:xfrm>
            <a:off x="1209675" y="2962275"/>
            <a:ext cx="276225" cy="209550"/>
          </a:xfrm>
          <a:prstGeom prst="rect">
            <a:avLst/>
          </a:prstGeom>
        </p:spPr>
      </p:pic>
      <p:pic>
        <p:nvPicPr>
          <p:cNvPr id="23" name="Picture 22" descr="tmp_imj4bvk.png"/>
          <p:cNvPicPr>
            <a:picLocks noChangeAspect="1"/>
          </p:cNvPicPr>
          <p:nvPr/>
        </p:nvPicPr>
        <p:blipFill>
          <a:blip r:embed="rId9"/>
          <a:stretch>
            <a:fillRect/>
          </a:stretch>
        </p:blipFill>
        <p:spPr>
          <a:xfrm>
            <a:off x="1581150" y="2962275"/>
            <a:ext cx="266700" cy="209550"/>
          </a:xfrm>
          <a:prstGeom prst="rect">
            <a:avLst/>
          </a:prstGeom>
        </p:spPr>
      </p:pic>
      <p:pic>
        <p:nvPicPr>
          <p:cNvPr id="24" name="Picture 23" descr="tmphry82aa8.png"/>
          <p:cNvPicPr>
            <a:picLocks noChangeAspect="1"/>
          </p:cNvPicPr>
          <p:nvPr/>
        </p:nvPicPr>
        <p:blipFill>
          <a:blip r:embed="rId10"/>
          <a:stretch>
            <a:fillRect/>
          </a:stretch>
        </p:blipFill>
        <p:spPr>
          <a:xfrm>
            <a:off x="1952625" y="2962275"/>
            <a:ext cx="266700" cy="209550"/>
          </a:xfrm>
          <a:prstGeom prst="rect">
            <a:avLst/>
          </a:prstGeom>
        </p:spPr>
      </p:pic>
      <p:pic>
        <p:nvPicPr>
          <p:cNvPr id="25" name="Picture 24" descr="tmpvgkgy_4s.png"/>
          <p:cNvPicPr>
            <a:picLocks noChangeAspect="1"/>
          </p:cNvPicPr>
          <p:nvPr/>
        </p:nvPicPr>
        <p:blipFill>
          <a:blip r:embed="rId11"/>
          <a:stretch>
            <a:fillRect/>
          </a:stretch>
        </p:blipFill>
        <p:spPr>
          <a:xfrm>
            <a:off x="2324100" y="2962275"/>
            <a:ext cx="266700" cy="20955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gradFill rotWithShape="1">
            <a:gsLst>
              <a:gs pos="0">
                <a:srgbClr val="FFFFFF"/>
              </a:gs>
              <a:gs pos="100000">
                <a:srgbClr val="E6F2FB"/>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76072" y="967130"/>
            <a:ext cx="9176003" cy="2519171"/>
          </a:xfrm>
          <a:prstGeom prst="roundRect">
            <a:avLst>
              <a:gd name="adj" fmla="val 6000"/>
            </a:avLst>
          </a:prstGeom>
          <a:solidFill>
            <a:srgbClr val="FDFEFE"/>
          </a:solidFill>
          <a:ln w="11430">
            <a:solidFill>
              <a:srgbClr val="1953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76072" y="3550005"/>
            <a:ext cx="9176003" cy="920800"/>
          </a:xfrm>
          <a:prstGeom prst="rect">
            <a:avLst/>
          </a:prstGeom>
          <a:solidFill>
            <a:srgbClr val="ED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76072" y="4499762"/>
            <a:ext cx="9176003" cy="920800"/>
          </a:xfrm>
          <a:prstGeom prst="rect">
            <a:avLst/>
          </a:prstGeom>
          <a:solidFill>
            <a:srgbClr val="E1E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388010"/>
            <a:ext cx="8392668" cy="318516"/>
          </a:xfrm>
          <a:prstGeom prst="rect">
            <a:avLst/>
          </a:prstGeom>
          <a:noFill/>
          <a:ln>
            <a:noFill/>
          </a:ln>
        </p:spPr>
        <p:txBody>
          <a:bodyPr wrap="none" lIns="19050" rIns="19050" tIns="0" bIns="0" anchor="ctr">
            <a:noAutofit/>
          </a:bodyPr>
          <a:lstStyle/>
          <a:p>
            <a:pPr algn="l"/>
            <a:r>
              <a:rPr sz="3150" b="1">
                <a:solidFill>
                  <a:srgbClr val="41538F"/>
                </a:solidFill>
                <a:latin typeface="PingFang SC"/>
              </a:rPr>
              <a:t>抗菌药物降阶梯治疗与停用</a:t>
            </a:r>
          </a:p>
        </p:txBody>
      </p:sp>
      <p:sp>
        <p:nvSpPr>
          <p:cNvPr id="7" name="TextBox 6"/>
          <p:cNvSpPr txBox="1"/>
          <p:nvPr/>
        </p:nvSpPr>
        <p:spPr>
          <a:xfrm>
            <a:off x="8353044" y="185318"/>
            <a:ext cx="3847337" cy="405384"/>
          </a:xfrm>
          <a:prstGeom prst="rect">
            <a:avLst/>
          </a:prstGeom>
          <a:noFill/>
          <a:ln>
            <a:noFill/>
          </a:ln>
        </p:spPr>
        <p:txBody>
          <a:bodyPr wrap="none" lIns="19050" rIns="19050" tIns="0" bIns="0" anchor="ctr">
            <a:noAutofit/>
          </a:bodyPr>
          <a:lstStyle/>
          <a:p>
            <a:pPr algn="r"/>
            <a:r>
              <a:rPr sz="1800" b="0">
                <a:solidFill>
                  <a:srgbClr val="B0C3A9"/>
                </a:solidFill>
                <a:latin typeface="PingFang SC"/>
              </a:rPr>
              <a:t>Surviving Sepsis Campaign</a:t>
            </a:r>
          </a:p>
        </p:txBody>
      </p:sp>
      <p:sp>
        <p:nvSpPr>
          <p:cNvPr id="8" name="TextBox 7"/>
          <p:cNvSpPr txBox="1"/>
          <p:nvPr/>
        </p:nvSpPr>
        <p:spPr>
          <a:xfrm>
            <a:off x="1049274" y="1227734"/>
            <a:ext cx="7612380" cy="405384"/>
          </a:xfrm>
          <a:prstGeom prst="rect">
            <a:avLst/>
          </a:prstGeom>
          <a:noFill/>
          <a:ln>
            <a:noFill/>
          </a:ln>
        </p:spPr>
        <p:txBody>
          <a:bodyPr wrap="square" lIns="19050" rIns="19050" tIns="0" bIns="0" anchor="t">
            <a:normAutofit/>
          </a:bodyPr>
          <a:lstStyle/>
          <a:p>
            <a:pPr algn="l"/>
            <a:r>
              <a:rPr sz="1320" b="0">
                <a:solidFill>
                  <a:srgbClr val="808C8F"/>
                </a:solidFill>
                <a:latin typeface="PingFang SC"/>
              </a:rPr>
              <a:t>35. 对疑似脓毒症/脓毒性休克但感染尚未证实的成人，临床医生应持续重新评估、寻找替代诊断；如证实或高度怀疑存在其他病因，应停用经验性抗微生物治疗。（良好实践声明）</a:t>
            </a:r>
          </a:p>
        </p:txBody>
      </p:sp>
      <p:sp>
        <p:nvSpPr>
          <p:cNvPr id="9" name="TextBox 8"/>
          <p:cNvSpPr txBox="1"/>
          <p:nvPr/>
        </p:nvSpPr>
        <p:spPr>
          <a:xfrm>
            <a:off x="1049274" y="1748942"/>
            <a:ext cx="7612380" cy="231648"/>
          </a:xfrm>
          <a:prstGeom prst="rect">
            <a:avLst/>
          </a:prstGeom>
          <a:noFill/>
          <a:ln>
            <a:noFill/>
          </a:ln>
        </p:spPr>
        <p:txBody>
          <a:bodyPr wrap="square" lIns="19050" rIns="19050" tIns="0" bIns="0" anchor="t">
            <a:normAutofit/>
          </a:bodyPr>
          <a:lstStyle/>
          <a:p>
            <a:pPr algn="l"/>
            <a:r>
              <a:rPr sz="1240" b="0">
                <a:solidFill>
                  <a:srgbClr val="808386"/>
                </a:solidFill>
                <a:latin typeface="PingFang SC"/>
              </a:rPr>
              <a:t>36. 对脓毒症或脓毒性休克成人，在已有明确病原学诊断和药敏结果时，建议降阶梯抗微生物治疗，而不是不降阶梯。</a:t>
            </a:r>
          </a:p>
        </p:txBody>
      </p:sp>
      <p:sp>
        <p:nvSpPr>
          <p:cNvPr id="10" name="TextBox 9"/>
          <p:cNvSpPr txBox="1"/>
          <p:nvPr/>
        </p:nvSpPr>
        <p:spPr>
          <a:xfrm>
            <a:off x="1255014" y="2270150"/>
            <a:ext cx="7406640" cy="173735"/>
          </a:xfrm>
          <a:prstGeom prst="rect">
            <a:avLst/>
          </a:prstGeom>
          <a:noFill/>
          <a:ln>
            <a:noFill/>
          </a:ln>
        </p:spPr>
        <p:txBody>
          <a:bodyPr wrap="square" lIns="19050" rIns="19050" tIns="0" bIns="0" anchor="t">
            <a:normAutofit/>
          </a:bodyPr>
          <a:lstStyle/>
          <a:p>
            <a:pPr algn="l"/>
            <a:r>
              <a:rPr sz="1190" b="0">
                <a:solidFill>
                  <a:srgbClr val="5E9855"/>
                </a:solidFill>
                <a:latin typeface="PingFang SC"/>
              </a:rPr>
              <a:t>备注：降阶梯治疗包括停用不必要的抗菌药物治疗，或在适当情况下缩小抗菌药物的使用范围。</a:t>
            </a:r>
          </a:p>
        </p:txBody>
      </p:sp>
      <p:sp>
        <p:nvSpPr>
          <p:cNvPr id="11" name="TextBox 10"/>
          <p:cNvSpPr txBox="1"/>
          <p:nvPr/>
        </p:nvSpPr>
        <p:spPr>
          <a:xfrm>
            <a:off x="1049274" y="2733446"/>
            <a:ext cx="7612380" cy="231647"/>
          </a:xfrm>
          <a:prstGeom prst="rect">
            <a:avLst/>
          </a:prstGeom>
          <a:noFill/>
          <a:ln>
            <a:noFill/>
          </a:ln>
        </p:spPr>
        <p:txBody>
          <a:bodyPr wrap="square" lIns="19050" rIns="19050" tIns="0" bIns="0" anchor="t">
            <a:normAutofit/>
          </a:bodyPr>
          <a:lstStyle/>
          <a:p>
            <a:pPr algn="l"/>
            <a:r>
              <a:rPr sz="1290" b="0">
                <a:solidFill>
                  <a:srgbClr val="858C88"/>
                </a:solidFill>
                <a:latin typeface="PingFang SC"/>
              </a:rPr>
              <a:t>37. 对脓毒症或脓毒性休克成人，在最终培养未检出病原体时，建议降阶梯抗微生物治疗，而不是不降阶梯。</a:t>
            </a:r>
          </a:p>
        </p:txBody>
      </p:sp>
      <p:sp>
        <p:nvSpPr>
          <p:cNvPr id="12" name="TextBox 11"/>
          <p:cNvSpPr txBox="1"/>
          <p:nvPr/>
        </p:nvSpPr>
        <p:spPr>
          <a:xfrm>
            <a:off x="1049274" y="3636873"/>
            <a:ext cx="3168396" cy="138988"/>
          </a:xfrm>
          <a:prstGeom prst="rect">
            <a:avLst/>
          </a:prstGeom>
          <a:noFill/>
          <a:ln>
            <a:noFill/>
          </a:ln>
        </p:spPr>
        <p:txBody>
          <a:bodyPr wrap="none" lIns="19050" rIns="19050" tIns="0" bIns="0" anchor="ctr">
            <a:noAutofit/>
          </a:bodyPr>
          <a:lstStyle/>
          <a:p>
            <a:pPr algn="l"/>
            <a:r>
              <a:rPr sz="1350" b="1">
                <a:solidFill>
                  <a:srgbClr val="6EA5B8"/>
                </a:solidFill>
                <a:latin typeface="PingFang SC"/>
              </a:rPr>
              <a:t>2021年声明 (36)</a:t>
            </a:r>
          </a:p>
        </p:txBody>
      </p:sp>
      <p:sp>
        <p:nvSpPr>
          <p:cNvPr id="13" name="TextBox 12"/>
          <p:cNvSpPr txBox="1"/>
          <p:nvPr/>
        </p:nvSpPr>
        <p:spPr>
          <a:xfrm>
            <a:off x="1049274" y="3833774"/>
            <a:ext cx="7612380" cy="231647"/>
          </a:xfrm>
          <a:prstGeom prst="rect">
            <a:avLst/>
          </a:prstGeom>
          <a:noFill/>
          <a:ln>
            <a:noFill/>
          </a:ln>
        </p:spPr>
        <p:txBody>
          <a:bodyPr wrap="square" lIns="19050" rIns="19050" tIns="0" bIns="0" anchor="t">
            <a:normAutofit/>
          </a:bodyPr>
          <a:lstStyle/>
          <a:p>
            <a:pPr algn="l"/>
            <a:r>
              <a:rPr sz="1130" b="0">
                <a:solidFill>
                  <a:srgbClr val="A0A4AA"/>
                </a:solidFill>
                <a:latin typeface="PingFang SC"/>
              </a:rPr>
              <a:t>对于患有深部组织感染或脓毒症休克的成年人，建议每日评估以降低抗菌药物的使用，而不是采用固定疗程治疗且不进行每日评估以降低用药。</a:t>
            </a:r>
          </a:p>
        </p:txBody>
      </p:sp>
      <p:sp>
        <p:nvSpPr>
          <p:cNvPr id="14" name="TextBox 13"/>
          <p:cNvSpPr txBox="1"/>
          <p:nvPr/>
        </p:nvSpPr>
        <p:spPr>
          <a:xfrm>
            <a:off x="1049274" y="4557674"/>
            <a:ext cx="3168396" cy="144779"/>
          </a:xfrm>
          <a:prstGeom prst="rect">
            <a:avLst/>
          </a:prstGeom>
          <a:noFill/>
          <a:ln>
            <a:noFill/>
          </a:ln>
        </p:spPr>
        <p:txBody>
          <a:bodyPr wrap="none" lIns="19050" rIns="19050" tIns="0" bIns="0" anchor="ctr">
            <a:noAutofit/>
          </a:bodyPr>
          <a:lstStyle/>
          <a:p>
            <a:pPr algn="l"/>
            <a:r>
              <a:rPr sz="1350" b="1">
                <a:solidFill>
                  <a:srgbClr val="6AA5BE"/>
                </a:solidFill>
                <a:latin typeface="PingFang SC"/>
              </a:rPr>
              <a:t>2021年声明 (37)</a:t>
            </a:r>
          </a:p>
        </p:txBody>
      </p:sp>
      <p:sp>
        <p:nvSpPr>
          <p:cNvPr id="15" name="TextBox 14"/>
          <p:cNvSpPr txBox="1"/>
          <p:nvPr/>
        </p:nvSpPr>
        <p:spPr>
          <a:xfrm>
            <a:off x="1049274" y="4760366"/>
            <a:ext cx="7612380" cy="231648"/>
          </a:xfrm>
          <a:prstGeom prst="rect">
            <a:avLst/>
          </a:prstGeom>
          <a:noFill/>
          <a:ln>
            <a:noFill/>
          </a:ln>
        </p:spPr>
        <p:txBody>
          <a:bodyPr wrap="square" lIns="19050" rIns="19050" tIns="0" bIns="0" anchor="t">
            <a:normAutofit/>
          </a:bodyPr>
          <a:lstStyle/>
          <a:p>
            <a:pPr algn="l"/>
            <a:r>
              <a:rPr sz="1190" b="0">
                <a:solidFill>
                  <a:srgbClr val="96A0AB"/>
                </a:solidFill>
                <a:latin typeface="PingFang SC"/>
              </a:rPr>
              <a:t>对于患有严重或重症休克的成人，我们建议每日评估以降阶梯使用抗菌药物，而不是采用固定疗程治疗且不进行每日降阶梯评估。</a:t>
            </a:r>
          </a:p>
        </p:txBody>
      </p:sp>
      <p:sp>
        <p:nvSpPr>
          <p:cNvPr id="16" name="TextBox 15"/>
          <p:cNvSpPr txBox="1"/>
          <p:nvPr/>
        </p:nvSpPr>
        <p:spPr>
          <a:xfrm>
            <a:off x="10287000" y="5339486"/>
            <a:ext cx="0" cy="173736"/>
          </a:xfrm>
          <a:prstGeom prst="rect">
            <a:avLst/>
          </a:prstGeom>
          <a:noFill/>
          <a:ln>
            <a:noFill/>
          </a:ln>
        </p:spPr>
        <p:txBody>
          <a:bodyPr wrap="none" lIns="19050" rIns="19050" tIns="0" bIns="0" anchor="ctr">
            <a:noAutofit/>
          </a:bodyPr>
          <a:lstStyle/>
          <a:p>
            <a:pPr algn="r"/>
            <a:r>
              <a:rPr sz="1350" b="0">
                <a:solidFill>
                  <a:srgbClr val="000000"/>
                </a:solidFill>
                <a:latin typeface="PingFang SC"/>
              </a:rPr>
              <a:t>23</a:t>
            </a:r>
          </a:p>
        </p:txBody>
      </p:sp>
      <p:sp>
        <p:nvSpPr>
          <p:cNvPr id="17" name="TextBox 16"/>
          <p:cNvSpPr txBox="1"/>
          <p:nvPr/>
        </p:nvSpPr>
        <p:spPr>
          <a:xfrm>
            <a:off x="8970264" y="1227734"/>
            <a:ext cx="905256" cy="173736"/>
          </a:xfrm>
          <a:prstGeom prst="rect">
            <a:avLst/>
          </a:prstGeom>
          <a:noFill/>
          <a:ln>
            <a:noFill/>
          </a:ln>
        </p:spPr>
        <p:txBody>
          <a:bodyPr wrap="none" lIns="19050" rIns="19050" tIns="0" bIns="0" anchor="ctr">
            <a:noAutofit/>
          </a:bodyPr>
          <a:lstStyle/>
          <a:p>
            <a:pPr algn="r"/>
            <a:r>
              <a:rPr sz="1350" b="0">
                <a:solidFill>
                  <a:srgbClr val="606A70"/>
                </a:solidFill>
                <a:latin typeface="PingFang SC"/>
              </a:rPr>
              <a:t>修订</a:t>
            </a:r>
          </a:p>
        </p:txBody>
      </p:sp>
      <p:sp>
        <p:nvSpPr>
          <p:cNvPr id="18" name="TextBox 17"/>
          <p:cNvSpPr txBox="1"/>
          <p:nvPr/>
        </p:nvSpPr>
        <p:spPr>
          <a:xfrm>
            <a:off x="8970264" y="1748942"/>
            <a:ext cx="905256" cy="173736"/>
          </a:xfrm>
          <a:prstGeom prst="rect">
            <a:avLst/>
          </a:prstGeom>
          <a:noFill/>
          <a:ln>
            <a:noFill/>
          </a:ln>
        </p:spPr>
        <p:txBody>
          <a:bodyPr wrap="none" lIns="19050" rIns="19050" tIns="0" bIns="0" anchor="ctr">
            <a:noAutofit/>
          </a:bodyPr>
          <a:lstStyle/>
          <a:p>
            <a:pPr algn="r"/>
            <a:r>
              <a:rPr sz="1350" b="0">
                <a:solidFill>
                  <a:srgbClr val="54616A"/>
                </a:solidFill>
                <a:latin typeface="PingFang SC"/>
              </a:rPr>
              <a:t>修订</a:t>
            </a:r>
          </a:p>
        </p:txBody>
      </p:sp>
      <p:sp>
        <p:nvSpPr>
          <p:cNvPr id="19" name="TextBox 18"/>
          <p:cNvSpPr txBox="1"/>
          <p:nvPr/>
        </p:nvSpPr>
        <p:spPr>
          <a:xfrm>
            <a:off x="8970264" y="2733446"/>
            <a:ext cx="905256" cy="173736"/>
          </a:xfrm>
          <a:prstGeom prst="rect">
            <a:avLst/>
          </a:prstGeom>
          <a:noFill/>
          <a:ln>
            <a:noFill/>
          </a:ln>
        </p:spPr>
        <p:txBody>
          <a:bodyPr wrap="none" lIns="19050" rIns="19050" tIns="0" bIns="0" anchor="ctr">
            <a:noAutofit/>
          </a:bodyPr>
          <a:lstStyle/>
          <a:p>
            <a:pPr algn="r"/>
            <a:r>
              <a:rPr sz="1350" b="0">
                <a:solidFill>
                  <a:srgbClr val="616C75"/>
                </a:solidFill>
                <a:latin typeface="PingFang SC"/>
              </a:rPr>
              <a:t>修订</a:t>
            </a:r>
          </a:p>
        </p:txBody>
      </p:sp>
      <p:pic>
        <p:nvPicPr>
          <p:cNvPr id="20" name="Picture 19" descr="tmpusi6smxa.png"/>
          <p:cNvPicPr>
            <a:picLocks noChangeAspect="1"/>
          </p:cNvPicPr>
          <p:nvPr/>
        </p:nvPicPr>
        <p:blipFill>
          <a:blip r:embed="rId2"/>
          <a:stretch>
            <a:fillRect/>
          </a:stretch>
        </p:blipFill>
        <p:spPr>
          <a:xfrm>
            <a:off x="1152525" y="2038350"/>
            <a:ext cx="304800" cy="171450"/>
          </a:xfrm>
          <a:prstGeom prst="rect">
            <a:avLst/>
          </a:prstGeom>
        </p:spPr>
      </p:pic>
      <p:pic>
        <p:nvPicPr>
          <p:cNvPr id="21" name="Picture 20" descr="tmph2vaddut.png"/>
          <p:cNvPicPr>
            <a:picLocks noChangeAspect="1"/>
          </p:cNvPicPr>
          <p:nvPr/>
        </p:nvPicPr>
        <p:blipFill>
          <a:blip r:embed="rId3"/>
          <a:stretch>
            <a:fillRect/>
          </a:stretch>
        </p:blipFill>
        <p:spPr>
          <a:xfrm>
            <a:off x="1562100" y="2038350"/>
            <a:ext cx="314325" cy="171450"/>
          </a:xfrm>
          <a:prstGeom prst="rect">
            <a:avLst/>
          </a:prstGeom>
        </p:spPr>
      </p:pic>
      <p:pic>
        <p:nvPicPr>
          <p:cNvPr id="22" name="Picture 21" descr="tmplc3t72v8.png"/>
          <p:cNvPicPr>
            <a:picLocks noChangeAspect="1"/>
          </p:cNvPicPr>
          <p:nvPr/>
        </p:nvPicPr>
        <p:blipFill>
          <a:blip r:embed="rId4"/>
          <a:stretch>
            <a:fillRect/>
          </a:stretch>
        </p:blipFill>
        <p:spPr>
          <a:xfrm>
            <a:off x="1971675" y="2038350"/>
            <a:ext cx="314325" cy="171450"/>
          </a:xfrm>
          <a:prstGeom prst="rect">
            <a:avLst/>
          </a:prstGeom>
        </p:spPr>
      </p:pic>
      <p:pic>
        <p:nvPicPr>
          <p:cNvPr id="23" name="Picture 22" descr="tmpvcyy9r_w.png"/>
          <p:cNvPicPr>
            <a:picLocks noChangeAspect="1"/>
          </p:cNvPicPr>
          <p:nvPr/>
        </p:nvPicPr>
        <p:blipFill>
          <a:blip r:embed="rId5"/>
          <a:stretch>
            <a:fillRect/>
          </a:stretch>
        </p:blipFill>
        <p:spPr>
          <a:xfrm>
            <a:off x="2390775" y="2038350"/>
            <a:ext cx="304800" cy="171450"/>
          </a:xfrm>
          <a:prstGeom prst="rect">
            <a:avLst/>
          </a:prstGeom>
        </p:spPr>
      </p:pic>
      <p:pic>
        <p:nvPicPr>
          <p:cNvPr id="24" name="Picture 23" descr="tmpieosm8rx.png"/>
          <p:cNvPicPr>
            <a:picLocks noChangeAspect="1"/>
          </p:cNvPicPr>
          <p:nvPr/>
        </p:nvPicPr>
        <p:blipFill>
          <a:blip r:embed="rId6"/>
          <a:stretch>
            <a:fillRect/>
          </a:stretch>
        </p:blipFill>
        <p:spPr>
          <a:xfrm>
            <a:off x="2800350" y="2038350"/>
            <a:ext cx="304800" cy="171450"/>
          </a:xfrm>
          <a:prstGeom prst="rect">
            <a:avLst/>
          </a:prstGeom>
        </p:spPr>
      </p:pic>
      <p:pic>
        <p:nvPicPr>
          <p:cNvPr id="25" name="Picture 24" descr="tmpricj0jva.png"/>
          <p:cNvPicPr>
            <a:picLocks noChangeAspect="1"/>
          </p:cNvPicPr>
          <p:nvPr/>
        </p:nvPicPr>
        <p:blipFill>
          <a:blip r:embed="rId7"/>
          <a:stretch>
            <a:fillRect/>
          </a:stretch>
        </p:blipFill>
        <p:spPr>
          <a:xfrm>
            <a:off x="1152525" y="3019425"/>
            <a:ext cx="304800" cy="180975"/>
          </a:xfrm>
          <a:prstGeom prst="rect">
            <a:avLst/>
          </a:prstGeom>
        </p:spPr>
      </p:pic>
      <p:pic>
        <p:nvPicPr>
          <p:cNvPr id="26" name="Picture 25" descr="tmp521k8dil.png"/>
          <p:cNvPicPr>
            <a:picLocks noChangeAspect="1"/>
          </p:cNvPicPr>
          <p:nvPr/>
        </p:nvPicPr>
        <p:blipFill>
          <a:blip r:embed="rId8"/>
          <a:stretch>
            <a:fillRect/>
          </a:stretch>
        </p:blipFill>
        <p:spPr>
          <a:xfrm>
            <a:off x="1562100" y="3019425"/>
            <a:ext cx="314325" cy="180975"/>
          </a:xfrm>
          <a:prstGeom prst="rect">
            <a:avLst/>
          </a:prstGeom>
        </p:spPr>
      </p:pic>
      <p:pic>
        <p:nvPicPr>
          <p:cNvPr id="27" name="Picture 26" descr="tmpzr8mqa5i.png"/>
          <p:cNvPicPr>
            <a:picLocks noChangeAspect="1"/>
          </p:cNvPicPr>
          <p:nvPr/>
        </p:nvPicPr>
        <p:blipFill>
          <a:blip r:embed="rId9"/>
          <a:stretch>
            <a:fillRect/>
          </a:stretch>
        </p:blipFill>
        <p:spPr>
          <a:xfrm>
            <a:off x="1971675" y="3019425"/>
            <a:ext cx="314325" cy="180975"/>
          </a:xfrm>
          <a:prstGeom prst="rect">
            <a:avLst/>
          </a:prstGeom>
        </p:spPr>
      </p:pic>
      <p:pic>
        <p:nvPicPr>
          <p:cNvPr id="28" name="Picture 27" descr="tmp2lq8xolj.png"/>
          <p:cNvPicPr>
            <a:picLocks noChangeAspect="1"/>
          </p:cNvPicPr>
          <p:nvPr/>
        </p:nvPicPr>
        <p:blipFill>
          <a:blip r:embed="rId10"/>
          <a:stretch>
            <a:fillRect/>
          </a:stretch>
        </p:blipFill>
        <p:spPr>
          <a:xfrm>
            <a:off x="2390775" y="3019425"/>
            <a:ext cx="304800" cy="180975"/>
          </a:xfrm>
          <a:prstGeom prst="rect">
            <a:avLst/>
          </a:prstGeom>
        </p:spPr>
      </p:pic>
      <p:pic>
        <p:nvPicPr>
          <p:cNvPr id="29" name="Picture 28" descr="tmp8t9mlzm7.png"/>
          <p:cNvPicPr>
            <a:picLocks noChangeAspect="1"/>
          </p:cNvPicPr>
          <p:nvPr/>
        </p:nvPicPr>
        <p:blipFill>
          <a:blip r:embed="rId11"/>
          <a:stretch>
            <a:fillRect/>
          </a:stretch>
        </p:blipFill>
        <p:spPr>
          <a:xfrm>
            <a:off x="2800350" y="3019425"/>
            <a:ext cx="304800" cy="180975"/>
          </a:xfrm>
          <a:prstGeom prst="rect">
            <a:avLst/>
          </a:prstGeom>
        </p:spPr>
      </p:pic>
      <p:pic>
        <p:nvPicPr>
          <p:cNvPr id="30" name="Picture 29" descr="tmp5p4ymyqz.png"/>
          <p:cNvPicPr>
            <a:picLocks noChangeAspect="1"/>
          </p:cNvPicPr>
          <p:nvPr/>
        </p:nvPicPr>
        <p:blipFill>
          <a:blip r:embed="rId12"/>
          <a:stretch>
            <a:fillRect/>
          </a:stretch>
        </p:blipFill>
        <p:spPr>
          <a:xfrm>
            <a:off x="1152525" y="3895725"/>
            <a:ext cx="304800" cy="171450"/>
          </a:xfrm>
          <a:prstGeom prst="rect">
            <a:avLst/>
          </a:prstGeom>
        </p:spPr>
      </p:pic>
      <p:pic>
        <p:nvPicPr>
          <p:cNvPr id="31" name="Picture 30" descr="tmpbxgw59ft.png"/>
          <p:cNvPicPr>
            <a:picLocks noChangeAspect="1"/>
          </p:cNvPicPr>
          <p:nvPr/>
        </p:nvPicPr>
        <p:blipFill>
          <a:blip r:embed="rId13"/>
          <a:stretch>
            <a:fillRect/>
          </a:stretch>
        </p:blipFill>
        <p:spPr>
          <a:xfrm>
            <a:off x="1562100" y="3895725"/>
            <a:ext cx="314325" cy="171450"/>
          </a:xfrm>
          <a:prstGeom prst="rect">
            <a:avLst/>
          </a:prstGeom>
        </p:spPr>
      </p:pic>
      <p:pic>
        <p:nvPicPr>
          <p:cNvPr id="32" name="Picture 31" descr="tmpcyv7bgk2.png"/>
          <p:cNvPicPr>
            <a:picLocks noChangeAspect="1"/>
          </p:cNvPicPr>
          <p:nvPr/>
        </p:nvPicPr>
        <p:blipFill>
          <a:blip r:embed="rId14"/>
          <a:stretch>
            <a:fillRect/>
          </a:stretch>
        </p:blipFill>
        <p:spPr>
          <a:xfrm>
            <a:off x="1971675" y="3895725"/>
            <a:ext cx="314325" cy="171450"/>
          </a:xfrm>
          <a:prstGeom prst="rect">
            <a:avLst/>
          </a:prstGeom>
        </p:spPr>
      </p:pic>
      <p:pic>
        <p:nvPicPr>
          <p:cNvPr id="33" name="Picture 32" descr="tmpan5to2s3.png"/>
          <p:cNvPicPr>
            <a:picLocks noChangeAspect="1"/>
          </p:cNvPicPr>
          <p:nvPr/>
        </p:nvPicPr>
        <p:blipFill>
          <a:blip r:embed="rId15"/>
          <a:stretch>
            <a:fillRect/>
          </a:stretch>
        </p:blipFill>
        <p:spPr>
          <a:xfrm>
            <a:off x="2390775" y="3895725"/>
            <a:ext cx="304800" cy="171450"/>
          </a:xfrm>
          <a:prstGeom prst="rect">
            <a:avLst/>
          </a:prstGeom>
        </p:spPr>
      </p:pic>
      <p:pic>
        <p:nvPicPr>
          <p:cNvPr id="34" name="Picture 33" descr="tmpms4lwq1i.png"/>
          <p:cNvPicPr>
            <a:picLocks noChangeAspect="1"/>
          </p:cNvPicPr>
          <p:nvPr/>
        </p:nvPicPr>
        <p:blipFill>
          <a:blip r:embed="rId16"/>
          <a:stretch>
            <a:fillRect/>
          </a:stretch>
        </p:blipFill>
        <p:spPr>
          <a:xfrm>
            <a:off x="2800350" y="3895725"/>
            <a:ext cx="304800" cy="171450"/>
          </a:xfrm>
          <a:prstGeom prst="rect">
            <a:avLst/>
          </a:prstGeom>
        </p:spPr>
      </p:pic>
      <p:pic>
        <p:nvPicPr>
          <p:cNvPr id="35" name="Picture 34" descr="tmprhdcdmgv.png"/>
          <p:cNvPicPr>
            <a:picLocks noChangeAspect="1"/>
          </p:cNvPicPr>
          <p:nvPr/>
        </p:nvPicPr>
        <p:blipFill>
          <a:blip r:embed="rId17"/>
          <a:stretch>
            <a:fillRect/>
          </a:stretch>
        </p:blipFill>
        <p:spPr>
          <a:xfrm>
            <a:off x="1152525" y="4819650"/>
            <a:ext cx="304800" cy="171450"/>
          </a:xfrm>
          <a:prstGeom prst="rect">
            <a:avLst/>
          </a:prstGeom>
        </p:spPr>
      </p:pic>
      <p:pic>
        <p:nvPicPr>
          <p:cNvPr id="36" name="Picture 35" descr="tmpqytgm6xc.png"/>
          <p:cNvPicPr>
            <a:picLocks noChangeAspect="1"/>
          </p:cNvPicPr>
          <p:nvPr/>
        </p:nvPicPr>
        <p:blipFill>
          <a:blip r:embed="rId18"/>
          <a:stretch>
            <a:fillRect/>
          </a:stretch>
        </p:blipFill>
        <p:spPr>
          <a:xfrm>
            <a:off x="1562100" y="4819650"/>
            <a:ext cx="314325" cy="171450"/>
          </a:xfrm>
          <a:prstGeom prst="rect">
            <a:avLst/>
          </a:prstGeom>
        </p:spPr>
      </p:pic>
      <p:pic>
        <p:nvPicPr>
          <p:cNvPr id="37" name="Picture 36" descr="tmp4n9cu62l.png"/>
          <p:cNvPicPr>
            <a:picLocks noChangeAspect="1"/>
          </p:cNvPicPr>
          <p:nvPr/>
        </p:nvPicPr>
        <p:blipFill>
          <a:blip r:embed="rId19"/>
          <a:stretch>
            <a:fillRect/>
          </a:stretch>
        </p:blipFill>
        <p:spPr>
          <a:xfrm>
            <a:off x="1971675" y="4819650"/>
            <a:ext cx="314325" cy="171450"/>
          </a:xfrm>
          <a:prstGeom prst="rect">
            <a:avLst/>
          </a:prstGeom>
        </p:spPr>
      </p:pic>
      <p:pic>
        <p:nvPicPr>
          <p:cNvPr id="38" name="Picture 37" descr="tmp28wgsdwe.png"/>
          <p:cNvPicPr>
            <a:picLocks noChangeAspect="1"/>
          </p:cNvPicPr>
          <p:nvPr/>
        </p:nvPicPr>
        <p:blipFill>
          <a:blip r:embed="rId20"/>
          <a:stretch>
            <a:fillRect/>
          </a:stretch>
        </p:blipFill>
        <p:spPr>
          <a:xfrm>
            <a:off x="2390775" y="4819650"/>
            <a:ext cx="304800" cy="171450"/>
          </a:xfrm>
          <a:prstGeom prst="rect">
            <a:avLst/>
          </a:prstGeom>
        </p:spPr>
      </p:pic>
      <p:pic>
        <p:nvPicPr>
          <p:cNvPr id="39" name="Picture 38" descr="tmpv_8zhrc9.png"/>
          <p:cNvPicPr>
            <a:picLocks noChangeAspect="1"/>
          </p:cNvPicPr>
          <p:nvPr/>
        </p:nvPicPr>
        <p:blipFill>
          <a:blip r:embed="rId21"/>
          <a:stretch>
            <a:fillRect/>
          </a:stretch>
        </p:blipFill>
        <p:spPr>
          <a:xfrm>
            <a:off x="2800350" y="4819650"/>
            <a:ext cx="304800" cy="171450"/>
          </a:xfrm>
          <a:prstGeom prst="rect">
            <a:avLst/>
          </a:prstGeom>
        </p:spPr>
      </p:pic>
      <p:pic>
        <p:nvPicPr>
          <p:cNvPr id="40" name="Picture 39" descr="tmpg2f245d4.png"/>
          <p:cNvPicPr>
            <a:picLocks noChangeAspect="1"/>
          </p:cNvPicPr>
          <p:nvPr/>
        </p:nvPicPr>
        <p:blipFill>
          <a:blip r:embed="rId22"/>
          <a:stretch>
            <a:fillRect/>
          </a:stretch>
        </p:blipFill>
        <p:spPr>
          <a:xfrm>
            <a:off x="742950" y="1866900"/>
            <a:ext cx="142875" cy="17145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qh1r1yjj.png"/>
          <p:cNvPicPr>
            <a:picLocks noChangeAspect="1"/>
          </p:cNvPicPr>
          <p:nvPr/>
        </p:nvPicPr>
        <p:blipFill>
          <a:blip r:embed="rId2"/>
          <a:stretch>
            <a:fillRect/>
          </a:stretch>
        </p:blipFill>
        <p:spPr>
          <a:xfrm>
            <a:off x="1666875" y="5067300"/>
            <a:ext cx="923925" cy="95250"/>
          </a:xfrm>
          <a:prstGeom prst="rect">
            <a:avLst/>
          </a:prstGeom>
        </p:spPr>
      </p:pic>
      <p:pic>
        <p:nvPicPr>
          <p:cNvPr id="4" name="Picture 3" descr="tmp8kq2kixu.png"/>
          <p:cNvPicPr>
            <a:picLocks noChangeAspect="1"/>
          </p:cNvPicPr>
          <p:nvPr/>
        </p:nvPicPr>
        <p:blipFill>
          <a:blip r:embed="rId3"/>
          <a:stretch>
            <a:fillRect/>
          </a:stretch>
        </p:blipFill>
        <p:spPr>
          <a:xfrm>
            <a:off x="2657475" y="5067300"/>
            <a:ext cx="857250" cy="95250"/>
          </a:xfrm>
          <a:prstGeom prst="rect">
            <a:avLst/>
          </a:prstGeom>
        </p:spPr>
      </p:pic>
      <p:sp>
        <p:nvSpPr>
          <p:cNvPr id="5" name="Rounded Rectangle 4"/>
          <p:cNvSpPr/>
          <p:nvPr/>
        </p:nvSpPr>
        <p:spPr>
          <a:xfrm>
            <a:off x="555498" y="967130"/>
            <a:ext cx="9237725" cy="1812645"/>
          </a:xfrm>
          <a:prstGeom prst="roundRect">
            <a:avLst>
              <a:gd name="adj" fmla="val 6000"/>
            </a:avLst>
          </a:prstGeom>
          <a:solidFill>
            <a:srgbClr val="FEFEFE"/>
          </a:solidFill>
          <a:ln w="11430">
            <a:solidFill>
              <a:srgbClr val="1450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5498" y="2855061"/>
            <a:ext cx="9237725" cy="2212238"/>
          </a:xfrm>
          <a:prstGeom prst="rect">
            <a:avLst/>
          </a:prstGeom>
          <a:solidFill>
            <a:srgbClr val="F1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6646" y="376428"/>
            <a:ext cx="9421368" cy="330098"/>
          </a:xfrm>
          <a:prstGeom prst="rect">
            <a:avLst/>
          </a:prstGeom>
          <a:noFill/>
          <a:ln>
            <a:noFill/>
          </a:ln>
        </p:spPr>
        <p:txBody>
          <a:bodyPr wrap="none" lIns="19050" rIns="19050" tIns="0" bIns="0" anchor="ctr">
            <a:noAutofit/>
          </a:bodyPr>
          <a:lstStyle/>
          <a:p>
            <a:pPr algn="l"/>
            <a:r>
              <a:rPr sz="2700" b="1">
                <a:solidFill>
                  <a:srgbClr val="405290"/>
                </a:solidFill>
                <a:latin typeface="PingFang SC"/>
              </a:rPr>
              <a:t>生物标志物指导停用抗真菌治疗</a:t>
            </a:r>
          </a:p>
        </p:txBody>
      </p:sp>
      <p:sp>
        <p:nvSpPr>
          <p:cNvPr id="8" name="TextBox 7"/>
          <p:cNvSpPr txBox="1"/>
          <p:nvPr/>
        </p:nvSpPr>
        <p:spPr>
          <a:xfrm>
            <a:off x="946404" y="1227734"/>
            <a:ext cx="8229600" cy="463296"/>
          </a:xfrm>
          <a:prstGeom prst="rect">
            <a:avLst/>
          </a:prstGeom>
          <a:noFill/>
          <a:ln>
            <a:noFill/>
          </a:ln>
        </p:spPr>
        <p:txBody>
          <a:bodyPr wrap="square" lIns="19050" rIns="19050" tIns="0" bIns="0" anchor="t">
            <a:normAutofit/>
          </a:bodyPr>
          <a:lstStyle/>
          <a:p>
            <a:pPr algn="l"/>
            <a:r>
              <a:rPr sz="1500" b="0">
                <a:solidFill>
                  <a:srgbClr val="878E87"/>
                </a:solidFill>
                <a:latin typeface="PingFang SC"/>
              </a:rPr>
              <a:t>38. 对于正在接受经验性抗真菌治疗的脓毒症或感染性休克成人患者，我们 “建议反对” 使用念珠菌真菌生物标志物来指导停用经验性抗真菌治疗。</a:t>
            </a:r>
          </a:p>
        </p:txBody>
      </p:sp>
      <p:sp>
        <p:nvSpPr>
          <p:cNvPr id="9" name="TextBox 8"/>
          <p:cNvSpPr txBox="1"/>
          <p:nvPr/>
        </p:nvSpPr>
        <p:spPr>
          <a:xfrm>
            <a:off x="1275587" y="2171700"/>
            <a:ext cx="7900416" cy="388010"/>
          </a:xfrm>
          <a:prstGeom prst="rect">
            <a:avLst/>
          </a:prstGeom>
          <a:noFill/>
          <a:ln>
            <a:noFill/>
          </a:ln>
        </p:spPr>
        <p:txBody>
          <a:bodyPr wrap="square" lIns="19050" rIns="19050" tIns="0" bIns="0" anchor="t">
            <a:normAutofit/>
          </a:bodyPr>
          <a:lstStyle/>
          <a:p>
            <a:pPr algn="l"/>
            <a:r>
              <a:rPr sz="1200" b="0">
                <a:solidFill>
                  <a:srgbClr val="ABC2A0"/>
                </a:solidFill>
                <a:latin typeface="PingFang SC"/>
              </a:rPr>
              <a:t>备注：对于临床症状改善、有念珠菌感染高风险的特定患者，包括免疫抑制患者、长期使用抗生素患者、长期住院患者以及腹腔内感染源患者，可根据具体情况考虑使用念珠菌生物标志物来指导停用经验性抗真菌治疗。</a:t>
            </a:r>
          </a:p>
        </p:txBody>
      </p:sp>
      <p:sp>
        <p:nvSpPr>
          <p:cNvPr id="10" name="TextBox 9"/>
          <p:cNvSpPr txBox="1"/>
          <p:nvPr/>
        </p:nvSpPr>
        <p:spPr>
          <a:xfrm>
            <a:off x="740663" y="3023006"/>
            <a:ext cx="8846820" cy="1853183"/>
          </a:xfrm>
          <a:prstGeom prst="rect">
            <a:avLst/>
          </a:prstGeom>
          <a:noFill/>
          <a:ln>
            <a:noFill/>
          </a:ln>
        </p:spPr>
        <p:txBody>
          <a:bodyPr wrap="square" lIns="19050" rIns="19050" tIns="0" bIns="0" anchor="t">
            <a:normAutofit/>
          </a:bodyPr>
          <a:lstStyle/>
          <a:p>
            <a:pPr algn="l"/>
            <a:r>
              <a:rPr sz="1350" b="0">
                <a:solidFill>
                  <a:srgbClr val="748488"/>
                </a:solidFill>
                <a:latin typeface="PingFang SC"/>
              </a:rPr>
              <a:t>• 与不采用念珠菌生物标志物指导停用经验性抗真菌治疗相比，使用念珠菌生物标志物指导停用经验性抗真菌治疗在短期死亡率方面可能几乎没有差异，住院时长可能有小幅度增加，重症监护病房（ICU）时长可能增加。</a:t>
            </a:r>
          </a:p>
          <a:p>
            <a:pPr algn="l"/>
            <a:r>
              <a:rPr sz="1350" b="0">
                <a:solidFill>
                  <a:srgbClr val="748488"/>
                </a:solidFill>
                <a:latin typeface="PingFang SC"/>
              </a:rPr>
              <a:t>• 专家组一致认为，念珠菌生物标志物不应被用于指导所有患者停用经验性抗真菌治疗，因为不使用这些标志物的利弊权衡更有利，且不加甄别地使用会增加成本却无临床获益。在某些情况下，在特定的高危患者（例如免疫抑制患者、长期使用抗生素的患者、长期住院患者以及腹腔内感染源患者）中使用这些标志物可能是合适的，因为这可能会缩短抗真菌治疗的疗程，从而降低包括耐药菌选择和抗菌药物耐药性等不良影响的风险。</a:t>
            </a:r>
          </a:p>
          <a:p>
            <a:pPr algn="l"/>
            <a:r>
              <a:rPr sz="1350" b="0">
                <a:solidFill>
                  <a:srgbClr val="748488"/>
                </a:solidFill>
                <a:latin typeface="PingFang SC"/>
              </a:rPr>
              <a:t>• 该建议与近期其他指南一致。</a:t>
            </a:r>
          </a:p>
        </p:txBody>
      </p:sp>
      <p:sp>
        <p:nvSpPr>
          <p:cNvPr id="11" name="TextBox 10"/>
          <p:cNvSpPr txBox="1"/>
          <p:nvPr/>
        </p:nvSpPr>
        <p:spPr>
          <a:xfrm>
            <a:off x="8311896" y="173735"/>
            <a:ext cx="3937863" cy="416966"/>
          </a:xfrm>
          <a:prstGeom prst="rect">
            <a:avLst/>
          </a:prstGeom>
          <a:noFill/>
          <a:ln>
            <a:noFill/>
          </a:ln>
        </p:spPr>
        <p:txBody>
          <a:bodyPr wrap="none" lIns="19050" rIns="19050" tIns="0" bIns="0" anchor="ctr">
            <a:noAutofit/>
          </a:bodyPr>
          <a:lstStyle/>
          <a:p>
            <a:pPr algn="r"/>
            <a:r>
              <a:rPr sz="1800" b="0">
                <a:solidFill>
                  <a:srgbClr val="AEC3A8"/>
                </a:solidFill>
                <a:latin typeface="PingFang SC"/>
              </a:rPr>
              <a:t>Surviving Sepsis Campaign</a:t>
            </a:r>
          </a:p>
        </p:txBody>
      </p:sp>
      <p:sp>
        <p:nvSpPr>
          <p:cNvPr id="12" name="TextBox 11"/>
          <p:cNvSpPr txBox="1"/>
          <p:nvPr/>
        </p:nvSpPr>
        <p:spPr>
          <a:xfrm>
            <a:off x="555498" y="5067300"/>
            <a:ext cx="2444191" cy="98450"/>
          </a:xfrm>
          <a:prstGeom prst="rect">
            <a:avLst/>
          </a:prstGeom>
          <a:noFill/>
          <a:ln>
            <a:noFill/>
          </a:ln>
        </p:spPr>
        <p:txBody>
          <a:bodyPr wrap="none" lIns="19050" rIns="19050" tIns="0" bIns="0" anchor="ctr">
            <a:noAutofit/>
          </a:bodyPr>
          <a:lstStyle/>
          <a:p>
            <a:pPr algn="l"/>
            <a:r>
              <a:rPr sz="900" b="0">
                <a:solidFill>
                  <a:srgbClr val="A5A6A6"/>
                </a:solidFill>
                <a:latin typeface="PingFang SC"/>
              </a:rPr>
              <a:t>Critical Care Medicine</a:t>
            </a:r>
          </a:p>
        </p:txBody>
      </p:sp>
      <p:sp>
        <p:nvSpPr>
          <p:cNvPr id="13" name="TextBox 12"/>
          <p:cNvSpPr txBox="1"/>
          <p:nvPr/>
        </p:nvSpPr>
        <p:spPr>
          <a:xfrm>
            <a:off x="555498" y="5455310"/>
            <a:ext cx="2670505" cy="133197"/>
          </a:xfrm>
          <a:prstGeom prst="rect">
            <a:avLst/>
          </a:prstGeom>
          <a:noFill/>
          <a:ln>
            <a:noFill/>
          </a:ln>
        </p:spPr>
        <p:txBody>
          <a:bodyPr wrap="none" lIns="19050" rIns="19050" tIns="0" bIns="0" anchor="ctr">
            <a:noAutofit/>
          </a:bodyPr>
          <a:lstStyle/>
          <a:p>
            <a:pPr algn="l"/>
            <a:r>
              <a:rPr sz="1200" b="0">
                <a:solidFill>
                  <a:srgbClr val="D4E6E7"/>
                </a:solidFill>
                <a:latin typeface="PingFang SC"/>
              </a:rPr>
              <a:t>公众号·指南导航</a:t>
            </a:r>
          </a:p>
        </p:txBody>
      </p:sp>
      <p:sp>
        <p:nvSpPr>
          <p:cNvPr id="14" name="TextBox 13"/>
          <p:cNvSpPr txBox="1"/>
          <p:nvPr/>
        </p:nvSpPr>
        <p:spPr>
          <a:xfrm>
            <a:off x="10287000" y="5356860"/>
            <a:ext cx="0" cy="191109"/>
          </a:xfrm>
          <a:prstGeom prst="rect">
            <a:avLst/>
          </a:prstGeom>
          <a:noFill/>
          <a:ln>
            <a:noFill/>
          </a:ln>
        </p:spPr>
        <p:txBody>
          <a:bodyPr wrap="none" lIns="19050" rIns="19050" tIns="0" bIns="0" anchor="ctr">
            <a:noAutofit/>
          </a:bodyPr>
          <a:lstStyle/>
          <a:p>
            <a:pPr algn="r"/>
            <a:r>
              <a:rPr sz="1500" b="0">
                <a:solidFill>
                  <a:srgbClr val="000000"/>
                </a:solidFill>
                <a:latin typeface="PingFang SC"/>
              </a:rPr>
              <a:t>24</a:t>
            </a:r>
          </a:p>
        </p:txBody>
      </p:sp>
      <p:sp>
        <p:nvSpPr>
          <p:cNvPr id="15" name="TextBox 14"/>
          <p:cNvSpPr txBox="1"/>
          <p:nvPr/>
        </p:nvSpPr>
        <p:spPr>
          <a:xfrm>
            <a:off x="9176004" y="1204569"/>
            <a:ext cx="814730" cy="138988"/>
          </a:xfrm>
          <a:prstGeom prst="rect">
            <a:avLst/>
          </a:prstGeom>
          <a:noFill/>
          <a:ln>
            <a:noFill/>
          </a:ln>
        </p:spPr>
        <p:txBody>
          <a:bodyPr wrap="none" lIns="19050" rIns="19050" tIns="0" bIns="0" anchor="ctr">
            <a:noAutofit/>
          </a:bodyPr>
          <a:lstStyle/>
          <a:p>
            <a:pPr algn="r"/>
            <a:r>
              <a:rPr sz="1200" b="1">
                <a:solidFill>
                  <a:srgbClr val="8BADCB"/>
                </a:solidFill>
                <a:latin typeface="PingFang SC"/>
              </a:rPr>
              <a:t>新增</a:t>
            </a:r>
          </a:p>
        </p:txBody>
      </p:sp>
      <p:pic>
        <p:nvPicPr>
          <p:cNvPr id="16" name="Picture 15" descr="tmpmsjalp8y.png"/>
          <p:cNvPicPr>
            <a:picLocks noChangeAspect="1"/>
          </p:cNvPicPr>
          <p:nvPr/>
        </p:nvPicPr>
        <p:blipFill>
          <a:blip r:embed="rId4"/>
          <a:stretch>
            <a:fillRect/>
          </a:stretch>
        </p:blipFill>
        <p:spPr>
          <a:xfrm>
            <a:off x="1276350" y="1866900"/>
            <a:ext cx="247650" cy="171450"/>
          </a:xfrm>
          <a:prstGeom prst="rect">
            <a:avLst/>
          </a:prstGeom>
        </p:spPr>
      </p:pic>
      <p:pic>
        <p:nvPicPr>
          <p:cNvPr id="17" name="Picture 16" descr="tmp81afo9ad.png"/>
          <p:cNvPicPr>
            <a:picLocks noChangeAspect="1"/>
          </p:cNvPicPr>
          <p:nvPr/>
        </p:nvPicPr>
        <p:blipFill>
          <a:blip r:embed="rId5"/>
          <a:stretch>
            <a:fillRect/>
          </a:stretch>
        </p:blipFill>
        <p:spPr>
          <a:xfrm>
            <a:off x="1628775" y="1866900"/>
            <a:ext cx="247650" cy="171450"/>
          </a:xfrm>
          <a:prstGeom prst="rect">
            <a:avLst/>
          </a:prstGeom>
        </p:spPr>
      </p:pic>
      <p:pic>
        <p:nvPicPr>
          <p:cNvPr id="18" name="Picture 17" descr="tmp4xh60a0z.png"/>
          <p:cNvPicPr>
            <a:picLocks noChangeAspect="1"/>
          </p:cNvPicPr>
          <p:nvPr/>
        </p:nvPicPr>
        <p:blipFill>
          <a:blip r:embed="rId6"/>
          <a:stretch>
            <a:fillRect/>
          </a:stretch>
        </p:blipFill>
        <p:spPr>
          <a:xfrm>
            <a:off x="1971675" y="1866900"/>
            <a:ext cx="247650" cy="171450"/>
          </a:xfrm>
          <a:prstGeom prst="rect">
            <a:avLst/>
          </a:prstGeom>
        </p:spPr>
      </p:pic>
      <p:pic>
        <p:nvPicPr>
          <p:cNvPr id="19" name="Picture 18" descr="tmprandqhsr.png"/>
          <p:cNvPicPr>
            <a:picLocks noChangeAspect="1"/>
          </p:cNvPicPr>
          <p:nvPr/>
        </p:nvPicPr>
        <p:blipFill>
          <a:blip r:embed="rId7"/>
          <a:stretch>
            <a:fillRect/>
          </a:stretch>
        </p:blipFill>
        <p:spPr>
          <a:xfrm>
            <a:off x="2324100" y="1866900"/>
            <a:ext cx="247650" cy="171450"/>
          </a:xfrm>
          <a:prstGeom prst="rect">
            <a:avLst/>
          </a:prstGeom>
        </p:spPr>
      </p:pic>
      <p:pic>
        <p:nvPicPr>
          <p:cNvPr id="20" name="Picture 19" descr="tmphl79sz_6.png"/>
          <p:cNvPicPr>
            <a:picLocks noChangeAspect="1"/>
          </p:cNvPicPr>
          <p:nvPr/>
        </p:nvPicPr>
        <p:blipFill>
          <a:blip r:embed="rId8"/>
          <a:stretch>
            <a:fillRect/>
          </a:stretch>
        </p:blipFill>
        <p:spPr>
          <a:xfrm>
            <a:off x="2676525" y="1866900"/>
            <a:ext cx="247650" cy="17145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86359" y="949756"/>
            <a:ext cx="9206865" cy="1019251"/>
          </a:xfrm>
          <a:prstGeom prst="roundRect">
            <a:avLst>
              <a:gd name="adj" fmla="val 6000"/>
            </a:avLst>
          </a:prstGeom>
          <a:solidFill>
            <a:srgbClr val="FDFEFE"/>
          </a:solidFill>
          <a:ln w="11430">
            <a:solidFill>
              <a:srgbClr val="295B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86359" y="2559710"/>
            <a:ext cx="9206865" cy="1308811"/>
          </a:xfrm>
          <a:prstGeom prst="roundRect">
            <a:avLst>
              <a:gd name="adj" fmla="val 6000"/>
            </a:avLst>
          </a:prstGeom>
          <a:solidFill>
            <a:srgbClr val="FEFEFE"/>
          </a:solidFill>
          <a:ln w="11430">
            <a:solidFill>
              <a:srgbClr val="1051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86359" y="4354982"/>
            <a:ext cx="9206865" cy="1158240"/>
          </a:xfrm>
          <a:prstGeom prst="roundRect">
            <a:avLst>
              <a:gd name="adj" fmla="val 6000"/>
            </a:avLst>
          </a:prstGeom>
          <a:solidFill>
            <a:srgbClr val="FDFEFE"/>
          </a:solidFill>
          <a:ln w="11430">
            <a:solidFill>
              <a:srgbClr val="FCFE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6359" y="428548"/>
            <a:ext cx="5318378" cy="289560"/>
          </a:xfrm>
          <a:prstGeom prst="rect">
            <a:avLst/>
          </a:prstGeom>
          <a:noFill/>
          <a:ln>
            <a:noFill/>
          </a:ln>
        </p:spPr>
        <p:txBody>
          <a:bodyPr wrap="none" lIns="19050" rIns="19050" tIns="0" bIns="0" anchor="ctr">
            <a:noAutofit/>
          </a:bodyPr>
          <a:lstStyle/>
          <a:p>
            <a:pPr algn="l"/>
            <a:r>
              <a:rPr sz="2400" b="1">
                <a:solidFill>
                  <a:srgbClr val="5388AB"/>
                </a:solidFill>
                <a:latin typeface="PingFang SC"/>
              </a:rPr>
              <a:t>&gt;&gt; 抗菌治疗的疗程</a:t>
            </a:r>
          </a:p>
        </p:txBody>
      </p:sp>
      <p:sp>
        <p:nvSpPr>
          <p:cNvPr id="7" name="TextBox 6"/>
          <p:cNvSpPr txBox="1"/>
          <p:nvPr/>
        </p:nvSpPr>
        <p:spPr>
          <a:xfrm>
            <a:off x="894968" y="1227734"/>
            <a:ext cx="8589645" cy="231648"/>
          </a:xfrm>
          <a:prstGeom prst="rect">
            <a:avLst/>
          </a:prstGeom>
          <a:noFill/>
          <a:ln>
            <a:noFill/>
          </a:ln>
        </p:spPr>
        <p:txBody>
          <a:bodyPr wrap="square" lIns="19050" rIns="19050" tIns="0" bIns="0" anchor="t">
            <a:normAutofit/>
          </a:bodyPr>
          <a:lstStyle/>
          <a:p>
            <a:pPr algn="l"/>
            <a:r>
              <a:rPr sz="1290" b="0">
                <a:solidFill>
                  <a:srgbClr val="87918B"/>
                </a:solidFill>
                <a:latin typeface="PingFang SC"/>
              </a:rPr>
              <a:t>39. 对于初诊为脓毒症或感染性休克且感染源得到有效控制的成人患者， “建议” 采用较短疗程而非较长疗程的抗菌治疗。</a:t>
            </a:r>
          </a:p>
        </p:txBody>
      </p:sp>
      <p:sp>
        <p:nvSpPr>
          <p:cNvPr id="8" name="TextBox 7"/>
          <p:cNvSpPr txBox="1"/>
          <p:nvPr/>
        </p:nvSpPr>
        <p:spPr>
          <a:xfrm>
            <a:off x="9278874" y="1227734"/>
            <a:ext cx="678941" cy="150571"/>
          </a:xfrm>
          <a:prstGeom prst="rect">
            <a:avLst/>
          </a:prstGeom>
          <a:noFill/>
          <a:ln>
            <a:noFill/>
          </a:ln>
        </p:spPr>
        <p:txBody>
          <a:bodyPr wrap="none" lIns="19050" rIns="19050" tIns="0" bIns="0" anchor="ctr">
            <a:noAutofit/>
          </a:bodyPr>
          <a:lstStyle/>
          <a:p>
            <a:pPr algn="r"/>
            <a:r>
              <a:rPr sz="1350" b="0">
                <a:solidFill>
                  <a:srgbClr val="7BA584"/>
                </a:solidFill>
                <a:latin typeface="PingFang SC"/>
              </a:rPr>
              <a:t>沿用</a:t>
            </a:r>
          </a:p>
        </p:txBody>
      </p:sp>
      <p:sp>
        <p:nvSpPr>
          <p:cNvPr id="9" name="TextBox 8"/>
          <p:cNvSpPr txBox="1"/>
          <p:nvPr/>
        </p:nvSpPr>
        <p:spPr>
          <a:xfrm>
            <a:off x="586359" y="2096414"/>
            <a:ext cx="7374255" cy="266395"/>
          </a:xfrm>
          <a:prstGeom prst="rect">
            <a:avLst/>
          </a:prstGeom>
          <a:noFill/>
          <a:ln>
            <a:noFill/>
          </a:ln>
        </p:spPr>
        <p:txBody>
          <a:bodyPr wrap="none" lIns="19050" rIns="19050" tIns="0" bIns="0" anchor="ctr">
            <a:noAutofit/>
          </a:bodyPr>
          <a:lstStyle/>
          <a:p>
            <a:pPr algn="l"/>
            <a:r>
              <a:rPr sz="2400" b="1">
                <a:solidFill>
                  <a:srgbClr val="5A8AAE"/>
                </a:solidFill>
                <a:latin typeface="PingFang SC"/>
              </a:rPr>
              <a:t>&gt;&gt; 生物标志物指导抗生素停药</a:t>
            </a:r>
          </a:p>
        </p:txBody>
      </p:sp>
      <p:sp>
        <p:nvSpPr>
          <p:cNvPr id="10" name="TextBox 9"/>
          <p:cNvSpPr txBox="1"/>
          <p:nvPr/>
        </p:nvSpPr>
        <p:spPr>
          <a:xfrm>
            <a:off x="894968" y="2826105"/>
            <a:ext cx="8589645" cy="370636"/>
          </a:xfrm>
          <a:prstGeom prst="rect">
            <a:avLst/>
          </a:prstGeom>
          <a:noFill/>
          <a:ln>
            <a:noFill/>
          </a:ln>
        </p:spPr>
        <p:txBody>
          <a:bodyPr wrap="square" lIns="19050" rIns="19050" tIns="0" bIns="0" anchor="t">
            <a:normAutofit/>
          </a:bodyPr>
          <a:lstStyle/>
          <a:p>
            <a:pPr algn="l"/>
            <a:r>
              <a:rPr sz="1250" b="0">
                <a:solidFill>
                  <a:srgbClr val="8C9490"/>
                </a:solidFill>
                <a:latin typeface="PingFang SC"/>
              </a:rPr>
              <a:t>40. 对于初次诊断为脓毒症或感染性休克且已进行充分源控制，但最佳治疗持续时间尚不明确的成人患者，我们 “建议” 采用降钙素原检测联合临床评估来决定何时停用抗菌药物治疗，而并非仅依靠临床评估。</a:t>
            </a:r>
          </a:p>
        </p:txBody>
      </p:sp>
      <p:sp>
        <p:nvSpPr>
          <p:cNvPr id="11" name="TextBox 10"/>
          <p:cNvSpPr txBox="1"/>
          <p:nvPr/>
        </p:nvSpPr>
        <p:spPr>
          <a:xfrm>
            <a:off x="9278874" y="2826105"/>
            <a:ext cx="678941" cy="150571"/>
          </a:xfrm>
          <a:prstGeom prst="rect">
            <a:avLst/>
          </a:prstGeom>
          <a:noFill/>
          <a:ln>
            <a:noFill/>
          </a:ln>
        </p:spPr>
        <p:txBody>
          <a:bodyPr wrap="none" lIns="19050" rIns="19050" tIns="0" bIns="0" anchor="ctr">
            <a:noAutofit/>
          </a:bodyPr>
          <a:lstStyle/>
          <a:p>
            <a:pPr algn="r"/>
            <a:r>
              <a:rPr sz="1350" b="0">
                <a:solidFill>
                  <a:srgbClr val="78A489"/>
                </a:solidFill>
                <a:latin typeface="PingFang SC"/>
              </a:rPr>
              <a:t>沿用</a:t>
            </a:r>
          </a:p>
        </p:txBody>
      </p:sp>
      <p:sp>
        <p:nvSpPr>
          <p:cNvPr id="12" name="TextBox 11"/>
          <p:cNvSpPr txBox="1"/>
          <p:nvPr/>
        </p:nvSpPr>
        <p:spPr>
          <a:xfrm>
            <a:off x="586359" y="3984345"/>
            <a:ext cx="6859905" cy="266395"/>
          </a:xfrm>
          <a:prstGeom prst="rect">
            <a:avLst/>
          </a:prstGeom>
          <a:noFill/>
          <a:ln>
            <a:noFill/>
          </a:ln>
        </p:spPr>
        <p:txBody>
          <a:bodyPr wrap="none" lIns="19050" rIns="19050" tIns="0" bIns="0" anchor="ctr">
            <a:noAutofit/>
          </a:bodyPr>
          <a:lstStyle/>
          <a:p>
            <a:pPr algn="l"/>
            <a:r>
              <a:rPr sz="2400" b="1">
                <a:solidFill>
                  <a:srgbClr val="598AAD"/>
                </a:solidFill>
                <a:latin typeface="PingFang SC"/>
              </a:rPr>
              <a:t>&gt;&gt; 选择性消化道去污染 (SDD)</a:t>
            </a:r>
          </a:p>
        </p:txBody>
      </p:sp>
      <p:sp>
        <p:nvSpPr>
          <p:cNvPr id="13" name="TextBox 12"/>
          <p:cNvSpPr txBox="1"/>
          <p:nvPr/>
        </p:nvSpPr>
        <p:spPr>
          <a:xfrm>
            <a:off x="894968" y="4644542"/>
            <a:ext cx="8589645" cy="231647"/>
          </a:xfrm>
          <a:prstGeom prst="rect">
            <a:avLst/>
          </a:prstGeom>
          <a:noFill/>
          <a:ln>
            <a:noFill/>
          </a:ln>
        </p:spPr>
        <p:txBody>
          <a:bodyPr wrap="square" lIns="19050" rIns="19050" tIns="0" bIns="0" anchor="t">
            <a:normAutofit/>
          </a:bodyPr>
          <a:lstStyle/>
          <a:p>
            <a:pPr algn="l"/>
            <a:r>
              <a:rPr sz="1300" b="0">
                <a:solidFill>
                  <a:srgbClr val="899696"/>
                </a:solidFill>
                <a:latin typeface="PingFang SC"/>
              </a:rPr>
              <a:t>41. 对机械通气、且所在病区耐药菌流行率较低的脓毒症/脓毒性休克成人，建议使用选择性消化道去污染 (SDD)。</a:t>
            </a:r>
          </a:p>
        </p:txBody>
      </p:sp>
      <p:sp>
        <p:nvSpPr>
          <p:cNvPr id="14" name="TextBox 13"/>
          <p:cNvSpPr txBox="1"/>
          <p:nvPr/>
        </p:nvSpPr>
        <p:spPr>
          <a:xfrm>
            <a:off x="9278874" y="4644542"/>
            <a:ext cx="678941" cy="150571"/>
          </a:xfrm>
          <a:prstGeom prst="rect">
            <a:avLst/>
          </a:prstGeom>
          <a:noFill/>
          <a:ln>
            <a:noFill/>
          </a:ln>
        </p:spPr>
        <p:txBody>
          <a:bodyPr wrap="none" lIns="19050" rIns="19050" tIns="0" bIns="0" anchor="ctr">
            <a:noAutofit/>
          </a:bodyPr>
          <a:lstStyle/>
          <a:p>
            <a:pPr algn="r"/>
            <a:r>
              <a:rPr sz="1350" b="0">
                <a:solidFill>
                  <a:srgbClr val="427791"/>
                </a:solidFill>
                <a:latin typeface="PingFang SC"/>
              </a:rPr>
              <a:t>新增</a:t>
            </a:r>
          </a:p>
        </p:txBody>
      </p:sp>
      <p:sp>
        <p:nvSpPr>
          <p:cNvPr id="15" name="TextBox 14"/>
          <p:cNvSpPr txBox="1"/>
          <p:nvPr/>
        </p:nvSpPr>
        <p:spPr>
          <a:xfrm>
            <a:off x="8353044" y="162153"/>
            <a:ext cx="1748789" cy="428548"/>
          </a:xfrm>
          <a:prstGeom prst="rect">
            <a:avLst/>
          </a:prstGeom>
          <a:noFill/>
          <a:ln>
            <a:noFill/>
          </a:ln>
        </p:spPr>
        <p:txBody>
          <a:bodyPr wrap="square" lIns="19050" rIns="19050" tIns="0" bIns="0" anchor="t">
            <a:normAutofit/>
          </a:bodyPr>
          <a:lstStyle/>
          <a:p>
            <a:pPr algn="r"/>
            <a:r>
              <a:rPr sz="1220" b="0">
                <a:solidFill>
                  <a:srgbClr val="B0C4A8"/>
                </a:solidFill>
                <a:latin typeface="PingFang SC"/>
              </a:rPr>
              <a:t>Surviving Sepsis Campaign</a:t>
            </a:r>
          </a:p>
        </p:txBody>
      </p:sp>
      <p:sp>
        <p:nvSpPr>
          <p:cNvPr id="16" name="TextBox 15"/>
          <p:cNvSpPr txBox="1"/>
          <p:nvPr/>
        </p:nvSpPr>
        <p:spPr>
          <a:xfrm>
            <a:off x="10287000" y="5351068"/>
            <a:ext cx="0" cy="196900"/>
          </a:xfrm>
          <a:prstGeom prst="rect">
            <a:avLst/>
          </a:prstGeom>
          <a:noFill/>
          <a:ln>
            <a:noFill/>
          </a:ln>
        </p:spPr>
        <p:txBody>
          <a:bodyPr wrap="none" lIns="19050" rIns="19050" tIns="0" bIns="0" anchor="ctr">
            <a:noAutofit/>
          </a:bodyPr>
          <a:lstStyle/>
          <a:p>
            <a:pPr algn="r"/>
            <a:r>
              <a:rPr sz="1500" b="0">
                <a:solidFill>
                  <a:srgbClr val="000000"/>
                </a:solidFill>
                <a:latin typeface="PingFang SC"/>
              </a:rPr>
              <a:t>25</a:t>
            </a:r>
          </a:p>
        </p:txBody>
      </p:sp>
      <p:pic>
        <p:nvPicPr>
          <p:cNvPr id="17" name="Picture 16" descr="tmprusx69_i.png"/>
          <p:cNvPicPr>
            <a:picLocks noChangeAspect="1"/>
          </p:cNvPicPr>
          <p:nvPr/>
        </p:nvPicPr>
        <p:blipFill>
          <a:blip r:embed="rId2"/>
          <a:stretch>
            <a:fillRect/>
          </a:stretch>
        </p:blipFill>
        <p:spPr>
          <a:xfrm>
            <a:off x="1200150" y="1571625"/>
            <a:ext cx="257175" cy="180975"/>
          </a:xfrm>
          <a:prstGeom prst="rect">
            <a:avLst/>
          </a:prstGeom>
        </p:spPr>
      </p:pic>
      <p:pic>
        <p:nvPicPr>
          <p:cNvPr id="18" name="Picture 17" descr="tmpaokffct7.png"/>
          <p:cNvPicPr>
            <a:picLocks noChangeAspect="1"/>
          </p:cNvPicPr>
          <p:nvPr/>
        </p:nvPicPr>
        <p:blipFill>
          <a:blip r:embed="rId3"/>
          <a:stretch>
            <a:fillRect/>
          </a:stretch>
        </p:blipFill>
        <p:spPr>
          <a:xfrm>
            <a:off x="1562100" y="1571625"/>
            <a:ext cx="257175" cy="180975"/>
          </a:xfrm>
          <a:prstGeom prst="rect">
            <a:avLst/>
          </a:prstGeom>
        </p:spPr>
      </p:pic>
      <p:pic>
        <p:nvPicPr>
          <p:cNvPr id="19" name="Picture 18" descr="tmpj2hqcw8v.png"/>
          <p:cNvPicPr>
            <a:picLocks noChangeAspect="1"/>
          </p:cNvPicPr>
          <p:nvPr/>
        </p:nvPicPr>
        <p:blipFill>
          <a:blip r:embed="rId4"/>
          <a:stretch>
            <a:fillRect/>
          </a:stretch>
        </p:blipFill>
        <p:spPr>
          <a:xfrm>
            <a:off x="1924050" y="1571625"/>
            <a:ext cx="257175" cy="180975"/>
          </a:xfrm>
          <a:prstGeom prst="rect">
            <a:avLst/>
          </a:prstGeom>
        </p:spPr>
      </p:pic>
      <p:pic>
        <p:nvPicPr>
          <p:cNvPr id="20" name="Picture 19" descr="tmp1t7pisyh.png"/>
          <p:cNvPicPr>
            <a:picLocks noChangeAspect="1"/>
          </p:cNvPicPr>
          <p:nvPr/>
        </p:nvPicPr>
        <p:blipFill>
          <a:blip r:embed="rId5"/>
          <a:stretch>
            <a:fillRect/>
          </a:stretch>
        </p:blipFill>
        <p:spPr>
          <a:xfrm>
            <a:off x="2286000" y="1571625"/>
            <a:ext cx="257175" cy="180975"/>
          </a:xfrm>
          <a:prstGeom prst="rect">
            <a:avLst/>
          </a:prstGeom>
        </p:spPr>
      </p:pic>
      <p:pic>
        <p:nvPicPr>
          <p:cNvPr id="21" name="Picture 20" descr="tmpx_rl8y4w.png"/>
          <p:cNvPicPr>
            <a:picLocks noChangeAspect="1"/>
          </p:cNvPicPr>
          <p:nvPr/>
        </p:nvPicPr>
        <p:blipFill>
          <a:blip r:embed="rId6"/>
          <a:stretch>
            <a:fillRect/>
          </a:stretch>
        </p:blipFill>
        <p:spPr>
          <a:xfrm>
            <a:off x="2647950" y="1571625"/>
            <a:ext cx="257175" cy="180975"/>
          </a:xfrm>
          <a:prstGeom prst="rect">
            <a:avLst/>
          </a:prstGeom>
        </p:spPr>
      </p:pic>
      <p:pic>
        <p:nvPicPr>
          <p:cNvPr id="22" name="Picture 21" descr="tmpd2xhgzi4.png"/>
          <p:cNvPicPr>
            <a:picLocks noChangeAspect="1"/>
          </p:cNvPicPr>
          <p:nvPr/>
        </p:nvPicPr>
        <p:blipFill>
          <a:blip r:embed="rId7"/>
          <a:stretch>
            <a:fillRect/>
          </a:stretch>
        </p:blipFill>
        <p:spPr>
          <a:xfrm>
            <a:off x="1200150" y="3467100"/>
            <a:ext cx="257175" cy="171450"/>
          </a:xfrm>
          <a:prstGeom prst="rect">
            <a:avLst/>
          </a:prstGeom>
        </p:spPr>
      </p:pic>
      <p:pic>
        <p:nvPicPr>
          <p:cNvPr id="23" name="Picture 22" descr="tmp6f6lf7vt.png"/>
          <p:cNvPicPr>
            <a:picLocks noChangeAspect="1"/>
          </p:cNvPicPr>
          <p:nvPr/>
        </p:nvPicPr>
        <p:blipFill>
          <a:blip r:embed="rId8"/>
          <a:stretch>
            <a:fillRect/>
          </a:stretch>
        </p:blipFill>
        <p:spPr>
          <a:xfrm>
            <a:off x="1562100" y="3467100"/>
            <a:ext cx="257175" cy="171450"/>
          </a:xfrm>
          <a:prstGeom prst="rect">
            <a:avLst/>
          </a:prstGeom>
        </p:spPr>
      </p:pic>
      <p:pic>
        <p:nvPicPr>
          <p:cNvPr id="24" name="Picture 23" descr="tmp0mh6kbhh.png"/>
          <p:cNvPicPr>
            <a:picLocks noChangeAspect="1"/>
          </p:cNvPicPr>
          <p:nvPr/>
        </p:nvPicPr>
        <p:blipFill>
          <a:blip r:embed="rId9"/>
          <a:stretch>
            <a:fillRect/>
          </a:stretch>
        </p:blipFill>
        <p:spPr>
          <a:xfrm>
            <a:off x="1924050" y="3467100"/>
            <a:ext cx="257175" cy="171450"/>
          </a:xfrm>
          <a:prstGeom prst="rect">
            <a:avLst/>
          </a:prstGeom>
        </p:spPr>
      </p:pic>
      <p:pic>
        <p:nvPicPr>
          <p:cNvPr id="25" name="Picture 24" descr="tmp4kij6ba5.png"/>
          <p:cNvPicPr>
            <a:picLocks noChangeAspect="1"/>
          </p:cNvPicPr>
          <p:nvPr/>
        </p:nvPicPr>
        <p:blipFill>
          <a:blip r:embed="rId10"/>
          <a:stretch>
            <a:fillRect/>
          </a:stretch>
        </p:blipFill>
        <p:spPr>
          <a:xfrm>
            <a:off x="2286000" y="3467100"/>
            <a:ext cx="257175" cy="171450"/>
          </a:xfrm>
          <a:prstGeom prst="rect">
            <a:avLst/>
          </a:prstGeom>
        </p:spPr>
      </p:pic>
      <p:pic>
        <p:nvPicPr>
          <p:cNvPr id="26" name="Picture 25" descr="tmpju_77rgc.png"/>
          <p:cNvPicPr>
            <a:picLocks noChangeAspect="1"/>
          </p:cNvPicPr>
          <p:nvPr/>
        </p:nvPicPr>
        <p:blipFill>
          <a:blip r:embed="rId11"/>
          <a:stretch>
            <a:fillRect/>
          </a:stretch>
        </p:blipFill>
        <p:spPr>
          <a:xfrm>
            <a:off x="2647950" y="3467100"/>
            <a:ext cx="257175" cy="171450"/>
          </a:xfrm>
          <a:prstGeom prst="rect">
            <a:avLst/>
          </a:prstGeom>
        </p:spPr>
      </p:pic>
      <p:pic>
        <p:nvPicPr>
          <p:cNvPr id="27" name="Picture 26" descr="tmp1tkndkzp.png"/>
          <p:cNvPicPr>
            <a:picLocks noChangeAspect="1"/>
          </p:cNvPicPr>
          <p:nvPr/>
        </p:nvPicPr>
        <p:blipFill>
          <a:blip r:embed="rId12"/>
          <a:stretch>
            <a:fillRect/>
          </a:stretch>
        </p:blipFill>
        <p:spPr>
          <a:xfrm>
            <a:off x="1200150" y="5057775"/>
            <a:ext cx="257175" cy="180975"/>
          </a:xfrm>
          <a:prstGeom prst="rect">
            <a:avLst/>
          </a:prstGeom>
        </p:spPr>
      </p:pic>
      <p:pic>
        <p:nvPicPr>
          <p:cNvPr id="28" name="Picture 27" descr="tmpvmqi0jwr.png"/>
          <p:cNvPicPr>
            <a:picLocks noChangeAspect="1"/>
          </p:cNvPicPr>
          <p:nvPr/>
        </p:nvPicPr>
        <p:blipFill>
          <a:blip r:embed="rId13"/>
          <a:stretch>
            <a:fillRect/>
          </a:stretch>
        </p:blipFill>
        <p:spPr>
          <a:xfrm>
            <a:off x="1562100" y="5057775"/>
            <a:ext cx="257175" cy="180975"/>
          </a:xfrm>
          <a:prstGeom prst="rect">
            <a:avLst/>
          </a:prstGeom>
        </p:spPr>
      </p:pic>
      <p:pic>
        <p:nvPicPr>
          <p:cNvPr id="29" name="Picture 28" descr="tmp1e3qhkln.png"/>
          <p:cNvPicPr>
            <a:picLocks noChangeAspect="1"/>
          </p:cNvPicPr>
          <p:nvPr/>
        </p:nvPicPr>
        <p:blipFill>
          <a:blip r:embed="rId14"/>
          <a:stretch>
            <a:fillRect/>
          </a:stretch>
        </p:blipFill>
        <p:spPr>
          <a:xfrm>
            <a:off x="1924050" y="5057775"/>
            <a:ext cx="257175" cy="180975"/>
          </a:xfrm>
          <a:prstGeom prst="rect">
            <a:avLst/>
          </a:prstGeom>
        </p:spPr>
      </p:pic>
      <p:pic>
        <p:nvPicPr>
          <p:cNvPr id="30" name="Picture 29" descr="tmpnyjh_pqy.png"/>
          <p:cNvPicPr>
            <a:picLocks noChangeAspect="1"/>
          </p:cNvPicPr>
          <p:nvPr/>
        </p:nvPicPr>
        <p:blipFill>
          <a:blip r:embed="rId15"/>
          <a:stretch>
            <a:fillRect/>
          </a:stretch>
        </p:blipFill>
        <p:spPr>
          <a:xfrm>
            <a:off x="2286000" y="5057775"/>
            <a:ext cx="257175" cy="180975"/>
          </a:xfrm>
          <a:prstGeom prst="rect">
            <a:avLst/>
          </a:prstGeom>
        </p:spPr>
      </p:pic>
      <p:pic>
        <p:nvPicPr>
          <p:cNvPr id="31" name="Picture 30" descr="tmp02e24sb9.png"/>
          <p:cNvPicPr>
            <a:picLocks noChangeAspect="1"/>
          </p:cNvPicPr>
          <p:nvPr/>
        </p:nvPicPr>
        <p:blipFill>
          <a:blip r:embed="rId16"/>
          <a:stretch>
            <a:fillRect/>
          </a:stretch>
        </p:blipFill>
        <p:spPr>
          <a:xfrm>
            <a:off x="2647950" y="5057775"/>
            <a:ext cx="257175" cy="180975"/>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rc_813h9.png"/>
          <p:cNvPicPr>
            <a:picLocks noChangeAspect="1"/>
          </p:cNvPicPr>
          <p:nvPr/>
        </p:nvPicPr>
        <p:blipFill>
          <a:blip r:embed="rId2"/>
          <a:stretch>
            <a:fillRect/>
          </a:stretch>
        </p:blipFill>
        <p:spPr>
          <a:xfrm>
            <a:off x="523875" y="4914900"/>
            <a:ext cx="1095375" cy="333375"/>
          </a:xfrm>
          <a:prstGeom prst="rect">
            <a:avLst/>
          </a:prstGeom>
        </p:spPr>
      </p:pic>
      <p:pic>
        <p:nvPicPr>
          <p:cNvPr id="4" name="Picture 3" descr="tmpk5z8z1u_.png"/>
          <p:cNvPicPr>
            <a:picLocks noChangeAspect="1"/>
          </p:cNvPicPr>
          <p:nvPr/>
        </p:nvPicPr>
        <p:blipFill>
          <a:blip r:embed="rId3"/>
          <a:stretch>
            <a:fillRect/>
          </a:stretch>
        </p:blipFill>
        <p:spPr>
          <a:xfrm>
            <a:off x="1666875" y="4914900"/>
            <a:ext cx="952500" cy="333375"/>
          </a:xfrm>
          <a:prstGeom prst="rect">
            <a:avLst/>
          </a:prstGeom>
        </p:spPr>
      </p:pic>
      <p:sp>
        <p:nvSpPr>
          <p:cNvPr id="5" name="Rectangle 4"/>
          <p:cNvSpPr/>
          <p:nvPr/>
        </p:nvSpPr>
        <p:spPr>
          <a:xfrm>
            <a:off x="3909060" y="1772107"/>
            <a:ext cx="1717929" cy="75285"/>
          </a:xfrm>
          <a:prstGeom prst="rect">
            <a:avLst/>
          </a:prstGeom>
          <a:solidFill>
            <a:srgbClr val="9ACB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3932224"/>
            <a:ext cx="7067169" cy="75285"/>
          </a:xfrm>
          <a:prstGeom prst="rect">
            <a:avLst/>
          </a:prstGeom>
          <a:solidFill>
            <a:srgbClr val="F4F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933956" y="2443886"/>
            <a:ext cx="2919450" cy="810768"/>
          </a:xfrm>
          <a:prstGeom prst="rect">
            <a:avLst/>
          </a:prstGeom>
          <a:noFill/>
          <a:ln>
            <a:noFill/>
          </a:ln>
        </p:spPr>
        <p:txBody>
          <a:bodyPr wrap="none" lIns="19050" rIns="19050" tIns="0" bIns="0" anchor="ctr">
            <a:noAutofit/>
          </a:bodyPr>
          <a:lstStyle/>
          <a:p>
            <a:pPr algn="ctr"/>
            <a:r>
              <a:rPr sz="10500" b="1">
                <a:solidFill>
                  <a:srgbClr val="149ED4"/>
                </a:solidFill>
                <a:latin typeface="PingFang SC"/>
              </a:rPr>
              <a:t>03</a:t>
            </a:r>
          </a:p>
        </p:txBody>
      </p:sp>
      <p:sp>
        <p:nvSpPr>
          <p:cNvPr id="8" name="TextBox 7"/>
          <p:cNvSpPr txBox="1"/>
          <p:nvPr/>
        </p:nvSpPr>
        <p:spPr>
          <a:xfrm>
            <a:off x="3909060" y="2443886"/>
            <a:ext cx="7487412" cy="833932"/>
          </a:xfrm>
          <a:prstGeom prst="rect">
            <a:avLst/>
          </a:prstGeom>
          <a:noFill/>
          <a:ln>
            <a:noFill/>
          </a:ln>
        </p:spPr>
        <p:txBody>
          <a:bodyPr wrap="none" lIns="19050" rIns="19050" tIns="0" bIns="0" anchor="ctr">
            <a:noAutofit/>
          </a:bodyPr>
          <a:lstStyle/>
          <a:p>
            <a:pPr algn="l"/>
            <a:r>
              <a:rPr sz="4800" b="1">
                <a:solidFill>
                  <a:srgbClr val="374554"/>
                </a:solidFill>
                <a:latin typeface="PingFang SC"/>
              </a:rPr>
              <a:t>血流动力学管理</a:t>
            </a:r>
          </a:p>
          <a:p>
            <a:pPr algn="l"/>
            <a:r>
              <a:rPr sz="4800" b="1">
                <a:solidFill>
                  <a:srgbClr val="374554"/>
                </a:solidFill>
                <a:latin typeface="PingFang SC"/>
              </a:rPr>
              <a:t>Hemodynamic management</a:t>
            </a:r>
          </a:p>
        </p:txBody>
      </p:sp>
      <p:sp>
        <p:nvSpPr>
          <p:cNvPr id="9" name="TextBox 8"/>
          <p:cNvSpPr txBox="1"/>
          <p:nvPr/>
        </p:nvSpPr>
        <p:spPr>
          <a:xfrm>
            <a:off x="8322183" y="173735"/>
            <a:ext cx="3915232" cy="440131"/>
          </a:xfrm>
          <a:prstGeom prst="rect">
            <a:avLst/>
          </a:prstGeom>
          <a:noFill/>
          <a:ln>
            <a:noFill/>
          </a:ln>
        </p:spPr>
        <p:txBody>
          <a:bodyPr wrap="none" lIns="19050" rIns="19050" tIns="0" bIns="0" anchor="ctr">
            <a:noAutofit/>
          </a:bodyPr>
          <a:lstStyle/>
          <a:p>
            <a:pPr algn="r"/>
            <a:r>
              <a:rPr sz="1800" b="0">
                <a:solidFill>
                  <a:srgbClr val="AFC3A9"/>
                </a:solidFill>
                <a:latin typeface="PingFang SC"/>
              </a:rPr>
              <a:t>Surviving Sepsis Campaign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16027" y="967130"/>
            <a:ext cx="2911221" cy="1685239"/>
          </a:xfrm>
          <a:prstGeom prst="roundRect">
            <a:avLst>
              <a:gd name="adj" fmla="val 6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281553" y="967130"/>
            <a:ext cx="2911221" cy="1685239"/>
          </a:xfrm>
          <a:prstGeom prst="roundRect">
            <a:avLst>
              <a:gd name="adj" fmla="val 6000"/>
            </a:avLst>
          </a:prstGeom>
          <a:solidFill>
            <a:srgbClr val="E2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347079" y="967130"/>
            <a:ext cx="3909060" cy="1685239"/>
          </a:xfrm>
          <a:prstGeom prst="roundRect">
            <a:avLst>
              <a:gd name="adj" fmla="val 6000"/>
            </a:avLst>
          </a:prstGeom>
          <a:solidFill>
            <a:srgbClr val="FD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16027" y="3254654"/>
            <a:ext cx="2911221" cy="1679447"/>
          </a:xfrm>
          <a:prstGeom prst="roundRect">
            <a:avLst>
              <a:gd name="adj" fmla="val 6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281553" y="3254654"/>
            <a:ext cx="2911221" cy="1679447"/>
          </a:xfrm>
          <a:prstGeom prst="roundRect">
            <a:avLst>
              <a:gd name="adj" fmla="val 6000"/>
            </a:avLst>
          </a:prstGeom>
          <a:solidFill>
            <a:srgbClr val="99CC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347079" y="3254654"/>
            <a:ext cx="3909060" cy="1679447"/>
          </a:xfrm>
          <a:prstGeom prst="roundRect">
            <a:avLst>
              <a:gd name="adj" fmla="val 6000"/>
            </a:avLst>
          </a:prstGeom>
          <a:solidFill>
            <a:srgbClr val="9ACB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489454" y="561746"/>
            <a:ext cx="3188970" cy="202692"/>
          </a:xfrm>
          <a:prstGeom prst="roundRect">
            <a:avLst>
              <a:gd name="adj" fmla="val 6000"/>
            </a:avLst>
          </a:prstGeom>
          <a:solidFill>
            <a:srgbClr val="FBFEFE"/>
          </a:solidFill>
          <a:ln w="11430">
            <a:solidFill>
              <a:srgbClr val="FBFD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7884" y="138988"/>
            <a:ext cx="12260580" cy="312724"/>
          </a:xfrm>
          <a:prstGeom prst="rect">
            <a:avLst/>
          </a:prstGeom>
          <a:noFill/>
          <a:ln>
            <a:noFill/>
          </a:ln>
        </p:spPr>
        <p:txBody>
          <a:bodyPr wrap="none" lIns="19050" rIns="19050" tIns="0" bIns="0" anchor="ctr">
            <a:noAutofit/>
          </a:bodyPr>
          <a:lstStyle/>
          <a:p>
            <a:pPr algn="ctr"/>
            <a:r>
              <a:rPr sz="2700" b="1">
                <a:solidFill>
                  <a:srgbClr val="415390"/>
                </a:solidFill>
                <a:latin typeface="PingFang SC"/>
              </a:rPr>
              <a:t>成人脓毒症和感染性休克复苏及血流动力学支持快速指南</a:t>
            </a:r>
          </a:p>
        </p:txBody>
      </p:sp>
      <p:sp>
        <p:nvSpPr>
          <p:cNvPr id="11" name="TextBox 10"/>
          <p:cNvSpPr txBox="1"/>
          <p:nvPr/>
        </p:nvSpPr>
        <p:spPr>
          <a:xfrm>
            <a:off x="2592324" y="590702"/>
            <a:ext cx="6563106" cy="127406"/>
          </a:xfrm>
          <a:prstGeom prst="rect">
            <a:avLst/>
          </a:prstGeom>
          <a:noFill/>
          <a:ln>
            <a:noFill/>
          </a:ln>
        </p:spPr>
        <p:txBody>
          <a:bodyPr wrap="none" lIns="19050" rIns="19050" tIns="0" bIns="0" anchor="ctr">
            <a:noAutofit/>
          </a:bodyPr>
          <a:lstStyle/>
          <a:p>
            <a:pPr algn="ctr"/>
            <a:r>
              <a:rPr sz="1350" b="1">
                <a:solidFill>
                  <a:srgbClr val="515F67"/>
                </a:solidFill>
                <a:latin typeface="PingFang SC"/>
              </a:rPr>
              <a:t>脓毒症且伴有低血压和/或乳酸升高的患者</a:t>
            </a:r>
          </a:p>
        </p:txBody>
      </p:sp>
      <p:sp>
        <p:nvSpPr>
          <p:cNvPr id="12" name="TextBox 11"/>
          <p:cNvSpPr txBox="1"/>
          <p:nvPr/>
        </p:nvSpPr>
        <p:spPr>
          <a:xfrm>
            <a:off x="318896" y="1169822"/>
            <a:ext cx="421766" cy="115823"/>
          </a:xfrm>
          <a:prstGeom prst="rect">
            <a:avLst/>
          </a:prstGeom>
          <a:noFill/>
          <a:ln>
            <a:noFill/>
          </a:ln>
        </p:spPr>
        <p:txBody>
          <a:bodyPr wrap="square" lIns="19050" rIns="19050" tIns="0" bIns="0" anchor="t">
            <a:normAutofit/>
          </a:bodyPr>
          <a:lstStyle/>
          <a:p>
            <a:pPr algn="l"/>
            <a:r>
              <a:rPr sz="1060" b="1">
                <a:solidFill>
                  <a:srgbClr val="000000"/>
                </a:solidFill>
                <a:latin typeface="PingFang SC"/>
              </a:rPr>
              <a:t>检查</a:t>
            </a:r>
          </a:p>
        </p:txBody>
      </p:sp>
      <p:sp>
        <p:nvSpPr>
          <p:cNvPr id="13" name="TextBox 12"/>
          <p:cNvSpPr txBox="1"/>
          <p:nvPr/>
        </p:nvSpPr>
        <p:spPr>
          <a:xfrm>
            <a:off x="318896" y="1378305"/>
            <a:ext cx="2582036" cy="231647"/>
          </a:xfrm>
          <a:prstGeom prst="rect">
            <a:avLst/>
          </a:prstGeom>
          <a:noFill/>
          <a:ln>
            <a:noFill/>
          </a:ln>
        </p:spPr>
        <p:txBody>
          <a:bodyPr wrap="square" lIns="19050" rIns="19050" tIns="0" bIns="0" anchor="t">
            <a:normAutofit/>
          </a:bodyPr>
          <a:lstStyle/>
          <a:p>
            <a:pPr algn="l"/>
            <a:r>
              <a:rPr sz="930" b="0">
                <a:solidFill>
                  <a:srgbClr val="7A838A"/>
                </a:solidFill>
                <a:latin typeface="PingFang SC"/>
              </a:rPr>
              <a:t>立即、持续且至少每小时一次：监测血压、心率、呼吸频率和意识水平。</a:t>
            </a:r>
          </a:p>
        </p:txBody>
      </p:sp>
      <p:sp>
        <p:nvSpPr>
          <p:cNvPr id="14" name="TextBox 13"/>
          <p:cNvSpPr txBox="1"/>
          <p:nvPr/>
        </p:nvSpPr>
        <p:spPr>
          <a:xfrm>
            <a:off x="318896" y="1748942"/>
            <a:ext cx="2582036" cy="231648"/>
          </a:xfrm>
          <a:prstGeom prst="rect">
            <a:avLst/>
          </a:prstGeom>
          <a:noFill/>
          <a:ln>
            <a:noFill/>
          </a:ln>
        </p:spPr>
        <p:txBody>
          <a:bodyPr wrap="square" lIns="19050" rIns="19050" tIns="0" bIns="0" anchor="t">
            <a:normAutofit/>
          </a:bodyPr>
          <a:lstStyle/>
          <a:p>
            <a:pPr algn="l"/>
            <a:r>
              <a:rPr sz="1010" b="0">
                <a:solidFill>
                  <a:srgbClr val="EFF4F0"/>
                </a:solidFill>
                <a:latin typeface="PingFang SC"/>
              </a:rPr>
              <a:t>✓ 1小时内：测量初始血清乳酸水平和毛细血管再充盈时间。</a:t>
            </a:r>
          </a:p>
        </p:txBody>
      </p:sp>
      <p:sp>
        <p:nvSpPr>
          <p:cNvPr id="15" name="TextBox 14"/>
          <p:cNvSpPr txBox="1"/>
          <p:nvPr/>
        </p:nvSpPr>
        <p:spPr>
          <a:xfrm>
            <a:off x="3384423" y="1169822"/>
            <a:ext cx="390906" cy="115823"/>
          </a:xfrm>
          <a:prstGeom prst="rect">
            <a:avLst/>
          </a:prstGeom>
          <a:noFill/>
          <a:ln>
            <a:noFill/>
          </a:ln>
        </p:spPr>
        <p:txBody>
          <a:bodyPr wrap="square" lIns="19050" rIns="19050" tIns="0" bIns="0" anchor="t">
            <a:normAutofit/>
          </a:bodyPr>
          <a:lstStyle/>
          <a:p>
            <a:pPr algn="l"/>
            <a:r>
              <a:rPr sz="1019" b="1">
                <a:solidFill>
                  <a:srgbClr val="000000"/>
                </a:solidFill>
                <a:latin typeface="PingFang SC"/>
              </a:rPr>
              <a:t>液体</a:t>
            </a:r>
          </a:p>
        </p:txBody>
      </p:sp>
      <p:sp>
        <p:nvSpPr>
          <p:cNvPr id="16" name="TextBox 15"/>
          <p:cNvSpPr txBox="1"/>
          <p:nvPr/>
        </p:nvSpPr>
        <p:spPr>
          <a:xfrm>
            <a:off x="3384423" y="1436217"/>
            <a:ext cx="2582037" cy="231647"/>
          </a:xfrm>
          <a:prstGeom prst="rect">
            <a:avLst/>
          </a:prstGeom>
          <a:noFill/>
          <a:ln>
            <a:noFill/>
          </a:ln>
        </p:spPr>
        <p:txBody>
          <a:bodyPr wrap="square" lIns="19050" rIns="19050" tIns="0" bIns="0" anchor="t">
            <a:normAutofit/>
          </a:bodyPr>
          <a:lstStyle/>
          <a:p>
            <a:pPr algn="l"/>
            <a:r>
              <a:rPr sz="890" b="0">
                <a:solidFill>
                  <a:srgbClr val="E4E4DA"/>
                </a:solidFill>
                <a:latin typeface="PingFang SC"/>
              </a:rPr>
              <a:t>✓ 3小时内：至少按30ml/kg的剂量静脉输注晶体液进行初始液体复苏*</a:t>
            </a:r>
          </a:p>
        </p:txBody>
      </p:sp>
      <p:sp>
        <p:nvSpPr>
          <p:cNvPr id="17" name="TextBox 16"/>
          <p:cNvSpPr txBox="1"/>
          <p:nvPr/>
        </p:nvSpPr>
        <p:spPr>
          <a:xfrm>
            <a:off x="3384423" y="1748942"/>
            <a:ext cx="2582037" cy="115824"/>
          </a:xfrm>
          <a:prstGeom prst="rect">
            <a:avLst/>
          </a:prstGeom>
          <a:noFill/>
          <a:ln>
            <a:noFill/>
          </a:ln>
        </p:spPr>
        <p:txBody>
          <a:bodyPr wrap="square" lIns="19050" rIns="19050" tIns="0" bIns="0" anchor="t">
            <a:normAutofit/>
          </a:bodyPr>
          <a:lstStyle/>
          <a:p>
            <a:pPr algn="l"/>
            <a:r>
              <a:rPr sz="900" b="0">
                <a:solidFill>
                  <a:srgbClr val="A9CFB3"/>
                </a:solidFill>
                <a:latin typeface="PingFang SC"/>
              </a:rPr>
              <a:t>✓ 使用平衡溶液（例如乳酸林格氏液）</a:t>
            </a:r>
          </a:p>
        </p:txBody>
      </p:sp>
      <p:sp>
        <p:nvSpPr>
          <p:cNvPr id="18" name="TextBox 17"/>
          <p:cNvSpPr txBox="1"/>
          <p:nvPr/>
        </p:nvSpPr>
        <p:spPr>
          <a:xfrm>
            <a:off x="6449949" y="1169822"/>
            <a:ext cx="2880360" cy="115823"/>
          </a:xfrm>
          <a:prstGeom prst="rect">
            <a:avLst/>
          </a:prstGeom>
          <a:noFill/>
          <a:ln>
            <a:noFill/>
          </a:ln>
        </p:spPr>
        <p:txBody>
          <a:bodyPr wrap="square" lIns="19050" rIns="19050" tIns="0" bIns="0" anchor="t">
            <a:normAutofit/>
          </a:bodyPr>
          <a:lstStyle/>
          <a:p>
            <a:pPr algn="l"/>
            <a:r>
              <a:rPr sz="1010" b="1">
                <a:solidFill>
                  <a:srgbClr val="5F6068"/>
                </a:solidFill>
                <a:latin typeface="PingFang SC"/>
              </a:rPr>
              <a:t>血管活性药物，若出现低血压情况</a:t>
            </a:r>
          </a:p>
        </p:txBody>
      </p:sp>
      <p:sp>
        <p:nvSpPr>
          <p:cNvPr id="19" name="TextBox 18"/>
          <p:cNvSpPr txBox="1"/>
          <p:nvPr/>
        </p:nvSpPr>
        <p:spPr>
          <a:xfrm>
            <a:off x="6449949" y="1378305"/>
            <a:ext cx="3703320" cy="231647"/>
          </a:xfrm>
          <a:prstGeom prst="rect">
            <a:avLst/>
          </a:prstGeom>
          <a:noFill/>
          <a:ln>
            <a:noFill/>
          </a:ln>
        </p:spPr>
        <p:txBody>
          <a:bodyPr wrap="square" lIns="19050" rIns="19050" tIns="0" bIns="0" anchor="t">
            <a:normAutofit/>
          </a:bodyPr>
          <a:lstStyle/>
          <a:p>
            <a:pPr algn="l"/>
            <a:r>
              <a:rPr sz="930" b="0">
                <a:solidFill>
                  <a:srgbClr val="908886"/>
                </a:solidFill>
                <a:latin typeface="PingFang SC"/>
              </a:rPr>
              <a:t>时间紧迫：对于存在威胁生命的终末器官灌注情况，考虑在进行液体复苏的同时启动去甲肾上腺素治疗。</a:t>
            </a:r>
          </a:p>
        </p:txBody>
      </p:sp>
      <p:sp>
        <p:nvSpPr>
          <p:cNvPr id="20" name="TextBox 19"/>
          <p:cNvSpPr txBox="1"/>
          <p:nvPr/>
        </p:nvSpPr>
        <p:spPr>
          <a:xfrm>
            <a:off x="6449949" y="1691030"/>
            <a:ext cx="3703320" cy="115823"/>
          </a:xfrm>
          <a:prstGeom prst="rect">
            <a:avLst/>
          </a:prstGeom>
          <a:noFill/>
          <a:ln>
            <a:noFill/>
          </a:ln>
        </p:spPr>
        <p:txBody>
          <a:bodyPr wrap="square" lIns="19050" rIns="19050" tIns="0" bIns="0" anchor="t">
            <a:normAutofit/>
          </a:bodyPr>
          <a:lstStyle/>
          <a:p>
            <a:pPr algn="l"/>
            <a:r>
              <a:rPr sz="1050" b="0">
                <a:solidFill>
                  <a:srgbClr val="E1EEDB"/>
                </a:solidFill>
                <a:latin typeface="PingFang SC"/>
              </a:rPr>
              <a:t>✓ 使用去甲肾上腺素作为一线血管加压药</a:t>
            </a:r>
          </a:p>
        </p:txBody>
      </p:sp>
      <p:sp>
        <p:nvSpPr>
          <p:cNvPr id="21" name="TextBox 20"/>
          <p:cNvSpPr txBox="1"/>
          <p:nvPr/>
        </p:nvSpPr>
        <p:spPr>
          <a:xfrm>
            <a:off x="6449949" y="1887931"/>
            <a:ext cx="3703320" cy="115823"/>
          </a:xfrm>
          <a:prstGeom prst="rect">
            <a:avLst/>
          </a:prstGeom>
          <a:noFill/>
          <a:ln>
            <a:noFill/>
          </a:ln>
        </p:spPr>
        <p:txBody>
          <a:bodyPr wrap="square" lIns="19050" rIns="19050" tIns="0" bIns="0" anchor="t">
            <a:normAutofit/>
          </a:bodyPr>
          <a:lstStyle/>
          <a:p>
            <a:pPr algn="l"/>
            <a:r>
              <a:rPr sz="770" b="0">
                <a:solidFill>
                  <a:srgbClr val="CCEEC9"/>
                </a:solidFill>
                <a:latin typeface="PingFang SC"/>
              </a:rPr>
              <a:t>✓ 应从外周开始使用血管加压药，而不是等到获得中心静脉通路后再给药。</a:t>
            </a:r>
          </a:p>
        </p:txBody>
      </p:sp>
      <p:sp>
        <p:nvSpPr>
          <p:cNvPr id="22" name="TextBox 21"/>
          <p:cNvSpPr txBox="1"/>
          <p:nvPr/>
        </p:nvSpPr>
        <p:spPr>
          <a:xfrm>
            <a:off x="6449949" y="2084832"/>
            <a:ext cx="3703320" cy="115823"/>
          </a:xfrm>
          <a:prstGeom prst="rect">
            <a:avLst/>
          </a:prstGeom>
          <a:noFill/>
          <a:ln>
            <a:noFill/>
          </a:ln>
        </p:spPr>
        <p:txBody>
          <a:bodyPr wrap="square" lIns="19050" rIns="19050" tIns="0" bIns="0" anchor="t">
            <a:normAutofit/>
          </a:bodyPr>
          <a:lstStyle/>
          <a:p>
            <a:pPr algn="l"/>
            <a:r>
              <a:rPr sz="680" b="0">
                <a:solidFill>
                  <a:srgbClr val="517E64"/>
                </a:solidFill>
                <a:latin typeface="PingFang SC"/>
              </a:rPr>
              <a:t>✓ 目标是使MAP维持在≥65mmHg，对于年龄≥65岁的患者，维持在60–65mmHg。</a:t>
            </a:r>
          </a:p>
        </p:txBody>
      </p:sp>
      <p:sp>
        <p:nvSpPr>
          <p:cNvPr id="23" name="TextBox 22"/>
          <p:cNvSpPr txBox="1"/>
          <p:nvPr/>
        </p:nvSpPr>
        <p:spPr>
          <a:xfrm>
            <a:off x="2489454" y="2791358"/>
            <a:ext cx="6808470" cy="150571"/>
          </a:xfrm>
          <a:prstGeom prst="rect">
            <a:avLst/>
          </a:prstGeom>
          <a:noFill/>
          <a:ln>
            <a:noFill/>
          </a:ln>
        </p:spPr>
        <p:txBody>
          <a:bodyPr wrap="none" lIns="19050" rIns="19050" tIns="0" bIns="0" anchor="ctr">
            <a:noAutofit/>
          </a:bodyPr>
          <a:lstStyle/>
          <a:p>
            <a:pPr algn="ctr"/>
            <a:r>
              <a:rPr sz="1350" b="1">
                <a:solidFill>
                  <a:srgbClr val="708385"/>
                </a:solidFill>
                <a:latin typeface="PingFang SC"/>
              </a:rPr>
              <a:t>若初始液体复苏后低血压和/或乳酸升高仍持续存在</a:t>
            </a:r>
          </a:p>
        </p:txBody>
      </p:sp>
      <p:sp>
        <p:nvSpPr>
          <p:cNvPr id="24" name="TextBox 23"/>
          <p:cNvSpPr txBox="1"/>
          <p:nvPr/>
        </p:nvSpPr>
        <p:spPr>
          <a:xfrm>
            <a:off x="318896" y="3451555"/>
            <a:ext cx="2582036" cy="231647"/>
          </a:xfrm>
          <a:prstGeom prst="rect">
            <a:avLst/>
          </a:prstGeom>
          <a:noFill/>
          <a:ln>
            <a:noFill/>
          </a:ln>
        </p:spPr>
        <p:txBody>
          <a:bodyPr wrap="square" lIns="19050" rIns="19050" tIns="0" bIns="0" anchor="t">
            <a:normAutofit/>
          </a:bodyPr>
          <a:lstStyle/>
          <a:p>
            <a:pPr algn="l"/>
            <a:r>
              <a:rPr sz="819" b="0">
                <a:solidFill>
                  <a:srgbClr val="4D7A5E"/>
                </a:solidFill>
                <a:latin typeface="PingFang SC"/>
              </a:rPr>
              <a:t>✓ 使用动态指标（例如，被动抬腿或快速补液时每搏输出量或脉压的变化）评估液体反应性。</a:t>
            </a:r>
          </a:p>
        </p:txBody>
      </p:sp>
      <p:sp>
        <p:nvSpPr>
          <p:cNvPr id="25" name="TextBox 24"/>
          <p:cNvSpPr txBox="1"/>
          <p:nvPr/>
        </p:nvSpPr>
        <p:spPr>
          <a:xfrm>
            <a:off x="318896" y="3764280"/>
            <a:ext cx="2582036" cy="115824"/>
          </a:xfrm>
          <a:prstGeom prst="rect">
            <a:avLst/>
          </a:prstGeom>
          <a:noFill/>
          <a:ln>
            <a:noFill/>
          </a:ln>
        </p:spPr>
        <p:txBody>
          <a:bodyPr wrap="square" lIns="19050" rIns="19050" tIns="0" bIns="0" anchor="t">
            <a:normAutofit/>
          </a:bodyPr>
          <a:lstStyle/>
          <a:p>
            <a:pPr algn="l"/>
            <a:r>
              <a:rPr sz="869" b="0">
                <a:solidFill>
                  <a:srgbClr val="58866A"/>
                </a:solidFill>
                <a:latin typeface="PingFang SC"/>
              </a:rPr>
              <a:t>✓ 监测乳酸趋势和毛细血管再充盈时间。</a:t>
            </a:r>
          </a:p>
        </p:txBody>
      </p:sp>
      <p:sp>
        <p:nvSpPr>
          <p:cNvPr id="26" name="TextBox 25"/>
          <p:cNvSpPr txBox="1"/>
          <p:nvPr/>
        </p:nvSpPr>
        <p:spPr>
          <a:xfrm>
            <a:off x="318896" y="3961180"/>
            <a:ext cx="2582036" cy="579120"/>
          </a:xfrm>
          <a:prstGeom prst="rect">
            <a:avLst/>
          </a:prstGeom>
          <a:noFill/>
          <a:ln>
            <a:noFill/>
          </a:ln>
        </p:spPr>
        <p:txBody>
          <a:bodyPr wrap="square" lIns="19050" rIns="19050" tIns="0" bIns="0" anchor="t">
            <a:normAutofit/>
          </a:bodyPr>
          <a:lstStyle/>
          <a:p>
            <a:pPr algn="l"/>
            <a:r>
              <a:rPr sz="1050" b="0">
                <a:solidFill>
                  <a:srgbClr val="96BA9D"/>
                </a:solidFill>
                <a:latin typeface="PingFang SC"/>
              </a:rPr>
              <a:t>• 至少每小时测量一次血压。</a:t>
            </a:r>
          </a:p>
          <a:p>
            <a:pPr algn="l"/>
            <a:r>
              <a:rPr sz="1050" b="0">
                <a:solidFill>
                  <a:srgbClr val="96BA9D"/>
                </a:solidFill>
                <a:latin typeface="PingFang SC"/>
              </a:rPr>
              <a:t>• 考虑通过动脉置管进行连续血压监测。</a:t>
            </a:r>
          </a:p>
          <a:p>
            <a:pPr algn="l"/>
            <a:r>
              <a:rPr sz="1050" b="0">
                <a:solidFill>
                  <a:srgbClr val="96BA9D"/>
                </a:solidFill>
                <a:latin typeface="PingFang SC"/>
              </a:rPr>
              <a:t>• 确保感染源控制的充分性</a:t>
            </a:r>
          </a:p>
          <a:p>
            <a:pPr algn="l"/>
            <a:r>
              <a:rPr sz="1050" b="0">
                <a:solidFill>
                  <a:srgbClr val="96BA9D"/>
                </a:solidFill>
                <a:latin typeface="PingFang SC"/>
              </a:rPr>
              <a:t>• 考虑休克的其他原因</a:t>
            </a:r>
          </a:p>
        </p:txBody>
      </p:sp>
      <p:sp>
        <p:nvSpPr>
          <p:cNvPr id="27" name="TextBox 26"/>
          <p:cNvSpPr txBox="1"/>
          <p:nvPr/>
        </p:nvSpPr>
        <p:spPr>
          <a:xfrm>
            <a:off x="3384423" y="3451555"/>
            <a:ext cx="2582037" cy="115824"/>
          </a:xfrm>
          <a:prstGeom prst="rect">
            <a:avLst/>
          </a:prstGeom>
          <a:noFill/>
          <a:ln>
            <a:noFill/>
          </a:ln>
        </p:spPr>
        <p:txBody>
          <a:bodyPr wrap="square" lIns="19050" rIns="19050" tIns="0" bIns="0" anchor="t">
            <a:normAutofit/>
          </a:bodyPr>
          <a:lstStyle/>
          <a:p>
            <a:pPr algn="l"/>
            <a:r>
              <a:rPr sz="930" b="0">
                <a:solidFill>
                  <a:srgbClr val="5D8A6E"/>
                </a:solidFill>
                <a:latin typeface="PingFang SC"/>
              </a:rPr>
              <a:t>✓ 根据液体反应性测试给予额外液体</a:t>
            </a:r>
          </a:p>
        </p:txBody>
      </p:sp>
      <p:sp>
        <p:nvSpPr>
          <p:cNvPr id="28" name="TextBox 27"/>
          <p:cNvSpPr txBox="1"/>
          <p:nvPr/>
        </p:nvSpPr>
        <p:spPr>
          <a:xfrm>
            <a:off x="3384423" y="3648456"/>
            <a:ext cx="2582037" cy="115823"/>
          </a:xfrm>
          <a:prstGeom prst="rect">
            <a:avLst/>
          </a:prstGeom>
          <a:noFill/>
          <a:ln>
            <a:noFill/>
          </a:ln>
        </p:spPr>
        <p:txBody>
          <a:bodyPr wrap="square" lIns="19050" rIns="19050" tIns="0" bIns="0" anchor="t">
            <a:normAutofit/>
          </a:bodyPr>
          <a:lstStyle/>
          <a:p>
            <a:pPr algn="l"/>
            <a:r>
              <a:rPr sz="1050" b="0">
                <a:solidFill>
                  <a:srgbClr val="FCEFE3"/>
                </a:solidFill>
                <a:latin typeface="PingFang SC"/>
              </a:rPr>
              <a:t>✓ 使用平衡溶液</a:t>
            </a:r>
          </a:p>
        </p:txBody>
      </p:sp>
      <p:sp>
        <p:nvSpPr>
          <p:cNvPr id="29" name="TextBox 28"/>
          <p:cNvSpPr txBox="1"/>
          <p:nvPr/>
        </p:nvSpPr>
        <p:spPr>
          <a:xfrm>
            <a:off x="3384423" y="3961180"/>
            <a:ext cx="2582037" cy="115823"/>
          </a:xfrm>
          <a:prstGeom prst="rect">
            <a:avLst/>
          </a:prstGeom>
          <a:noFill/>
          <a:ln>
            <a:noFill/>
          </a:ln>
        </p:spPr>
        <p:txBody>
          <a:bodyPr wrap="square" lIns="19050" rIns="19050" tIns="0" bIns="0" anchor="t">
            <a:normAutofit/>
          </a:bodyPr>
          <a:lstStyle/>
          <a:p>
            <a:pPr algn="l"/>
            <a:r>
              <a:rPr sz="1050" b="0">
                <a:solidFill>
                  <a:srgbClr val="DFEFEF"/>
                </a:solidFill>
                <a:latin typeface="PingFang SC"/>
              </a:rPr>
              <a:t>考虑补充白蛋白**</a:t>
            </a:r>
          </a:p>
        </p:txBody>
      </p:sp>
      <p:sp>
        <p:nvSpPr>
          <p:cNvPr id="30" name="TextBox 29"/>
          <p:cNvSpPr txBox="1"/>
          <p:nvPr/>
        </p:nvSpPr>
        <p:spPr>
          <a:xfrm>
            <a:off x="6449949" y="3451555"/>
            <a:ext cx="3703320" cy="231647"/>
          </a:xfrm>
          <a:prstGeom prst="rect">
            <a:avLst/>
          </a:prstGeom>
          <a:noFill/>
          <a:ln>
            <a:noFill/>
          </a:ln>
        </p:spPr>
        <p:txBody>
          <a:bodyPr wrap="square" lIns="19050" rIns="19050" tIns="0" bIns="0" anchor="t">
            <a:normAutofit/>
          </a:bodyPr>
          <a:lstStyle/>
          <a:p>
            <a:pPr algn="l"/>
            <a:r>
              <a:rPr sz="969" b="0">
                <a:solidFill>
                  <a:srgbClr val="558268"/>
                </a:solidFill>
                <a:latin typeface="PingFang SC"/>
              </a:rPr>
              <a:t>✓ 若尚未开始使用去甲肾上腺素，且初始液体复苏后低血压仍持续，则开始使用去甲肾上腺素。</a:t>
            </a:r>
          </a:p>
        </p:txBody>
      </p:sp>
      <p:sp>
        <p:nvSpPr>
          <p:cNvPr id="31" name="TextBox 30"/>
          <p:cNvSpPr txBox="1"/>
          <p:nvPr/>
        </p:nvSpPr>
        <p:spPr>
          <a:xfrm>
            <a:off x="6449949" y="3764280"/>
            <a:ext cx="3703320" cy="115824"/>
          </a:xfrm>
          <a:prstGeom prst="rect">
            <a:avLst/>
          </a:prstGeom>
          <a:noFill/>
          <a:ln>
            <a:noFill/>
          </a:ln>
        </p:spPr>
        <p:txBody>
          <a:bodyPr wrap="square" lIns="19050" rIns="19050" tIns="0" bIns="0" anchor="t">
            <a:normAutofit/>
          </a:bodyPr>
          <a:lstStyle/>
          <a:p>
            <a:pPr algn="l"/>
            <a:r>
              <a:rPr sz="810" b="0">
                <a:solidFill>
                  <a:srgbClr val="A2C9A2"/>
                </a:solidFill>
                <a:latin typeface="PingFang SC"/>
              </a:rPr>
              <a:t>✓ 若去甲肾上腺素需求持续存在，使用氢化可的松，±氟氢可的松。</a:t>
            </a:r>
          </a:p>
        </p:txBody>
      </p:sp>
      <p:sp>
        <p:nvSpPr>
          <p:cNvPr id="32" name="TextBox 31"/>
          <p:cNvSpPr txBox="1"/>
          <p:nvPr/>
        </p:nvSpPr>
        <p:spPr>
          <a:xfrm>
            <a:off x="6449949" y="3961180"/>
            <a:ext cx="3703320" cy="115823"/>
          </a:xfrm>
          <a:prstGeom prst="rect">
            <a:avLst/>
          </a:prstGeom>
          <a:noFill/>
          <a:ln>
            <a:noFill/>
          </a:ln>
        </p:spPr>
        <p:txBody>
          <a:bodyPr wrap="square" lIns="19050" rIns="19050" tIns="0" bIns="0" anchor="t">
            <a:normAutofit/>
          </a:bodyPr>
          <a:lstStyle/>
          <a:p>
            <a:pPr algn="l"/>
            <a:r>
              <a:rPr sz="950" b="0">
                <a:solidFill>
                  <a:srgbClr val="F3EAD9"/>
                </a:solidFill>
                <a:latin typeface="PingFang SC"/>
              </a:rPr>
              <a:t>✓ 若去甲肾上腺素剂量正在增加，则添加加压素。</a:t>
            </a:r>
          </a:p>
        </p:txBody>
      </p:sp>
      <p:sp>
        <p:nvSpPr>
          <p:cNvPr id="33" name="TextBox 32"/>
          <p:cNvSpPr txBox="1"/>
          <p:nvPr/>
        </p:nvSpPr>
        <p:spPr>
          <a:xfrm>
            <a:off x="6449949" y="4158081"/>
            <a:ext cx="3703320" cy="115824"/>
          </a:xfrm>
          <a:prstGeom prst="rect">
            <a:avLst/>
          </a:prstGeom>
          <a:noFill/>
          <a:ln>
            <a:noFill/>
          </a:ln>
        </p:spPr>
        <p:txBody>
          <a:bodyPr wrap="square" lIns="19050" rIns="19050" tIns="0" bIns="0" anchor="t">
            <a:normAutofit/>
          </a:bodyPr>
          <a:lstStyle/>
          <a:p>
            <a:pPr algn="l"/>
            <a:r>
              <a:rPr sz="810" b="0">
                <a:solidFill>
                  <a:srgbClr val="558167"/>
                </a:solidFill>
                <a:latin typeface="PingFang SC"/>
              </a:rPr>
              <a:t>✓ 若去甲肾上腺素剂量仍在增加，可将肾上腺素作为三线药物使用。</a:t>
            </a:r>
          </a:p>
        </p:txBody>
      </p:sp>
      <p:sp>
        <p:nvSpPr>
          <p:cNvPr id="34" name="TextBox 33"/>
          <p:cNvSpPr txBox="1"/>
          <p:nvPr/>
        </p:nvSpPr>
        <p:spPr>
          <a:xfrm>
            <a:off x="6449949" y="4354982"/>
            <a:ext cx="3703320" cy="115824"/>
          </a:xfrm>
          <a:prstGeom prst="rect">
            <a:avLst/>
          </a:prstGeom>
          <a:noFill/>
          <a:ln>
            <a:noFill/>
          </a:ln>
        </p:spPr>
        <p:txBody>
          <a:bodyPr wrap="square" lIns="19050" rIns="19050" tIns="0" bIns="0" anchor="t">
            <a:normAutofit/>
          </a:bodyPr>
          <a:lstStyle/>
          <a:p>
            <a:pPr algn="l"/>
            <a:r>
              <a:rPr sz="890" b="0">
                <a:solidFill>
                  <a:srgbClr val="A0CBA0"/>
                </a:solidFill>
                <a:latin typeface="PingFang SC"/>
              </a:rPr>
              <a:t>✓ 若存在心功能障碍，可用多巴酚丁胺或使用肾上腺素。</a:t>
            </a:r>
          </a:p>
        </p:txBody>
      </p:sp>
      <p:sp>
        <p:nvSpPr>
          <p:cNvPr id="35" name="TextBox 34"/>
          <p:cNvSpPr txBox="1"/>
          <p:nvPr/>
        </p:nvSpPr>
        <p:spPr>
          <a:xfrm>
            <a:off x="318896" y="4934102"/>
            <a:ext cx="2738399" cy="173736"/>
          </a:xfrm>
          <a:prstGeom prst="rect">
            <a:avLst/>
          </a:prstGeom>
          <a:noFill/>
          <a:ln>
            <a:noFill/>
          </a:ln>
        </p:spPr>
        <p:txBody>
          <a:bodyPr wrap="none" lIns="19050" rIns="19050" tIns="0" bIns="0" anchor="ctr">
            <a:noAutofit/>
          </a:bodyPr>
          <a:lstStyle/>
          <a:p>
            <a:pPr algn="l"/>
            <a:r>
              <a:rPr sz="900" b="0">
                <a:solidFill>
                  <a:srgbClr val="939292"/>
                </a:solidFill>
                <a:latin typeface="PingFang SC"/>
              </a:rPr>
              <a:t>Society of Critical Care Medicine</a:t>
            </a:r>
          </a:p>
        </p:txBody>
      </p:sp>
      <p:sp>
        <p:nvSpPr>
          <p:cNvPr id="36" name="TextBox 35"/>
          <p:cNvSpPr txBox="1"/>
          <p:nvPr/>
        </p:nvSpPr>
        <p:spPr>
          <a:xfrm>
            <a:off x="1666494" y="4934102"/>
            <a:ext cx="2715767" cy="173736"/>
          </a:xfrm>
          <a:prstGeom prst="rect">
            <a:avLst/>
          </a:prstGeom>
          <a:noFill/>
          <a:ln>
            <a:noFill/>
          </a:ln>
        </p:spPr>
        <p:txBody>
          <a:bodyPr wrap="none" lIns="19050" rIns="19050" tIns="0" bIns="0" anchor="ctr">
            <a:noAutofit/>
          </a:bodyPr>
          <a:lstStyle/>
          <a:p>
            <a:pPr algn="l"/>
            <a:r>
              <a:rPr sz="900" b="0">
                <a:solidFill>
                  <a:srgbClr val="7456AF"/>
                </a:solidFill>
                <a:latin typeface="PingFang SC"/>
              </a:rPr>
              <a:t>ESICM European Society of Intensive Care Medicine</a:t>
            </a:r>
          </a:p>
        </p:txBody>
      </p:sp>
      <p:sp>
        <p:nvSpPr>
          <p:cNvPr id="37" name="TextBox 36"/>
          <p:cNvSpPr txBox="1"/>
          <p:nvPr/>
        </p:nvSpPr>
        <p:spPr>
          <a:xfrm>
            <a:off x="216027" y="5281574"/>
            <a:ext cx="5906795" cy="231648"/>
          </a:xfrm>
          <a:prstGeom prst="rect">
            <a:avLst/>
          </a:prstGeom>
          <a:noFill/>
          <a:ln>
            <a:noFill/>
          </a:ln>
        </p:spPr>
        <p:txBody>
          <a:bodyPr wrap="none" lIns="19050" rIns="19050" tIns="0" bIns="0" anchor="ctr">
            <a:noAutofit/>
          </a:bodyPr>
          <a:lstStyle/>
          <a:p>
            <a:pPr algn="l"/>
            <a:r>
              <a:rPr sz="900" b="0">
                <a:solidFill>
                  <a:srgbClr val="90989C"/>
                </a:solidFill>
                <a:latin typeface="PingFang SC"/>
              </a:rPr>
              <a:t>✓ 强烈推荐（“我们推荐”）</a:t>
            </a:r>
          </a:p>
          <a:p>
            <a:pPr algn="l"/>
            <a:r>
              <a:rPr sz="900" b="0">
                <a:solidFill>
                  <a:srgbClr val="90989C"/>
                </a:solidFill>
                <a:latin typeface="PingFang SC"/>
              </a:rPr>
              <a:t>✓ 条件性推荐（“我们建议”）</a:t>
            </a:r>
          </a:p>
        </p:txBody>
      </p:sp>
      <p:sp>
        <p:nvSpPr>
          <p:cNvPr id="38" name="TextBox 37"/>
          <p:cNvSpPr txBox="1"/>
          <p:nvPr/>
        </p:nvSpPr>
        <p:spPr>
          <a:xfrm>
            <a:off x="216027" y="5513222"/>
            <a:ext cx="13659612" cy="115823"/>
          </a:xfrm>
          <a:prstGeom prst="rect">
            <a:avLst/>
          </a:prstGeom>
          <a:noFill/>
          <a:ln>
            <a:noFill/>
          </a:ln>
        </p:spPr>
        <p:txBody>
          <a:bodyPr wrap="none" lIns="19050" rIns="19050" tIns="0" bIns="0" anchor="ctr">
            <a:noAutofit/>
          </a:bodyPr>
          <a:lstStyle/>
          <a:p>
            <a:pPr algn="l"/>
            <a:r>
              <a:rPr sz="900" b="0">
                <a:solidFill>
                  <a:srgbClr val="86939F"/>
                </a:solidFill>
                <a:latin typeface="PingFang SC"/>
              </a:rPr>
              <a:t>*频繁且持续地进行重新评估，并密切监测患者，以避免复苏不足或过度复苏带来的危害。</a:t>
            </a:r>
          </a:p>
        </p:txBody>
      </p:sp>
      <p:sp>
        <p:nvSpPr>
          <p:cNvPr id="39" name="TextBox 38"/>
          <p:cNvSpPr txBox="1"/>
          <p:nvPr/>
        </p:nvSpPr>
        <p:spPr>
          <a:xfrm>
            <a:off x="216027" y="5629046"/>
            <a:ext cx="13659612" cy="115823"/>
          </a:xfrm>
          <a:prstGeom prst="rect">
            <a:avLst/>
          </a:prstGeom>
          <a:noFill/>
          <a:ln>
            <a:noFill/>
          </a:ln>
        </p:spPr>
        <p:txBody>
          <a:bodyPr wrap="none" lIns="19050" rIns="19050" tIns="0" bIns="0" anchor="ctr">
            <a:noAutofit/>
          </a:bodyPr>
          <a:lstStyle/>
          <a:p>
            <a:pPr algn="l"/>
            <a:r>
              <a:rPr sz="900" b="0">
                <a:solidFill>
                  <a:srgbClr val="1494C9"/>
                </a:solidFill>
                <a:latin typeface="PingFang SC"/>
              </a:rPr>
              <a:t>**对于已接受大量晶体液治疗或患有肝硬化的患者，使用补充白蛋白可能是合适的。避免对创伤性脑损伤患者使用白蛋白。</a:t>
            </a:r>
          </a:p>
        </p:txBody>
      </p:sp>
      <p:sp>
        <p:nvSpPr>
          <p:cNvPr id="40" name="TextBox 39"/>
          <p:cNvSpPr txBox="1"/>
          <p:nvPr/>
        </p:nvSpPr>
        <p:spPr>
          <a:xfrm>
            <a:off x="216027" y="2385974"/>
            <a:ext cx="3869969" cy="173736"/>
          </a:xfrm>
          <a:prstGeom prst="rect">
            <a:avLst/>
          </a:prstGeom>
          <a:noFill/>
          <a:ln>
            <a:noFill/>
          </a:ln>
        </p:spPr>
        <p:txBody>
          <a:bodyPr wrap="none" lIns="19050" rIns="19050" tIns="0" bIns="0" anchor="ctr">
            <a:noAutofit/>
          </a:bodyPr>
          <a:lstStyle/>
          <a:p>
            <a:pPr algn="l"/>
            <a:r>
              <a:rPr sz="1200" b="0">
                <a:solidFill>
                  <a:srgbClr val="B4D4DA"/>
                </a:solidFill>
                <a:latin typeface="PingFang SC"/>
              </a:rPr>
              <a:t>公众号 指南导航</a:t>
            </a:r>
          </a:p>
        </p:txBody>
      </p:sp>
      <p:sp>
        <p:nvSpPr>
          <p:cNvPr id="41" name="TextBox 40"/>
          <p:cNvSpPr txBox="1"/>
          <p:nvPr/>
        </p:nvSpPr>
        <p:spPr>
          <a:xfrm>
            <a:off x="6449949" y="1609953"/>
            <a:ext cx="3847337" cy="138988"/>
          </a:xfrm>
          <a:prstGeom prst="rect">
            <a:avLst/>
          </a:prstGeom>
          <a:noFill/>
          <a:ln>
            <a:noFill/>
          </a:ln>
        </p:spPr>
        <p:txBody>
          <a:bodyPr wrap="none" lIns="19050" rIns="19050" tIns="0" bIns="0" anchor="ctr">
            <a:noAutofit/>
          </a:bodyPr>
          <a:lstStyle/>
          <a:p>
            <a:pPr algn="l"/>
            <a:r>
              <a:rPr sz="1200" b="0">
                <a:solidFill>
                  <a:srgbClr val="62A07A"/>
                </a:solidFill>
                <a:latin typeface="PingFang SC"/>
              </a:rPr>
              <a:t>公众号 指南导航</a:t>
            </a:r>
          </a:p>
        </p:txBody>
      </p:sp>
      <p:sp>
        <p:nvSpPr>
          <p:cNvPr id="42" name="TextBox 41"/>
          <p:cNvSpPr txBox="1"/>
          <p:nvPr/>
        </p:nvSpPr>
        <p:spPr>
          <a:xfrm>
            <a:off x="10287000" y="5397398"/>
            <a:ext cx="0" cy="138988"/>
          </a:xfrm>
          <a:prstGeom prst="rect">
            <a:avLst/>
          </a:prstGeom>
          <a:noFill/>
          <a:ln>
            <a:noFill/>
          </a:ln>
        </p:spPr>
        <p:txBody>
          <a:bodyPr wrap="none" lIns="19050" rIns="19050" tIns="0" bIns="0" anchor="ctr">
            <a:noAutofit/>
          </a:bodyPr>
          <a:lstStyle/>
          <a:p>
            <a:pPr algn="r"/>
            <a:r>
              <a:rPr sz="1200" b="1">
                <a:solidFill>
                  <a:srgbClr val="000000"/>
                </a:solidFill>
                <a:latin typeface="PingFang SC"/>
              </a:rPr>
              <a:t>27</a:t>
            </a:r>
          </a:p>
        </p:txBody>
      </p:sp>
      <p:sp>
        <p:nvSpPr>
          <p:cNvPr id="43" name="TextBox 42"/>
          <p:cNvSpPr txBox="1"/>
          <p:nvPr/>
        </p:nvSpPr>
        <p:spPr>
          <a:xfrm>
            <a:off x="8455914" y="185318"/>
            <a:ext cx="3394710" cy="231647"/>
          </a:xfrm>
          <a:prstGeom prst="rect">
            <a:avLst/>
          </a:prstGeom>
          <a:noFill/>
          <a:ln>
            <a:noFill/>
          </a:ln>
        </p:spPr>
        <p:txBody>
          <a:bodyPr wrap="none" lIns="19050" rIns="19050" tIns="0" bIns="0" anchor="ctr">
            <a:noAutofit/>
          </a:bodyPr>
          <a:lstStyle/>
          <a:p>
            <a:pPr algn="r"/>
            <a:r>
              <a:rPr sz="1500" b="0">
                <a:solidFill>
                  <a:srgbClr val="92A99B"/>
                </a:solidFill>
                <a:latin typeface="PingFang SC"/>
              </a:rPr>
              <a:t>Saving Sepsis Campaign</a:t>
            </a:r>
          </a:p>
        </p:txBody>
      </p:sp>
      <p:pic>
        <p:nvPicPr>
          <p:cNvPr id="44" name="Picture 43" descr="tmplv15b0vo.png"/>
          <p:cNvPicPr>
            <a:picLocks noChangeAspect="1"/>
          </p:cNvPicPr>
          <p:nvPr/>
        </p:nvPicPr>
        <p:blipFill>
          <a:blip r:embed="rId2"/>
          <a:stretch>
            <a:fillRect/>
          </a:stretch>
        </p:blipFill>
        <p:spPr>
          <a:xfrm>
            <a:off x="9791700" y="247650"/>
            <a:ext cx="209550" cy="171450"/>
          </a:xfrm>
          <a:prstGeom prst="rect">
            <a:avLst/>
          </a:prstGeom>
        </p:spPr>
      </p:pic>
      <p:pic>
        <p:nvPicPr>
          <p:cNvPr id="45" name="Picture 44" descr="tmp416j0szz.png"/>
          <p:cNvPicPr>
            <a:picLocks noChangeAspect="1"/>
          </p:cNvPicPr>
          <p:nvPr/>
        </p:nvPicPr>
        <p:blipFill>
          <a:blip r:embed="rId3"/>
          <a:stretch>
            <a:fillRect/>
          </a:stretch>
        </p:blipFill>
        <p:spPr>
          <a:xfrm>
            <a:off x="314325" y="1752600"/>
            <a:ext cx="161925" cy="114300"/>
          </a:xfrm>
          <a:prstGeom prst="rect">
            <a:avLst/>
          </a:prstGeom>
        </p:spPr>
      </p:pic>
      <p:pic>
        <p:nvPicPr>
          <p:cNvPr id="46" name="Picture 45" descr="tmpk3bdfv2v.png"/>
          <p:cNvPicPr>
            <a:picLocks noChangeAspect="1"/>
          </p:cNvPicPr>
          <p:nvPr/>
        </p:nvPicPr>
        <p:blipFill>
          <a:blip r:embed="rId4"/>
          <a:stretch>
            <a:fillRect/>
          </a:stretch>
        </p:blipFill>
        <p:spPr>
          <a:xfrm>
            <a:off x="3381375" y="1438275"/>
            <a:ext cx="161925" cy="114300"/>
          </a:xfrm>
          <a:prstGeom prst="rect">
            <a:avLst/>
          </a:prstGeom>
        </p:spPr>
      </p:pic>
      <p:pic>
        <p:nvPicPr>
          <p:cNvPr id="47" name="Picture 46" descr="tmp_isck22m.png"/>
          <p:cNvPicPr>
            <a:picLocks noChangeAspect="1"/>
          </p:cNvPicPr>
          <p:nvPr/>
        </p:nvPicPr>
        <p:blipFill>
          <a:blip r:embed="rId5"/>
          <a:stretch>
            <a:fillRect/>
          </a:stretch>
        </p:blipFill>
        <p:spPr>
          <a:xfrm>
            <a:off x="3381375" y="1752600"/>
            <a:ext cx="161925" cy="114300"/>
          </a:xfrm>
          <a:prstGeom prst="rect">
            <a:avLst/>
          </a:prstGeom>
        </p:spPr>
      </p:pic>
      <p:pic>
        <p:nvPicPr>
          <p:cNvPr id="48" name="Picture 47" descr="tmp1gqs912n.png"/>
          <p:cNvPicPr>
            <a:picLocks noChangeAspect="1"/>
          </p:cNvPicPr>
          <p:nvPr/>
        </p:nvPicPr>
        <p:blipFill>
          <a:blip r:embed="rId6"/>
          <a:stretch>
            <a:fillRect/>
          </a:stretch>
        </p:blipFill>
        <p:spPr>
          <a:xfrm>
            <a:off x="6448425" y="1695450"/>
            <a:ext cx="152400" cy="114300"/>
          </a:xfrm>
          <a:prstGeom prst="rect">
            <a:avLst/>
          </a:prstGeom>
        </p:spPr>
      </p:pic>
      <p:pic>
        <p:nvPicPr>
          <p:cNvPr id="49" name="Picture 48" descr="tmpfa0phn68.png"/>
          <p:cNvPicPr>
            <a:picLocks noChangeAspect="1"/>
          </p:cNvPicPr>
          <p:nvPr/>
        </p:nvPicPr>
        <p:blipFill>
          <a:blip r:embed="rId7"/>
          <a:stretch>
            <a:fillRect/>
          </a:stretch>
        </p:blipFill>
        <p:spPr>
          <a:xfrm>
            <a:off x="6448425" y="1885950"/>
            <a:ext cx="152400" cy="114300"/>
          </a:xfrm>
          <a:prstGeom prst="rect">
            <a:avLst/>
          </a:prstGeom>
        </p:spPr>
      </p:pic>
      <p:pic>
        <p:nvPicPr>
          <p:cNvPr id="50" name="Picture 49" descr="tmp67rvf9o8.png"/>
          <p:cNvPicPr>
            <a:picLocks noChangeAspect="1"/>
          </p:cNvPicPr>
          <p:nvPr/>
        </p:nvPicPr>
        <p:blipFill>
          <a:blip r:embed="rId8"/>
          <a:stretch>
            <a:fillRect/>
          </a:stretch>
        </p:blipFill>
        <p:spPr>
          <a:xfrm>
            <a:off x="6448425" y="2085975"/>
            <a:ext cx="152400" cy="114300"/>
          </a:xfrm>
          <a:prstGeom prst="rect">
            <a:avLst/>
          </a:prstGeom>
        </p:spPr>
      </p:pic>
      <p:pic>
        <p:nvPicPr>
          <p:cNvPr id="51" name="Picture 50" descr="tmpqb386gnm.png"/>
          <p:cNvPicPr>
            <a:picLocks noChangeAspect="1"/>
          </p:cNvPicPr>
          <p:nvPr/>
        </p:nvPicPr>
        <p:blipFill>
          <a:blip r:embed="rId9"/>
          <a:stretch>
            <a:fillRect/>
          </a:stretch>
        </p:blipFill>
        <p:spPr>
          <a:xfrm>
            <a:off x="314325" y="3448050"/>
            <a:ext cx="161925" cy="123825"/>
          </a:xfrm>
          <a:prstGeom prst="rect">
            <a:avLst/>
          </a:prstGeom>
        </p:spPr>
      </p:pic>
      <p:pic>
        <p:nvPicPr>
          <p:cNvPr id="52" name="Picture 51" descr="tmpz69f22sj.png"/>
          <p:cNvPicPr>
            <a:picLocks noChangeAspect="1"/>
          </p:cNvPicPr>
          <p:nvPr/>
        </p:nvPicPr>
        <p:blipFill>
          <a:blip r:embed="rId10"/>
          <a:stretch>
            <a:fillRect/>
          </a:stretch>
        </p:blipFill>
        <p:spPr>
          <a:xfrm>
            <a:off x="314325" y="3762375"/>
            <a:ext cx="161925" cy="114300"/>
          </a:xfrm>
          <a:prstGeom prst="rect">
            <a:avLst/>
          </a:prstGeom>
        </p:spPr>
      </p:pic>
      <p:pic>
        <p:nvPicPr>
          <p:cNvPr id="53" name="Picture 52" descr="tmpdsam7xss.png"/>
          <p:cNvPicPr>
            <a:picLocks noChangeAspect="1"/>
          </p:cNvPicPr>
          <p:nvPr/>
        </p:nvPicPr>
        <p:blipFill>
          <a:blip r:embed="rId11"/>
          <a:stretch>
            <a:fillRect/>
          </a:stretch>
        </p:blipFill>
        <p:spPr>
          <a:xfrm>
            <a:off x="3381375" y="3448050"/>
            <a:ext cx="161925" cy="123825"/>
          </a:xfrm>
          <a:prstGeom prst="rect">
            <a:avLst/>
          </a:prstGeom>
        </p:spPr>
      </p:pic>
      <p:pic>
        <p:nvPicPr>
          <p:cNvPr id="54" name="Picture 53" descr="tmp4vdkvm7t.png"/>
          <p:cNvPicPr>
            <a:picLocks noChangeAspect="1"/>
          </p:cNvPicPr>
          <p:nvPr/>
        </p:nvPicPr>
        <p:blipFill>
          <a:blip r:embed="rId12"/>
          <a:stretch>
            <a:fillRect/>
          </a:stretch>
        </p:blipFill>
        <p:spPr>
          <a:xfrm>
            <a:off x="3381375" y="3648075"/>
            <a:ext cx="161925" cy="114300"/>
          </a:xfrm>
          <a:prstGeom prst="rect">
            <a:avLst/>
          </a:prstGeom>
        </p:spPr>
      </p:pic>
      <p:pic>
        <p:nvPicPr>
          <p:cNvPr id="55" name="Picture 54" descr="tmprpz4z327.png"/>
          <p:cNvPicPr>
            <a:picLocks noChangeAspect="1"/>
          </p:cNvPicPr>
          <p:nvPr/>
        </p:nvPicPr>
        <p:blipFill>
          <a:blip r:embed="rId13"/>
          <a:stretch>
            <a:fillRect/>
          </a:stretch>
        </p:blipFill>
        <p:spPr>
          <a:xfrm>
            <a:off x="6448425" y="3448050"/>
            <a:ext cx="152400" cy="123825"/>
          </a:xfrm>
          <a:prstGeom prst="rect">
            <a:avLst/>
          </a:prstGeom>
        </p:spPr>
      </p:pic>
      <p:pic>
        <p:nvPicPr>
          <p:cNvPr id="56" name="Picture 55" descr="tmp62ck383f.png"/>
          <p:cNvPicPr>
            <a:picLocks noChangeAspect="1"/>
          </p:cNvPicPr>
          <p:nvPr/>
        </p:nvPicPr>
        <p:blipFill>
          <a:blip r:embed="rId14"/>
          <a:stretch>
            <a:fillRect/>
          </a:stretch>
        </p:blipFill>
        <p:spPr>
          <a:xfrm>
            <a:off x="6448425" y="3762375"/>
            <a:ext cx="152400" cy="114300"/>
          </a:xfrm>
          <a:prstGeom prst="rect">
            <a:avLst/>
          </a:prstGeom>
        </p:spPr>
      </p:pic>
      <p:pic>
        <p:nvPicPr>
          <p:cNvPr id="57" name="Picture 56" descr="tmpaqw8ubsy.png"/>
          <p:cNvPicPr>
            <a:picLocks noChangeAspect="1"/>
          </p:cNvPicPr>
          <p:nvPr/>
        </p:nvPicPr>
        <p:blipFill>
          <a:blip r:embed="rId15"/>
          <a:stretch>
            <a:fillRect/>
          </a:stretch>
        </p:blipFill>
        <p:spPr>
          <a:xfrm>
            <a:off x="6448425" y="3962400"/>
            <a:ext cx="152400" cy="114300"/>
          </a:xfrm>
          <a:prstGeom prst="rect">
            <a:avLst/>
          </a:prstGeom>
        </p:spPr>
      </p:pic>
      <p:pic>
        <p:nvPicPr>
          <p:cNvPr id="58" name="Picture 57" descr="tmpnvkjjx4m.png"/>
          <p:cNvPicPr>
            <a:picLocks noChangeAspect="1"/>
          </p:cNvPicPr>
          <p:nvPr/>
        </p:nvPicPr>
        <p:blipFill>
          <a:blip r:embed="rId16"/>
          <a:stretch>
            <a:fillRect/>
          </a:stretch>
        </p:blipFill>
        <p:spPr>
          <a:xfrm>
            <a:off x="6448425" y="4162425"/>
            <a:ext cx="152400" cy="114300"/>
          </a:xfrm>
          <a:prstGeom prst="rect">
            <a:avLst/>
          </a:prstGeom>
        </p:spPr>
      </p:pic>
      <p:pic>
        <p:nvPicPr>
          <p:cNvPr id="59" name="Picture 58" descr="tmpgmyiqnr4.png"/>
          <p:cNvPicPr>
            <a:picLocks noChangeAspect="1"/>
          </p:cNvPicPr>
          <p:nvPr/>
        </p:nvPicPr>
        <p:blipFill>
          <a:blip r:embed="rId17"/>
          <a:stretch>
            <a:fillRect/>
          </a:stretch>
        </p:blipFill>
        <p:spPr>
          <a:xfrm>
            <a:off x="6448425" y="4352925"/>
            <a:ext cx="152400" cy="114300"/>
          </a:xfrm>
          <a:prstGeom prst="rect">
            <a:avLst/>
          </a:prstGeom>
        </p:spPr>
      </p:pic>
      <p:pic>
        <p:nvPicPr>
          <p:cNvPr id="60" name="Picture 59" descr="tmpr32nzfeu.png"/>
          <p:cNvPicPr>
            <a:picLocks noChangeAspect="1"/>
          </p:cNvPicPr>
          <p:nvPr/>
        </p:nvPicPr>
        <p:blipFill>
          <a:blip r:embed="rId18"/>
          <a:stretch>
            <a:fillRect/>
          </a:stretch>
        </p:blipFill>
        <p:spPr>
          <a:xfrm>
            <a:off x="219075" y="5276850"/>
            <a:ext cx="152400" cy="123825"/>
          </a:xfrm>
          <a:prstGeom prst="rect">
            <a:avLst/>
          </a:prstGeom>
        </p:spPr>
      </p:pic>
      <p:pic>
        <p:nvPicPr>
          <p:cNvPr id="61" name="Picture 60" descr="tmpovcb_pk3.png"/>
          <p:cNvPicPr>
            <a:picLocks noChangeAspect="1"/>
          </p:cNvPicPr>
          <p:nvPr/>
        </p:nvPicPr>
        <p:blipFill>
          <a:blip r:embed="rId19"/>
          <a:stretch>
            <a:fillRect/>
          </a:stretch>
        </p:blipFill>
        <p:spPr>
          <a:xfrm>
            <a:off x="219075" y="5400675"/>
            <a:ext cx="152400" cy="1143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55498" y="967130"/>
            <a:ext cx="9196577" cy="1575206"/>
          </a:xfrm>
          <a:prstGeom prst="roundRect">
            <a:avLst>
              <a:gd name="adj" fmla="val 6000"/>
            </a:avLst>
          </a:prstGeom>
          <a:solidFill>
            <a:srgbClr val="FEFEFE"/>
          </a:solidFill>
          <a:ln w="11430">
            <a:solidFill>
              <a:srgbClr val="6695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55498" y="2675534"/>
            <a:ext cx="9196577" cy="972921"/>
          </a:xfrm>
          <a:prstGeom prst="roundRect">
            <a:avLst>
              <a:gd name="adj" fmla="val 6000"/>
            </a:avLst>
          </a:prstGeom>
          <a:solidFill>
            <a:srgbClr val="EDF6FE"/>
          </a:solidFill>
          <a:ln w="11430">
            <a:solidFill>
              <a:srgbClr val="FCFE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55498" y="3729532"/>
            <a:ext cx="9196577" cy="1320393"/>
          </a:xfrm>
          <a:prstGeom prst="roundRect">
            <a:avLst>
              <a:gd name="adj" fmla="val 6000"/>
            </a:avLst>
          </a:prstGeom>
          <a:solidFill>
            <a:srgbClr val="F1FEFE"/>
          </a:solidFill>
          <a:ln w="11430">
            <a:solidFill>
              <a:srgbClr val="F2FE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6933" y="393801"/>
            <a:ext cx="2738399" cy="312724"/>
          </a:xfrm>
          <a:prstGeom prst="rect">
            <a:avLst/>
          </a:prstGeom>
          <a:noFill/>
          <a:ln>
            <a:noFill/>
          </a:ln>
        </p:spPr>
        <p:txBody>
          <a:bodyPr wrap="none" lIns="19050" rIns="19050" tIns="0" bIns="0" anchor="ctr">
            <a:noAutofit/>
          </a:bodyPr>
          <a:lstStyle/>
          <a:p>
            <a:pPr algn="l"/>
            <a:r>
              <a:rPr sz="3150" b="1">
                <a:solidFill>
                  <a:srgbClr val="40528D"/>
                </a:solidFill>
                <a:latin typeface="PingFang SC"/>
              </a:rPr>
              <a:t>血压监测</a:t>
            </a:r>
          </a:p>
        </p:txBody>
      </p:sp>
      <p:sp>
        <p:nvSpPr>
          <p:cNvPr id="7" name="TextBox 6"/>
          <p:cNvSpPr txBox="1"/>
          <p:nvPr/>
        </p:nvSpPr>
        <p:spPr>
          <a:xfrm>
            <a:off x="8301609" y="179527"/>
            <a:ext cx="3937863" cy="422757"/>
          </a:xfrm>
          <a:prstGeom prst="rect">
            <a:avLst/>
          </a:prstGeom>
          <a:noFill/>
          <a:ln>
            <a:noFill/>
          </a:ln>
        </p:spPr>
        <p:txBody>
          <a:bodyPr wrap="none" lIns="19050" rIns="19050" tIns="0" bIns="0" anchor="ctr">
            <a:noAutofit/>
          </a:bodyPr>
          <a:lstStyle/>
          <a:p>
            <a:pPr algn="r"/>
            <a:r>
              <a:rPr sz="1800" b="0">
                <a:solidFill>
                  <a:srgbClr val="B0C3AA"/>
                </a:solidFill>
                <a:latin typeface="PingFang SC"/>
              </a:rPr>
              <a:t>Surviving Sepsis Campaign</a:t>
            </a:r>
          </a:p>
        </p:txBody>
      </p:sp>
      <p:sp>
        <p:nvSpPr>
          <p:cNvPr id="8" name="TextBox 7"/>
          <p:cNvSpPr txBox="1"/>
          <p:nvPr/>
        </p:nvSpPr>
        <p:spPr>
          <a:xfrm>
            <a:off x="946404" y="1262481"/>
            <a:ext cx="8229600" cy="196900"/>
          </a:xfrm>
          <a:prstGeom prst="rect">
            <a:avLst/>
          </a:prstGeom>
          <a:noFill/>
          <a:ln>
            <a:noFill/>
          </a:ln>
        </p:spPr>
        <p:txBody>
          <a:bodyPr wrap="square" lIns="19050" rIns="19050" tIns="0" bIns="0" anchor="t">
            <a:normAutofit/>
          </a:bodyPr>
          <a:lstStyle/>
          <a:p>
            <a:pPr algn="l"/>
            <a:r>
              <a:rPr sz="1480" b="0">
                <a:solidFill>
                  <a:srgbClr val="888E87"/>
                </a:solidFill>
                <a:latin typeface="PingFang SC"/>
              </a:rPr>
              <a:t>42. 对于感染性休克的成人患者，我们“建议”采用有创或无创血压监测。</a:t>
            </a:r>
          </a:p>
        </p:txBody>
      </p:sp>
      <p:sp>
        <p:nvSpPr>
          <p:cNvPr id="9" name="TextBox 8"/>
          <p:cNvSpPr txBox="1"/>
          <p:nvPr/>
        </p:nvSpPr>
        <p:spPr>
          <a:xfrm>
            <a:off x="1481327" y="1546250"/>
            <a:ext cx="1069848" cy="214274"/>
          </a:xfrm>
          <a:prstGeom prst="rect">
            <a:avLst/>
          </a:prstGeom>
          <a:noFill/>
          <a:ln>
            <a:noFill/>
          </a:ln>
        </p:spPr>
        <p:txBody>
          <a:bodyPr wrap="square" lIns="19050" rIns="19050" tIns="0" bIns="0" anchor="t">
            <a:normAutofit/>
          </a:bodyPr>
          <a:lstStyle/>
          <a:p>
            <a:pPr algn="l"/>
            <a:r>
              <a:rPr sz="1450" b="0">
                <a:solidFill>
                  <a:srgbClr val="616567"/>
                </a:solidFill>
                <a:latin typeface="PingFang SC"/>
              </a:rPr>
              <a:t>⊕ ○ ○ ○ ○</a:t>
            </a:r>
          </a:p>
        </p:txBody>
      </p:sp>
      <p:sp>
        <p:nvSpPr>
          <p:cNvPr id="10" name="TextBox 9"/>
          <p:cNvSpPr txBox="1"/>
          <p:nvPr/>
        </p:nvSpPr>
        <p:spPr>
          <a:xfrm>
            <a:off x="1255014" y="1893722"/>
            <a:ext cx="7920990" cy="434340"/>
          </a:xfrm>
          <a:prstGeom prst="rect">
            <a:avLst/>
          </a:prstGeom>
          <a:noFill/>
          <a:ln>
            <a:noFill/>
          </a:ln>
        </p:spPr>
        <p:txBody>
          <a:bodyPr wrap="square" lIns="19050" rIns="19050" tIns="0" bIns="0" anchor="t">
            <a:normAutofit/>
          </a:bodyPr>
          <a:lstStyle/>
          <a:p>
            <a:pPr algn="l"/>
            <a:r>
              <a:rPr sz="1320" b="0">
                <a:solidFill>
                  <a:srgbClr val="ABC1A1"/>
                </a:solidFill>
                <a:latin typeface="PingFang SC"/>
              </a:rPr>
              <a:t>备注：对于存在以下情况的休克患者，建议进行有创血压监测：需要中至大剂量血管升压药、血管升压药剂量不断增加或联用多种血管升压药；需频繁采集动脉血标本；无创血压测量值在多次评估中不一致。</a:t>
            </a:r>
          </a:p>
        </p:txBody>
      </p:sp>
      <p:sp>
        <p:nvSpPr>
          <p:cNvPr id="11" name="TextBox 10"/>
          <p:cNvSpPr txBox="1"/>
          <p:nvPr/>
        </p:nvSpPr>
        <p:spPr>
          <a:xfrm>
            <a:off x="946404" y="2750820"/>
            <a:ext cx="2715767" cy="156362"/>
          </a:xfrm>
          <a:prstGeom prst="rect">
            <a:avLst/>
          </a:prstGeom>
          <a:noFill/>
          <a:ln>
            <a:noFill/>
          </a:ln>
        </p:spPr>
        <p:txBody>
          <a:bodyPr wrap="none" lIns="19050" rIns="19050" tIns="0" bIns="0" anchor="ctr">
            <a:noAutofit/>
          </a:bodyPr>
          <a:lstStyle/>
          <a:p>
            <a:pPr algn="l"/>
            <a:r>
              <a:rPr sz="1500" b="1">
                <a:solidFill>
                  <a:srgbClr val="6FA5B9"/>
                </a:solidFill>
                <a:latin typeface="PingFang SC"/>
              </a:rPr>
              <a:t>2021年声明 (42)</a:t>
            </a:r>
          </a:p>
        </p:txBody>
      </p:sp>
      <p:sp>
        <p:nvSpPr>
          <p:cNvPr id="12" name="TextBox 11"/>
          <p:cNvSpPr txBox="1"/>
          <p:nvPr/>
        </p:nvSpPr>
        <p:spPr>
          <a:xfrm>
            <a:off x="946404" y="2999841"/>
            <a:ext cx="6892290" cy="196900"/>
          </a:xfrm>
          <a:prstGeom prst="rect">
            <a:avLst/>
          </a:prstGeom>
          <a:noFill/>
          <a:ln>
            <a:noFill/>
          </a:ln>
        </p:spPr>
        <p:txBody>
          <a:bodyPr wrap="square" lIns="19050" rIns="19050" tIns="0" bIns="0" anchor="t">
            <a:normAutofit/>
          </a:bodyPr>
          <a:lstStyle/>
          <a:p>
            <a:pPr algn="l"/>
            <a:r>
              <a:rPr sz="1110" b="0">
                <a:solidFill>
                  <a:srgbClr val="9FA4AA"/>
                </a:solidFill>
                <a:latin typeface="PingFang SC"/>
              </a:rPr>
              <a:t>对于感染性休克的成人患者，我们建议在实际可行且资源允许的情况下，采用有创动脉血压监测而非无创血压监测。</a:t>
            </a:r>
          </a:p>
        </p:txBody>
      </p:sp>
      <p:sp>
        <p:nvSpPr>
          <p:cNvPr id="13" name="TextBox 12"/>
          <p:cNvSpPr txBox="1"/>
          <p:nvPr/>
        </p:nvSpPr>
        <p:spPr>
          <a:xfrm>
            <a:off x="1213866" y="3312566"/>
            <a:ext cx="1337309" cy="220065"/>
          </a:xfrm>
          <a:prstGeom prst="rect">
            <a:avLst/>
          </a:prstGeom>
          <a:noFill/>
          <a:ln>
            <a:noFill/>
          </a:ln>
        </p:spPr>
        <p:txBody>
          <a:bodyPr wrap="square" lIns="19050" rIns="19050" tIns="0" bIns="0" anchor="t">
            <a:normAutofit/>
          </a:bodyPr>
          <a:lstStyle/>
          <a:p>
            <a:pPr algn="l"/>
            <a:r>
              <a:rPr sz="1639" b="0">
                <a:solidFill>
                  <a:srgbClr val="758087"/>
                </a:solidFill>
                <a:latin typeface="PingFang SC"/>
              </a:rPr>
              <a:t>✓ ⊕ ○ ○ ○</a:t>
            </a:r>
          </a:p>
        </p:txBody>
      </p:sp>
      <p:sp>
        <p:nvSpPr>
          <p:cNvPr id="14" name="TextBox 13"/>
          <p:cNvSpPr txBox="1"/>
          <p:nvPr/>
        </p:nvSpPr>
        <p:spPr>
          <a:xfrm>
            <a:off x="637793" y="3833774"/>
            <a:ext cx="9031985" cy="1111910"/>
          </a:xfrm>
          <a:prstGeom prst="rect">
            <a:avLst/>
          </a:prstGeom>
          <a:noFill/>
          <a:ln>
            <a:noFill/>
          </a:ln>
        </p:spPr>
        <p:txBody>
          <a:bodyPr wrap="square" lIns="19050" rIns="19050" tIns="0" bIns="0" anchor="t">
            <a:normAutofit/>
          </a:bodyPr>
          <a:lstStyle/>
          <a:p>
            <a:pPr algn="l"/>
            <a:r>
              <a:rPr sz="1350" b="0">
                <a:solidFill>
                  <a:srgbClr val="748487"/>
                </a:solidFill>
                <a:latin typeface="PingFang SC"/>
              </a:rPr>
              <a:t>动脉导管可用于持续监测血压和频繁采集血样，因此常用于危重症患者。然而，不同重症监护病房（ICU）的使用情况存在差异。潜在益处包括持续且更准确的血压监测、便于获取动脉血进行分析（如血气分析、乳酸检测）以及提高患者舒适度；潜在弊端包括风险（如感染、血栓形成）、费用问题和占用临床医生时间。2021年拯救脓毒症运动（SSC）指南建议，鉴于有创和无创测量结果存在差异，在实际可行且资源允许的情况下，应尽快采用有创血压监测。</a:t>
            </a:r>
          </a:p>
        </p:txBody>
      </p:sp>
      <p:sp>
        <p:nvSpPr>
          <p:cNvPr id="15" name="TextBox 14"/>
          <p:cNvSpPr txBox="1"/>
          <p:nvPr/>
        </p:nvSpPr>
        <p:spPr>
          <a:xfrm>
            <a:off x="606933" y="5049926"/>
            <a:ext cx="2331034" cy="92659"/>
          </a:xfrm>
          <a:prstGeom prst="rect">
            <a:avLst/>
          </a:prstGeom>
          <a:noFill/>
          <a:ln>
            <a:noFill/>
          </a:ln>
        </p:spPr>
        <p:txBody>
          <a:bodyPr wrap="none" lIns="19050" rIns="19050" tIns="0" bIns="0" anchor="ctr">
            <a:noAutofit/>
          </a:bodyPr>
          <a:lstStyle/>
          <a:p>
            <a:pPr algn="l"/>
            <a:r>
              <a:rPr sz="900" b="0">
                <a:solidFill>
                  <a:srgbClr val="859F9E"/>
                </a:solidFill>
                <a:latin typeface="PingFang SC"/>
              </a:rPr>
              <a:t>Critical Care Medicine</a:t>
            </a:r>
          </a:p>
        </p:txBody>
      </p:sp>
      <p:sp>
        <p:nvSpPr>
          <p:cNvPr id="16" name="TextBox 15"/>
          <p:cNvSpPr txBox="1"/>
          <p:nvPr/>
        </p:nvSpPr>
        <p:spPr>
          <a:xfrm>
            <a:off x="606933" y="5455310"/>
            <a:ext cx="2331034" cy="127406"/>
          </a:xfrm>
          <a:prstGeom prst="rect">
            <a:avLst/>
          </a:prstGeom>
          <a:noFill/>
          <a:ln>
            <a:noFill/>
          </a:ln>
        </p:spPr>
        <p:txBody>
          <a:bodyPr wrap="none" lIns="19050" rIns="19050" tIns="0" bIns="0" anchor="ctr">
            <a:noAutofit/>
          </a:bodyPr>
          <a:lstStyle/>
          <a:p>
            <a:pPr algn="l"/>
            <a:r>
              <a:rPr sz="1200" b="0">
                <a:solidFill>
                  <a:srgbClr val="BFD9DC"/>
                </a:solidFill>
                <a:latin typeface="PingFang SC"/>
              </a:rPr>
              <a:t>公众号:指南导航</a:t>
            </a:r>
          </a:p>
        </p:txBody>
      </p:sp>
      <p:sp>
        <p:nvSpPr>
          <p:cNvPr id="17" name="TextBox 16"/>
          <p:cNvSpPr txBox="1"/>
          <p:nvPr/>
        </p:nvSpPr>
        <p:spPr>
          <a:xfrm>
            <a:off x="10287000" y="5374233"/>
            <a:ext cx="0" cy="173735"/>
          </a:xfrm>
          <a:prstGeom prst="rect">
            <a:avLst/>
          </a:prstGeom>
          <a:noFill/>
          <a:ln>
            <a:noFill/>
          </a:ln>
        </p:spPr>
        <p:txBody>
          <a:bodyPr wrap="none" lIns="19050" rIns="19050" tIns="0" bIns="0" anchor="ctr">
            <a:noAutofit/>
          </a:bodyPr>
          <a:lstStyle/>
          <a:p>
            <a:pPr algn="r"/>
            <a:r>
              <a:rPr sz="1500" b="0">
                <a:solidFill>
                  <a:srgbClr val="000000"/>
                </a:solidFill>
                <a:latin typeface="PingFang SC"/>
              </a:rPr>
              <a:t>28</a:t>
            </a:r>
          </a:p>
        </p:txBody>
      </p:sp>
      <p:sp>
        <p:nvSpPr>
          <p:cNvPr id="18" name="TextBox 17"/>
          <p:cNvSpPr txBox="1"/>
          <p:nvPr/>
        </p:nvSpPr>
        <p:spPr>
          <a:xfrm>
            <a:off x="9176004" y="1227734"/>
            <a:ext cx="814730" cy="173736"/>
          </a:xfrm>
          <a:prstGeom prst="rect">
            <a:avLst/>
          </a:prstGeom>
          <a:noFill/>
          <a:ln>
            <a:noFill/>
          </a:ln>
        </p:spPr>
        <p:txBody>
          <a:bodyPr wrap="none" lIns="19050" rIns="19050" tIns="0" bIns="0" anchor="ctr">
            <a:noAutofit/>
          </a:bodyPr>
          <a:lstStyle/>
          <a:p>
            <a:pPr algn="r"/>
            <a:r>
              <a:rPr sz="1500" b="1">
                <a:solidFill>
                  <a:srgbClr val="5B626B"/>
                </a:solidFill>
                <a:latin typeface="PingFang SC"/>
              </a:rPr>
              <a:t>修订</a:t>
            </a:r>
          </a:p>
        </p:txBody>
      </p:sp>
      <p:pic>
        <p:nvPicPr>
          <p:cNvPr id="19" name="Picture 18" descr="tmpyxgrp9fr.png"/>
          <p:cNvPicPr>
            <a:picLocks noChangeAspect="1"/>
          </p:cNvPicPr>
          <p:nvPr/>
        </p:nvPicPr>
        <p:blipFill>
          <a:blip r:embed="rId2"/>
          <a:stretch>
            <a:fillRect/>
          </a:stretch>
        </p:blipFill>
        <p:spPr>
          <a:xfrm>
            <a:off x="1771650" y="1543050"/>
            <a:ext cx="266700" cy="219075"/>
          </a:xfrm>
          <a:prstGeom prst="rect">
            <a:avLst/>
          </a:prstGeom>
        </p:spPr>
      </p:pic>
      <p:pic>
        <p:nvPicPr>
          <p:cNvPr id="20" name="Picture 19" descr="tmp490h7brs.png"/>
          <p:cNvPicPr>
            <a:picLocks noChangeAspect="1"/>
          </p:cNvPicPr>
          <p:nvPr/>
        </p:nvPicPr>
        <p:blipFill>
          <a:blip r:embed="rId3"/>
          <a:stretch>
            <a:fillRect/>
          </a:stretch>
        </p:blipFill>
        <p:spPr>
          <a:xfrm>
            <a:off x="1209675" y="3314700"/>
            <a:ext cx="276225" cy="219075"/>
          </a:xfrm>
          <a:prstGeom prst="rect">
            <a:avLst/>
          </a:prstGeom>
        </p:spPr>
      </p:pic>
      <p:pic>
        <p:nvPicPr>
          <p:cNvPr id="21" name="Picture 20" descr="tmpo39c_ufb.png"/>
          <p:cNvPicPr>
            <a:picLocks noChangeAspect="1"/>
          </p:cNvPicPr>
          <p:nvPr/>
        </p:nvPicPr>
        <p:blipFill>
          <a:blip r:embed="rId4"/>
          <a:stretch>
            <a:fillRect/>
          </a:stretch>
        </p:blipFill>
        <p:spPr>
          <a:xfrm>
            <a:off x="1771650" y="3314700"/>
            <a:ext cx="266700" cy="219075"/>
          </a:xfrm>
          <a:prstGeom prst="rect">
            <a:avLst/>
          </a:prstGeom>
        </p:spPr>
      </p:pic>
      <p:pic>
        <p:nvPicPr>
          <p:cNvPr id="22" name="Picture 21" descr="tmp6il9w88e.png"/>
          <p:cNvPicPr>
            <a:picLocks noChangeAspect="1"/>
          </p:cNvPicPr>
          <p:nvPr/>
        </p:nvPicPr>
        <p:blipFill>
          <a:blip r:embed="rId5"/>
          <a:stretch>
            <a:fillRect/>
          </a:stretch>
        </p:blipFill>
        <p:spPr>
          <a:xfrm>
            <a:off x="2076450" y="3314700"/>
            <a:ext cx="266700" cy="219075"/>
          </a:xfrm>
          <a:prstGeom prst="rect">
            <a:avLst/>
          </a:prstGeom>
        </p:spPr>
      </p:pic>
      <p:pic>
        <p:nvPicPr>
          <p:cNvPr id="23" name="Picture 22" descr="tmpyhst057z.png"/>
          <p:cNvPicPr>
            <a:picLocks noChangeAspect="1"/>
          </p:cNvPicPr>
          <p:nvPr/>
        </p:nvPicPr>
        <p:blipFill>
          <a:blip r:embed="rId6"/>
          <a:stretch>
            <a:fillRect/>
          </a:stretch>
        </p:blipFill>
        <p:spPr>
          <a:xfrm>
            <a:off x="2390775" y="3314700"/>
            <a:ext cx="266700" cy="219075"/>
          </a:xfrm>
          <a:prstGeom prst="rect">
            <a:avLst/>
          </a:prstGeom>
        </p:spPr>
      </p:pic>
      <p:pic>
        <p:nvPicPr>
          <p:cNvPr id="24" name="Picture 23" descr="tmpacxbe237.png"/>
          <p:cNvPicPr>
            <a:picLocks noChangeAspect="1"/>
          </p:cNvPicPr>
          <p:nvPr/>
        </p:nvPicPr>
        <p:blipFill>
          <a:blip r:embed="rId7"/>
          <a:stretch>
            <a:fillRect/>
          </a:stretch>
        </p:blipFill>
        <p:spPr>
          <a:xfrm>
            <a:off x="2076450" y="1543050"/>
            <a:ext cx="266700" cy="219075"/>
          </a:xfrm>
          <a:prstGeom prst="rect">
            <a:avLst/>
          </a:prstGeom>
        </p:spPr>
      </p:pic>
      <p:pic>
        <p:nvPicPr>
          <p:cNvPr id="25" name="Picture 24" descr="tmpfwdcd5dd.png"/>
          <p:cNvPicPr>
            <a:picLocks noChangeAspect="1"/>
          </p:cNvPicPr>
          <p:nvPr/>
        </p:nvPicPr>
        <p:blipFill>
          <a:blip r:embed="rId8"/>
          <a:stretch>
            <a:fillRect/>
          </a:stretch>
        </p:blipFill>
        <p:spPr>
          <a:xfrm>
            <a:off x="2390775" y="1543050"/>
            <a:ext cx="266700" cy="219075"/>
          </a:xfrm>
          <a:prstGeom prst="rect">
            <a:avLst/>
          </a:prstGeom>
        </p:spPr>
      </p:pic>
      <p:pic>
        <p:nvPicPr>
          <p:cNvPr id="26" name="Picture 25" descr="tmp6mnkf3rx.png"/>
          <p:cNvPicPr>
            <a:picLocks noChangeAspect="1"/>
          </p:cNvPicPr>
          <p:nvPr/>
        </p:nvPicPr>
        <p:blipFill>
          <a:blip r:embed="rId9"/>
          <a:stretch>
            <a:fillRect/>
          </a:stretch>
        </p:blipFill>
        <p:spPr>
          <a:xfrm>
            <a:off x="2695575" y="1543050"/>
            <a:ext cx="266700" cy="219075"/>
          </a:xfrm>
          <a:prstGeom prst="rect">
            <a:avLst/>
          </a:prstGeom>
        </p:spPr>
      </p:pic>
      <p:pic>
        <p:nvPicPr>
          <p:cNvPr id="27" name="Picture 26" descr="tmpeef0vk9w.png"/>
          <p:cNvPicPr>
            <a:picLocks noChangeAspect="1"/>
          </p:cNvPicPr>
          <p:nvPr/>
        </p:nvPicPr>
        <p:blipFill>
          <a:blip r:embed="rId10"/>
          <a:stretch>
            <a:fillRect/>
          </a:stretch>
        </p:blipFill>
        <p:spPr>
          <a:xfrm>
            <a:off x="1485900" y="1543050"/>
            <a:ext cx="266700" cy="219075"/>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gradFill rotWithShape="1">
            <a:gsLst>
              <a:gs pos="0">
                <a:srgbClr val="FFFFFF"/>
              </a:gs>
              <a:gs pos="100000">
                <a:srgbClr val="E1EDFB"/>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55498" y="967130"/>
            <a:ext cx="9196577" cy="2924556"/>
          </a:xfrm>
          <a:prstGeom prst="roundRect">
            <a:avLst>
              <a:gd name="adj" fmla="val 6000"/>
            </a:avLst>
          </a:prstGeom>
          <a:solidFill>
            <a:srgbClr val="FEFEFE"/>
          </a:solidFill>
          <a:ln w="11430">
            <a:solidFill>
              <a:srgbClr val="3166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55498" y="3938016"/>
            <a:ext cx="9196577" cy="654405"/>
          </a:xfrm>
          <a:prstGeom prst="rect">
            <a:avLst/>
          </a:prstGeom>
          <a:solidFill>
            <a:srgbClr val="ED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55498" y="4621377"/>
            <a:ext cx="9196577" cy="654405"/>
          </a:xfrm>
          <a:prstGeom prst="rect">
            <a:avLst/>
          </a:prstGeom>
          <a:solidFill>
            <a:srgbClr val="E1E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6646" y="393801"/>
            <a:ext cx="3258921" cy="301142"/>
          </a:xfrm>
          <a:prstGeom prst="rect">
            <a:avLst/>
          </a:prstGeom>
          <a:noFill/>
          <a:ln>
            <a:noFill/>
          </a:ln>
        </p:spPr>
        <p:txBody>
          <a:bodyPr wrap="none" lIns="19050" rIns="19050" tIns="0" bIns="0" anchor="ctr">
            <a:noAutofit/>
          </a:bodyPr>
          <a:lstStyle/>
          <a:p>
            <a:pPr algn="l"/>
            <a:r>
              <a:rPr sz="2700" b="1">
                <a:solidFill>
                  <a:srgbClr val="405291"/>
                </a:solidFill>
                <a:latin typeface="PingFang SC"/>
              </a:rPr>
              <a:t>液体类型</a:t>
            </a:r>
          </a:p>
        </p:txBody>
      </p:sp>
      <p:sp>
        <p:nvSpPr>
          <p:cNvPr id="7" name="TextBox 6"/>
          <p:cNvSpPr txBox="1"/>
          <p:nvPr/>
        </p:nvSpPr>
        <p:spPr>
          <a:xfrm>
            <a:off x="8353044" y="173735"/>
            <a:ext cx="3756812" cy="416966"/>
          </a:xfrm>
          <a:prstGeom prst="rect">
            <a:avLst/>
          </a:prstGeom>
          <a:noFill/>
          <a:ln>
            <a:noFill/>
          </a:ln>
        </p:spPr>
        <p:txBody>
          <a:bodyPr wrap="none" lIns="19050" rIns="19050" tIns="0" bIns="0" anchor="ctr">
            <a:noAutofit/>
          </a:bodyPr>
          <a:lstStyle/>
          <a:p>
            <a:pPr algn="r"/>
            <a:r>
              <a:rPr sz="1800" b="0">
                <a:solidFill>
                  <a:srgbClr val="AEC3A9"/>
                </a:solidFill>
                <a:latin typeface="PingFang SC"/>
              </a:rPr>
              <a:t>Surviving Sepsis Campaign</a:t>
            </a:r>
          </a:p>
        </p:txBody>
      </p:sp>
      <p:sp>
        <p:nvSpPr>
          <p:cNvPr id="8" name="TextBox 7"/>
          <p:cNvSpPr txBox="1"/>
          <p:nvPr/>
        </p:nvSpPr>
        <p:spPr>
          <a:xfrm>
            <a:off x="946404" y="1227734"/>
            <a:ext cx="8229600" cy="173736"/>
          </a:xfrm>
          <a:prstGeom prst="rect">
            <a:avLst/>
          </a:prstGeom>
          <a:noFill/>
          <a:ln>
            <a:noFill/>
          </a:ln>
        </p:spPr>
        <p:txBody>
          <a:bodyPr wrap="square" lIns="19050" rIns="19050" tIns="0" bIns="0" anchor="t">
            <a:normAutofit/>
          </a:bodyPr>
          <a:lstStyle/>
          <a:p>
            <a:pPr algn="l"/>
            <a:r>
              <a:rPr sz="1270" b="0">
                <a:solidFill>
                  <a:srgbClr val="807F83"/>
                </a:solidFill>
                <a:latin typeface="PingFang SC"/>
              </a:rPr>
              <a:t>43. 对于患有脓毒症或感染性休克的成人，我们“建议”使用晶体液作为复苏的一线液体。</a:t>
            </a:r>
          </a:p>
        </p:txBody>
      </p:sp>
      <p:sp>
        <p:nvSpPr>
          <p:cNvPr id="9" name="TextBox 8"/>
          <p:cNvSpPr txBox="1"/>
          <p:nvPr/>
        </p:nvSpPr>
        <p:spPr>
          <a:xfrm>
            <a:off x="9176004" y="1227734"/>
            <a:ext cx="814730" cy="150571"/>
          </a:xfrm>
          <a:prstGeom prst="rect">
            <a:avLst/>
          </a:prstGeom>
          <a:noFill/>
          <a:ln>
            <a:noFill/>
          </a:ln>
        </p:spPr>
        <p:txBody>
          <a:bodyPr wrap="none" lIns="19050" rIns="19050" tIns="0" bIns="0" anchor="ctr">
            <a:noAutofit/>
          </a:bodyPr>
          <a:lstStyle/>
          <a:p>
            <a:pPr algn="r"/>
            <a:r>
              <a:rPr sz="1500" b="0">
                <a:solidFill>
                  <a:srgbClr val="8FB37E"/>
                </a:solidFill>
                <a:latin typeface="PingFang SC"/>
              </a:rPr>
              <a:t>沿用</a:t>
            </a:r>
          </a:p>
        </p:txBody>
      </p:sp>
      <p:sp>
        <p:nvSpPr>
          <p:cNvPr id="10" name="TextBox 9"/>
          <p:cNvSpPr txBox="1"/>
          <p:nvPr/>
        </p:nvSpPr>
        <p:spPr>
          <a:xfrm>
            <a:off x="946404" y="1864766"/>
            <a:ext cx="8229600" cy="173735"/>
          </a:xfrm>
          <a:prstGeom prst="rect">
            <a:avLst/>
          </a:prstGeom>
          <a:noFill/>
          <a:ln>
            <a:noFill/>
          </a:ln>
        </p:spPr>
        <p:txBody>
          <a:bodyPr wrap="square" lIns="19050" rIns="19050" tIns="0" bIns="0" anchor="t">
            <a:normAutofit/>
          </a:bodyPr>
          <a:lstStyle/>
          <a:p>
            <a:pPr algn="l"/>
            <a:r>
              <a:rPr sz="1100" b="0">
                <a:solidFill>
                  <a:srgbClr val="848D89"/>
                </a:solidFill>
                <a:latin typeface="PingFang SC"/>
              </a:rPr>
              <a:t>44. 对于正在接受初始复苏治疗的脓毒症或感染性休克成人患者，我们“建议”使用平衡晶体液而非0.9%生理盐水。</a:t>
            </a:r>
          </a:p>
        </p:txBody>
      </p:sp>
      <p:sp>
        <p:nvSpPr>
          <p:cNvPr id="11" name="TextBox 10"/>
          <p:cNvSpPr txBox="1"/>
          <p:nvPr/>
        </p:nvSpPr>
        <p:spPr>
          <a:xfrm>
            <a:off x="9176004" y="1864766"/>
            <a:ext cx="814730" cy="150571"/>
          </a:xfrm>
          <a:prstGeom prst="rect">
            <a:avLst/>
          </a:prstGeom>
          <a:noFill/>
          <a:ln>
            <a:noFill/>
          </a:ln>
        </p:spPr>
        <p:txBody>
          <a:bodyPr wrap="none" lIns="19050" rIns="19050" tIns="0" bIns="0" anchor="ctr">
            <a:noAutofit/>
          </a:bodyPr>
          <a:lstStyle/>
          <a:p>
            <a:pPr algn="r"/>
            <a:r>
              <a:rPr sz="1500" b="0">
                <a:solidFill>
                  <a:srgbClr val="535E67"/>
                </a:solidFill>
                <a:latin typeface="PingFang SC"/>
              </a:rPr>
              <a:t>修订</a:t>
            </a:r>
          </a:p>
        </p:txBody>
      </p:sp>
      <p:sp>
        <p:nvSpPr>
          <p:cNvPr id="12" name="TextBox 11"/>
          <p:cNvSpPr txBox="1"/>
          <p:nvPr/>
        </p:nvSpPr>
        <p:spPr>
          <a:xfrm>
            <a:off x="1255014" y="2385974"/>
            <a:ext cx="7920990" cy="150571"/>
          </a:xfrm>
          <a:prstGeom prst="rect">
            <a:avLst/>
          </a:prstGeom>
          <a:noFill/>
          <a:ln>
            <a:noFill/>
          </a:ln>
        </p:spPr>
        <p:txBody>
          <a:bodyPr wrap="square" lIns="19050" rIns="19050" tIns="0" bIns="0" anchor="t">
            <a:normAutofit/>
          </a:bodyPr>
          <a:lstStyle/>
          <a:p>
            <a:pPr algn="l"/>
            <a:r>
              <a:rPr sz="1290" b="0">
                <a:solidFill>
                  <a:srgbClr val="A9BAA1"/>
                </a:solidFill>
                <a:latin typeface="PingFang SC"/>
              </a:rPr>
              <a:t>备注：对于脓毒症和创伤性脑损伤患者，我们建议使用0.9%生理盐水。</a:t>
            </a:r>
          </a:p>
        </p:txBody>
      </p:sp>
      <p:sp>
        <p:nvSpPr>
          <p:cNvPr id="13" name="TextBox 12"/>
          <p:cNvSpPr txBox="1"/>
          <p:nvPr/>
        </p:nvSpPr>
        <p:spPr>
          <a:xfrm>
            <a:off x="946404" y="2791358"/>
            <a:ext cx="8229600" cy="173736"/>
          </a:xfrm>
          <a:prstGeom prst="rect">
            <a:avLst/>
          </a:prstGeom>
          <a:noFill/>
          <a:ln>
            <a:noFill/>
          </a:ln>
        </p:spPr>
        <p:txBody>
          <a:bodyPr wrap="square" lIns="19050" rIns="19050" tIns="0" bIns="0" anchor="t">
            <a:normAutofit/>
          </a:bodyPr>
          <a:lstStyle/>
          <a:p>
            <a:pPr algn="l"/>
            <a:r>
              <a:rPr sz="1090" b="0">
                <a:solidFill>
                  <a:srgbClr val="818886"/>
                </a:solidFill>
                <a:latin typeface="PingFang SC"/>
              </a:rPr>
              <a:t>45. 对于患有脓毒症或感染性休克的成年人，我们“建议”在液体复苏时单独使用晶体液，而非使用补充白蛋白的晶体液。</a:t>
            </a:r>
          </a:p>
        </p:txBody>
      </p:sp>
      <p:sp>
        <p:nvSpPr>
          <p:cNvPr id="14" name="TextBox 13"/>
          <p:cNvSpPr txBox="1"/>
          <p:nvPr/>
        </p:nvSpPr>
        <p:spPr>
          <a:xfrm>
            <a:off x="9176004" y="2791358"/>
            <a:ext cx="814730" cy="150571"/>
          </a:xfrm>
          <a:prstGeom prst="rect">
            <a:avLst/>
          </a:prstGeom>
          <a:noFill/>
          <a:ln>
            <a:noFill/>
          </a:ln>
        </p:spPr>
        <p:txBody>
          <a:bodyPr wrap="none" lIns="19050" rIns="19050" tIns="0" bIns="0" anchor="ctr">
            <a:noAutofit/>
          </a:bodyPr>
          <a:lstStyle/>
          <a:p>
            <a:pPr algn="r"/>
            <a:r>
              <a:rPr sz="1500" b="0">
                <a:solidFill>
                  <a:srgbClr val="5D646C"/>
                </a:solidFill>
                <a:latin typeface="PingFang SC"/>
              </a:rPr>
              <a:t>修订</a:t>
            </a:r>
          </a:p>
        </p:txBody>
      </p:sp>
      <p:sp>
        <p:nvSpPr>
          <p:cNvPr id="15" name="TextBox 14"/>
          <p:cNvSpPr txBox="1"/>
          <p:nvPr/>
        </p:nvSpPr>
        <p:spPr>
          <a:xfrm>
            <a:off x="1255014" y="3312566"/>
            <a:ext cx="7920990" cy="150571"/>
          </a:xfrm>
          <a:prstGeom prst="rect">
            <a:avLst/>
          </a:prstGeom>
          <a:noFill/>
          <a:ln>
            <a:noFill/>
          </a:ln>
        </p:spPr>
        <p:txBody>
          <a:bodyPr wrap="square" lIns="19050" rIns="19050" tIns="0" bIns="0" anchor="t">
            <a:normAutofit/>
          </a:bodyPr>
          <a:lstStyle/>
          <a:p>
            <a:pPr algn="l"/>
            <a:r>
              <a:rPr sz="969" b="0">
                <a:solidFill>
                  <a:srgbClr val="A8BBA0"/>
                </a:solidFill>
                <a:latin typeface="PingFang SC"/>
              </a:rPr>
              <a:t>备注：对于已接受大量晶体液输注或患有肝硬化的患者，使用补充白蛋白可能是合适的。创伤性脑损伤患者应避免使用补充白蛋白。</a:t>
            </a:r>
          </a:p>
        </p:txBody>
      </p:sp>
      <p:sp>
        <p:nvSpPr>
          <p:cNvPr id="16" name="TextBox 15"/>
          <p:cNvSpPr txBox="1"/>
          <p:nvPr/>
        </p:nvSpPr>
        <p:spPr>
          <a:xfrm>
            <a:off x="946404" y="3984345"/>
            <a:ext cx="3394710" cy="138988"/>
          </a:xfrm>
          <a:prstGeom prst="rect">
            <a:avLst/>
          </a:prstGeom>
          <a:noFill/>
          <a:ln>
            <a:noFill/>
          </a:ln>
        </p:spPr>
        <p:txBody>
          <a:bodyPr wrap="none" lIns="19050" rIns="19050" tIns="0" bIns="0" anchor="ctr">
            <a:noAutofit/>
          </a:bodyPr>
          <a:lstStyle/>
          <a:p>
            <a:pPr algn="l"/>
            <a:r>
              <a:rPr sz="1350" b="1">
                <a:solidFill>
                  <a:srgbClr val="72A7BA"/>
                </a:solidFill>
                <a:latin typeface="PingFang SC"/>
              </a:rPr>
              <a:t>2021年声明 (44)</a:t>
            </a:r>
          </a:p>
        </p:txBody>
      </p:sp>
      <p:sp>
        <p:nvSpPr>
          <p:cNvPr id="17" name="TextBox 16"/>
          <p:cNvSpPr txBox="1"/>
          <p:nvPr/>
        </p:nvSpPr>
        <p:spPr>
          <a:xfrm>
            <a:off x="946404" y="4181246"/>
            <a:ext cx="8229600" cy="150571"/>
          </a:xfrm>
          <a:prstGeom prst="rect">
            <a:avLst/>
          </a:prstGeom>
          <a:noFill/>
          <a:ln>
            <a:noFill/>
          </a:ln>
        </p:spPr>
        <p:txBody>
          <a:bodyPr wrap="square" lIns="19050" rIns="19050" tIns="0" bIns="0" anchor="t">
            <a:normAutofit/>
          </a:bodyPr>
          <a:lstStyle/>
          <a:p>
            <a:pPr algn="l"/>
            <a:r>
              <a:rPr sz="1210" b="0">
                <a:solidFill>
                  <a:srgbClr val="A1A6AC"/>
                </a:solidFill>
                <a:latin typeface="PingFang SC"/>
              </a:rPr>
              <a:t>对于患有脓毒症或感染性休克的成人，我们建议使用平衡晶体液而非生理盐水进行复苏。</a:t>
            </a:r>
          </a:p>
        </p:txBody>
      </p:sp>
      <p:sp>
        <p:nvSpPr>
          <p:cNvPr id="18" name="TextBox 17"/>
          <p:cNvSpPr txBox="1"/>
          <p:nvPr/>
        </p:nvSpPr>
        <p:spPr>
          <a:xfrm>
            <a:off x="946404" y="4667707"/>
            <a:ext cx="3394710" cy="138988"/>
          </a:xfrm>
          <a:prstGeom prst="rect">
            <a:avLst/>
          </a:prstGeom>
          <a:noFill/>
          <a:ln>
            <a:noFill/>
          </a:ln>
        </p:spPr>
        <p:txBody>
          <a:bodyPr wrap="none" lIns="19050" rIns="19050" tIns="0" bIns="0" anchor="ctr">
            <a:noAutofit/>
          </a:bodyPr>
          <a:lstStyle/>
          <a:p>
            <a:pPr algn="l"/>
            <a:r>
              <a:rPr sz="1350" b="1">
                <a:solidFill>
                  <a:srgbClr val="5B646C"/>
                </a:solidFill>
                <a:latin typeface="PingFang SC"/>
              </a:rPr>
              <a:t>2021年声明 (45)</a:t>
            </a:r>
          </a:p>
        </p:txBody>
      </p:sp>
      <p:sp>
        <p:nvSpPr>
          <p:cNvPr id="19" name="TextBox 18"/>
          <p:cNvSpPr txBox="1"/>
          <p:nvPr/>
        </p:nvSpPr>
        <p:spPr>
          <a:xfrm>
            <a:off x="946404" y="4864608"/>
            <a:ext cx="8229600" cy="150571"/>
          </a:xfrm>
          <a:prstGeom prst="rect">
            <a:avLst/>
          </a:prstGeom>
          <a:noFill/>
          <a:ln>
            <a:noFill/>
          </a:ln>
        </p:spPr>
        <p:txBody>
          <a:bodyPr wrap="square" lIns="19050" rIns="19050" tIns="0" bIns="0" anchor="t">
            <a:normAutofit/>
          </a:bodyPr>
          <a:lstStyle/>
          <a:p>
            <a:pPr algn="l"/>
            <a:r>
              <a:rPr sz="1160" b="0">
                <a:solidFill>
                  <a:srgbClr val="6AA3BB"/>
                </a:solidFill>
                <a:latin typeface="PingFang SC"/>
              </a:rPr>
              <a:t>对于患有脓毒症或感染性休克的成年人，我们建议在接受大量晶体液治疗的患者中使用白蛋白。</a:t>
            </a:r>
          </a:p>
        </p:txBody>
      </p:sp>
      <p:sp>
        <p:nvSpPr>
          <p:cNvPr id="20" name="TextBox 19"/>
          <p:cNvSpPr txBox="1"/>
          <p:nvPr/>
        </p:nvSpPr>
        <p:spPr>
          <a:xfrm>
            <a:off x="10287000" y="5327904"/>
            <a:ext cx="0" cy="185318"/>
          </a:xfrm>
          <a:prstGeom prst="rect">
            <a:avLst/>
          </a:prstGeom>
          <a:noFill/>
          <a:ln>
            <a:noFill/>
          </a:ln>
        </p:spPr>
        <p:txBody>
          <a:bodyPr wrap="none" lIns="19050" rIns="19050" tIns="0" bIns="0" anchor="ctr">
            <a:noAutofit/>
          </a:bodyPr>
          <a:lstStyle/>
          <a:p>
            <a:pPr algn="r"/>
            <a:r>
              <a:rPr sz="1350" b="0">
                <a:solidFill>
                  <a:srgbClr val="000000"/>
                </a:solidFill>
                <a:latin typeface="PingFang SC"/>
              </a:rPr>
              <a:t>29</a:t>
            </a:r>
          </a:p>
        </p:txBody>
      </p:sp>
      <p:pic>
        <p:nvPicPr>
          <p:cNvPr id="21" name="Picture 20" descr="tmpqhqzf_vx.png"/>
          <p:cNvPicPr>
            <a:picLocks noChangeAspect="1"/>
          </p:cNvPicPr>
          <p:nvPr/>
        </p:nvPicPr>
        <p:blipFill>
          <a:blip r:embed="rId2"/>
          <a:stretch>
            <a:fillRect/>
          </a:stretch>
        </p:blipFill>
        <p:spPr>
          <a:xfrm>
            <a:off x="1257300" y="1571625"/>
            <a:ext cx="304800" cy="180975"/>
          </a:xfrm>
          <a:prstGeom prst="rect">
            <a:avLst/>
          </a:prstGeom>
        </p:spPr>
      </p:pic>
      <p:pic>
        <p:nvPicPr>
          <p:cNvPr id="22" name="Picture 21" descr="tmp4a2d91bd.png"/>
          <p:cNvPicPr>
            <a:picLocks noChangeAspect="1"/>
          </p:cNvPicPr>
          <p:nvPr/>
        </p:nvPicPr>
        <p:blipFill>
          <a:blip r:embed="rId3"/>
          <a:stretch>
            <a:fillRect/>
          </a:stretch>
        </p:blipFill>
        <p:spPr>
          <a:xfrm>
            <a:off x="1666875" y="1571625"/>
            <a:ext cx="304800" cy="180975"/>
          </a:xfrm>
          <a:prstGeom prst="rect">
            <a:avLst/>
          </a:prstGeom>
        </p:spPr>
      </p:pic>
      <p:pic>
        <p:nvPicPr>
          <p:cNvPr id="23" name="Picture 22" descr="tmp67hlo40q.png"/>
          <p:cNvPicPr>
            <a:picLocks noChangeAspect="1"/>
          </p:cNvPicPr>
          <p:nvPr/>
        </p:nvPicPr>
        <p:blipFill>
          <a:blip r:embed="rId4"/>
          <a:stretch>
            <a:fillRect/>
          </a:stretch>
        </p:blipFill>
        <p:spPr>
          <a:xfrm>
            <a:off x="2076450" y="1571625"/>
            <a:ext cx="314325" cy="180975"/>
          </a:xfrm>
          <a:prstGeom prst="rect">
            <a:avLst/>
          </a:prstGeom>
        </p:spPr>
      </p:pic>
      <p:pic>
        <p:nvPicPr>
          <p:cNvPr id="24" name="Picture 23" descr="tmpgk3sfb6f.png"/>
          <p:cNvPicPr>
            <a:picLocks noChangeAspect="1"/>
          </p:cNvPicPr>
          <p:nvPr/>
        </p:nvPicPr>
        <p:blipFill>
          <a:blip r:embed="rId5"/>
          <a:stretch>
            <a:fillRect/>
          </a:stretch>
        </p:blipFill>
        <p:spPr>
          <a:xfrm>
            <a:off x="2486025" y="1571625"/>
            <a:ext cx="314325" cy="180975"/>
          </a:xfrm>
          <a:prstGeom prst="rect">
            <a:avLst/>
          </a:prstGeom>
        </p:spPr>
      </p:pic>
      <p:pic>
        <p:nvPicPr>
          <p:cNvPr id="25" name="Picture 24" descr="tmpnh63_v_9.png"/>
          <p:cNvPicPr>
            <a:picLocks noChangeAspect="1"/>
          </p:cNvPicPr>
          <p:nvPr/>
        </p:nvPicPr>
        <p:blipFill>
          <a:blip r:embed="rId6"/>
          <a:stretch>
            <a:fillRect/>
          </a:stretch>
        </p:blipFill>
        <p:spPr>
          <a:xfrm>
            <a:off x="2905125" y="1571625"/>
            <a:ext cx="304800" cy="180975"/>
          </a:xfrm>
          <a:prstGeom prst="rect">
            <a:avLst/>
          </a:prstGeom>
        </p:spPr>
      </p:pic>
      <p:pic>
        <p:nvPicPr>
          <p:cNvPr id="26" name="Picture 25" descr="tmp35ytv5r6.png"/>
          <p:cNvPicPr>
            <a:picLocks noChangeAspect="1"/>
          </p:cNvPicPr>
          <p:nvPr/>
        </p:nvPicPr>
        <p:blipFill>
          <a:blip r:embed="rId7"/>
          <a:stretch>
            <a:fillRect/>
          </a:stretch>
        </p:blipFill>
        <p:spPr>
          <a:xfrm>
            <a:off x="1257300" y="2152650"/>
            <a:ext cx="304800" cy="171450"/>
          </a:xfrm>
          <a:prstGeom prst="rect">
            <a:avLst/>
          </a:prstGeom>
        </p:spPr>
      </p:pic>
      <p:pic>
        <p:nvPicPr>
          <p:cNvPr id="27" name="Picture 26" descr="tmpx91ncbud.png"/>
          <p:cNvPicPr>
            <a:picLocks noChangeAspect="1"/>
          </p:cNvPicPr>
          <p:nvPr/>
        </p:nvPicPr>
        <p:blipFill>
          <a:blip r:embed="rId8"/>
          <a:stretch>
            <a:fillRect/>
          </a:stretch>
        </p:blipFill>
        <p:spPr>
          <a:xfrm>
            <a:off x="1666875" y="2152650"/>
            <a:ext cx="304800" cy="171450"/>
          </a:xfrm>
          <a:prstGeom prst="rect">
            <a:avLst/>
          </a:prstGeom>
        </p:spPr>
      </p:pic>
      <p:pic>
        <p:nvPicPr>
          <p:cNvPr id="28" name="Picture 27" descr="tmp1kemqer2.png"/>
          <p:cNvPicPr>
            <a:picLocks noChangeAspect="1"/>
          </p:cNvPicPr>
          <p:nvPr/>
        </p:nvPicPr>
        <p:blipFill>
          <a:blip r:embed="rId9"/>
          <a:stretch>
            <a:fillRect/>
          </a:stretch>
        </p:blipFill>
        <p:spPr>
          <a:xfrm>
            <a:off x="2076450" y="2152650"/>
            <a:ext cx="314325" cy="171450"/>
          </a:xfrm>
          <a:prstGeom prst="rect">
            <a:avLst/>
          </a:prstGeom>
        </p:spPr>
      </p:pic>
      <p:pic>
        <p:nvPicPr>
          <p:cNvPr id="29" name="Picture 28" descr="tmp4h2hdi9g.png"/>
          <p:cNvPicPr>
            <a:picLocks noChangeAspect="1"/>
          </p:cNvPicPr>
          <p:nvPr/>
        </p:nvPicPr>
        <p:blipFill>
          <a:blip r:embed="rId10"/>
          <a:stretch>
            <a:fillRect/>
          </a:stretch>
        </p:blipFill>
        <p:spPr>
          <a:xfrm>
            <a:off x="2486025" y="2152650"/>
            <a:ext cx="314325" cy="171450"/>
          </a:xfrm>
          <a:prstGeom prst="rect">
            <a:avLst/>
          </a:prstGeom>
        </p:spPr>
      </p:pic>
      <p:pic>
        <p:nvPicPr>
          <p:cNvPr id="30" name="Picture 29" descr="tmpil4uusp0.png"/>
          <p:cNvPicPr>
            <a:picLocks noChangeAspect="1"/>
          </p:cNvPicPr>
          <p:nvPr/>
        </p:nvPicPr>
        <p:blipFill>
          <a:blip r:embed="rId11"/>
          <a:stretch>
            <a:fillRect/>
          </a:stretch>
        </p:blipFill>
        <p:spPr>
          <a:xfrm>
            <a:off x="2905125" y="2152650"/>
            <a:ext cx="304800" cy="171450"/>
          </a:xfrm>
          <a:prstGeom prst="rect">
            <a:avLst/>
          </a:prstGeom>
        </p:spPr>
      </p:pic>
      <p:pic>
        <p:nvPicPr>
          <p:cNvPr id="31" name="Picture 30" descr="tmpbld1nux2.png"/>
          <p:cNvPicPr>
            <a:picLocks noChangeAspect="1"/>
          </p:cNvPicPr>
          <p:nvPr/>
        </p:nvPicPr>
        <p:blipFill>
          <a:blip r:embed="rId12"/>
          <a:stretch>
            <a:fillRect/>
          </a:stretch>
        </p:blipFill>
        <p:spPr>
          <a:xfrm>
            <a:off x="1257300" y="3076575"/>
            <a:ext cx="304800" cy="180975"/>
          </a:xfrm>
          <a:prstGeom prst="rect">
            <a:avLst/>
          </a:prstGeom>
        </p:spPr>
      </p:pic>
      <p:pic>
        <p:nvPicPr>
          <p:cNvPr id="32" name="Picture 31" descr="tmp7ylr2001.png"/>
          <p:cNvPicPr>
            <a:picLocks noChangeAspect="1"/>
          </p:cNvPicPr>
          <p:nvPr/>
        </p:nvPicPr>
        <p:blipFill>
          <a:blip r:embed="rId13"/>
          <a:stretch>
            <a:fillRect/>
          </a:stretch>
        </p:blipFill>
        <p:spPr>
          <a:xfrm>
            <a:off x="1666875" y="3076575"/>
            <a:ext cx="304800" cy="180975"/>
          </a:xfrm>
          <a:prstGeom prst="rect">
            <a:avLst/>
          </a:prstGeom>
        </p:spPr>
      </p:pic>
      <p:pic>
        <p:nvPicPr>
          <p:cNvPr id="33" name="Picture 32" descr="tmpodj5zxzv.png"/>
          <p:cNvPicPr>
            <a:picLocks noChangeAspect="1"/>
          </p:cNvPicPr>
          <p:nvPr/>
        </p:nvPicPr>
        <p:blipFill>
          <a:blip r:embed="rId14"/>
          <a:stretch>
            <a:fillRect/>
          </a:stretch>
        </p:blipFill>
        <p:spPr>
          <a:xfrm>
            <a:off x="2076450" y="3076575"/>
            <a:ext cx="314325" cy="180975"/>
          </a:xfrm>
          <a:prstGeom prst="rect">
            <a:avLst/>
          </a:prstGeom>
        </p:spPr>
      </p:pic>
      <p:pic>
        <p:nvPicPr>
          <p:cNvPr id="34" name="Picture 33" descr="tmph4r336fb.png"/>
          <p:cNvPicPr>
            <a:picLocks noChangeAspect="1"/>
          </p:cNvPicPr>
          <p:nvPr/>
        </p:nvPicPr>
        <p:blipFill>
          <a:blip r:embed="rId15"/>
          <a:stretch>
            <a:fillRect/>
          </a:stretch>
        </p:blipFill>
        <p:spPr>
          <a:xfrm>
            <a:off x="2486025" y="3076575"/>
            <a:ext cx="314325" cy="180975"/>
          </a:xfrm>
          <a:prstGeom prst="rect">
            <a:avLst/>
          </a:prstGeom>
        </p:spPr>
      </p:pic>
      <p:pic>
        <p:nvPicPr>
          <p:cNvPr id="35" name="Picture 34" descr="tmpnezo9ty2.png"/>
          <p:cNvPicPr>
            <a:picLocks noChangeAspect="1"/>
          </p:cNvPicPr>
          <p:nvPr/>
        </p:nvPicPr>
        <p:blipFill>
          <a:blip r:embed="rId16"/>
          <a:stretch>
            <a:fillRect/>
          </a:stretch>
        </p:blipFill>
        <p:spPr>
          <a:xfrm>
            <a:off x="2905125" y="3076575"/>
            <a:ext cx="304800" cy="180975"/>
          </a:xfrm>
          <a:prstGeom prst="rect">
            <a:avLst/>
          </a:prstGeom>
        </p:spPr>
      </p:pic>
      <p:pic>
        <p:nvPicPr>
          <p:cNvPr id="36" name="Picture 35" descr="tmp9l3sam72.png"/>
          <p:cNvPicPr>
            <a:picLocks noChangeAspect="1"/>
          </p:cNvPicPr>
          <p:nvPr/>
        </p:nvPicPr>
        <p:blipFill>
          <a:blip r:embed="rId17"/>
          <a:stretch>
            <a:fillRect/>
          </a:stretch>
        </p:blipFill>
        <p:spPr>
          <a:xfrm>
            <a:off x="1257300" y="4410075"/>
            <a:ext cx="304800" cy="180975"/>
          </a:xfrm>
          <a:prstGeom prst="rect">
            <a:avLst/>
          </a:prstGeom>
        </p:spPr>
      </p:pic>
      <p:pic>
        <p:nvPicPr>
          <p:cNvPr id="37" name="Picture 36" descr="tmpm3zwq189.png"/>
          <p:cNvPicPr>
            <a:picLocks noChangeAspect="1"/>
          </p:cNvPicPr>
          <p:nvPr/>
        </p:nvPicPr>
        <p:blipFill>
          <a:blip r:embed="rId18"/>
          <a:stretch>
            <a:fillRect/>
          </a:stretch>
        </p:blipFill>
        <p:spPr>
          <a:xfrm>
            <a:off x="1666875" y="4410075"/>
            <a:ext cx="304800" cy="180975"/>
          </a:xfrm>
          <a:prstGeom prst="rect">
            <a:avLst/>
          </a:prstGeom>
        </p:spPr>
      </p:pic>
      <p:pic>
        <p:nvPicPr>
          <p:cNvPr id="38" name="Picture 37" descr="tmpc5xhaghl.png"/>
          <p:cNvPicPr>
            <a:picLocks noChangeAspect="1"/>
          </p:cNvPicPr>
          <p:nvPr/>
        </p:nvPicPr>
        <p:blipFill>
          <a:blip r:embed="rId19"/>
          <a:stretch>
            <a:fillRect/>
          </a:stretch>
        </p:blipFill>
        <p:spPr>
          <a:xfrm>
            <a:off x="2076450" y="4410075"/>
            <a:ext cx="314325" cy="180975"/>
          </a:xfrm>
          <a:prstGeom prst="rect">
            <a:avLst/>
          </a:prstGeom>
        </p:spPr>
      </p:pic>
      <p:pic>
        <p:nvPicPr>
          <p:cNvPr id="39" name="Picture 38" descr="tmpnp7a_8b9.png"/>
          <p:cNvPicPr>
            <a:picLocks noChangeAspect="1"/>
          </p:cNvPicPr>
          <p:nvPr/>
        </p:nvPicPr>
        <p:blipFill>
          <a:blip r:embed="rId20"/>
          <a:stretch>
            <a:fillRect/>
          </a:stretch>
        </p:blipFill>
        <p:spPr>
          <a:xfrm>
            <a:off x="2486025" y="4410075"/>
            <a:ext cx="314325" cy="180975"/>
          </a:xfrm>
          <a:prstGeom prst="rect">
            <a:avLst/>
          </a:prstGeom>
        </p:spPr>
      </p:pic>
      <p:pic>
        <p:nvPicPr>
          <p:cNvPr id="40" name="Picture 39" descr="tmpm8aau5c_.png"/>
          <p:cNvPicPr>
            <a:picLocks noChangeAspect="1"/>
          </p:cNvPicPr>
          <p:nvPr/>
        </p:nvPicPr>
        <p:blipFill>
          <a:blip r:embed="rId21"/>
          <a:stretch>
            <a:fillRect/>
          </a:stretch>
        </p:blipFill>
        <p:spPr>
          <a:xfrm>
            <a:off x="2905125" y="4410075"/>
            <a:ext cx="304800" cy="180975"/>
          </a:xfrm>
          <a:prstGeom prst="rect">
            <a:avLst/>
          </a:prstGeom>
        </p:spPr>
      </p:pic>
      <p:pic>
        <p:nvPicPr>
          <p:cNvPr id="41" name="Picture 40" descr="tmpvw97lvpb.png"/>
          <p:cNvPicPr>
            <a:picLocks noChangeAspect="1"/>
          </p:cNvPicPr>
          <p:nvPr/>
        </p:nvPicPr>
        <p:blipFill>
          <a:blip r:embed="rId22"/>
          <a:stretch>
            <a:fillRect/>
          </a:stretch>
        </p:blipFill>
        <p:spPr>
          <a:xfrm>
            <a:off x="1257300" y="5095875"/>
            <a:ext cx="304800" cy="171450"/>
          </a:xfrm>
          <a:prstGeom prst="rect">
            <a:avLst/>
          </a:prstGeom>
        </p:spPr>
      </p:pic>
      <p:pic>
        <p:nvPicPr>
          <p:cNvPr id="42" name="Picture 41" descr="tmp30n3cnj1.png"/>
          <p:cNvPicPr>
            <a:picLocks noChangeAspect="1"/>
          </p:cNvPicPr>
          <p:nvPr/>
        </p:nvPicPr>
        <p:blipFill>
          <a:blip r:embed="rId23"/>
          <a:stretch>
            <a:fillRect/>
          </a:stretch>
        </p:blipFill>
        <p:spPr>
          <a:xfrm>
            <a:off x="1666875" y="5095875"/>
            <a:ext cx="304800" cy="171450"/>
          </a:xfrm>
          <a:prstGeom prst="rect">
            <a:avLst/>
          </a:prstGeom>
        </p:spPr>
      </p:pic>
      <p:pic>
        <p:nvPicPr>
          <p:cNvPr id="43" name="Picture 42" descr="tmprg0ew3gj.png"/>
          <p:cNvPicPr>
            <a:picLocks noChangeAspect="1"/>
          </p:cNvPicPr>
          <p:nvPr/>
        </p:nvPicPr>
        <p:blipFill>
          <a:blip r:embed="rId24"/>
          <a:stretch>
            <a:fillRect/>
          </a:stretch>
        </p:blipFill>
        <p:spPr>
          <a:xfrm>
            <a:off x="2076450" y="5095875"/>
            <a:ext cx="314325" cy="171450"/>
          </a:xfrm>
          <a:prstGeom prst="rect">
            <a:avLst/>
          </a:prstGeom>
        </p:spPr>
      </p:pic>
      <p:pic>
        <p:nvPicPr>
          <p:cNvPr id="44" name="Picture 43" descr="tmp2ivf7khs.png"/>
          <p:cNvPicPr>
            <a:picLocks noChangeAspect="1"/>
          </p:cNvPicPr>
          <p:nvPr/>
        </p:nvPicPr>
        <p:blipFill>
          <a:blip r:embed="rId25"/>
          <a:stretch>
            <a:fillRect/>
          </a:stretch>
        </p:blipFill>
        <p:spPr>
          <a:xfrm>
            <a:off x="2486025" y="5095875"/>
            <a:ext cx="314325" cy="171450"/>
          </a:xfrm>
          <a:prstGeom prst="rect">
            <a:avLst/>
          </a:prstGeom>
        </p:spPr>
      </p:pic>
      <p:pic>
        <p:nvPicPr>
          <p:cNvPr id="45" name="Picture 44" descr="tmptuo54x_2.png"/>
          <p:cNvPicPr>
            <a:picLocks noChangeAspect="1"/>
          </p:cNvPicPr>
          <p:nvPr/>
        </p:nvPicPr>
        <p:blipFill>
          <a:blip r:embed="rId26"/>
          <a:stretch>
            <a:fillRect/>
          </a:stretch>
        </p:blipFill>
        <p:spPr>
          <a:xfrm>
            <a:off x="2905125" y="5095875"/>
            <a:ext cx="304800" cy="17145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jcarprh1.png"/>
          <p:cNvPicPr>
            <a:picLocks noChangeAspect="1"/>
          </p:cNvPicPr>
          <p:nvPr/>
        </p:nvPicPr>
        <p:blipFill>
          <a:blip r:embed="rId2"/>
          <a:stretch>
            <a:fillRect/>
          </a:stretch>
        </p:blipFill>
        <p:spPr>
          <a:xfrm>
            <a:off x="1876425" y="5067300"/>
            <a:ext cx="819150" cy="95250"/>
          </a:xfrm>
          <a:prstGeom prst="rect">
            <a:avLst/>
          </a:prstGeom>
        </p:spPr>
      </p:pic>
      <p:sp>
        <p:nvSpPr>
          <p:cNvPr id="4" name="Rounded Rectangle 3"/>
          <p:cNvSpPr/>
          <p:nvPr/>
        </p:nvSpPr>
        <p:spPr>
          <a:xfrm>
            <a:off x="555498" y="943965"/>
            <a:ext cx="9196577" cy="1702612"/>
          </a:xfrm>
          <a:prstGeom prst="roundRect">
            <a:avLst>
              <a:gd name="adj" fmla="val 6000"/>
            </a:avLst>
          </a:prstGeom>
          <a:solidFill>
            <a:srgbClr val="FEFEFE"/>
          </a:solidFill>
          <a:ln w="11430">
            <a:solidFill>
              <a:srgbClr val="EAFD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55498" y="2762402"/>
            <a:ext cx="9196577" cy="2287524"/>
          </a:xfrm>
          <a:prstGeom prst="roundRect">
            <a:avLst>
              <a:gd name="adj" fmla="val 6000"/>
            </a:avLst>
          </a:prstGeom>
          <a:solidFill>
            <a:srgbClr val="F1FEFE"/>
          </a:solidFill>
          <a:ln w="11430">
            <a:solidFill>
              <a:srgbClr val="B3E1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6646" y="388010"/>
            <a:ext cx="2761030" cy="306933"/>
          </a:xfrm>
          <a:prstGeom prst="rect">
            <a:avLst/>
          </a:prstGeom>
          <a:noFill/>
          <a:ln>
            <a:noFill/>
          </a:ln>
        </p:spPr>
        <p:txBody>
          <a:bodyPr wrap="none" lIns="19050" rIns="19050" tIns="0" bIns="0" anchor="ctr">
            <a:noAutofit/>
          </a:bodyPr>
          <a:lstStyle/>
          <a:p>
            <a:pPr algn="l"/>
            <a:r>
              <a:rPr sz="2700" b="1">
                <a:solidFill>
                  <a:srgbClr val="3F528F"/>
                </a:solidFill>
                <a:latin typeface="PingFang SC"/>
              </a:rPr>
              <a:t>液体类型</a:t>
            </a:r>
          </a:p>
        </p:txBody>
      </p:sp>
      <p:sp>
        <p:nvSpPr>
          <p:cNvPr id="7" name="TextBox 6"/>
          <p:cNvSpPr txBox="1"/>
          <p:nvPr/>
        </p:nvSpPr>
        <p:spPr>
          <a:xfrm>
            <a:off x="946404" y="1262481"/>
            <a:ext cx="7488935" cy="185318"/>
          </a:xfrm>
          <a:prstGeom prst="rect">
            <a:avLst/>
          </a:prstGeom>
          <a:noFill/>
          <a:ln>
            <a:noFill/>
          </a:ln>
        </p:spPr>
        <p:txBody>
          <a:bodyPr wrap="square" lIns="19050" rIns="19050" tIns="0" bIns="0" anchor="t">
            <a:normAutofit/>
          </a:bodyPr>
          <a:lstStyle/>
          <a:p>
            <a:pPr algn="l"/>
            <a:r>
              <a:rPr sz="1250" b="0">
                <a:solidFill>
                  <a:srgbClr val="898285"/>
                </a:solidFill>
                <a:latin typeface="PingFang SC"/>
              </a:rPr>
              <a:t>46. 对于患有脓毒症或感染性休克的成年人，我们 “推荐不要” 使用淀粉类物质进行复苏。</a:t>
            </a:r>
          </a:p>
        </p:txBody>
      </p:sp>
      <p:sp>
        <p:nvSpPr>
          <p:cNvPr id="8" name="TextBox 7"/>
          <p:cNvSpPr txBox="1"/>
          <p:nvPr/>
        </p:nvSpPr>
        <p:spPr>
          <a:xfrm>
            <a:off x="946404" y="1980590"/>
            <a:ext cx="7488935" cy="185318"/>
          </a:xfrm>
          <a:prstGeom prst="rect">
            <a:avLst/>
          </a:prstGeom>
          <a:noFill/>
          <a:ln>
            <a:noFill/>
          </a:ln>
        </p:spPr>
        <p:txBody>
          <a:bodyPr wrap="square" lIns="19050" rIns="19050" tIns="0" bIns="0" anchor="t">
            <a:normAutofit/>
          </a:bodyPr>
          <a:lstStyle/>
          <a:p>
            <a:pPr algn="l"/>
            <a:r>
              <a:rPr sz="1330" b="0">
                <a:solidFill>
                  <a:srgbClr val="8E958A"/>
                </a:solidFill>
                <a:latin typeface="PingFang SC"/>
              </a:rPr>
              <a:t>47. 对于患有脓毒症和感染性休克的成人，我们 “建议不” 使用明胶进行复苏。</a:t>
            </a:r>
          </a:p>
        </p:txBody>
      </p:sp>
      <p:sp>
        <p:nvSpPr>
          <p:cNvPr id="9" name="TextBox 8"/>
          <p:cNvSpPr txBox="1"/>
          <p:nvPr/>
        </p:nvSpPr>
        <p:spPr>
          <a:xfrm>
            <a:off x="9176004" y="1262481"/>
            <a:ext cx="814730" cy="162153"/>
          </a:xfrm>
          <a:prstGeom prst="rect">
            <a:avLst/>
          </a:prstGeom>
          <a:noFill/>
          <a:ln>
            <a:noFill/>
          </a:ln>
        </p:spPr>
        <p:txBody>
          <a:bodyPr wrap="none" lIns="19050" rIns="19050" tIns="0" bIns="0" anchor="ctr">
            <a:noAutofit/>
          </a:bodyPr>
          <a:lstStyle/>
          <a:p>
            <a:pPr algn="r"/>
            <a:r>
              <a:rPr sz="1200" b="0">
                <a:solidFill>
                  <a:srgbClr val="90B67B"/>
                </a:solidFill>
                <a:latin typeface="PingFang SC"/>
              </a:rPr>
              <a:t>沿用</a:t>
            </a:r>
          </a:p>
        </p:txBody>
      </p:sp>
      <p:sp>
        <p:nvSpPr>
          <p:cNvPr id="10" name="TextBox 9"/>
          <p:cNvSpPr txBox="1"/>
          <p:nvPr/>
        </p:nvSpPr>
        <p:spPr>
          <a:xfrm>
            <a:off x="9176004" y="1980590"/>
            <a:ext cx="814730" cy="162153"/>
          </a:xfrm>
          <a:prstGeom prst="rect">
            <a:avLst/>
          </a:prstGeom>
          <a:noFill/>
          <a:ln>
            <a:noFill/>
          </a:ln>
        </p:spPr>
        <p:txBody>
          <a:bodyPr wrap="none" lIns="19050" rIns="19050" tIns="0" bIns="0" anchor="ctr">
            <a:noAutofit/>
          </a:bodyPr>
          <a:lstStyle/>
          <a:p>
            <a:pPr algn="r"/>
            <a:r>
              <a:rPr sz="1200" b="0">
                <a:solidFill>
                  <a:srgbClr val="95B788"/>
                </a:solidFill>
                <a:latin typeface="PingFang SC"/>
              </a:rPr>
              <a:t>沿用</a:t>
            </a:r>
          </a:p>
        </p:txBody>
      </p:sp>
      <p:sp>
        <p:nvSpPr>
          <p:cNvPr id="11" name="TextBox 10"/>
          <p:cNvSpPr txBox="1"/>
          <p:nvPr/>
        </p:nvSpPr>
        <p:spPr>
          <a:xfrm>
            <a:off x="637793" y="3532632"/>
            <a:ext cx="9031985" cy="851306"/>
          </a:xfrm>
          <a:prstGeom prst="rect">
            <a:avLst/>
          </a:prstGeom>
          <a:noFill/>
          <a:ln>
            <a:noFill/>
          </a:ln>
        </p:spPr>
        <p:txBody>
          <a:bodyPr wrap="square" lIns="19050" rIns="19050" tIns="0" bIns="0" anchor="t">
            <a:normAutofit/>
          </a:bodyPr>
          <a:lstStyle/>
          <a:p>
            <a:pPr algn="l"/>
            <a:r>
              <a:rPr sz="1350" b="0">
                <a:solidFill>
                  <a:srgbClr val="728386"/>
                </a:solidFill>
                <a:latin typeface="PingFang SC"/>
              </a:rPr>
              <a:t>在脓毒症和感染性休克中，静脉输液对于容量复苏是必要的，尽管最佳的液体类型一直存在争议。延续2021年指南的建议，我们推荐使用晶体液作为容量复苏的一线液体，不建议使用淀粉类液体。我们也建议不使用明胶类液体。有关使用晶体液而非淀粉类和明胶类液体作为一线液体的理由，请参阅2021年指南。</a:t>
            </a:r>
          </a:p>
        </p:txBody>
      </p:sp>
      <p:sp>
        <p:nvSpPr>
          <p:cNvPr id="12" name="TextBox 11"/>
          <p:cNvSpPr txBox="1"/>
          <p:nvPr/>
        </p:nvSpPr>
        <p:spPr>
          <a:xfrm>
            <a:off x="596646" y="5067300"/>
            <a:ext cx="2579979" cy="98450"/>
          </a:xfrm>
          <a:prstGeom prst="rect">
            <a:avLst/>
          </a:prstGeom>
          <a:noFill/>
          <a:ln>
            <a:noFill/>
          </a:ln>
        </p:spPr>
        <p:txBody>
          <a:bodyPr wrap="none" lIns="19050" rIns="19050" tIns="0" bIns="0" anchor="ctr">
            <a:noAutofit/>
          </a:bodyPr>
          <a:lstStyle/>
          <a:p>
            <a:pPr algn="l"/>
            <a:r>
              <a:rPr sz="750" b="0">
                <a:solidFill>
                  <a:srgbClr val="869A9D"/>
                </a:solidFill>
                <a:latin typeface="PingFang SC"/>
              </a:rPr>
              <a:t>Critical Care Medicine</a:t>
            </a:r>
          </a:p>
        </p:txBody>
      </p:sp>
      <p:sp>
        <p:nvSpPr>
          <p:cNvPr id="13" name="TextBox 12"/>
          <p:cNvSpPr txBox="1"/>
          <p:nvPr/>
        </p:nvSpPr>
        <p:spPr>
          <a:xfrm>
            <a:off x="596646" y="5455310"/>
            <a:ext cx="2579979" cy="133197"/>
          </a:xfrm>
          <a:prstGeom prst="rect">
            <a:avLst/>
          </a:prstGeom>
          <a:noFill/>
          <a:ln>
            <a:noFill/>
          </a:ln>
        </p:spPr>
        <p:txBody>
          <a:bodyPr wrap="none" lIns="19050" rIns="19050" tIns="0" bIns="0" anchor="ctr">
            <a:noAutofit/>
          </a:bodyPr>
          <a:lstStyle/>
          <a:p>
            <a:pPr algn="l"/>
            <a:r>
              <a:rPr sz="1050" b="0">
                <a:solidFill>
                  <a:srgbClr val="BFD7D8"/>
                </a:solidFill>
                <a:latin typeface="PingFang SC"/>
              </a:rPr>
              <a:t>公众号 指南导航</a:t>
            </a:r>
          </a:p>
        </p:txBody>
      </p:sp>
      <p:sp>
        <p:nvSpPr>
          <p:cNvPr id="14" name="TextBox 13"/>
          <p:cNvSpPr txBox="1"/>
          <p:nvPr/>
        </p:nvSpPr>
        <p:spPr>
          <a:xfrm>
            <a:off x="10287000" y="5356860"/>
            <a:ext cx="0" cy="231648"/>
          </a:xfrm>
          <a:prstGeom prst="rect">
            <a:avLst/>
          </a:prstGeom>
          <a:noFill/>
          <a:ln>
            <a:noFill/>
          </a:ln>
        </p:spPr>
        <p:txBody>
          <a:bodyPr wrap="none" lIns="19050" rIns="19050" tIns="0" bIns="0" anchor="ctr">
            <a:noAutofit/>
          </a:bodyPr>
          <a:lstStyle/>
          <a:p>
            <a:pPr algn="r"/>
            <a:r>
              <a:rPr sz="1350" b="0">
                <a:solidFill>
                  <a:srgbClr val="000000"/>
                </a:solidFill>
                <a:latin typeface="PingFang SC"/>
              </a:rPr>
              <a:t>30</a:t>
            </a:r>
          </a:p>
        </p:txBody>
      </p:sp>
      <p:sp>
        <p:nvSpPr>
          <p:cNvPr id="15" name="TextBox 14"/>
          <p:cNvSpPr txBox="1"/>
          <p:nvPr/>
        </p:nvSpPr>
        <p:spPr>
          <a:xfrm>
            <a:off x="8353044" y="162153"/>
            <a:ext cx="3847337" cy="428548"/>
          </a:xfrm>
          <a:prstGeom prst="rect">
            <a:avLst/>
          </a:prstGeom>
          <a:noFill/>
          <a:ln>
            <a:noFill/>
          </a:ln>
        </p:spPr>
        <p:txBody>
          <a:bodyPr wrap="none" lIns="19050" rIns="19050" tIns="0" bIns="0" anchor="ctr">
            <a:noAutofit/>
          </a:bodyPr>
          <a:lstStyle/>
          <a:p>
            <a:pPr algn="r"/>
            <a:r>
              <a:rPr sz="1500" b="0">
                <a:solidFill>
                  <a:srgbClr val="AFC3A9"/>
                </a:solidFill>
                <a:latin typeface="PingFang SC"/>
              </a:rPr>
              <a:t>Surviving Sepsis Campaign</a:t>
            </a:r>
          </a:p>
        </p:txBody>
      </p:sp>
      <p:pic>
        <p:nvPicPr>
          <p:cNvPr id="16" name="Picture 15" descr="tmp3ftqsmpp.png"/>
          <p:cNvPicPr>
            <a:picLocks noChangeAspect="1"/>
          </p:cNvPicPr>
          <p:nvPr/>
        </p:nvPicPr>
        <p:blipFill>
          <a:blip r:embed="rId3"/>
          <a:stretch>
            <a:fillRect/>
          </a:stretch>
        </p:blipFill>
        <p:spPr>
          <a:xfrm>
            <a:off x="1257300" y="1571625"/>
            <a:ext cx="304800" cy="180975"/>
          </a:xfrm>
          <a:prstGeom prst="rect">
            <a:avLst/>
          </a:prstGeom>
        </p:spPr>
      </p:pic>
      <p:pic>
        <p:nvPicPr>
          <p:cNvPr id="17" name="Picture 16" descr="tmp1g1gsew6.png"/>
          <p:cNvPicPr>
            <a:picLocks noChangeAspect="1"/>
          </p:cNvPicPr>
          <p:nvPr/>
        </p:nvPicPr>
        <p:blipFill>
          <a:blip r:embed="rId4"/>
          <a:stretch>
            <a:fillRect/>
          </a:stretch>
        </p:blipFill>
        <p:spPr>
          <a:xfrm>
            <a:off x="1666875" y="1571625"/>
            <a:ext cx="304800" cy="180975"/>
          </a:xfrm>
          <a:prstGeom prst="rect">
            <a:avLst/>
          </a:prstGeom>
        </p:spPr>
      </p:pic>
      <p:pic>
        <p:nvPicPr>
          <p:cNvPr id="18" name="Picture 17" descr="tmprh36676i.png"/>
          <p:cNvPicPr>
            <a:picLocks noChangeAspect="1"/>
          </p:cNvPicPr>
          <p:nvPr/>
        </p:nvPicPr>
        <p:blipFill>
          <a:blip r:embed="rId5"/>
          <a:stretch>
            <a:fillRect/>
          </a:stretch>
        </p:blipFill>
        <p:spPr>
          <a:xfrm>
            <a:off x="2076450" y="1571625"/>
            <a:ext cx="314325" cy="180975"/>
          </a:xfrm>
          <a:prstGeom prst="rect">
            <a:avLst/>
          </a:prstGeom>
        </p:spPr>
      </p:pic>
      <p:pic>
        <p:nvPicPr>
          <p:cNvPr id="19" name="Picture 18" descr="tmpx_181h8v.png"/>
          <p:cNvPicPr>
            <a:picLocks noChangeAspect="1"/>
          </p:cNvPicPr>
          <p:nvPr/>
        </p:nvPicPr>
        <p:blipFill>
          <a:blip r:embed="rId6"/>
          <a:stretch>
            <a:fillRect/>
          </a:stretch>
        </p:blipFill>
        <p:spPr>
          <a:xfrm>
            <a:off x="2486025" y="1571625"/>
            <a:ext cx="314325" cy="180975"/>
          </a:xfrm>
          <a:prstGeom prst="rect">
            <a:avLst/>
          </a:prstGeom>
        </p:spPr>
      </p:pic>
      <p:pic>
        <p:nvPicPr>
          <p:cNvPr id="20" name="Picture 19" descr="tmpnezo9ty2.png"/>
          <p:cNvPicPr>
            <a:picLocks noChangeAspect="1"/>
          </p:cNvPicPr>
          <p:nvPr/>
        </p:nvPicPr>
        <p:blipFill>
          <a:blip r:embed="rId7"/>
          <a:stretch>
            <a:fillRect/>
          </a:stretch>
        </p:blipFill>
        <p:spPr>
          <a:xfrm>
            <a:off x="2905125" y="1571625"/>
            <a:ext cx="304800" cy="180975"/>
          </a:xfrm>
          <a:prstGeom prst="rect">
            <a:avLst/>
          </a:prstGeom>
        </p:spPr>
      </p:pic>
      <p:pic>
        <p:nvPicPr>
          <p:cNvPr id="21" name="Picture 20" descr="tmpqg1fcudt.png"/>
          <p:cNvPicPr>
            <a:picLocks noChangeAspect="1"/>
          </p:cNvPicPr>
          <p:nvPr/>
        </p:nvPicPr>
        <p:blipFill>
          <a:blip r:embed="rId8"/>
          <a:stretch>
            <a:fillRect/>
          </a:stretch>
        </p:blipFill>
        <p:spPr>
          <a:xfrm>
            <a:off x="1257300" y="2209800"/>
            <a:ext cx="304800" cy="171450"/>
          </a:xfrm>
          <a:prstGeom prst="rect">
            <a:avLst/>
          </a:prstGeom>
        </p:spPr>
      </p:pic>
      <p:pic>
        <p:nvPicPr>
          <p:cNvPr id="22" name="Picture 21" descr="tmp6dz79qpg.png"/>
          <p:cNvPicPr>
            <a:picLocks noChangeAspect="1"/>
          </p:cNvPicPr>
          <p:nvPr/>
        </p:nvPicPr>
        <p:blipFill>
          <a:blip r:embed="rId9"/>
          <a:stretch>
            <a:fillRect/>
          </a:stretch>
        </p:blipFill>
        <p:spPr>
          <a:xfrm>
            <a:off x="1666875" y="2209800"/>
            <a:ext cx="304800" cy="171450"/>
          </a:xfrm>
          <a:prstGeom prst="rect">
            <a:avLst/>
          </a:prstGeom>
        </p:spPr>
      </p:pic>
      <p:pic>
        <p:nvPicPr>
          <p:cNvPr id="23" name="Picture 22" descr="tmpbrar_c5c.png"/>
          <p:cNvPicPr>
            <a:picLocks noChangeAspect="1"/>
          </p:cNvPicPr>
          <p:nvPr/>
        </p:nvPicPr>
        <p:blipFill>
          <a:blip r:embed="rId10"/>
          <a:stretch>
            <a:fillRect/>
          </a:stretch>
        </p:blipFill>
        <p:spPr>
          <a:xfrm>
            <a:off x="2076450" y="2209800"/>
            <a:ext cx="314325" cy="171450"/>
          </a:xfrm>
          <a:prstGeom prst="rect">
            <a:avLst/>
          </a:prstGeom>
        </p:spPr>
      </p:pic>
      <p:pic>
        <p:nvPicPr>
          <p:cNvPr id="24" name="Picture 23" descr="tmpdf6912u0.png"/>
          <p:cNvPicPr>
            <a:picLocks noChangeAspect="1"/>
          </p:cNvPicPr>
          <p:nvPr/>
        </p:nvPicPr>
        <p:blipFill>
          <a:blip r:embed="rId11"/>
          <a:stretch>
            <a:fillRect/>
          </a:stretch>
        </p:blipFill>
        <p:spPr>
          <a:xfrm>
            <a:off x="2486025" y="2209800"/>
            <a:ext cx="314325" cy="171450"/>
          </a:xfrm>
          <a:prstGeom prst="rect">
            <a:avLst/>
          </a:prstGeom>
        </p:spPr>
      </p:pic>
      <p:pic>
        <p:nvPicPr>
          <p:cNvPr id="25" name="Picture 24" descr="tmpzde9pfat.png"/>
          <p:cNvPicPr>
            <a:picLocks noChangeAspect="1"/>
          </p:cNvPicPr>
          <p:nvPr/>
        </p:nvPicPr>
        <p:blipFill>
          <a:blip r:embed="rId12"/>
          <a:stretch>
            <a:fillRect/>
          </a:stretch>
        </p:blipFill>
        <p:spPr>
          <a:xfrm>
            <a:off x="2905125" y="2209800"/>
            <a:ext cx="304800" cy="17145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i7x_ktg3.png"/>
          <p:cNvPicPr>
            <a:picLocks noChangeAspect="1"/>
          </p:cNvPicPr>
          <p:nvPr/>
        </p:nvPicPr>
        <p:blipFill>
          <a:blip r:embed="rId2"/>
          <a:stretch>
            <a:fillRect/>
          </a:stretch>
        </p:blipFill>
        <p:spPr>
          <a:xfrm>
            <a:off x="1771650" y="5067300"/>
            <a:ext cx="923925" cy="95250"/>
          </a:xfrm>
          <a:prstGeom prst="rect">
            <a:avLst/>
          </a:prstGeom>
        </p:spPr>
      </p:pic>
      <p:sp>
        <p:nvSpPr>
          <p:cNvPr id="4" name="Rounded Rectangle 3"/>
          <p:cNvSpPr/>
          <p:nvPr/>
        </p:nvSpPr>
        <p:spPr>
          <a:xfrm>
            <a:off x="555498" y="967130"/>
            <a:ext cx="9196577" cy="2061667"/>
          </a:xfrm>
          <a:prstGeom prst="roundRect">
            <a:avLst>
              <a:gd name="adj" fmla="val 6000"/>
            </a:avLst>
          </a:prstGeom>
          <a:solidFill>
            <a:srgbClr val="FDFEFE"/>
          </a:solidFill>
          <a:ln w="11430">
            <a:solidFill>
              <a:srgbClr val="1B56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55498" y="3127248"/>
            <a:ext cx="9196577" cy="648614"/>
          </a:xfrm>
          <a:prstGeom prst="rect">
            <a:avLst/>
          </a:prstGeom>
          <a:solidFill>
            <a:srgbClr val="ED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5498" y="3856939"/>
            <a:ext cx="9196577" cy="1210360"/>
          </a:xfrm>
          <a:prstGeom prst="rect">
            <a:avLst/>
          </a:prstGeom>
          <a:solidFill>
            <a:srgbClr val="F1FEFE"/>
          </a:solidFill>
          <a:ln w="11430">
            <a:solidFill>
              <a:srgbClr val="C1E3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5498" y="388010"/>
            <a:ext cx="6065215" cy="318516"/>
          </a:xfrm>
          <a:prstGeom prst="rect">
            <a:avLst/>
          </a:prstGeom>
          <a:noFill/>
          <a:ln>
            <a:noFill/>
          </a:ln>
        </p:spPr>
        <p:txBody>
          <a:bodyPr wrap="none" lIns="19050" rIns="19050" tIns="0" bIns="0" anchor="ctr">
            <a:noAutofit/>
          </a:bodyPr>
          <a:lstStyle/>
          <a:p>
            <a:pPr algn="l"/>
            <a:r>
              <a:rPr sz="2700" b="1">
                <a:solidFill>
                  <a:srgbClr val="42538F"/>
                </a:solidFill>
                <a:latin typeface="PingFang SC"/>
              </a:rPr>
              <a:t>宽松vs限制性补液</a:t>
            </a:r>
          </a:p>
        </p:txBody>
      </p:sp>
      <p:sp>
        <p:nvSpPr>
          <p:cNvPr id="8" name="TextBox 7"/>
          <p:cNvSpPr txBox="1"/>
          <p:nvPr/>
        </p:nvSpPr>
        <p:spPr>
          <a:xfrm>
            <a:off x="8353044" y="185318"/>
            <a:ext cx="3847337" cy="405384"/>
          </a:xfrm>
          <a:prstGeom prst="rect">
            <a:avLst/>
          </a:prstGeom>
          <a:noFill/>
          <a:ln>
            <a:noFill/>
          </a:ln>
        </p:spPr>
        <p:txBody>
          <a:bodyPr wrap="none" lIns="19050" rIns="19050" tIns="0" bIns="0" anchor="ctr">
            <a:noAutofit/>
          </a:bodyPr>
          <a:lstStyle/>
          <a:p>
            <a:pPr algn="r"/>
            <a:r>
              <a:rPr sz="1800" b="0">
                <a:solidFill>
                  <a:srgbClr val="B0C3A8"/>
                </a:solidFill>
                <a:latin typeface="PingFang SC"/>
              </a:rPr>
              <a:t>Surviving Sepsis Campaign</a:t>
            </a:r>
          </a:p>
        </p:txBody>
      </p:sp>
      <p:sp>
        <p:nvSpPr>
          <p:cNvPr id="9" name="TextBox 8"/>
          <p:cNvSpPr txBox="1"/>
          <p:nvPr/>
        </p:nvSpPr>
        <p:spPr>
          <a:xfrm>
            <a:off x="740663" y="1227734"/>
            <a:ext cx="8229600" cy="347472"/>
          </a:xfrm>
          <a:prstGeom prst="rect">
            <a:avLst/>
          </a:prstGeom>
          <a:noFill/>
          <a:ln>
            <a:noFill/>
          </a:ln>
        </p:spPr>
        <p:txBody>
          <a:bodyPr wrap="square" lIns="19050" rIns="19050" tIns="0" bIns="0" anchor="t">
            <a:normAutofit/>
          </a:bodyPr>
          <a:lstStyle/>
          <a:p>
            <a:pPr algn="l"/>
            <a:r>
              <a:rPr sz="1280" b="0">
                <a:solidFill>
                  <a:srgbClr val="858C88"/>
                </a:solidFill>
                <a:latin typeface="PingFang SC"/>
              </a:rPr>
              <a:t>48. 对于已接受30mL/kg液体复苏但仍存在持续性低灌注的脓毒症或感染性休克成人患者，我们“建议”根据患者个体情况和卫生系统因素采用宽松或限制性液体复苏策略。</a:t>
            </a:r>
          </a:p>
        </p:txBody>
      </p:sp>
      <p:sp>
        <p:nvSpPr>
          <p:cNvPr id="10" name="TextBox 9"/>
          <p:cNvSpPr txBox="1"/>
          <p:nvPr/>
        </p:nvSpPr>
        <p:spPr>
          <a:xfrm>
            <a:off x="1481327" y="1864766"/>
            <a:ext cx="1028700" cy="208483"/>
          </a:xfrm>
          <a:prstGeom prst="rect">
            <a:avLst/>
          </a:prstGeom>
          <a:noFill/>
          <a:ln>
            <a:noFill/>
          </a:ln>
        </p:spPr>
        <p:txBody>
          <a:bodyPr wrap="square" lIns="19050" rIns="19050" tIns="0" bIns="0" anchor="t">
            <a:normAutofit/>
          </a:bodyPr>
          <a:lstStyle/>
          <a:p>
            <a:pPr algn="l"/>
            <a:r>
              <a:rPr sz="1570" b="0">
                <a:solidFill>
                  <a:srgbClr val="5D6567"/>
                </a:solidFill>
                <a:latin typeface="PingFang SC"/>
              </a:rPr>
              <a:t>⊕ ⊕ ○ ○</a:t>
            </a:r>
          </a:p>
        </p:txBody>
      </p:sp>
      <p:sp>
        <p:nvSpPr>
          <p:cNvPr id="11" name="TextBox 10"/>
          <p:cNvSpPr txBox="1"/>
          <p:nvPr/>
        </p:nvSpPr>
        <p:spPr>
          <a:xfrm>
            <a:off x="1255014" y="2189073"/>
            <a:ext cx="7715250" cy="694943"/>
          </a:xfrm>
          <a:prstGeom prst="rect">
            <a:avLst/>
          </a:prstGeom>
          <a:noFill/>
          <a:ln>
            <a:noFill/>
          </a:ln>
        </p:spPr>
        <p:txBody>
          <a:bodyPr wrap="square" lIns="19050" rIns="19050" tIns="0" bIns="0" anchor="t">
            <a:normAutofit/>
          </a:bodyPr>
          <a:lstStyle/>
          <a:p>
            <a:pPr algn="l"/>
            <a:r>
              <a:rPr sz="1200" b="0">
                <a:solidFill>
                  <a:srgbClr val="ABC1A1"/>
                </a:solidFill>
                <a:latin typeface="PingFang SC"/>
              </a:rPr>
              <a:t>备注：在各项试验中，所采用的方案以及宽松补液组与限制性补液组所接受的液体量存在广泛差异。需要考虑的患者和医疗系统因素包括患者当前的临床状况和慢性疾病（如心力衰竭），以及有监护条件病床的可获得性（即若采用限制性补液方案需要使用血管活性药物）。</a:t>
            </a:r>
          </a:p>
        </p:txBody>
      </p:sp>
      <p:sp>
        <p:nvSpPr>
          <p:cNvPr id="12" name="TextBox 11"/>
          <p:cNvSpPr txBox="1"/>
          <p:nvPr/>
        </p:nvSpPr>
        <p:spPr>
          <a:xfrm>
            <a:off x="740663" y="3196742"/>
            <a:ext cx="3394710" cy="150571"/>
          </a:xfrm>
          <a:prstGeom prst="rect">
            <a:avLst/>
          </a:prstGeom>
          <a:noFill/>
          <a:ln>
            <a:noFill/>
          </a:ln>
        </p:spPr>
        <p:txBody>
          <a:bodyPr wrap="none" lIns="19050" rIns="19050" tIns="0" bIns="0" anchor="ctr">
            <a:noAutofit/>
          </a:bodyPr>
          <a:lstStyle/>
          <a:p>
            <a:pPr algn="l"/>
            <a:r>
              <a:rPr sz="1350" b="1">
                <a:solidFill>
                  <a:srgbClr val="72A9BC"/>
                </a:solidFill>
                <a:latin typeface="PingFang SC"/>
              </a:rPr>
              <a:t>2021年声明（48）</a:t>
            </a:r>
          </a:p>
        </p:txBody>
      </p:sp>
      <p:sp>
        <p:nvSpPr>
          <p:cNvPr id="13" name="TextBox 12"/>
          <p:cNvSpPr txBox="1"/>
          <p:nvPr/>
        </p:nvSpPr>
        <p:spPr>
          <a:xfrm>
            <a:off x="740663" y="3428390"/>
            <a:ext cx="8229600" cy="231648"/>
          </a:xfrm>
          <a:prstGeom prst="rect">
            <a:avLst/>
          </a:prstGeom>
          <a:noFill/>
          <a:ln>
            <a:noFill/>
          </a:ln>
        </p:spPr>
        <p:txBody>
          <a:bodyPr wrap="square" lIns="19050" rIns="19050" tIns="0" bIns="0" anchor="t">
            <a:normAutofit/>
          </a:bodyPr>
          <a:lstStyle/>
          <a:p>
            <a:pPr algn="l"/>
            <a:r>
              <a:rPr sz="1200" b="0">
                <a:solidFill>
                  <a:srgbClr val="A0A5AB"/>
                </a:solidFill>
                <a:latin typeface="PingFang SC"/>
              </a:rPr>
              <a:t>在脓毒症和感染性休克患者初始复苏后仍有灌注不足和容量缺失迹象的情况下，休克患者在复苏的最初24小时内的流体策略。</a:t>
            </a:r>
          </a:p>
        </p:txBody>
      </p:sp>
      <p:sp>
        <p:nvSpPr>
          <p:cNvPr id="14" name="TextBox 13"/>
          <p:cNvSpPr txBox="1"/>
          <p:nvPr/>
        </p:nvSpPr>
        <p:spPr>
          <a:xfrm>
            <a:off x="740663" y="4007510"/>
            <a:ext cx="8743950" cy="810768"/>
          </a:xfrm>
          <a:prstGeom prst="rect">
            <a:avLst/>
          </a:prstGeom>
          <a:noFill/>
          <a:ln>
            <a:noFill/>
          </a:ln>
        </p:spPr>
        <p:txBody>
          <a:bodyPr wrap="square" lIns="19050" rIns="19050" tIns="0" bIns="0" anchor="t">
            <a:normAutofit/>
          </a:bodyPr>
          <a:lstStyle/>
          <a:p>
            <a:pPr algn="l"/>
            <a:r>
              <a:rPr sz="1350" b="0">
                <a:solidFill>
                  <a:srgbClr val="68797D"/>
                </a:solidFill>
                <a:latin typeface="PingFang SC"/>
              </a:rPr>
              <a:t>确定脓毒症或感染性休克患者的最佳液体复苏量颇具难度。在多项试验中已对持续复苏的限制性和开放性策略进行了评估，但这些研究在限制性和开放性策略的定义、纳入标准、研究环境、干预时机和持续时间等方面存在很大差异。</a:t>
            </a:r>
          </a:p>
        </p:txBody>
      </p:sp>
      <p:sp>
        <p:nvSpPr>
          <p:cNvPr id="15" name="TextBox 14"/>
          <p:cNvSpPr txBox="1"/>
          <p:nvPr/>
        </p:nvSpPr>
        <p:spPr>
          <a:xfrm>
            <a:off x="555498" y="5067300"/>
            <a:ext cx="2579979" cy="98450"/>
          </a:xfrm>
          <a:prstGeom prst="rect">
            <a:avLst/>
          </a:prstGeom>
          <a:noFill/>
          <a:ln>
            <a:noFill/>
          </a:ln>
        </p:spPr>
        <p:txBody>
          <a:bodyPr wrap="none" lIns="19050" rIns="19050" tIns="0" bIns="0" anchor="ctr">
            <a:noAutofit/>
          </a:bodyPr>
          <a:lstStyle/>
          <a:p>
            <a:pPr algn="l"/>
            <a:r>
              <a:rPr sz="900" b="0">
                <a:solidFill>
                  <a:srgbClr val="9CA7A8"/>
                </a:solidFill>
                <a:latin typeface="PingFang SC"/>
              </a:rPr>
              <a:t>Critical Care Medicine</a:t>
            </a:r>
          </a:p>
        </p:txBody>
      </p:sp>
      <p:sp>
        <p:nvSpPr>
          <p:cNvPr id="16" name="TextBox 15"/>
          <p:cNvSpPr txBox="1"/>
          <p:nvPr/>
        </p:nvSpPr>
        <p:spPr>
          <a:xfrm>
            <a:off x="555498" y="5455310"/>
            <a:ext cx="2579979" cy="115823"/>
          </a:xfrm>
          <a:prstGeom prst="rect">
            <a:avLst/>
          </a:prstGeom>
          <a:noFill/>
          <a:ln>
            <a:noFill/>
          </a:ln>
        </p:spPr>
        <p:txBody>
          <a:bodyPr wrap="none" lIns="19050" rIns="19050" tIns="0" bIns="0" anchor="ctr">
            <a:noAutofit/>
          </a:bodyPr>
          <a:lstStyle/>
          <a:p>
            <a:pPr algn="l"/>
            <a:r>
              <a:rPr sz="1050" b="0">
                <a:solidFill>
                  <a:srgbClr val="D3E6E8"/>
                </a:solidFill>
                <a:latin typeface="PingFang SC"/>
              </a:rPr>
              <a:t>公众号·指南导航</a:t>
            </a:r>
          </a:p>
        </p:txBody>
      </p:sp>
      <p:sp>
        <p:nvSpPr>
          <p:cNvPr id="17" name="TextBox 16"/>
          <p:cNvSpPr txBox="1"/>
          <p:nvPr/>
        </p:nvSpPr>
        <p:spPr>
          <a:xfrm>
            <a:off x="10287000" y="5339486"/>
            <a:ext cx="0" cy="173736"/>
          </a:xfrm>
          <a:prstGeom prst="rect">
            <a:avLst/>
          </a:prstGeom>
          <a:noFill/>
          <a:ln>
            <a:noFill/>
          </a:ln>
        </p:spPr>
        <p:txBody>
          <a:bodyPr wrap="none" lIns="19050" rIns="19050" tIns="0" bIns="0" anchor="ctr">
            <a:noAutofit/>
          </a:bodyPr>
          <a:lstStyle/>
          <a:p>
            <a:pPr algn="r"/>
            <a:r>
              <a:rPr sz="1350" b="0">
                <a:solidFill>
                  <a:srgbClr val="000000"/>
                </a:solidFill>
                <a:latin typeface="PingFang SC"/>
              </a:rPr>
              <a:t>31</a:t>
            </a:r>
          </a:p>
        </p:txBody>
      </p:sp>
      <p:sp>
        <p:nvSpPr>
          <p:cNvPr id="18" name="TextBox 17"/>
          <p:cNvSpPr txBox="1"/>
          <p:nvPr/>
        </p:nvSpPr>
        <p:spPr>
          <a:xfrm>
            <a:off x="9176004" y="1169822"/>
            <a:ext cx="814730" cy="150571"/>
          </a:xfrm>
          <a:prstGeom prst="rect">
            <a:avLst/>
          </a:prstGeom>
          <a:noFill/>
          <a:ln>
            <a:noFill/>
          </a:ln>
        </p:spPr>
        <p:txBody>
          <a:bodyPr wrap="none" lIns="19050" rIns="19050" tIns="0" bIns="0" anchor="ctr">
            <a:noAutofit/>
          </a:bodyPr>
          <a:lstStyle/>
          <a:p>
            <a:pPr algn="r"/>
            <a:r>
              <a:rPr sz="1200" b="1">
                <a:solidFill>
                  <a:srgbClr val="546066"/>
                </a:solidFill>
                <a:latin typeface="PingFang SC"/>
              </a:rPr>
              <a:t>修订</a:t>
            </a:r>
          </a:p>
        </p:txBody>
      </p:sp>
      <p:pic>
        <p:nvPicPr>
          <p:cNvPr id="19" name="Picture 18" descr="tmpc456xf9m.png"/>
          <p:cNvPicPr>
            <a:picLocks noChangeAspect="1"/>
          </p:cNvPicPr>
          <p:nvPr/>
        </p:nvPicPr>
        <p:blipFill>
          <a:blip r:embed="rId3"/>
          <a:stretch>
            <a:fillRect/>
          </a:stretch>
        </p:blipFill>
        <p:spPr>
          <a:xfrm>
            <a:off x="10001250" y="247650"/>
            <a:ext cx="104775" cy="114300"/>
          </a:xfrm>
          <a:prstGeom prst="rect">
            <a:avLst/>
          </a:prstGeom>
        </p:spPr>
      </p:pic>
      <p:pic>
        <p:nvPicPr>
          <p:cNvPr id="20" name="Picture 19" descr="tmpkqo18rvn.png"/>
          <p:cNvPicPr>
            <a:picLocks noChangeAspect="1"/>
          </p:cNvPicPr>
          <p:nvPr/>
        </p:nvPicPr>
        <p:blipFill>
          <a:blip r:embed="rId4"/>
          <a:stretch>
            <a:fillRect/>
          </a:stretch>
        </p:blipFill>
        <p:spPr>
          <a:xfrm>
            <a:off x="10001250" y="419100"/>
            <a:ext cx="104775" cy="1143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55498" y="967130"/>
            <a:ext cx="9196577" cy="1766316"/>
          </a:xfrm>
          <a:prstGeom prst="roundRect">
            <a:avLst>
              <a:gd name="adj" fmla="val 6000"/>
            </a:avLst>
          </a:prstGeom>
          <a:solidFill>
            <a:srgbClr val="FEFEFE"/>
          </a:solidFill>
          <a:ln w="11430">
            <a:solidFill>
              <a:srgbClr val="2B62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55498" y="2797149"/>
            <a:ext cx="9196577" cy="1082954"/>
          </a:xfrm>
          <a:prstGeom prst="roundRect">
            <a:avLst>
              <a:gd name="adj" fmla="val 6000"/>
            </a:avLst>
          </a:prstGeom>
          <a:solidFill>
            <a:srgbClr val="EDF6FE"/>
          </a:solidFill>
          <a:ln w="11430">
            <a:solidFill>
              <a:srgbClr val="FEFE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55498" y="3943807"/>
            <a:ext cx="9196577" cy="1106119"/>
          </a:xfrm>
          <a:prstGeom prst="roundRect">
            <a:avLst>
              <a:gd name="adj" fmla="val 6000"/>
            </a:avLst>
          </a:prstGeom>
          <a:solidFill>
            <a:srgbClr val="F1FEFE"/>
          </a:solidFill>
          <a:ln w="11430">
            <a:solidFill>
              <a:srgbClr val="F4FE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6646" y="376428"/>
            <a:ext cx="8392668" cy="330098"/>
          </a:xfrm>
          <a:prstGeom prst="rect">
            <a:avLst/>
          </a:prstGeom>
          <a:noFill/>
          <a:ln>
            <a:noFill/>
          </a:ln>
        </p:spPr>
        <p:txBody>
          <a:bodyPr wrap="none" lIns="19050" rIns="19050" tIns="0" bIns="0" anchor="ctr">
            <a:noAutofit/>
          </a:bodyPr>
          <a:lstStyle/>
          <a:p>
            <a:pPr algn="l"/>
            <a:r>
              <a:rPr sz="2700" b="1">
                <a:solidFill>
                  <a:srgbClr val="3F518F"/>
                </a:solidFill>
                <a:latin typeface="PingFang SC"/>
              </a:rPr>
              <a:t>基于动态指标指导的液体复苏</a:t>
            </a:r>
          </a:p>
        </p:txBody>
      </p:sp>
      <p:sp>
        <p:nvSpPr>
          <p:cNvPr id="7" name="TextBox 6"/>
          <p:cNvSpPr txBox="1"/>
          <p:nvPr/>
        </p:nvSpPr>
        <p:spPr>
          <a:xfrm>
            <a:off x="8353044" y="185318"/>
            <a:ext cx="3756812" cy="405384"/>
          </a:xfrm>
          <a:prstGeom prst="rect">
            <a:avLst/>
          </a:prstGeom>
          <a:noFill/>
          <a:ln>
            <a:noFill/>
          </a:ln>
        </p:spPr>
        <p:txBody>
          <a:bodyPr wrap="none" lIns="19050" rIns="19050" tIns="0" bIns="0" anchor="ctr">
            <a:noAutofit/>
          </a:bodyPr>
          <a:lstStyle/>
          <a:p>
            <a:pPr algn="r"/>
            <a:r>
              <a:rPr sz="1800" b="0">
                <a:solidFill>
                  <a:srgbClr val="B0C4AA"/>
                </a:solidFill>
                <a:latin typeface="PingFang SC"/>
              </a:rPr>
              <a:t>Surviving Sepsis Campaign</a:t>
            </a:r>
          </a:p>
        </p:txBody>
      </p:sp>
      <p:sp>
        <p:nvSpPr>
          <p:cNvPr id="8" name="TextBox 7"/>
          <p:cNvSpPr txBox="1"/>
          <p:nvPr/>
        </p:nvSpPr>
        <p:spPr>
          <a:xfrm>
            <a:off x="699516" y="1227734"/>
            <a:ext cx="8846820" cy="463296"/>
          </a:xfrm>
          <a:prstGeom prst="rect">
            <a:avLst/>
          </a:prstGeom>
          <a:noFill/>
          <a:ln>
            <a:noFill/>
          </a:ln>
        </p:spPr>
        <p:txBody>
          <a:bodyPr wrap="square" lIns="19050" rIns="19050" tIns="0" bIns="0" anchor="t">
            <a:normAutofit/>
          </a:bodyPr>
          <a:lstStyle/>
          <a:p>
            <a:pPr algn="l"/>
            <a:r>
              <a:rPr sz="1350" b="0">
                <a:solidFill>
                  <a:srgbClr val="858C8A"/>
                </a:solidFill>
                <a:latin typeface="PingFang SC"/>
              </a:rPr>
              <a:t>49. 对于患有脓毒症或感染性休克的成年人，我们“建议”采用动态评估指标来指导液体复苏，而非仅依靠体格检查或静态评估指标。</a:t>
            </a:r>
          </a:p>
        </p:txBody>
      </p:sp>
      <p:sp>
        <p:nvSpPr>
          <p:cNvPr id="9" name="TextBox 8"/>
          <p:cNvSpPr txBox="1"/>
          <p:nvPr/>
        </p:nvSpPr>
        <p:spPr>
          <a:xfrm>
            <a:off x="1275587" y="2154326"/>
            <a:ext cx="8270748" cy="440131"/>
          </a:xfrm>
          <a:prstGeom prst="rect">
            <a:avLst/>
          </a:prstGeom>
          <a:noFill/>
          <a:ln>
            <a:noFill/>
          </a:ln>
        </p:spPr>
        <p:txBody>
          <a:bodyPr wrap="square" lIns="19050" rIns="19050" tIns="0" bIns="0" anchor="t">
            <a:normAutofit/>
          </a:bodyPr>
          <a:lstStyle/>
          <a:p>
            <a:pPr algn="l"/>
            <a:r>
              <a:rPr sz="1200" b="0">
                <a:solidFill>
                  <a:srgbClr val="AEC3A4"/>
                </a:solidFill>
                <a:latin typeface="PingFang SC"/>
              </a:rPr>
              <a:t>备注：动态指标包括通过每搏输出量（SV）、每搏输出量变异度（SVV）、脉压（PP）或脉压变异度（PPV）评估对被动抬腿试验或液体冲击试验的反应。</a:t>
            </a:r>
          </a:p>
        </p:txBody>
      </p:sp>
      <p:sp>
        <p:nvSpPr>
          <p:cNvPr id="10" name="TextBox 9"/>
          <p:cNvSpPr txBox="1"/>
          <p:nvPr/>
        </p:nvSpPr>
        <p:spPr>
          <a:xfrm>
            <a:off x="720090" y="2907182"/>
            <a:ext cx="3439972" cy="150571"/>
          </a:xfrm>
          <a:prstGeom prst="rect">
            <a:avLst/>
          </a:prstGeom>
          <a:noFill/>
          <a:ln>
            <a:noFill/>
          </a:ln>
        </p:spPr>
        <p:txBody>
          <a:bodyPr wrap="none" lIns="19050" rIns="19050" tIns="0" bIns="0" anchor="ctr">
            <a:noAutofit/>
          </a:bodyPr>
          <a:lstStyle/>
          <a:p>
            <a:pPr algn="l"/>
            <a:r>
              <a:rPr sz="1350" b="1">
                <a:solidFill>
                  <a:srgbClr val="6FA9BA"/>
                </a:solidFill>
                <a:latin typeface="PingFang SC"/>
              </a:rPr>
              <a:t>2021年声明（49）</a:t>
            </a:r>
          </a:p>
        </p:txBody>
      </p:sp>
      <p:sp>
        <p:nvSpPr>
          <p:cNvPr id="11" name="TextBox 10"/>
          <p:cNvSpPr txBox="1"/>
          <p:nvPr/>
        </p:nvSpPr>
        <p:spPr>
          <a:xfrm>
            <a:off x="864108" y="3196742"/>
            <a:ext cx="8682228" cy="231647"/>
          </a:xfrm>
          <a:prstGeom prst="rect">
            <a:avLst/>
          </a:prstGeom>
          <a:noFill/>
          <a:ln>
            <a:noFill/>
          </a:ln>
        </p:spPr>
        <p:txBody>
          <a:bodyPr wrap="square" lIns="19050" rIns="19050" tIns="0" bIns="0" anchor="t">
            <a:normAutofit/>
          </a:bodyPr>
          <a:lstStyle/>
          <a:p>
            <a:pPr algn="l"/>
            <a:r>
              <a:rPr sz="1200" b="0">
                <a:solidFill>
                  <a:srgbClr val="A4A9AF"/>
                </a:solidFill>
                <a:latin typeface="PingFang SC"/>
              </a:rPr>
              <a:t>对于患有脓毒症或脓毒性休克的成年人，我们建议采用动态测量方法来指导液体复苏，而非仅依靠体格检查或静态参数。</a:t>
            </a:r>
          </a:p>
        </p:txBody>
      </p:sp>
      <p:sp>
        <p:nvSpPr>
          <p:cNvPr id="12" name="TextBox 11"/>
          <p:cNvSpPr txBox="1"/>
          <p:nvPr/>
        </p:nvSpPr>
        <p:spPr>
          <a:xfrm>
            <a:off x="699516" y="4123334"/>
            <a:ext cx="8846820" cy="752856"/>
          </a:xfrm>
          <a:prstGeom prst="rect">
            <a:avLst/>
          </a:prstGeom>
          <a:noFill/>
          <a:ln>
            <a:noFill/>
          </a:ln>
        </p:spPr>
        <p:txBody>
          <a:bodyPr wrap="square" lIns="19050" rIns="19050" tIns="0" bIns="0" anchor="t">
            <a:normAutofit/>
          </a:bodyPr>
          <a:lstStyle/>
          <a:p>
            <a:pPr algn="l"/>
            <a:r>
              <a:rPr sz="1200" b="0">
                <a:solidFill>
                  <a:srgbClr val="78898C"/>
                </a:solidFill>
                <a:latin typeface="PingFang SC"/>
              </a:rPr>
              <a:t>脓毒症或感染性休克患者在初始按30mL/kg进行液体复苏后，通常需要额外的静脉输液。然而，额外的复苏液体必须与液体蓄积风险以及液体超负荷相关的潜在危害进行权衡；例如，机械通气时间延长、急性肾损伤进展和死亡率增加。正如先前声明中所讨论的，根据证据到决策（EID）的判断总结，宽松和限制性液体策略被判定为等效。</a:t>
            </a:r>
          </a:p>
        </p:txBody>
      </p:sp>
      <p:sp>
        <p:nvSpPr>
          <p:cNvPr id="13" name="TextBox 12"/>
          <p:cNvSpPr txBox="1"/>
          <p:nvPr/>
        </p:nvSpPr>
        <p:spPr>
          <a:xfrm>
            <a:off x="596646" y="5084673"/>
            <a:ext cx="2579979" cy="104241"/>
          </a:xfrm>
          <a:prstGeom prst="rect">
            <a:avLst/>
          </a:prstGeom>
          <a:noFill/>
          <a:ln>
            <a:noFill/>
          </a:ln>
        </p:spPr>
        <p:txBody>
          <a:bodyPr wrap="none" lIns="19050" rIns="19050" tIns="0" bIns="0" anchor="ctr">
            <a:noAutofit/>
          </a:bodyPr>
          <a:lstStyle/>
          <a:p>
            <a:pPr algn="l"/>
            <a:r>
              <a:rPr sz="750" b="0">
                <a:solidFill>
                  <a:srgbClr val="9C9C9B"/>
                </a:solidFill>
                <a:latin typeface="PingFang SC"/>
              </a:rPr>
              <a:t>Critical Care Medicine</a:t>
            </a:r>
          </a:p>
        </p:txBody>
      </p:sp>
      <p:sp>
        <p:nvSpPr>
          <p:cNvPr id="14" name="TextBox 13"/>
          <p:cNvSpPr txBox="1"/>
          <p:nvPr/>
        </p:nvSpPr>
        <p:spPr>
          <a:xfrm>
            <a:off x="596646" y="5455310"/>
            <a:ext cx="2579979" cy="115823"/>
          </a:xfrm>
          <a:prstGeom prst="rect">
            <a:avLst/>
          </a:prstGeom>
          <a:noFill/>
          <a:ln>
            <a:noFill/>
          </a:ln>
        </p:spPr>
        <p:txBody>
          <a:bodyPr wrap="none" lIns="19050" rIns="19050" tIns="0" bIns="0" anchor="ctr">
            <a:noAutofit/>
          </a:bodyPr>
          <a:lstStyle/>
          <a:p>
            <a:pPr algn="l"/>
            <a:r>
              <a:rPr sz="1050" b="0">
                <a:solidFill>
                  <a:srgbClr val="BDD5D6"/>
                </a:solidFill>
                <a:latin typeface="PingFang SC"/>
              </a:rPr>
              <a:t>公众号 指南导航</a:t>
            </a:r>
          </a:p>
        </p:txBody>
      </p:sp>
      <p:sp>
        <p:nvSpPr>
          <p:cNvPr id="15" name="TextBox 14"/>
          <p:cNvSpPr txBox="1"/>
          <p:nvPr/>
        </p:nvSpPr>
        <p:spPr>
          <a:xfrm>
            <a:off x="10287000" y="5374233"/>
            <a:ext cx="0" cy="173735"/>
          </a:xfrm>
          <a:prstGeom prst="rect">
            <a:avLst/>
          </a:prstGeom>
          <a:noFill/>
          <a:ln>
            <a:noFill/>
          </a:ln>
        </p:spPr>
        <p:txBody>
          <a:bodyPr wrap="none" lIns="19050" rIns="19050" tIns="0" bIns="0" anchor="ctr">
            <a:noAutofit/>
          </a:bodyPr>
          <a:lstStyle/>
          <a:p>
            <a:pPr algn="r"/>
            <a:r>
              <a:rPr sz="1350" b="0">
                <a:solidFill>
                  <a:srgbClr val="000000"/>
                </a:solidFill>
                <a:latin typeface="PingFang SC"/>
              </a:rPr>
              <a:t>32</a:t>
            </a:r>
          </a:p>
        </p:txBody>
      </p:sp>
      <p:sp>
        <p:nvSpPr>
          <p:cNvPr id="16" name="TextBox 15"/>
          <p:cNvSpPr txBox="1"/>
          <p:nvPr/>
        </p:nvSpPr>
        <p:spPr>
          <a:xfrm>
            <a:off x="9176004" y="1169822"/>
            <a:ext cx="814730" cy="150571"/>
          </a:xfrm>
          <a:prstGeom prst="rect">
            <a:avLst/>
          </a:prstGeom>
          <a:noFill/>
          <a:ln>
            <a:noFill/>
          </a:ln>
        </p:spPr>
        <p:txBody>
          <a:bodyPr wrap="none" lIns="19050" rIns="19050" tIns="0" bIns="0" anchor="ctr">
            <a:noAutofit/>
          </a:bodyPr>
          <a:lstStyle/>
          <a:p>
            <a:pPr algn="r"/>
            <a:r>
              <a:rPr sz="1350" b="1">
                <a:solidFill>
                  <a:srgbClr val="5D626A"/>
                </a:solidFill>
                <a:latin typeface="PingFang SC"/>
              </a:rPr>
              <a:t>修订</a:t>
            </a:r>
          </a:p>
        </p:txBody>
      </p:sp>
      <p:pic>
        <p:nvPicPr>
          <p:cNvPr id="17" name="Picture 16" descr="tmp7v9izsq8.png"/>
          <p:cNvPicPr>
            <a:picLocks noChangeAspect="1"/>
          </p:cNvPicPr>
          <p:nvPr/>
        </p:nvPicPr>
        <p:blipFill>
          <a:blip r:embed="rId2"/>
          <a:stretch>
            <a:fillRect/>
          </a:stretch>
        </p:blipFill>
        <p:spPr>
          <a:xfrm>
            <a:off x="1238250" y="1866900"/>
            <a:ext cx="247650" cy="171450"/>
          </a:xfrm>
          <a:prstGeom prst="rect">
            <a:avLst/>
          </a:prstGeom>
        </p:spPr>
      </p:pic>
      <p:pic>
        <p:nvPicPr>
          <p:cNvPr id="18" name="Picture 17" descr="tmpdxbj1ala.png"/>
          <p:cNvPicPr>
            <a:picLocks noChangeAspect="1"/>
          </p:cNvPicPr>
          <p:nvPr/>
        </p:nvPicPr>
        <p:blipFill>
          <a:blip r:embed="rId3"/>
          <a:stretch>
            <a:fillRect/>
          </a:stretch>
        </p:blipFill>
        <p:spPr>
          <a:xfrm>
            <a:off x="1581150" y="1866900"/>
            <a:ext cx="247650" cy="171450"/>
          </a:xfrm>
          <a:prstGeom prst="rect">
            <a:avLst/>
          </a:prstGeom>
        </p:spPr>
      </p:pic>
      <p:pic>
        <p:nvPicPr>
          <p:cNvPr id="19" name="Picture 18" descr="tmp_b0s5bup.png"/>
          <p:cNvPicPr>
            <a:picLocks noChangeAspect="1"/>
          </p:cNvPicPr>
          <p:nvPr/>
        </p:nvPicPr>
        <p:blipFill>
          <a:blip r:embed="rId4"/>
          <a:stretch>
            <a:fillRect/>
          </a:stretch>
        </p:blipFill>
        <p:spPr>
          <a:xfrm>
            <a:off x="1933575" y="1866900"/>
            <a:ext cx="247650" cy="171450"/>
          </a:xfrm>
          <a:prstGeom prst="rect">
            <a:avLst/>
          </a:prstGeom>
        </p:spPr>
      </p:pic>
      <p:pic>
        <p:nvPicPr>
          <p:cNvPr id="20" name="Picture 19" descr="tmpyct6ys55.png"/>
          <p:cNvPicPr>
            <a:picLocks noChangeAspect="1"/>
          </p:cNvPicPr>
          <p:nvPr/>
        </p:nvPicPr>
        <p:blipFill>
          <a:blip r:embed="rId5"/>
          <a:stretch>
            <a:fillRect/>
          </a:stretch>
        </p:blipFill>
        <p:spPr>
          <a:xfrm>
            <a:off x="2286000" y="1866900"/>
            <a:ext cx="247650" cy="171450"/>
          </a:xfrm>
          <a:prstGeom prst="rect">
            <a:avLst/>
          </a:prstGeom>
        </p:spPr>
      </p:pic>
      <p:pic>
        <p:nvPicPr>
          <p:cNvPr id="21" name="Picture 20" descr="tmphfpf4wxo.png"/>
          <p:cNvPicPr>
            <a:picLocks noChangeAspect="1"/>
          </p:cNvPicPr>
          <p:nvPr/>
        </p:nvPicPr>
        <p:blipFill>
          <a:blip r:embed="rId6"/>
          <a:stretch>
            <a:fillRect/>
          </a:stretch>
        </p:blipFill>
        <p:spPr>
          <a:xfrm>
            <a:off x="1238250" y="3543300"/>
            <a:ext cx="247650" cy="171450"/>
          </a:xfrm>
          <a:prstGeom prst="rect">
            <a:avLst/>
          </a:prstGeom>
        </p:spPr>
      </p:pic>
      <p:pic>
        <p:nvPicPr>
          <p:cNvPr id="22" name="Picture 21" descr="tmpvwb5sfe3.png"/>
          <p:cNvPicPr>
            <a:picLocks noChangeAspect="1"/>
          </p:cNvPicPr>
          <p:nvPr/>
        </p:nvPicPr>
        <p:blipFill>
          <a:blip r:embed="rId7"/>
          <a:stretch>
            <a:fillRect/>
          </a:stretch>
        </p:blipFill>
        <p:spPr>
          <a:xfrm>
            <a:off x="1581150" y="3543300"/>
            <a:ext cx="247650" cy="171450"/>
          </a:xfrm>
          <a:prstGeom prst="rect">
            <a:avLst/>
          </a:prstGeom>
        </p:spPr>
      </p:pic>
      <p:pic>
        <p:nvPicPr>
          <p:cNvPr id="23" name="Picture 22" descr="tmpjsk5ahki.png"/>
          <p:cNvPicPr>
            <a:picLocks noChangeAspect="1"/>
          </p:cNvPicPr>
          <p:nvPr/>
        </p:nvPicPr>
        <p:blipFill>
          <a:blip r:embed="rId8"/>
          <a:stretch>
            <a:fillRect/>
          </a:stretch>
        </p:blipFill>
        <p:spPr>
          <a:xfrm>
            <a:off x="1933575" y="3543300"/>
            <a:ext cx="247650" cy="171450"/>
          </a:xfrm>
          <a:prstGeom prst="rect">
            <a:avLst/>
          </a:prstGeom>
        </p:spPr>
      </p:pic>
      <p:pic>
        <p:nvPicPr>
          <p:cNvPr id="24" name="Picture 23" descr="tmp5r0cvbnb.png"/>
          <p:cNvPicPr>
            <a:picLocks noChangeAspect="1"/>
          </p:cNvPicPr>
          <p:nvPr/>
        </p:nvPicPr>
        <p:blipFill>
          <a:blip r:embed="rId9"/>
          <a:stretch>
            <a:fillRect/>
          </a:stretch>
        </p:blipFill>
        <p:spPr>
          <a:xfrm>
            <a:off x="2286000" y="3543300"/>
            <a:ext cx="247650" cy="171450"/>
          </a:xfrm>
          <a:prstGeom prst="rect">
            <a:avLst/>
          </a:prstGeom>
        </p:spPr>
      </p:pic>
      <p:pic>
        <p:nvPicPr>
          <p:cNvPr id="25" name="Picture 24" descr="tmp568z_okm.png"/>
          <p:cNvPicPr>
            <a:picLocks noChangeAspect="1"/>
          </p:cNvPicPr>
          <p:nvPr/>
        </p:nvPicPr>
        <p:blipFill>
          <a:blip r:embed="rId10"/>
          <a:stretch>
            <a:fillRect/>
          </a:stretch>
        </p:blipFill>
        <p:spPr>
          <a:xfrm>
            <a:off x="1828800" y="1228725"/>
            <a:ext cx="247650" cy="17145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55498" y="967130"/>
            <a:ext cx="9093708" cy="1245108"/>
          </a:xfrm>
          <a:prstGeom prst="roundRect">
            <a:avLst>
              <a:gd name="adj" fmla="val 6000"/>
            </a:avLst>
          </a:prstGeom>
          <a:solidFill>
            <a:srgbClr val="FDFEFD"/>
          </a:solidFill>
          <a:ln w="11430">
            <a:solidFill>
              <a:srgbClr val="1A54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55498" y="2779775"/>
            <a:ext cx="9093708" cy="1343558"/>
          </a:xfrm>
          <a:prstGeom prst="roundRect">
            <a:avLst>
              <a:gd name="adj" fmla="val 6000"/>
            </a:avLst>
          </a:prstGeom>
          <a:solidFill>
            <a:srgbClr val="FEFEFE"/>
          </a:solidFill>
          <a:ln w="11430">
            <a:solidFill>
              <a:srgbClr val="FCFD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55498" y="4198620"/>
            <a:ext cx="9093708" cy="1025042"/>
          </a:xfrm>
          <a:prstGeom prst="roundRect">
            <a:avLst>
              <a:gd name="adj" fmla="val 6000"/>
            </a:avLst>
          </a:prstGeom>
          <a:solidFill>
            <a:srgbClr val="E1EDFB"/>
          </a:solidFill>
          <a:ln w="11430">
            <a:solidFill>
              <a:srgbClr val="E1ED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5498" y="451713"/>
            <a:ext cx="6065215" cy="266395"/>
          </a:xfrm>
          <a:prstGeom prst="rect">
            <a:avLst/>
          </a:prstGeom>
          <a:noFill/>
          <a:ln>
            <a:noFill/>
          </a:ln>
        </p:spPr>
        <p:txBody>
          <a:bodyPr wrap="none" lIns="19050" rIns="19050" tIns="0" bIns="0" anchor="ctr">
            <a:noAutofit/>
          </a:bodyPr>
          <a:lstStyle/>
          <a:p>
            <a:pPr algn="l"/>
            <a:r>
              <a:rPr sz="2400" b="1">
                <a:solidFill>
                  <a:srgbClr val="588BAE"/>
                </a:solidFill>
                <a:latin typeface="PingFang SC"/>
              </a:rPr>
              <a:t>&gt;&gt; 心输出量监测设备</a:t>
            </a:r>
          </a:p>
        </p:txBody>
      </p:sp>
      <p:sp>
        <p:nvSpPr>
          <p:cNvPr id="7" name="TextBox 6"/>
          <p:cNvSpPr txBox="1"/>
          <p:nvPr/>
        </p:nvSpPr>
        <p:spPr>
          <a:xfrm>
            <a:off x="946404" y="1227734"/>
            <a:ext cx="8229600" cy="185318"/>
          </a:xfrm>
          <a:prstGeom prst="rect">
            <a:avLst/>
          </a:prstGeom>
          <a:noFill/>
          <a:ln>
            <a:noFill/>
          </a:ln>
        </p:spPr>
        <p:txBody>
          <a:bodyPr wrap="square" lIns="19050" rIns="19050" tIns="0" bIns="0" anchor="t">
            <a:normAutofit/>
          </a:bodyPr>
          <a:lstStyle/>
          <a:p>
            <a:pPr algn="l"/>
            <a:r>
              <a:rPr sz="1200" b="0">
                <a:solidFill>
                  <a:srgbClr val="7A8386"/>
                </a:solidFill>
                <a:latin typeface="PingFang SC"/>
              </a:rPr>
              <a:t>50. 对于感染性休克的成年人，“证据不足”，无法就除常规护理外使用微创或无创心输出量监测提出建议。</a:t>
            </a:r>
          </a:p>
        </p:txBody>
      </p:sp>
      <p:sp>
        <p:nvSpPr>
          <p:cNvPr id="8" name="TextBox 7"/>
          <p:cNvSpPr txBox="1"/>
          <p:nvPr/>
        </p:nvSpPr>
        <p:spPr>
          <a:xfrm>
            <a:off x="1275587" y="1575206"/>
            <a:ext cx="8003286" cy="463295"/>
          </a:xfrm>
          <a:prstGeom prst="rect">
            <a:avLst/>
          </a:prstGeom>
          <a:noFill/>
          <a:ln>
            <a:noFill/>
          </a:ln>
        </p:spPr>
        <p:txBody>
          <a:bodyPr wrap="square" lIns="19050" rIns="19050" tIns="0" bIns="0" anchor="t">
            <a:normAutofit/>
          </a:bodyPr>
          <a:lstStyle/>
          <a:p>
            <a:pPr algn="l"/>
            <a:r>
              <a:rPr sz="1350" b="0">
                <a:solidFill>
                  <a:srgbClr val="ABC2A1"/>
                </a:solidFill>
                <a:latin typeface="PingFang SC"/>
              </a:rPr>
              <a:t>备注：微创心输出量监测指的是需要动脉导管的设备。无创心输出量监测指的是使用生物电阻抗技术的设备。常规护理指的是不使用肺动脉导管的护理。未对重症监护超声的使用情况进行评估。</a:t>
            </a:r>
          </a:p>
        </p:txBody>
      </p:sp>
      <p:sp>
        <p:nvSpPr>
          <p:cNvPr id="9" name="TextBox 8"/>
          <p:cNvSpPr txBox="1"/>
          <p:nvPr/>
        </p:nvSpPr>
        <p:spPr>
          <a:xfrm>
            <a:off x="9176004" y="1227734"/>
            <a:ext cx="724204" cy="173736"/>
          </a:xfrm>
          <a:prstGeom prst="rect">
            <a:avLst/>
          </a:prstGeom>
          <a:noFill/>
          <a:ln>
            <a:noFill/>
          </a:ln>
        </p:spPr>
        <p:txBody>
          <a:bodyPr wrap="none" lIns="19050" rIns="19050" tIns="0" bIns="0" anchor="ctr">
            <a:noAutofit/>
          </a:bodyPr>
          <a:lstStyle/>
          <a:p>
            <a:pPr algn="r"/>
            <a:r>
              <a:rPr sz="1350" b="0">
                <a:solidFill>
                  <a:srgbClr val="89AEC4"/>
                </a:solidFill>
                <a:latin typeface="PingFang SC"/>
              </a:rPr>
              <a:t>新增</a:t>
            </a:r>
          </a:p>
        </p:txBody>
      </p:sp>
      <p:sp>
        <p:nvSpPr>
          <p:cNvPr id="10" name="TextBox 9"/>
          <p:cNvSpPr txBox="1"/>
          <p:nvPr/>
        </p:nvSpPr>
        <p:spPr>
          <a:xfrm>
            <a:off x="555498" y="2328062"/>
            <a:ext cx="5386273" cy="266395"/>
          </a:xfrm>
          <a:prstGeom prst="rect">
            <a:avLst/>
          </a:prstGeom>
          <a:noFill/>
          <a:ln>
            <a:noFill/>
          </a:ln>
        </p:spPr>
        <p:txBody>
          <a:bodyPr wrap="none" lIns="19050" rIns="19050" tIns="0" bIns="0" anchor="ctr">
            <a:noAutofit/>
          </a:bodyPr>
          <a:lstStyle/>
          <a:p>
            <a:pPr algn="l"/>
            <a:r>
              <a:rPr sz="2400" b="1">
                <a:solidFill>
                  <a:srgbClr val="598DB0"/>
                </a:solidFill>
                <a:latin typeface="PingFang SC"/>
              </a:rPr>
              <a:t>&gt;&gt; 连续乳酸监测</a:t>
            </a:r>
          </a:p>
        </p:txBody>
      </p:sp>
      <p:sp>
        <p:nvSpPr>
          <p:cNvPr id="11" name="TextBox 10"/>
          <p:cNvSpPr txBox="1"/>
          <p:nvPr/>
        </p:nvSpPr>
        <p:spPr>
          <a:xfrm>
            <a:off x="946404" y="3040380"/>
            <a:ext cx="8229600" cy="185318"/>
          </a:xfrm>
          <a:prstGeom prst="rect">
            <a:avLst/>
          </a:prstGeom>
          <a:noFill/>
          <a:ln>
            <a:noFill/>
          </a:ln>
        </p:spPr>
        <p:txBody>
          <a:bodyPr wrap="square" lIns="19050" rIns="19050" tIns="0" bIns="0" anchor="t">
            <a:normAutofit/>
          </a:bodyPr>
          <a:lstStyle/>
          <a:p>
            <a:pPr algn="l"/>
            <a:r>
              <a:rPr sz="1160" b="0">
                <a:solidFill>
                  <a:srgbClr val="838A88"/>
                </a:solidFill>
                <a:latin typeface="PingFang SC"/>
              </a:rPr>
              <a:t>51. 对于患有脓毒症且乳酸水平升高或发生感染性休克的成年人，我们“建议”采用连续乳酸测量来指导复苏治疗。</a:t>
            </a:r>
          </a:p>
        </p:txBody>
      </p:sp>
      <p:sp>
        <p:nvSpPr>
          <p:cNvPr id="12" name="TextBox 11"/>
          <p:cNvSpPr txBox="1"/>
          <p:nvPr/>
        </p:nvSpPr>
        <p:spPr>
          <a:xfrm>
            <a:off x="1275587" y="3775862"/>
            <a:ext cx="8003286" cy="173736"/>
          </a:xfrm>
          <a:prstGeom prst="rect">
            <a:avLst/>
          </a:prstGeom>
          <a:noFill/>
          <a:ln>
            <a:noFill/>
          </a:ln>
        </p:spPr>
        <p:txBody>
          <a:bodyPr wrap="square" lIns="19050" rIns="19050" tIns="0" bIns="0" anchor="t">
            <a:normAutofit/>
          </a:bodyPr>
          <a:lstStyle/>
          <a:p>
            <a:pPr algn="l"/>
            <a:r>
              <a:rPr sz="1110" b="0">
                <a:solidFill>
                  <a:srgbClr val="ABC1A1"/>
                </a:solidFill>
                <a:latin typeface="PingFang SC"/>
              </a:rPr>
              <a:t>备注：在初始液体冲击治疗并监测乳酸下降情况后，应进行个体化的液体管理，而非持续补液直至乳酸水平恢复正常。</a:t>
            </a:r>
          </a:p>
        </p:txBody>
      </p:sp>
      <p:sp>
        <p:nvSpPr>
          <p:cNvPr id="13" name="TextBox 12"/>
          <p:cNvSpPr txBox="1"/>
          <p:nvPr/>
        </p:nvSpPr>
        <p:spPr>
          <a:xfrm>
            <a:off x="9176004" y="3040380"/>
            <a:ext cx="724204" cy="173736"/>
          </a:xfrm>
          <a:prstGeom prst="rect">
            <a:avLst/>
          </a:prstGeom>
          <a:noFill/>
          <a:ln>
            <a:noFill/>
          </a:ln>
        </p:spPr>
        <p:txBody>
          <a:bodyPr wrap="none" lIns="19050" rIns="19050" tIns="0" bIns="0" anchor="ctr">
            <a:noAutofit/>
          </a:bodyPr>
          <a:lstStyle/>
          <a:p>
            <a:pPr algn="r"/>
            <a:r>
              <a:rPr sz="1350" b="0">
                <a:solidFill>
                  <a:srgbClr val="545D65"/>
                </a:solidFill>
                <a:latin typeface="PingFang SC"/>
              </a:rPr>
              <a:t>修订</a:t>
            </a:r>
          </a:p>
        </p:txBody>
      </p:sp>
      <p:sp>
        <p:nvSpPr>
          <p:cNvPr id="14" name="TextBox 13"/>
          <p:cNvSpPr txBox="1"/>
          <p:nvPr/>
        </p:nvSpPr>
        <p:spPr>
          <a:xfrm>
            <a:off x="555498" y="4198620"/>
            <a:ext cx="2670505" cy="156362"/>
          </a:xfrm>
          <a:prstGeom prst="rect">
            <a:avLst/>
          </a:prstGeom>
          <a:noFill/>
          <a:ln>
            <a:noFill/>
          </a:ln>
        </p:spPr>
        <p:txBody>
          <a:bodyPr wrap="none" lIns="19050" rIns="19050" tIns="0" bIns="0" anchor="ctr">
            <a:noAutofit/>
          </a:bodyPr>
          <a:lstStyle/>
          <a:p>
            <a:pPr algn="l"/>
            <a:r>
              <a:rPr sz="1350" b="1">
                <a:solidFill>
                  <a:srgbClr val="65A0BD"/>
                </a:solidFill>
                <a:latin typeface="PingFang SC"/>
              </a:rPr>
              <a:t>2021年声明 (51)</a:t>
            </a:r>
          </a:p>
        </p:txBody>
      </p:sp>
      <p:sp>
        <p:nvSpPr>
          <p:cNvPr id="15" name="TextBox 14"/>
          <p:cNvSpPr txBox="1"/>
          <p:nvPr/>
        </p:nvSpPr>
        <p:spPr>
          <a:xfrm>
            <a:off x="946404" y="4528718"/>
            <a:ext cx="8229600" cy="185318"/>
          </a:xfrm>
          <a:prstGeom prst="rect">
            <a:avLst/>
          </a:prstGeom>
          <a:noFill/>
          <a:ln>
            <a:noFill/>
          </a:ln>
        </p:spPr>
        <p:txBody>
          <a:bodyPr wrap="square" lIns="19050" rIns="19050" tIns="0" bIns="0" anchor="t">
            <a:normAutofit/>
          </a:bodyPr>
          <a:lstStyle/>
          <a:p>
            <a:pPr algn="l"/>
            <a:r>
              <a:rPr sz="1060" b="0">
                <a:solidFill>
                  <a:srgbClr val="959FA9"/>
                </a:solidFill>
                <a:latin typeface="PingFang SC"/>
              </a:rPr>
              <a:t>对于患有脓毒症或脓毒性休克的成年人，我们建议在乳酸水平升高的患者中以降低血清乳酸水平为导向进行复苏，而非不使用血清乳酸指标。</a:t>
            </a:r>
          </a:p>
        </p:txBody>
      </p:sp>
      <p:sp>
        <p:nvSpPr>
          <p:cNvPr id="16" name="TextBox 15"/>
          <p:cNvSpPr txBox="1"/>
          <p:nvPr/>
        </p:nvSpPr>
        <p:spPr>
          <a:xfrm>
            <a:off x="555498" y="5432145"/>
            <a:ext cx="2670505" cy="138988"/>
          </a:xfrm>
          <a:prstGeom prst="rect">
            <a:avLst/>
          </a:prstGeom>
          <a:noFill/>
          <a:ln>
            <a:noFill/>
          </a:ln>
        </p:spPr>
        <p:txBody>
          <a:bodyPr wrap="none" lIns="19050" rIns="19050" tIns="0" bIns="0" anchor="ctr">
            <a:noAutofit/>
          </a:bodyPr>
          <a:lstStyle/>
          <a:p>
            <a:pPr algn="l"/>
            <a:r>
              <a:rPr sz="1200" b="0">
                <a:solidFill>
                  <a:srgbClr val="C0D6D6"/>
                </a:solidFill>
                <a:latin typeface="PingFang SC"/>
              </a:rPr>
              <a:t>公众号·指南导航</a:t>
            </a:r>
          </a:p>
        </p:txBody>
      </p:sp>
      <p:sp>
        <p:nvSpPr>
          <p:cNvPr id="17" name="TextBox 16"/>
          <p:cNvSpPr txBox="1"/>
          <p:nvPr/>
        </p:nvSpPr>
        <p:spPr>
          <a:xfrm>
            <a:off x="10287000" y="5339486"/>
            <a:ext cx="0" cy="173736"/>
          </a:xfrm>
          <a:prstGeom prst="rect">
            <a:avLst/>
          </a:prstGeom>
          <a:noFill/>
          <a:ln>
            <a:noFill/>
          </a:ln>
        </p:spPr>
        <p:txBody>
          <a:bodyPr wrap="none" lIns="19050" rIns="19050" tIns="0" bIns="0" anchor="ctr">
            <a:noAutofit/>
          </a:bodyPr>
          <a:lstStyle/>
          <a:p>
            <a:pPr algn="r"/>
            <a:r>
              <a:rPr sz="1350" b="0">
                <a:solidFill>
                  <a:srgbClr val="000000"/>
                </a:solidFill>
                <a:latin typeface="PingFang SC"/>
              </a:rPr>
              <a:t>33</a:t>
            </a:r>
          </a:p>
        </p:txBody>
      </p:sp>
      <p:sp>
        <p:nvSpPr>
          <p:cNvPr id="18" name="TextBox 17"/>
          <p:cNvSpPr txBox="1"/>
          <p:nvPr/>
        </p:nvSpPr>
        <p:spPr>
          <a:xfrm>
            <a:off x="8353044" y="185318"/>
            <a:ext cx="1748789" cy="405384"/>
          </a:xfrm>
          <a:prstGeom prst="rect">
            <a:avLst/>
          </a:prstGeom>
          <a:noFill/>
          <a:ln>
            <a:noFill/>
          </a:ln>
        </p:spPr>
        <p:txBody>
          <a:bodyPr wrap="square" lIns="19050" rIns="19050" tIns="0" bIns="0" anchor="t">
            <a:normAutofit/>
          </a:bodyPr>
          <a:lstStyle/>
          <a:p>
            <a:pPr algn="r"/>
            <a:r>
              <a:rPr sz="1190" b="0">
                <a:solidFill>
                  <a:srgbClr val="AFC3AA"/>
                </a:solidFill>
                <a:latin typeface="PingFang SC"/>
              </a:rPr>
              <a:t>Surviving Sepsis Campaign</a:t>
            </a:r>
          </a:p>
        </p:txBody>
      </p:sp>
      <p:pic>
        <p:nvPicPr>
          <p:cNvPr id="19" name="Picture 18" descr="tmpc15h71ir.png"/>
          <p:cNvPicPr>
            <a:picLocks noChangeAspect="1"/>
          </p:cNvPicPr>
          <p:nvPr/>
        </p:nvPicPr>
        <p:blipFill>
          <a:blip r:embed="rId2"/>
          <a:stretch>
            <a:fillRect/>
          </a:stretch>
        </p:blipFill>
        <p:spPr>
          <a:xfrm>
            <a:off x="1276350" y="3400425"/>
            <a:ext cx="1257300" cy="200025"/>
          </a:xfrm>
          <a:prstGeom prst="rect">
            <a:avLst/>
          </a:prstGeom>
        </p:spPr>
      </p:pic>
      <p:pic>
        <p:nvPicPr>
          <p:cNvPr id="20" name="Picture 19" descr="tmppl9n37k3.png"/>
          <p:cNvPicPr>
            <a:picLocks noChangeAspect="1"/>
          </p:cNvPicPr>
          <p:nvPr/>
        </p:nvPicPr>
        <p:blipFill>
          <a:blip r:embed="rId3"/>
          <a:stretch>
            <a:fillRect/>
          </a:stretch>
        </p:blipFill>
        <p:spPr>
          <a:xfrm>
            <a:off x="1276350" y="4819650"/>
            <a:ext cx="1257300" cy="200025"/>
          </a:xfrm>
          <a:prstGeom prst="rect">
            <a:avLst/>
          </a:prstGeom>
        </p:spPr>
      </p:pic>
      <p:pic>
        <p:nvPicPr>
          <p:cNvPr id="21" name="Picture 20" descr="tmp8tcomw8l.png"/>
          <p:cNvPicPr>
            <a:picLocks noChangeAspect="1"/>
          </p:cNvPicPr>
          <p:nvPr/>
        </p:nvPicPr>
        <p:blipFill>
          <a:blip r:embed="rId4"/>
          <a:stretch>
            <a:fillRect/>
          </a:stretch>
        </p:blipFill>
        <p:spPr>
          <a:xfrm>
            <a:off x="9896475" y="247650"/>
            <a:ext cx="209550" cy="17145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dt83895p.png"/>
          <p:cNvPicPr>
            <a:picLocks noChangeAspect="1"/>
          </p:cNvPicPr>
          <p:nvPr/>
        </p:nvPicPr>
        <p:blipFill>
          <a:blip r:embed="rId2"/>
          <a:stretch>
            <a:fillRect/>
          </a:stretch>
        </p:blipFill>
        <p:spPr>
          <a:xfrm>
            <a:off x="1771650" y="5048250"/>
            <a:ext cx="838200" cy="95250"/>
          </a:xfrm>
          <a:prstGeom prst="rect">
            <a:avLst/>
          </a:prstGeom>
        </p:spPr>
      </p:pic>
      <p:sp>
        <p:nvSpPr>
          <p:cNvPr id="4" name="Rounded Rectangle 3"/>
          <p:cNvSpPr/>
          <p:nvPr/>
        </p:nvSpPr>
        <p:spPr>
          <a:xfrm>
            <a:off x="555498" y="943965"/>
            <a:ext cx="9134855" cy="1297228"/>
          </a:xfrm>
          <a:prstGeom prst="roundRect">
            <a:avLst>
              <a:gd name="adj" fmla="val 6000"/>
            </a:avLst>
          </a:prstGeom>
          <a:solidFill>
            <a:srgbClr val="FEFEFE"/>
          </a:solidFill>
          <a:ln w="11430">
            <a:solidFill>
              <a:srgbClr val="FAFD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55498" y="2357018"/>
            <a:ext cx="9134855" cy="2692908"/>
          </a:xfrm>
          <a:prstGeom prst="rect">
            <a:avLst/>
          </a:prstGeom>
          <a:solidFill>
            <a:srgbClr val="F1FEFE"/>
          </a:solidFill>
          <a:ln w="11430">
            <a:solidFill>
              <a:srgbClr val="78A4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6933" y="388010"/>
            <a:ext cx="5997321" cy="318516"/>
          </a:xfrm>
          <a:prstGeom prst="rect">
            <a:avLst/>
          </a:prstGeom>
          <a:noFill/>
          <a:ln>
            <a:noFill/>
          </a:ln>
        </p:spPr>
        <p:txBody>
          <a:bodyPr wrap="none" lIns="19050" rIns="19050" tIns="0" bIns="0" anchor="ctr">
            <a:noAutofit/>
          </a:bodyPr>
          <a:lstStyle/>
          <a:p>
            <a:pPr algn="l"/>
            <a:r>
              <a:rPr sz="2700" b="1">
                <a:solidFill>
                  <a:srgbClr val="3E518E"/>
                </a:solidFill>
                <a:latin typeface="PingFang SC"/>
              </a:rPr>
              <a:t>毛细血管再充盈时间</a:t>
            </a:r>
          </a:p>
        </p:txBody>
      </p:sp>
      <p:sp>
        <p:nvSpPr>
          <p:cNvPr id="7" name="TextBox 6"/>
          <p:cNvSpPr txBox="1"/>
          <p:nvPr/>
        </p:nvSpPr>
        <p:spPr>
          <a:xfrm>
            <a:off x="946404" y="1245108"/>
            <a:ext cx="8229600" cy="416966"/>
          </a:xfrm>
          <a:prstGeom prst="rect">
            <a:avLst/>
          </a:prstGeom>
          <a:noFill/>
          <a:ln>
            <a:noFill/>
          </a:ln>
        </p:spPr>
        <p:txBody>
          <a:bodyPr wrap="square" lIns="19050" rIns="19050" tIns="0" bIns="0" anchor="t">
            <a:normAutofit/>
          </a:bodyPr>
          <a:lstStyle/>
          <a:p>
            <a:pPr algn="l"/>
            <a:r>
              <a:rPr sz="1500" b="0">
                <a:solidFill>
                  <a:srgbClr val="818886"/>
                </a:solidFill>
                <a:latin typeface="PingFang SC"/>
              </a:rPr>
              <a:t>52. 对于患有脓毒症或感染性休克的成年人，我们“建议”将毛细血管再充盈时间作为其他灌注评估措施的辅助手段来指导复苏。</a:t>
            </a:r>
          </a:p>
        </p:txBody>
      </p:sp>
      <p:sp>
        <p:nvSpPr>
          <p:cNvPr id="8" name="TextBox 7"/>
          <p:cNvSpPr txBox="1"/>
          <p:nvPr/>
        </p:nvSpPr>
        <p:spPr>
          <a:xfrm>
            <a:off x="740663" y="3329939"/>
            <a:ext cx="8908542" cy="793394"/>
          </a:xfrm>
          <a:prstGeom prst="rect">
            <a:avLst/>
          </a:prstGeom>
          <a:noFill/>
          <a:ln>
            <a:noFill/>
          </a:ln>
        </p:spPr>
        <p:txBody>
          <a:bodyPr wrap="square" lIns="19050" rIns="19050" tIns="0" bIns="0" anchor="t">
            <a:normAutofit/>
          </a:bodyPr>
          <a:lstStyle/>
          <a:p>
            <a:pPr algn="l"/>
            <a:r>
              <a:rPr sz="1500" b="0">
                <a:solidFill>
                  <a:srgbClr val="67787C"/>
                </a:solidFill>
                <a:latin typeface="PingFang SC"/>
              </a:rPr>
              <a:t>• 毛细血管再充盈时间（CRT）是外周组织灌注的一项指标。它是少数可作为脓毒症或感染性休克患者复苏治疗分流和监测工具的床旁体格检查指标之一。</a:t>
            </a:r>
          </a:p>
          <a:p>
            <a:pPr algn="l"/>
            <a:r>
              <a:rPr sz="1500" b="0">
                <a:solidFill>
                  <a:srgbClr val="67787C"/>
                </a:solidFill>
                <a:latin typeface="PingFang SC"/>
              </a:rPr>
              <a:t>• 尽管在解读时必须考虑环境光照、温度、皮肤色素沉着和外周血管疾病等因素，但CRT可在多种临床环境中进行评估。</a:t>
            </a:r>
          </a:p>
        </p:txBody>
      </p:sp>
      <p:sp>
        <p:nvSpPr>
          <p:cNvPr id="9" name="TextBox 8"/>
          <p:cNvSpPr txBox="1"/>
          <p:nvPr/>
        </p:nvSpPr>
        <p:spPr>
          <a:xfrm>
            <a:off x="8301609" y="173735"/>
            <a:ext cx="3937863" cy="416966"/>
          </a:xfrm>
          <a:prstGeom prst="rect">
            <a:avLst/>
          </a:prstGeom>
          <a:noFill/>
          <a:ln>
            <a:noFill/>
          </a:ln>
        </p:spPr>
        <p:txBody>
          <a:bodyPr wrap="none" lIns="19050" rIns="19050" tIns="0" bIns="0" anchor="ctr">
            <a:noAutofit/>
          </a:bodyPr>
          <a:lstStyle/>
          <a:p>
            <a:pPr algn="r"/>
            <a:r>
              <a:rPr sz="1800" b="0">
                <a:solidFill>
                  <a:srgbClr val="AEC2A8"/>
                </a:solidFill>
                <a:latin typeface="PingFang SC"/>
              </a:rPr>
              <a:t>Surviving Sepsis Campaign</a:t>
            </a:r>
          </a:p>
        </p:txBody>
      </p:sp>
      <p:sp>
        <p:nvSpPr>
          <p:cNvPr id="10" name="TextBox 9"/>
          <p:cNvSpPr txBox="1"/>
          <p:nvPr/>
        </p:nvSpPr>
        <p:spPr>
          <a:xfrm>
            <a:off x="555498" y="5049926"/>
            <a:ext cx="2376297" cy="92659"/>
          </a:xfrm>
          <a:prstGeom prst="rect">
            <a:avLst/>
          </a:prstGeom>
          <a:noFill/>
          <a:ln>
            <a:noFill/>
          </a:ln>
        </p:spPr>
        <p:txBody>
          <a:bodyPr wrap="none" lIns="19050" rIns="19050" tIns="0" bIns="0" anchor="ctr">
            <a:noAutofit/>
          </a:bodyPr>
          <a:lstStyle/>
          <a:p>
            <a:pPr algn="l"/>
            <a:r>
              <a:rPr sz="900" b="0">
                <a:solidFill>
                  <a:srgbClr val="9DAAAB"/>
                </a:solidFill>
                <a:latin typeface="PingFang SC"/>
              </a:rPr>
              <a:t>Critical Care Medicine</a:t>
            </a:r>
          </a:p>
        </p:txBody>
      </p:sp>
      <p:sp>
        <p:nvSpPr>
          <p:cNvPr id="11" name="TextBox 10"/>
          <p:cNvSpPr txBox="1"/>
          <p:nvPr/>
        </p:nvSpPr>
        <p:spPr>
          <a:xfrm>
            <a:off x="555498" y="5455310"/>
            <a:ext cx="2444191" cy="133197"/>
          </a:xfrm>
          <a:prstGeom prst="rect">
            <a:avLst/>
          </a:prstGeom>
          <a:noFill/>
          <a:ln>
            <a:noFill/>
          </a:ln>
        </p:spPr>
        <p:txBody>
          <a:bodyPr wrap="none" lIns="19050" rIns="19050" tIns="0" bIns="0" anchor="ctr">
            <a:noAutofit/>
          </a:bodyPr>
          <a:lstStyle/>
          <a:p>
            <a:pPr algn="l"/>
            <a:r>
              <a:rPr sz="1200" b="0">
                <a:solidFill>
                  <a:srgbClr val="BEDDDC"/>
                </a:solidFill>
                <a:latin typeface="PingFang SC"/>
              </a:rPr>
              <a:t>公众号·指南导航</a:t>
            </a:r>
          </a:p>
        </p:txBody>
      </p:sp>
      <p:sp>
        <p:nvSpPr>
          <p:cNvPr id="12" name="TextBox 11"/>
          <p:cNvSpPr txBox="1"/>
          <p:nvPr/>
        </p:nvSpPr>
        <p:spPr>
          <a:xfrm>
            <a:off x="9896094" y="5339486"/>
            <a:ext cx="859993" cy="249021"/>
          </a:xfrm>
          <a:prstGeom prst="rect">
            <a:avLst/>
          </a:prstGeom>
          <a:noFill/>
          <a:ln>
            <a:noFill/>
          </a:ln>
        </p:spPr>
        <p:txBody>
          <a:bodyPr wrap="none" lIns="19050" rIns="19050" tIns="0" bIns="0" anchor="ctr">
            <a:noAutofit/>
          </a:bodyPr>
          <a:lstStyle/>
          <a:p>
            <a:pPr algn="r"/>
            <a:r>
              <a:rPr sz="1500" b="0">
                <a:solidFill>
                  <a:srgbClr val="7ED9EF"/>
                </a:solidFill>
                <a:latin typeface="PingFang SC"/>
              </a:rPr>
              <a:t>34</a:t>
            </a:r>
          </a:p>
        </p:txBody>
      </p:sp>
      <p:sp>
        <p:nvSpPr>
          <p:cNvPr id="13" name="TextBox 12"/>
          <p:cNvSpPr txBox="1"/>
          <p:nvPr/>
        </p:nvSpPr>
        <p:spPr>
          <a:xfrm>
            <a:off x="9134856" y="1169822"/>
            <a:ext cx="769467" cy="150571"/>
          </a:xfrm>
          <a:prstGeom prst="rect">
            <a:avLst/>
          </a:prstGeom>
          <a:noFill/>
          <a:ln>
            <a:noFill/>
          </a:ln>
        </p:spPr>
        <p:txBody>
          <a:bodyPr wrap="none" lIns="19050" rIns="19050" tIns="0" bIns="0" anchor="ctr">
            <a:noAutofit/>
          </a:bodyPr>
          <a:lstStyle/>
          <a:p>
            <a:pPr algn="r"/>
            <a:r>
              <a:rPr sz="1350" b="1">
                <a:solidFill>
                  <a:srgbClr val="4E565E"/>
                </a:solidFill>
                <a:latin typeface="PingFang SC"/>
              </a:rPr>
              <a:t>修订</a:t>
            </a:r>
          </a:p>
        </p:txBody>
      </p:sp>
      <p:pic>
        <p:nvPicPr>
          <p:cNvPr id="14" name="Picture 13" descr="tmp5i3j5xq3.png"/>
          <p:cNvPicPr>
            <a:picLocks noChangeAspect="1"/>
          </p:cNvPicPr>
          <p:nvPr/>
        </p:nvPicPr>
        <p:blipFill>
          <a:blip r:embed="rId3"/>
          <a:stretch>
            <a:fillRect/>
          </a:stretch>
        </p:blipFill>
        <p:spPr>
          <a:xfrm>
            <a:off x="1200150" y="1866900"/>
            <a:ext cx="257175" cy="200025"/>
          </a:xfrm>
          <a:prstGeom prst="rect">
            <a:avLst/>
          </a:prstGeom>
        </p:spPr>
      </p:pic>
      <p:pic>
        <p:nvPicPr>
          <p:cNvPr id="15" name="Picture 14" descr="tmprs87tavc.png"/>
          <p:cNvPicPr>
            <a:picLocks noChangeAspect="1"/>
          </p:cNvPicPr>
          <p:nvPr/>
        </p:nvPicPr>
        <p:blipFill>
          <a:blip r:embed="rId4"/>
          <a:stretch>
            <a:fillRect/>
          </a:stretch>
        </p:blipFill>
        <p:spPr>
          <a:xfrm>
            <a:off x="1562100" y="1866900"/>
            <a:ext cx="257175" cy="200025"/>
          </a:xfrm>
          <a:prstGeom prst="rect">
            <a:avLst/>
          </a:prstGeom>
        </p:spPr>
      </p:pic>
      <p:pic>
        <p:nvPicPr>
          <p:cNvPr id="16" name="Picture 15" descr="tmpp0m4tsgm.png"/>
          <p:cNvPicPr>
            <a:picLocks noChangeAspect="1"/>
          </p:cNvPicPr>
          <p:nvPr/>
        </p:nvPicPr>
        <p:blipFill>
          <a:blip r:embed="rId5"/>
          <a:stretch>
            <a:fillRect/>
          </a:stretch>
        </p:blipFill>
        <p:spPr>
          <a:xfrm>
            <a:off x="1924050" y="1866900"/>
            <a:ext cx="257175" cy="200025"/>
          </a:xfrm>
          <a:prstGeom prst="rect">
            <a:avLst/>
          </a:prstGeom>
        </p:spPr>
      </p:pic>
      <p:pic>
        <p:nvPicPr>
          <p:cNvPr id="17" name="Picture 16" descr="tmpadh9oyw0.png"/>
          <p:cNvPicPr>
            <a:picLocks noChangeAspect="1"/>
          </p:cNvPicPr>
          <p:nvPr/>
        </p:nvPicPr>
        <p:blipFill>
          <a:blip r:embed="rId6"/>
          <a:stretch>
            <a:fillRect/>
          </a:stretch>
        </p:blipFill>
        <p:spPr>
          <a:xfrm>
            <a:off x="2286000" y="1866900"/>
            <a:ext cx="257175" cy="200025"/>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55498" y="943965"/>
            <a:ext cx="9196577" cy="3063544"/>
          </a:xfrm>
          <a:prstGeom prst="roundRect">
            <a:avLst>
              <a:gd name="adj" fmla="val 6000"/>
            </a:avLst>
          </a:prstGeom>
          <a:solidFill>
            <a:srgbClr val="FEFEFE"/>
          </a:solidFill>
          <a:ln w="11430">
            <a:solidFill>
              <a:srgbClr val="E4F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55498" y="4065422"/>
            <a:ext cx="9196577" cy="1216152"/>
          </a:xfrm>
          <a:prstGeom prst="rect">
            <a:avLst/>
          </a:prstGeom>
          <a:solidFill>
            <a:srgbClr val="E1E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6933" y="388010"/>
            <a:ext cx="3417341" cy="295351"/>
          </a:xfrm>
          <a:prstGeom prst="rect">
            <a:avLst/>
          </a:prstGeom>
          <a:noFill/>
          <a:ln>
            <a:noFill/>
          </a:ln>
        </p:spPr>
        <p:txBody>
          <a:bodyPr wrap="none" lIns="19050" rIns="19050" tIns="0" bIns="0" anchor="ctr">
            <a:noAutofit/>
          </a:bodyPr>
          <a:lstStyle/>
          <a:p>
            <a:pPr algn="l"/>
            <a:r>
              <a:rPr sz="2700" b="1">
                <a:solidFill>
                  <a:srgbClr val="3F528F"/>
                </a:solidFill>
                <a:latin typeface="PingFang SC"/>
              </a:rPr>
              <a:t>静脉升压药</a:t>
            </a:r>
          </a:p>
        </p:txBody>
      </p:sp>
      <p:sp>
        <p:nvSpPr>
          <p:cNvPr id="6" name="TextBox 5"/>
          <p:cNvSpPr txBox="1"/>
          <p:nvPr/>
        </p:nvSpPr>
        <p:spPr>
          <a:xfrm>
            <a:off x="8353044" y="173735"/>
            <a:ext cx="1748789" cy="416966"/>
          </a:xfrm>
          <a:prstGeom prst="rect">
            <a:avLst/>
          </a:prstGeom>
          <a:noFill/>
          <a:ln>
            <a:noFill/>
          </a:ln>
        </p:spPr>
        <p:txBody>
          <a:bodyPr wrap="square" lIns="19050" rIns="19050" tIns="0" bIns="0" anchor="t">
            <a:normAutofit/>
          </a:bodyPr>
          <a:lstStyle/>
          <a:p>
            <a:pPr algn="r"/>
            <a:r>
              <a:rPr sz="1210" b="0">
                <a:solidFill>
                  <a:srgbClr val="AFC4A9"/>
                </a:solidFill>
                <a:latin typeface="PingFang SC"/>
              </a:rPr>
              <a:t>Surviving Sepsis Campaign</a:t>
            </a:r>
          </a:p>
        </p:txBody>
      </p:sp>
      <p:sp>
        <p:nvSpPr>
          <p:cNvPr id="7" name="TextBox 6"/>
          <p:cNvSpPr txBox="1"/>
          <p:nvPr/>
        </p:nvSpPr>
        <p:spPr>
          <a:xfrm>
            <a:off x="946404" y="1262481"/>
            <a:ext cx="7818120" cy="162153"/>
          </a:xfrm>
          <a:prstGeom prst="rect">
            <a:avLst/>
          </a:prstGeom>
          <a:noFill/>
          <a:ln>
            <a:noFill/>
          </a:ln>
        </p:spPr>
        <p:txBody>
          <a:bodyPr wrap="square" lIns="19050" rIns="19050" tIns="0" bIns="0" anchor="t">
            <a:normAutofit/>
          </a:bodyPr>
          <a:lstStyle/>
          <a:p>
            <a:pPr algn="l"/>
            <a:r>
              <a:rPr sz="990" b="0">
                <a:solidFill>
                  <a:srgbClr val="828487"/>
                </a:solidFill>
                <a:latin typeface="PingFang SC"/>
              </a:rPr>
              <a:t>53. 对于感染性休克的成人患者，我们“推荐”使用去甲肾上腺素作为一线药物，而非多巴胺、肾上腺素或selepressin。</a:t>
            </a:r>
          </a:p>
        </p:txBody>
      </p:sp>
      <p:sp>
        <p:nvSpPr>
          <p:cNvPr id="8" name="TextBox 7"/>
          <p:cNvSpPr txBox="1"/>
          <p:nvPr/>
        </p:nvSpPr>
        <p:spPr>
          <a:xfrm>
            <a:off x="946404" y="2478633"/>
            <a:ext cx="7818120" cy="162153"/>
          </a:xfrm>
          <a:prstGeom prst="rect">
            <a:avLst/>
          </a:prstGeom>
          <a:noFill/>
          <a:ln>
            <a:noFill/>
          </a:ln>
        </p:spPr>
        <p:txBody>
          <a:bodyPr wrap="square" lIns="19050" rIns="19050" tIns="0" bIns="0" anchor="t">
            <a:normAutofit/>
          </a:bodyPr>
          <a:lstStyle/>
          <a:p>
            <a:pPr algn="l"/>
            <a:r>
              <a:rPr sz="1350" b="0">
                <a:solidFill>
                  <a:srgbClr val="A1A98B"/>
                </a:solidFill>
                <a:latin typeface="PingFang SC"/>
              </a:rPr>
              <a:t>54. 对于感染性休克的成人患者，我们“建议不使用”特利加压素。</a:t>
            </a:r>
          </a:p>
        </p:txBody>
      </p:sp>
      <p:sp>
        <p:nvSpPr>
          <p:cNvPr id="9" name="TextBox 8"/>
          <p:cNvSpPr txBox="1"/>
          <p:nvPr/>
        </p:nvSpPr>
        <p:spPr>
          <a:xfrm>
            <a:off x="946404" y="3138830"/>
            <a:ext cx="7818120" cy="162153"/>
          </a:xfrm>
          <a:prstGeom prst="rect">
            <a:avLst/>
          </a:prstGeom>
          <a:noFill/>
          <a:ln>
            <a:noFill/>
          </a:ln>
        </p:spPr>
        <p:txBody>
          <a:bodyPr wrap="square" lIns="19050" rIns="19050" tIns="0" bIns="0" anchor="t">
            <a:normAutofit/>
          </a:bodyPr>
          <a:lstStyle/>
          <a:p>
            <a:pPr algn="l"/>
            <a:r>
              <a:rPr sz="1080" b="0">
                <a:solidFill>
                  <a:srgbClr val="8D9391"/>
                </a:solidFill>
                <a:latin typeface="PingFang SC"/>
              </a:rPr>
              <a:t>55. 对于感染性休克成人患者，我们“建议”将去甲肾上腺素作为一线用药，而非血管加压素或血管紧张素Ⅱ。</a:t>
            </a:r>
          </a:p>
        </p:txBody>
      </p:sp>
      <p:sp>
        <p:nvSpPr>
          <p:cNvPr id="10" name="TextBox 9"/>
          <p:cNvSpPr txBox="1"/>
          <p:nvPr/>
        </p:nvSpPr>
        <p:spPr>
          <a:xfrm>
            <a:off x="946404" y="4123334"/>
            <a:ext cx="2942082" cy="133197"/>
          </a:xfrm>
          <a:prstGeom prst="rect">
            <a:avLst/>
          </a:prstGeom>
          <a:noFill/>
          <a:ln>
            <a:noFill/>
          </a:ln>
        </p:spPr>
        <p:txBody>
          <a:bodyPr wrap="none" lIns="19050" rIns="19050" tIns="0" bIns="0" anchor="ctr">
            <a:noAutofit/>
          </a:bodyPr>
          <a:lstStyle/>
          <a:p>
            <a:pPr algn="l"/>
            <a:r>
              <a:rPr sz="1350" b="1">
                <a:solidFill>
                  <a:srgbClr val="6CA6BC"/>
                </a:solidFill>
                <a:latin typeface="PingFang SC"/>
              </a:rPr>
              <a:t>2021年声明（55）</a:t>
            </a:r>
          </a:p>
        </p:txBody>
      </p:sp>
      <p:sp>
        <p:nvSpPr>
          <p:cNvPr id="11" name="TextBox 10"/>
          <p:cNvSpPr txBox="1"/>
          <p:nvPr/>
        </p:nvSpPr>
        <p:spPr>
          <a:xfrm>
            <a:off x="946404" y="4297070"/>
            <a:ext cx="7818120" cy="162153"/>
          </a:xfrm>
          <a:prstGeom prst="rect">
            <a:avLst/>
          </a:prstGeom>
          <a:noFill/>
          <a:ln>
            <a:noFill/>
          </a:ln>
        </p:spPr>
        <p:txBody>
          <a:bodyPr wrap="square" lIns="19050" rIns="19050" tIns="0" bIns="0" anchor="t">
            <a:normAutofit/>
          </a:bodyPr>
          <a:lstStyle/>
          <a:p>
            <a:pPr algn="l"/>
            <a:r>
              <a:rPr sz="1190" b="0">
                <a:solidFill>
                  <a:srgbClr val="79A1B2"/>
                </a:solidFill>
                <a:latin typeface="PingFang SC"/>
              </a:rPr>
              <a:t>对于患有感染性休克的成人，我们推荐将去甲肾上腺素作为首选药物，而非其他血管加压药。</a:t>
            </a:r>
          </a:p>
        </p:txBody>
      </p:sp>
      <p:sp>
        <p:nvSpPr>
          <p:cNvPr id="12" name="TextBox 11"/>
          <p:cNvSpPr txBox="1"/>
          <p:nvPr/>
        </p:nvSpPr>
        <p:spPr>
          <a:xfrm>
            <a:off x="606933" y="5432145"/>
            <a:ext cx="2557348" cy="115823"/>
          </a:xfrm>
          <a:prstGeom prst="rect">
            <a:avLst/>
          </a:prstGeom>
          <a:noFill/>
          <a:ln>
            <a:noFill/>
          </a:ln>
        </p:spPr>
        <p:txBody>
          <a:bodyPr wrap="none" lIns="19050" rIns="19050" tIns="0" bIns="0" anchor="ctr">
            <a:noAutofit/>
          </a:bodyPr>
          <a:lstStyle/>
          <a:p>
            <a:pPr algn="l"/>
            <a:r>
              <a:rPr sz="1050" b="0">
                <a:solidFill>
                  <a:srgbClr val="D2E7E9"/>
                </a:solidFill>
                <a:latin typeface="PingFang SC"/>
              </a:rPr>
              <a:t>公众号·指南导航</a:t>
            </a:r>
          </a:p>
        </p:txBody>
      </p:sp>
      <p:sp>
        <p:nvSpPr>
          <p:cNvPr id="13" name="TextBox 12"/>
          <p:cNvSpPr txBox="1"/>
          <p:nvPr/>
        </p:nvSpPr>
        <p:spPr>
          <a:xfrm>
            <a:off x="10287000" y="5339486"/>
            <a:ext cx="0" cy="208483"/>
          </a:xfrm>
          <a:prstGeom prst="rect">
            <a:avLst/>
          </a:prstGeom>
          <a:noFill/>
          <a:ln>
            <a:noFill/>
          </a:ln>
        </p:spPr>
        <p:txBody>
          <a:bodyPr wrap="none" lIns="19050" rIns="19050" tIns="0" bIns="0" anchor="ctr">
            <a:noAutofit/>
          </a:bodyPr>
          <a:lstStyle/>
          <a:p>
            <a:pPr algn="r"/>
            <a:r>
              <a:rPr sz="1350" b="0">
                <a:solidFill>
                  <a:srgbClr val="000000"/>
                </a:solidFill>
                <a:latin typeface="PingFang SC"/>
              </a:rPr>
              <a:t>35</a:t>
            </a:r>
          </a:p>
        </p:txBody>
      </p:sp>
      <p:sp>
        <p:nvSpPr>
          <p:cNvPr id="14" name="TextBox 13"/>
          <p:cNvSpPr txBox="1"/>
          <p:nvPr/>
        </p:nvSpPr>
        <p:spPr>
          <a:xfrm>
            <a:off x="9176004" y="1285646"/>
            <a:ext cx="678941" cy="115823"/>
          </a:xfrm>
          <a:prstGeom prst="rect">
            <a:avLst/>
          </a:prstGeom>
          <a:noFill/>
          <a:ln>
            <a:noFill/>
          </a:ln>
        </p:spPr>
        <p:txBody>
          <a:bodyPr wrap="none" lIns="19050" rIns="19050" tIns="0" bIns="0" anchor="ctr">
            <a:noAutofit/>
          </a:bodyPr>
          <a:lstStyle/>
          <a:p>
            <a:pPr algn="r"/>
            <a:r>
              <a:rPr sz="1200" b="0">
                <a:solidFill>
                  <a:srgbClr val="88B278"/>
                </a:solidFill>
                <a:latin typeface="PingFang SC"/>
              </a:rPr>
              <a:t>沿用</a:t>
            </a:r>
          </a:p>
        </p:txBody>
      </p:sp>
      <p:sp>
        <p:nvSpPr>
          <p:cNvPr id="15" name="TextBox 14"/>
          <p:cNvSpPr txBox="1"/>
          <p:nvPr/>
        </p:nvSpPr>
        <p:spPr>
          <a:xfrm>
            <a:off x="9176004" y="2478633"/>
            <a:ext cx="678941" cy="115824"/>
          </a:xfrm>
          <a:prstGeom prst="rect">
            <a:avLst/>
          </a:prstGeom>
          <a:noFill/>
          <a:ln>
            <a:noFill/>
          </a:ln>
        </p:spPr>
        <p:txBody>
          <a:bodyPr wrap="none" lIns="19050" rIns="19050" tIns="0" bIns="0" anchor="ctr">
            <a:noAutofit/>
          </a:bodyPr>
          <a:lstStyle/>
          <a:p>
            <a:pPr algn="r"/>
            <a:r>
              <a:rPr sz="1200" b="0">
                <a:solidFill>
                  <a:srgbClr val="89AF7B"/>
                </a:solidFill>
                <a:latin typeface="PingFang SC"/>
              </a:rPr>
              <a:t>沿用</a:t>
            </a:r>
          </a:p>
        </p:txBody>
      </p:sp>
      <p:sp>
        <p:nvSpPr>
          <p:cNvPr id="16" name="TextBox 15"/>
          <p:cNvSpPr txBox="1"/>
          <p:nvPr/>
        </p:nvSpPr>
        <p:spPr>
          <a:xfrm>
            <a:off x="9176004" y="3138830"/>
            <a:ext cx="678941" cy="115824"/>
          </a:xfrm>
          <a:prstGeom prst="rect">
            <a:avLst/>
          </a:prstGeom>
          <a:noFill/>
          <a:ln>
            <a:noFill/>
          </a:ln>
        </p:spPr>
        <p:txBody>
          <a:bodyPr wrap="none" lIns="19050" rIns="19050" tIns="0" bIns="0" anchor="ctr">
            <a:noAutofit/>
          </a:bodyPr>
          <a:lstStyle/>
          <a:p>
            <a:pPr algn="r"/>
            <a:r>
              <a:rPr sz="1200" b="0">
                <a:solidFill>
                  <a:srgbClr val="59666F"/>
                </a:solidFill>
                <a:latin typeface="PingFang SC"/>
              </a:rPr>
              <a:t>修订</a:t>
            </a:r>
          </a:p>
        </p:txBody>
      </p:sp>
      <p:sp>
        <p:nvSpPr>
          <p:cNvPr id="17" name="TextBox 16"/>
          <p:cNvSpPr txBox="1"/>
          <p:nvPr/>
        </p:nvSpPr>
        <p:spPr>
          <a:xfrm>
            <a:off x="2798064" y="1609953"/>
            <a:ext cx="514349" cy="138988"/>
          </a:xfrm>
          <a:prstGeom prst="rect">
            <a:avLst/>
          </a:prstGeom>
          <a:noFill/>
          <a:ln>
            <a:noFill/>
          </a:ln>
        </p:spPr>
        <p:txBody>
          <a:bodyPr wrap="square" lIns="19050" rIns="19050" tIns="0" bIns="0" anchor="t">
            <a:normAutofit/>
          </a:bodyPr>
          <a:lstStyle/>
          <a:p>
            <a:pPr algn="l"/>
            <a:r>
              <a:rPr sz="1050" b="0">
                <a:solidFill>
                  <a:srgbClr val="515A62"/>
                </a:solidFill>
                <a:latin typeface="PingFang SC"/>
              </a:rPr>
              <a:t>多巴胺</a:t>
            </a:r>
          </a:p>
        </p:txBody>
      </p:sp>
      <p:sp>
        <p:nvSpPr>
          <p:cNvPr id="18" name="TextBox 17"/>
          <p:cNvSpPr txBox="1"/>
          <p:nvPr/>
        </p:nvSpPr>
        <p:spPr>
          <a:xfrm>
            <a:off x="2798064" y="1841601"/>
            <a:ext cx="617219" cy="138988"/>
          </a:xfrm>
          <a:prstGeom prst="rect">
            <a:avLst/>
          </a:prstGeom>
          <a:noFill/>
          <a:ln>
            <a:noFill/>
          </a:ln>
        </p:spPr>
        <p:txBody>
          <a:bodyPr wrap="square" lIns="19050" rIns="19050" tIns="0" bIns="0" anchor="t">
            <a:normAutofit/>
          </a:bodyPr>
          <a:lstStyle/>
          <a:p>
            <a:pPr algn="l"/>
            <a:r>
              <a:rPr sz="990" b="0">
                <a:solidFill>
                  <a:srgbClr val="646C79"/>
                </a:solidFill>
                <a:latin typeface="PingFang SC"/>
              </a:rPr>
              <a:t>肾上腺素</a:t>
            </a:r>
          </a:p>
        </p:txBody>
      </p:sp>
      <p:sp>
        <p:nvSpPr>
          <p:cNvPr id="19" name="TextBox 18"/>
          <p:cNvSpPr txBox="1"/>
          <p:nvPr/>
        </p:nvSpPr>
        <p:spPr>
          <a:xfrm>
            <a:off x="2798064" y="2073249"/>
            <a:ext cx="1543049" cy="138988"/>
          </a:xfrm>
          <a:prstGeom prst="rect">
            <a:avLst/>
          </a:prstGeom>
          <a:noFill/>
          <a:ln>
            <a:noFill/>
          </a:ln>
        </p:spPr>
        <p:txBody>
          <a:bodyPr wrap="square" lIns="19050" rIns="19050" tIns="0" bIns="0" anchor="t">
            <a:normAutofit/>
          </a:bodyPr>
          <a:lstStyle/>
          <a:p>
            <a:pPr algn="l"/>
            <a:r>
              <a:rPr sz="780" b="0">
                <a:solidFill>
                  <a:srgbClr val="757A7E"/>
                </a:solidFill>
                <a:latin typeface="PingFang SC"/>
              </a:rPr>
              <a:t>Selepressin血管加压素</a:t>
            </a:r>
          </a:p>
        </p:txBody>
      </p:sp>
      <p:sp>
        <p:nvSpPr>
          <p:cNvPr id="20" name="TextBox 19"/>
          <p:cNvSpPr txBox="1"/>
          <p:nvPr/>
        </p:nvSpPr>
        <p:spPr>
          <a:xfrm>
            <a:off x="2798064" y="3428390"/>
            <a:ext cx="822959" cy="138988"/>
          </a:xfrm>
          <a:prstGeom prst="rect">
            <a:avLst/>
          </a:prstGeom>
          <a:noFill/>
          <a:ln>
            <a:noFill/>
          </a:ln>
        </p:spPr>
        <p:txBody>
          <a:bodyPr wrap="square" lIns="19050" rIns="19050" tIns="0" bIns="0" anchor="t">
            <a:normAutofit/>
          </a:bodyPr>
          <a:lstStyle/>
          <a:p>
            <a:pPr algn="l"/>
            <a:r>
              <a:rPr sz="1019" b="0">
                <a:solidFill>
                  <a:srgbClr val="515D66"/>
                </a:solidFill>
                <a:latin typeface="PingFang SC"/>
              </a:rPr>
              <a:t>血管加压素</a:t>
            </a:r>
          </a:p>
        </p:txBody>
      </p:sp>
      <p:sp>
        <p:nvSpPr>
          <p:cNvPr id="21" name="TextBox 20"/>
          <p:cNvSpPr txBox="1"/>
          <p:nvPr/>
        </p:nvSpPr>
        <p:spPr>
          <a:xfrm>
            <a:off x="2798064" y="3660038"/>
            <a:ext cx="925829" cy="138988"/>
          </a:xfrm>
          <a:prstGeom prst="rect">
            <a:avLst/>
          </a:prstGeom>
          <a:noFill/>
          <a:ln>
            <a:noFill/>
          </a:ln>
        </p:spPr>
        <p:txBody>
          <a:bodyPr wrap="square" lIns="19050" rIns="19050" tIns="0" bIns="0" anchor="t">
            <a:normAutofit/>
          </a:bodyPr>
          <a:lstStyle/>
          <a:p>
            <a:pPr algn="l"/>
            <a:r>
              <a:rPr sz="990" b="0">
                <a:solidFill>
                  <a:srgbClr val="5A686F"/>
                </a:solidFill>
                <a:latin typeface="PingFang SC"/>
              </a:rPr>
              <a:t>血管紧张素Ⅱ</a:t>
            </a:r>
          </a:p>
        </p:txBody>
      </p:sp>
      <p:pic>
        <p:nvPicPr>
          <p:cNvPr id="22" name="Picture 21" descr="tmp4nr2t8t2.png"/>
          <p:cNvPicPr>
            <a:picLocks noChangeAspect="1"/>
          </p:cNvPicPr>
          <p:nvPr/>
        </p:nvPicPr>
        <p:blipFill>
          <a:blip r:embed="rId2"/>
          <a:stretch>
            <a:fillRect/>
          </a:stretch>
        </p:blipFill>
        <p:spPr>
          <a:xfrm>
            <a:off x="1209675" y="1609725"/>
            <a:ext cx="247650" cy="142875"/>
          </a:xfrm>
          <a:prstGeom prst="rect">
            <a:avLst/>
          </a:prstGeom>
        </p:spPr>
      </p:pic>
      <p:pic>
        <p:nvPicPr>
          <p:cNvPr id="23" name="Picture 22" descr="tmpwv32kk8_.png"/>
          <p:cNvPicPr>
            <a:picLocks noChangeAspect="1"/>
          </p:cNvPicPr>
          <p:nvPr/>
        </p:nvPicPr>
        <p:blipFill>
          <a:blip r:embed="rId3"/>
          <a:stretch>
            <a:fillRect/>
          </a:stretch>
        </p:blipFill>
        <p:spPr>
          <a:xfrm>
            <a:off x="1628775" y="1609725"/>
            <a:ext cx="247650" cy="142875"/>
          </a:xfrm>
          <a:prstGeom prst="rect">
            <a:avLst/>
          </a:prstGeom>
        </p:spPr>
      </p:pic>
      <p:pic>
        <p:nvPicPr>
          <p:cNvPr id="24" name="Picture 23" descr="tmpooriqy_t.png"/>
          <p:cNvPicPr>
            <a:picLocks noChangeAspect="1"/>
          </p:cNvPicPr>
          <p:nvPr/>
        </p:nvPicPr>
        <p:blipFill>
          <a:blip r:embed="rId4"/>
          <a:stretch>
            <a:fillRect/>
          </a:stretch>
        </p:blipFill>
        <p:spPr>
          <a:xfrm>
            <a:off x="2038350" y="1609725"/>
            <a:ext cx="247650" cy="142875"/>
          </a:xfrm>
          <a:prstGeom prst="rect">
            <a:avLst/>
          </a:prstGeom>
        </p:spPr>
      </p:pic>
      <p:pic>
        <p:nvPicPr>
          <p:cNvPr id="25" name="Picture 24" descr="tmpjkwfaows.png"/>
          <p:cNvPicPr>
            <a:picLocks noChangeAspect="1"/>
          </p:cNvPicPr>
          <p:nvPr/>
        </p:nvPicPr>
        <p:blipFill>
          <a:blip r:embed="rId5"/>
          <a:stretch>
            <a:fillRect/>
          </a:stretch>
        </p:blipFill>
        <p:spPr>
          <a:xfrm>
            <a:off x="2447925" y="1609725"/>
            <a:ext cx="247650" cy="142875"/>
          </a:xfrm>
          <a:prstGeom prst="rect">
            <a:avLst/>
          </a:prstGeom>
        </p:spPr>
      </p:pic>
      <p:pic>
        <p:nvPicPr>
          <p:cNvPr id="26" name="Picture 25" descr="tmp6e_9o280.png"/>
          <p:cNvPicPr>
            <a:picLocks noChangeAspect="1"/>
          </p:cNvPicPr>
          <p:nvPr/>
        </p:nvPicPr>
        <p:blipFill>
          <a:blip r:embed="rId6"/>
          <a:stretch>
            <a:fillRect/>
          </a:stretch>
        </p:blipFill>
        <p:spPr>
          <a:xfrm>
            <a:off x="2857500" y="1609725"/>
            <a:ext cx="247650" cy="142875"/>
          </a:xfrm>
          <a:prstGeom prst="rect">
            <a:avLst/>
          </a:prstGeom>
        </p:spPr>
      </p:pic>
      <p:pic>
        <p:nvPicPr>
          <p:cNvPr id="27" name="Picture 26" descr="tmpnekr0_x_.png"/>
          <p:cNvPicPr>
            <a:picLocks noChangeAspect="1"/>
          </p:cNvPicPr>
          <p:nvPr/>
        </p:nvPicPr>
        <p:blipFill>
          <a:blip r:embed="rId7"/>
          <a:stretch>
            <a:fillRect/>
          </a:stretch>
        </p:blipFill>
        <p:spPr>
          <a:xfrm>
            <a:off x="1209675" y="1838325"/>
            <a:ext cx="247650" cy="142875"/>
          </a:xfrm>
          <a:prstGeom prst="rect">
            <a:avLst/>
          </a:prstGeom>
        </p:spPr>
      </p:pic>
      <p:pic>
        <p:nvPicPr>
          <p:cNvPr id="28" name="Picture 27" descr="tmp03wqlt3a.png"/>
          <p:cNvPicPr>
            <a:picLocks noChangeAspect="1"/>
          </p:cNvPicPr>
          <p:nvPr/>
        </p:nvPicPr>
        <p:blipFill>
          <a:blip r:embed="rId8"/>
          <a:stretch>
            <a:fillRect/>
          </a:stretch>
        </p:blipFill>
        <p:spPr>
          <a:xfrm>
            <a:off x="1628775" y="1838325"/>
            <a:ext cx="247650" cy="142875"/>
          </a:xfrm>
          <a:prstGeom prst="rect">
            <a:avLst/>
          </a:prstGeom>
        </p:spPr>
      </p:pic>
      <p:pic>
        <p:nvPicPr>
          <p:cNvPr id="29" name="Picture 28" descr="tmp8vuwp6p6.png"/>
          <p:cNvPicPr>
            <a:picLocks noChangeAspect="1"/>
          </p:cNvPicPr>
          <p:nvPr/>
        </p:nvPicPr>
        <p:blipFill>
          <a:blip r:embed="rId9"/>
          <a:stretch>
            <a:fillRect/>
          </a:stretch>
        </p:blipFill>
        <p:spPr>
          <a:xfrm>
            <a:off x="2038350" y="1838325"/>
            <a:ext cx="247650" cy="142875"/>
          </a:xfrm>
          <a:prstGeom prst="rect">
            <a:avLst/>
          </a:prstGeom>
        </p:spPr>
      </p:pic>
      <p:pic>
        <p:nvPicPr>
          <p:cNvPr id="30" name="Picture 29" descr="tmp5nt_du9i.png"/>
          <p:cNvPicPr>
            <a:picLocks noChangeAspect="1"/>
          </p:cNvPicPr>
          <p:nvPr/>
        </p:nvPicPr>
        <p:blipFill>
          <a:blip r:embed="rId10"/>
          <a:stretch>
            <a:fillRect/>
          </a:stretch>
        </p:blipFill>
        <p:spPr>
          <a:xfrm>
            <a:off x="2447925" y="1838325"/>
            <a:ext cx="247650" cy="142875"/>
          </a:xfrm>
          <a:prstGeom prst="rect">
            <a:avLst/>
          </a:prstGeom>
        </p:spPr>
      </p:pic>
      <p:pic>
        <p:nvPicPr>
          <p:cNvPr id="31" name="Picture 30" descr="tmp90fgkfka.png"/>
          <p:cNvPicPr>
            <a:picLocks noChangeAspect="1"/>
          </p:cNvPicPr>
          <p:nvPr/>
        </p:nvPicPr>
        <p:blipFill>
          <a:blip r:embed="rId11"/>
          <a:stretch>
            <a:fillRect/>
          </a:stretch>
        </p:blipFill>
        <p:spPr>
          <a:xfrm>
            <a:off x="2857500" y="1838325"/>
            <a:ext cx="247650" cy="142875"/>
          </a:xfrm>
          <a:prstGeom prst="rect">
            <a:avLst/>
          </a:prstGeom>
        </p:spPr>
      </p:pic>
      <p:pic>
        <p:nvPicPr>
          <p:cNvPr id="32" name="Picture 31" descr="tmpnh7m2ify.png"/>
          <p:cNvPicPr>
            <a:picLocks noChangeAspect="1"/>
          </p:cNvPicPr>
          <p:nvPr/>
        </p:nvPicPr>
        <p:blipFill>
          <a:blip r:embed="rId12"/>
          <a:stretch>
            <a:fillRect/>
          </a:stretch>
        </p:blipFill>
        <p:spPr>
          <a:xfrm>
            <a:off x="1209675" y="2076450"/>
            <a:ext cx="247650" cy="133350"/>
          </a:xfrm>
          <a:prstGeom prst="rect">
            <a:avLst/>
          </a:prstGeom>
        </p:spPr>
      </p:pic>
      <p:pic>
        <p:nvPicPr>
          <p:cNvPr id="33" name="Picture 32" descr="tmpp_ys8q1n.png"/>
          <p:cNvPicPr>
            <a:picLocks noChangeAspect="1"/>
          </p:cNvPicPr>
          <p:nvPr/>
        </p:nvPicPr>
        <p:blipFill>
          <a:blip r:embed="rId13"/>
          <a:stretch>
            <a:fillRect/>
          </a:stretch>
        </p:blipFill>
        <p:spPr>
          <a:xfrm>
            <a:off x="1628775" y="2076450"/>
            <a:ext cx="247650" cy="133350"/>
          </a:xfrm>
          <a:prstGeom prst="rect">
            <a:avLst/>
          </a:prstGeom>
        </p:spPr>
      </p:pic>
      <p:pic>
        <p:nvPicPr>
          <p:cNvPr id="34" name="Picture 33" descr="tmp85smbu2h.png"/>
          <p:cNvPicPr>
            <a:picLocks noChangeAspect="1"/>
          </p:cNvPicPr>
          <p:nvPr/>
        </p:nvPicPr>
        <p:blipFill>
          <a:blip r:embed="rId14"/>
          <a:stretch>
            <a:fillRect/>
          </a:stretch>
        </p:blipFill>
        <p:spPr>
          <a:xfrm>
            <a:off x="2038350" y="2076450"/>
            <a:ext cx="247650" cy="133350"/>
          </a:xfrm>
          <a:prstGeom prst="rect">
            <a:avLst/>
          </a:prstGeom>
        </p:spPr>
      </p:pic>
      <p:pic>
        <p:nvPicPr>
          <p:cNvPr id="35" name="Picture 34" descr="tmpyzbtyick.png"/>
          <p:cNvPicPr>
            <a:picLocks noChangeAspect="1"/>
          </p:cNvPicPr>
          <p:nvPr/>
        </p:nvPicPr>
        <p:blipFill>
          <a:blip r:embed="rId15"/>
          <a:stretch>
            <a:fillRect/>
          </a:stretch>
        </p:blipFill>
        <p:spPr>
          <a:xfrm>
            <a:off x="2447925" y="2076450"/>
            <a:ext cx="247650" cy="133350"/>
          </a:xfrm>
          <a:prstGeom prst="rect">
            <a:avLst/>
          </a:prstGeom>
        </p:spPr>
      </p:pic>
      <p:pic>
        <p:nvPicPr>
          <p:cNvPr id="36" name="Picture 35" descr="tmpep8h7_4w.png"/>
          <p:cNvPicPr>
            <a:picLocks noChangeAspect="1"/>
          </p:cNvPicPr>
          <p:nvPr/>
        </p:nvPicPr>
        <p:blipFill>
          <a:blip r:embed="rId16"/>
          <a:stretch>
            <a:fillRect/>
          </a:stretch>
        </p:blipFill>
        <p:spPr>
          <a:xfrm>
            <a:off x="2857500" y="2076450"/>
            <a:ext cx="247650" cy="133350"/>
          </a:xfrm>
          <a:prstGeom prst="rect">
            <a:avLst/>
          </a:prstGeom>
        </p:spPr>
      </p:pic>
      <p:pic>
        <p:nvPicPr>
          <p:cNvPr id="37" name="Picture 36" descr="tmpt8qt_a4k.png"/>
          <p:cNvPicPr>
            <a:picLocks noChangeAspect="1"/>
          </p:cNvPicPr>
          <p:nvPr/>
        </p:nvPicPr>
        <p:blipFill>
          <a:blip r:embed="rId17"/>
          <a:stretch>
            <a:fillRect/>
          </a:stretch>
        </p:blipFill>
        <p:spPr>
          <a:xfrm>
            <a:off x="1209675" y="2733675"/>
            <a:ext cx="247650" cy="142875"/>
          </a:xfrm>
          <a:prstGeom prst="rect">
            <a:avLst/>
          </a:prstGeom>
        </p:spPr>
      </p:pic>
      <p:pic>
        <p:nvPicPr>
          <p:cNvPr id="38" name="Picture 37" descr="tmpektzfb26.png"/>
          <p:cNvPicPr>
            <a:picLocks noChangeAspect="1"/>
          </p:cNvPicPr>
          <p:nvPr/>
        </p:nvPicPr>
        <p:blipFill>
          <a:blip r:embed="rId18"/>
          <a:stretch>
            <a:fillRect/>
          </a:stretch>
        </p:blipFill>
        <p:spPr>
          <a:xfrm>
            <a:off x="1628775" y="2733675"/>
            <a:ext cx="247650" cy="142875"/>
          </a:xfrm>
          <a:prstGeom prst="rect">
            <a:avLst/>
          </a:prstGeom>
        </p:spPr>
      </p:pic>
      <p:pic>
        <p:nvPicPr>
          <p:cNvPr id="39" name="Picture 38" descr="tmp2m1l73qh.png"/>
          <p:cNvPicPr>
            <a:picLocks noChangeAspect="1"/>
          </p:cNvPicPr>
          <p:nvPr/>
        </p:nvPicPr>
        <p:blipFill>
          <a:blip r:embed="rId19"/>
          <a:stretch>
            <a:fillRect/>
          </a:stretch>
        </p:blipFill>
        <p:spPr>
          <a:xfrm>
            <a:off x="2038350" y="2733675"/>
            <a:ext cx="247650" cy="142875"/>
          </a:xfrm>
          <a:prstGeom prst="rect">
            <a:avLst/>
          </a:prstGeom>
        </p:spPr>
      </p:pic>
      <p:pic>
        <p:nvPicPr>
          <p:cNvPr id="40" name="Picture 39" descr="tmpih5z5nta.png"/>
          <p:cNvPicPr>
            <a:picLocks noChangeAspect="1"/>
          </p:cNvPicPr>
          <p:nvPr/>
        </p:nvPicPr>
        <p:blipFill>
          <a:blip r:embed="rId20"/>
          <a:stretch>
            <a:fillRect/>
          </a:stretch>
        </p:blipFill>
        <p:spPr>
          <a:xfrm>
            <a:off x="2447925" y="2733675"/>
            <a:ext cx="247650" cy="142875"/>
          </a:xfrm>
          <a:prstGeom prst="rect">
            <a:avLst/>
          </a:prstGeom>
        </p:spPr>
      </p:pic>
      <p:pic>
        <p:nvPicPr>
          <p:cNvPr id="41" name="Picture 40" descr="tmpsowpr826.png"/>
          <p:cNvPicPr>
            <a:picLocks noChangeAspect="1"/>
          </p:cNvPicPr>
          <p:nvPr/>
        </p:nvPicPr>
        <p:blipFill>
          <a:blip r:embed="rId21"/>
          <a:stretch>
            <a:fillRect/>
          </a:stretch>
        </p:blipFill>
        <p:spPr>
          <a:xfrm>
            <a:off x="2857500" y="2733675"/>
            <a:ext cx="247650" cy="142875"/>
          </a:xfrm>
          <a:prstGeom prst="rect">
            <a:avLst/>
          </a:prstGeom>
        </p:spPr>
      </p:pic>
      <p:pic>
        <p:nvPicPr>
          <p:cNvPr id="42" name="Picture 41" descr="tmp9yvmx16o.png"/>
          <p:cNvPicPr>
            <a:picLocks noChangeAspect="1"/>
          </p:cNvPicPr>
          <p:nvPr/>
        </p:nvPicPr>
        <p:blipFill>
          <a:blip r:embed="rId22"/>
          <a:stretch>
            <a:fillRect/>
          </a:stretch>
        </p:blipFill>
        <p:spPr>
          <a:xfrm>
            <a:off x="1209675" y="3429000"/>
            <a:ext cx="247650" cy="142875"/>
          </a:xfrm>
          <a:prstGeom prst="rect">
            <a:avLst/>
          </a:prstGeom>
        </p:spPr>
      </p:pic>
      <p:pic>
        <p:nvPicPr>
          <p:cNvPr id="43" name="Picture 42" descr="tmpmjelwbsl.png"/>
          <p:cNvPicPr>
            <a:picLocks noChangeAspect="1"/>
          </p:cNvPicPr>
          <p:nvPr/>
        </p:nvPicPr>
        <p:blipFill>
          <a:blip r:embed="rId23"/>
          <a:stretch>
            <a:fillRect/>
          </a:stretch>
        </p:blipFill>
        <p:spPr>
          <a:xfrm>
            <a:off x="1628775" y="3429000"/>
            <a:ext cx="247650" cy="142875"/>
          </a:xfrm>
          <a:prstGeom prst="rect">
            <a:avLst/>
          </a:prstGeom>
        </p:spPr>
      </p:pic>
      <p:pic>
        <p:nvPicPr>
          <p:cNvPr id="44" name="Picture 43" descr="tmpjdricqmx.png"/>
          <p:cNvPicPr>
            <a:picLocks noChangeAspect="1"/>
          </p:cNvPicPr>
          <p:nvPr/>
        </p:nvPicPr>
        <p:blipFill>
          <a:blip r:embed="rId24"/>
          <a:stretch>
            <a:fillRect/>
          </a:stretch>
        </p:blipFill>
        <p:spPr>
          <a:xfrm>
            <a:off x="2038350" y="3429000"/>
            <a:ext cx="247650" cy="142875"/>
          </a:xfrm>
          <a:prstGeom prst="rect">
            <a:avLst/>
          </a:prstGeom>
        </p:spPr>
      </p:pic>
      <p:pic>
        <p:nvPicPr>
          <p:cNvPr id="45" name="Picture 44" descr="tmp7mqwicp7.png"/>
          <p:cNvPicPr>
            <a:picLocks noChangeAspect="1"/>
          </p:cNvPicPr>
          <p:nvPr/>
        </p:nvPicPr>
        <p:blipFill>
          <a:blip r:embed="rId25"/>
          <a:stretch>
            <a:fillRect/>
          </a:stretch>
        </p:blipFill>
        <p:spPr>
          <a:xfrm>
            <a:off x="2447925" y="3429000"/>
            <a:ext cx="247650" cy="142875"/>
          </a:xfrm>
          <a:prstGeom prst="rect">
            <a:avLst/>
          </a:prstGeom>
        </p:spPr>
      </p:pic>
      <p:pic>
        <p:nvPicPr>
          <p:cNvPr id="46" name="Picture 45" descr="tmpcku8q_5q.png"/>
          <p:cNvPicPr>
            <a:picLocks noChangeAspect="1"/>
          </p:cNvPicPr>
          <p:nvPr/>
        </p:nvPicPr>
        <p:blipFill>
          <a:blip r:embed="rId26"/>
          <a:stretch>
            <a:fillRect/>
          </a:stretch>
        </p:blipFill>
        <p:spPr>
          <a:xfrm>
            <a:off x="2857500" y="3429000"/>
            <a:ext cx="247650" cy="142875"/>
          </a:xfrm>
          <a:prstGeom prst="rect">
            <a:avLst/>
          </a:prstGeom>
        </p:spPr>
      </p:pic>
      <p:pic>
        <p:nvPicPr>
          <p:cNvPr id="47" name="Picture 46" descr="tmpch9e7220.png"/>
          <p:cNvPicPr>
            <a:picLocks noChangeAspect="1"/>
          </p:cNvPicPr>
          <p:nvPr/>
        </p:nvPicPr>
        <p:blipFill>
          <a:blip r:embed="rId27"/>
          <a:stretch>
            <a:fillRect/>
          </a:stretch>
        </p:blipFill>
        <p:spPr>
          <a:xfrm>
            <a:off x="1209675" y="3657600"/>
            <a:ext cx="247650" cy="142875"/>
          </a:xfrm>
          <a:prstGeom prst="rect">
            <a:avLst/>
          </a:prstGeom>
        </p:spPr>
      </p:pic>
      <p:pic>
        <p:nvPicPr>
          <p:cNvPr id="48" name="Picture 47" descr="tmp8zupscgp.png"/>
          <p:cNvPicPr>
            <a:picLocks noChangeAspect="1"/>
          </p:cNvPicPr>
          <p:nvPr/>
        </p:nvPicPr>
        <p:blipFill>
          <a:blip r:embed="rId28"/>
          <a:stretch>
            <a:fillRect/>
          </a:stretch>
        </p:blipFill>
        <p:spPr>
          <a:xfrm>
            <a:off x="1628775" y="3657600"/>
            <a:ext cx="247650" cy="142875"/>
          </a:xfrm>
          <a:prstGeom prst="rect">
            <a:avLst/>
          </a:prstGeom>
        </p:spPr>
      </p:pic>
      <p:pic>
        <p:nvPicPr>
          <p:cNvPr id="49" name="Picture 48" descr="tmp6o0bo236.png"/>
          <p:cNvPicPr>
            <a:picLocks noChangeAspect="1"/>
          </p:cNvPicPr>
          <p:nvPr/>
        </p:nvPicPr>
        <p:blipFill>
          <a:blip r:embed="rId29"/>
          <a:stretch>
            <a:fillRect/>
          </a:stretch>
        </p:blipFill>
        <p:spPr>
          <a:xfrm>
            <a:off x="2038350" y="3657600"/>
            <a:ext cx="247650" cy="142875"/>
          </a:xfrm>
          <a:prstGeom prst="rect">
            <a:avLst/>
          </a:prstGeom>
        </p:spPr>
      </p:pic>
      <p:pic>
        <p:nvPicPr>
          <p:cNvPr id="50" name="Picture 49" descr="tmpx6p2y3xr.png"/>
          <p:cNvPicPr>
            <a:picLocks noChangeAspect="1"/>
          </p:cNvPicPr>
          <p:nvPr/>
        </p:nvPicPr>
        <p:blipFill>
          <a:blip r:embed="rId30"/>
          <a:stretch>
            <a:fillRect/>
          </a:stretch>
        </p:blipFill>
        <p:spPr>
          <a:xfrm>
            <a:off x="2447925" y="3657600"/>
            <a:ext cx="247650" cy="142875"/>
          </a:xfrm>
          <a:prstGeom prst="rect">
            <a:avLst/>
          </a:prstGeom>
        </p:spPr>
      </p:pic>
      <p:pic>
        <p:nvPicPr>
          <p:cNvPr id="51" name="Picture 50" descr="tmp5v6glo0b.png"/>
          <p:cNvPicPr>
            <a:picLocks noChangeAspect="1"/>
          </p:cNvPicPr>
          <p:nvPr/>
        </p:nvPicPr>
        <p:blipFill>
          <a:blip r:embed="rId31"/>
          <a:stretch>
            <a:fillRect/>
          </a:stretch>
        </p:blipFill>
        <p:spPr>
          <a:xfrm>
            <a:off x="2857500" y="3657600"/>
            <a:ext cx="247650" cy="142875"/>
          </a:xfrm>
          <a:prstGeom prst="rect">
            <a:avLst/>
          </a:prstGeom>
        </p:spPr>
      </p:pic>
      <p:pic>
        <p:nvPicPr>
          <p:cNvPr id="52" name="Picture 51" descr="tmpim5dnj8o.png"/>
          <p:cNvPicPr>
            <a:picLocks noChangeAspect="1"/>
          </p:cNvPicPr>
          <p:nvPr/>
        </p:nvPicPr>
        <p:blipFill>
          <a:blip r:embed="rId32"/>
          <a:stretch>
            <a:fillRect/>
          </a:stretch>
        </p:blipFill>
        <p:spPr>
          <a:xfrm>
            <a:off x="742950" y="3076575"/>
            <a:ext cx="142875" cy="142875"/>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fkjie35z.png"/>
          <p:cNvPicPr>
            <a:picLocks noChangeAspect="1"/>
          </p:cNvPicPr>
          <p:nvPr/>
        </p:nvPicPr>
        <p:blipFill>
          <a:blip r:embed="rId2"/>
          <a:stretch>
            <a:fillRect/>
          </a:stretch>
        </p:blipFill>
        <p:spPr>
          <a:xfrm>
            <a:off x="533400" y="4933950"/>
            <a:ext cx="1133475" cy="266700"/>
          </a:xfrm>
          <a:prstGeom prst="rect">
            <a:avLst/>
          </a:prstGeom>
        </p:spPr>
      </p:pic>
      <p:pic>
        <p:nvPicPr>
          <p:cNvPr id="4" name="Picture 3" descr="tmpcljsyo3y.png"/>
          <p:cNvPicPr>
            <a:picLocks noChangeAspect="1"/>
          </p:cNvPicPr>
          <p:nvPr/>
        </p:nvPicPr>
        <p:blipFill>
          <a:blip r:embed="rId3"/>
          <a:stretch>
            <a:fillRect/>
          </a:stretch>
        </p:blipFill>
        <p:spPr>
          <a:xfrm>
            <a:off x="1771650" y="4933950"/>
            <a:ext cx="923925" cy="266700"/>
          </a:xfrm>
          <a:prstGeom prst="rect">
            <a:avLst/>
          </a:prstGeom>
        </p:spPr>
      </p:pic>
      <p:pic>
        <p:nvPicPr>
          <p:cNvPr id="5" name="Picture 4" descr="tmpsmw18bv1.png"/>
          <p:cNvPicPr>
            <a:picLocks noChangeAspect="1"/>
          </p:cNvPicPr>
          <p:nvPr/>
        </p:nvPicPr>
        <p:blipFill>
          <a:blip r:embed="rId4"/>
          <a:stretch>
            <a:fillRect/>
          </a:stretch>
        </p:blipFill>
        <p:spPr>
          <a:xfrm>
            <a:off x="2800350" y="4933950"/>
            <a:ext cx="819150" cy="266700"/>
          </a:xfrm>
          <a:prstGeom prst="rect">
            <a:avLst/>
          </a:prstGeom>
        </p:spPr>
      </p:pic>
      <p:sp>
        <p:nvSpPr>
          <p:cNvPr id="6" name="Rounded Rectangle 5"/>
          <p:cNvSpPr/>
          <p:nvPr/>
        </p:nvSpPr>
        <p:spPr>
          <a:xfrm>
            <a:off x="555498" y="943965"/>
            <a:ext cx="9165716" cy="2403348"/>
          </a:xfrm>
          <a:prstGeom prst="roundRect">
            <a:avLst>
              <a:gd name="adj" fmla="val 6000"/>
            </a:avLst>
          </a:prstGeom>
          <a:solidFill>
            <a:srgbClr val="FEFEFE"/>
          </a:solidFill>
          <a:ln w="11430">
            <a:solidFill>
              <a:srgbClr val="F3FE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55498" y="3428390"/>
            <a:ext cx="9165716" cy="1233525"/>
          </a:xfrm>
          <a:prstGeom prst="rect">
            <a:avLst/>
          </a:prstGeom>
          <a:solidFill>
            <a:srgbClr val="EDF6FE"/>
          </a:solidFill>
          <a:ln w="11430">
            <a:solidFill>
              <a:srgbClr val="FEFE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6646" y="388010"/>
            <a:ext cx="3485235" cy="306933"/>
          </a:xfrm>
          <a:prstGeom prst="rect">
            <a:avLst/>
          </a:prstGeom>
          <a:noFill/>
          <a:ln>
            <a:noFill/>
          </a:ln>
        </p:spPr>
        <p:txBody>
          <a:bodyPr wrap="none" lIns="19050" rIns="19050" tIns="0" bIns="0" anchor="ctr">
            <a:noAutofit/>
          </a:bodyPr>
          <a:lstStyle/>
          <a:p>
            <a:pPr algn="l"/>
            <a:r>
              <a:rPr sz="2700" b="1">
                <a:solidFill>
                  <a:srgbClr val="405290"/>
                </a:solidFill>
                <a:latin typeface="PingFang SC"/>
              </a:rPr>
              <a:t>静脉升压药</a:t>
            </a:r>
          </a:p>
        </p:txBody>
      </p:sp>
      <p:sp>
        <p:nvSpPr>
          <p:cNvPr id="9" name="TextBox 8"/>
          <p:cNvSpPr txBox="1"/>
          <p:nvPr/>
        </p:nvSpPr>
        <p:spPr>
          <a:xfrm>
            <a:off x="8332470" y="185318"/>
            <a:ext cx="3892600" cy="416966"/>
          </a:xfrm>
          <a:prstGeom prst="rect">
            <a:avLst/>
          </a:prstGeom>
          <a:noFill/>
          <a:ln>
            <a:noFill/>
          </a:ln>
        </p:spPr>
        <p:txBody>
          <a:bodyPr wrap="none" lIns="19050" rIns="19050" tIns="0" bIns="0" anchor="ctr">
            <a:noAutofit/>
          </a:bodyPr>
          <a:lstStyle/>
          <a:p>
            <a:pPr algn="r"/>
            <a:r>
              <a:rPr sz="1800" b="0">
                <a:solidFill>
                  <a:srgbClr val="AFC3A9"/>
                </a:solidFill>
                <a:latin typeface="PingFang SC"/>
              </a:rPr>
              <a:t>Surviving Sepsis Campaign</a:t>
            </a:r>
          </a:p>
        </p:txBody>
      </p:sp>
      <p:sp>
        <p:nvSpPr>
          <p:cNvPr id="10" name="TextBox 9"/>
          <p:cNvSpPr txBox="1"/>
          <p:nvPr/>
        </p:nvSpPr>
        <p:spPr>
          <a:xfrm>
            <a:off x="946404" y="1262481"/>
            <a:ext cx="8106156" cy="185318"/>
          </a:xfrm>
          <a:prstGeom prst="rect">
            <a:avLst/>
          </a:prstGeom>
          <a:noFill/>
          <a:ln>
            <a:noFill/>
          </a:ln>
        </p:spPr>
        <p:txBody>
          <a:bodyPr wrap="square" lIns="19050" rIns="19050" tIns="0" bIns="0" anchor="t">
            <a:normAutofit/>
          </a:bodyPr>
          <a:lstStyle/>
          <a:p>
            <a:pPr algn="l"/>
            <a:r>
              <a:rPr sz="1250" b="0">
                <a:solidFill>
                  <a:srgbClr val="818884"/>
                </a:solidFill>
                <a:latin typeface="PingFang SC"/>
              </a:rPr>
              <a:t>56. 对于使用去甲肾上腺素剂量不断增加的感染性休克成人患者，我们 “建议” 加用血管加压素。</a:t>
            </a:r>
          </a:p>
        </p:txBody>
      </p:sp>
      <p:sp>
        <p:nvSpPr>
          <p:cNvPr id="11" name="TextBox 10"/>
          <p:cNvSpPr txBox="1"/>
          <p:nvPr/>
        </p:nvSpPr>
        <p:spPr>
          <a:xfrm>
            <a:off x="946404" y="1882140"/>
            <a:ext cx="8106156" cy="185318"/>
          </a:xfrm>
          <a:prstGeom prst="rect">
            <a:avLst/>
          </a:prstGeom>
          <a:noFill/>
          <a:ln>
            <a:noFill/>
          </a:ln>
        </p:spPr>
        <p:txBody>
          <a:bodyPr wrap="square" lIns="19050" rIns="19050" tIns="0" bIns="0" anchor="t">
            <a:normAutofit/>
          </a:bodyPr>
          <a:lstStyle/>
          <a:p>
            <a:pPr algn="l"/>
            <a:r>
              <a:rPr sz="1140" b="0">
                <a:solidFill>
                  <a:srgbClr val="818885"/>
                </a:solidFill>
                <a:latin typeface="PingFang SC"/>
              </a:rPr>
              <a:t>57. 对于使用去甲肾上腺素和加压素后平均动脉压水平仍不理想的感染性休克成人患者，我们 “建议” 加用肾上腺素。</a:t>
            </a:r>
          </a:p>
        </p:txBody>
      </p:sp>
      <p:sp>
        <p:nvSpPr>
          <p:cNvPr id="12" name="TextBox 11"/>
          <p:cNvSpPr txBox="1"/>
          <p:nvPr/>
        </p:nvSpPr>
        <p:spPr>
          <a:xfrm>
            <a:off x="946404" y="2501798"/>
            <a:ext cx="8106156" cy="185318"/>
          </a:xfrm>
          <a:prstGeom prst="rect">
            <a:avLst/>
          </a:prstGeom>
          <a:noFill/>
          <a:ln>
            <a:noFill/>
          </a:ln>
        </p:spPr>
        <p:txBody>
          <a:bodyPr wrap="square" lIns="19050" rIns="19050" tIns="0" bIns="0" anchor="t">
            <a:normAutofit/>
          </a:bodyPr>
          <a:lstStyle/>
          <a:p>
            <a:pPr algn="l"/>
            <a:r>
              <a:rPr sz="1140" b="0">
                <a:solidFill>
                  <a:srgbClr val="848B88"/>
                </a:solidFill>
                <a:latin typeface="PingFang SC"/>
              </a:rPr>
              <a:t>58. 对于伴有心功能不全的感染性休克成人患者，我们 “建议” 使用去甲肾上腺素或肾上腺素作为一线血管活性药物。</a:t>
            </a:r>
          </a:p>
        </p:txBody>
      </p:sp>
      <p:sp>
        <p:nvSpPr>
          <p:cNvPr id="13" name="TextBox 12"/>
          <p:cNvSpPr txBox="1"/>
          <p:nvPr/>
        </p:nvSpPr>
        <p:spPr>
          <a:xfrm>
            <a:off x="802386" y="3619500"/>
            <a:ext cx="3032607" cy="133197"/>
          </a:xfrm>
          <a:prstGeom prst="rect">
            <a:avLst/>
          </a:prstGeom>
          <a:noFill/>
          <a:ln>
            <a:noFill/>
          </a:ln>
        </p:spPr>
        <p:txBody>
          <a:bodyPr wrap="none" lIns="19050" rIns="19050" tIns="0" bIns="0" anchor="ctr">
            <a:noAutofit/>
          </a:bodyPr>
          <a:lstStyle/>
          <a:p>
            <a:pPr algn="l"/>
            <a:r>
              <a:rPr sz="1350" b="1">
                <a:solidFill>
                  <a:srgbClr val="70A5B7"/>
                </a:solidFill>
                <a:latin typeface="PingFang SC"/>
              </a:rPr>
              <a:t>2021年声明 (57)</a:t>
            </a:r>
          </a:p>
        </p:txBody>
      </p:sp>
      <p:sp>
        <p:nvSpPr>
          <p:cNvPr id="14" name="TextBox 13"/>
          <p:cNvSpPr txBox="1"/>
          <p:nvPr/>
        </p:nvSpPr>
        <p:spPr>
          <a:xfrm>
            <a:off x="802386" y="3833774"/>
            <a:ext cx="8250174" cy="185318"/>
          </a:xfrm>
          <a:prstGeom prst="rect">
            <a:avLst/>
          </a:prstGeom>
          <a:noFill/>
          <a:ln>
            <a:noFill/>
          </a:ln>
        </p:spPr>
        <p:txBody>
          <a:bodyPr wrap="square" lIns="19050" rIns="19050" tIns="0" bIns="0" anchor="t">
            <a:normAutofit/>
          </a:bodyPr>
          <a:lstStyle/>
          <a:p>
            <a:pPr algn="l"/>
            <a:r>
              <a:rPr sz="1170" b="0">
                <a:solidFill>
                  <a:srgbClr val="9CA2A8"/>
                </a:solidFill>
                <a:latin typeface="PingFang SC"/>
              </a:rPr>
              <a:t>对于尽管使用去甲肾上腺素和血管加压素但平均动脉压水平仍不足的感染性休克成年患者，我们建议加用肾上腺素。</a:t>
            </a:r>
          </a:p>
        </p:txBody>
      </p:sp>
      <p:sp>
        <p:nvSpPr>
          <p:cNvPr id="15" name="TextBox 14"/>
          <p:cNvSpPr txBox="1"/>
          <p:nvPr/>
        </p:nvSpPr>
        <p:spPr>
          <a:xfrm>
            <a:off x="596646" y="5455310"/>
            <a:ext cx="2579979" cy="133197"/>
          </a:xfrm>
          <a:prstGeom prst="rect">
            <a:avLst/>
          </a:prstGeom>
          <a:noFill/>
          <a:ln>
            <a:noFill/>
          </a:ln>
        </p:spPr>
        <p:txBody>
          <a:bodyPr wrap="none" lIns="19050" rIns="19050" tIns="0" bIns="0" anchor="ctr">
            <a:noAutofit/>
          </a:bodyPr>
          <a:lstStyle/>
          <a:p>
            <a:pPr algn="l"/>
            <a:r>
              <a:rPr sz="1050" b="0">
                <a:solidFill>
                  <a:srgbClr val="BFD3D7"/>
                </a:solidFill>
                <a:latin typeface="PingFang SC"/>
              </a:rPr>
              <a:t>公众号·指南导航</a:t>
            </a:r>
          </a:p>
        </p:txBody>
      </p:sp>
      <p:sp>
        <p:nvSpPr>
          <p:cNvPr id="16" name="TextBox 15"/>
          <p:cNvSpPr txBox="1"/>
          <p:nvPr/>
        </p:nvSpPr>
        <p:spPr>
          <a:xfrm>
            <a:off x="10287000" y="5339486"/>
            <a:ext cx="0" cy="208483"/>
          </a:xfrm>
          <a:prstGeom prst="rect">
            <a:avLst/>
          </a:prstGeom>
          <a:noFill/>
          <a:ln>
            <a:noFill/>
          </a:ln>
        </p:spPr>
        <p:txBody>
          <a:bodyPr wrap="none" lIns="19050" rIns="19050" tIns="0" bIns="0" anchor="ctr">
            <a:noAutofit/>
          </a:bodyPr>
          <a:lstStyle/>
          <a:p>
            <a:pPr algn="r"/>
            <a:r>
              <a:rPr sz="1350" b="0">
                <a:solidFill>
                  <a:srgbClr val="000000"/>
                </a:solidFill>
                <a:latin typeface="PingFang SC"/>
              </a:rPr>
              <a:t>36</a:t>
            </a:r>
          </a:p>
        </p:txBody>
      </p:sp>
      <p:sp>
        <p:nvSpPr>
          <p:cNvPr id="17" name="TextBox 16"/>
          <p:cNvSpPr txBox="1"/>
          <p:nvPr/>
        </p:nvSpPr>
        <p:spPr>
          <a:xfrm>
            <a:off x="9176004" y="1262481"/>
            <a:ext cx="678941" cy="138988"/>
          </a:xfrm>
          <a:prstGeom prst="rect">
            <a:avLst/>
          </a:prstGeom>
          <a:noFill/>
          <a:ln>
            <a:noFill/>
          </a:ln>
        </p:spPr>
        <p:txBody>
          <a:bodyPr wrap="none" lIns="19050" rIns="19050" tIns="0" bIns="0" anchor="ctr">
            <a:noAutofit/>
          </a:bodyPr>
          <a:lstStyle/>
          <a:p>
            <a:pPr algn="r"/>
            <a:r>
              <a:rPr sz="1200" b="0">
                <a:solidFill>
                  <a:srgbClr val="4D585F"/>
                </a:solidFill>
                <a:latin typeface="PingFang SC"/>
              </a:rPr>
              <a:t>修订</a:t>
            </a:r>
          </a:p>
        </p:txBody>
      </p:sp>
      <p:sp>
        <p:nvSpPr>
          <p:cNvPr id="18" name="TextBox 17"/>
          <p:cNvSpPr txBox="1"/>
          <p:nvPr/>
        </p:nvSpPr>
        <p:spPr>
          <a:xfrm>
            <a:off x="9176004" y="1882140"/>
            <a:ext cx="678941" cy="138988"/>
          </a:xfrm>
          <a:prstGeom prst="rect">
            <a:avLst/>
          </a:prstGeom>
          <a:noFill/>
          <a:ln>
            <a:noFill/>
          </a:ln>
        </p:spPr>
        <p:txBody>
          <a:bodyPr wrap="none" lIns="19050" rIns="19050" tIns="0" bIns="0" anchor="ctr">
            <a:noAutofit/>
          </a:bodyPr>
          <a:lstStyle/>
          <a:p>
            <a:pPr algn="r"/>
            <a:r>
              <a:rPr sz="1200" b="0">
                <a:solidFill>
                  <a:srgbClr val="5D696F"/>
                </a:solidFill>
                <a:latin typeface="PingFang SC"/>
              </a:rPr>
              <a:t>修订</a:t>
            </a:r>
          </a:p>
        </p:txBody>
      </p:sp>
      <p:sp>
        <p:nvSpPr>
          <p:cNvPr id="19" name="TextBox 18"/>
          <p:cNvSpPr txBox="1"/>
          <p:nvPr/>
        </p:nvSpPr>
        <p:spPr>
          <a:xfrm>
            <a:off x="9176004" y="2443886"/>
            <a:ext cx="678941" cy="138988"/>
          </a:xfrm>
          <a:prstGeom prst="rect">
            <a:avLst/>
          </a:prstGeom>
          <a:noFill/>
          <a:ln>
            <a:noFill/>
          </a:ln>
        </p:spPr>
        <p:txBody>
          <a:bodyPr wrap="none" lIns="19050" rIns="19050" tIns="0" bIns="0" anchor="ctr">
            <a:noAutofit/>
          </a:bodyPr>
          <a:lstStyle/>
          <a:p>
            <a:pPr algn="r"/>
            <a:r>
              <a:rPr sz="1200" b="0">
                <a:solidFill>
                  <a:srgbClr val="83ABC7"/>
                </a:solidFill>
                <a:latin typeface="PingFang SC"/>
              </a:rPr>
              <a:t>新增</a:t>
            </a:r>
          </a:p>
        </p:txBody>
      </p:sp>
      <p:pic>
        <p:nvPicPr>
          <p:cNvPr id="20" name="Picture 19" descr="tmpkmpt0kd0.png"/>
          <p:cNvPicPr>
            <a:picLocks noChangeAspect="1"/>
          </p:cNvPicPr>
          <p:nvPr/>
        </p:nvPicPr>
        <p:blipFill>
          <a:blip r:embed="rId5"/>
          <a:stretch>
            <a:fillRect/>
          </a:stretch>
        </p:blipFill>
        <p:spPr>
          <a:xfrm>
            <a:off x="1209675" y="1571625"/>
            <a:ext cx="247650" cy="180975"/>
          </a:xfrm>
          <a:prstGeom prst="rect">
            <a:avLst/>
          </a:prstGeom>
        </p:spPr>
      </p:pic>
      <p:pic>
        <p:nvPicPr>
          <p:cNvPr id="21" name="Picture 20" descr="tmpkppaxfmb.png"/>
          <p:cNvPicPr>
            <a:picLocks noChangeAspect="1"/>
          </p:cNvPicPr>
          <p:nvPr/>
        </p:nvPicPr>
        <p:blipFill>
          <a:blip r:embed="rId6"/>
          <a:stretch>
            <a:fillRect/>
          </a:stretch>
        </p:blipFill>
        <p:spPr>
          <a:xfrm>
            <a:off x="1562100" y="1571625"/>
            <a:ext cx="247650" cy="180975"/>
          </a:xfrm>
          <a:prstGeom prst="rect">
            <a:avLst/>
          </a:prstGeom>
        </p:spPr>
      </p:pic>
      <p:pic>
        <p:nvPicPr>
          <p:cNvPr id="22" name="Picture 21" descr="tmpx9cp2u7q.png"/>
          <p:cNvPicPr>
            <a:picLocks noChangeAspect="1"/>
          </p:cNvPicPr>
          <p:nvPr/>
        </p:nvPicPr>
        <p:blipFill>
          <a:blip r:embed="rId7"/>
          <a:stretch>
            <a:fillRect/>
          </a:stretch>
        </p:blipFill>
        <p:spPr>
          <a:xfrm>
            <a:off x="1914525" y="1571625"/>
            <a:ext cx="247650" cy="180975"/>
          </a:xfrm>
          <a:prstGeom prst="rect">
            <a:avLst/>
          </a:prstGeom>
        </p:spPr>
      </p:pic>
      <p:pic>
        <p:nvPicPr>
          <p:cNvPr id="23" name="Picture 22" descr="tmpmwp9nljd.png"/>
          <p:cNvPicPr>
            <a:picLocks noChangeAspect="1"/>
          </p:cNvPicPr>
          <p:nvPr/>
        </p:nvPicPr>
        <p:blipFill>
          <a:blip r:embed="rId8"/>
          <a:stretch>
            <a:fillRect/>
          </a:stretch>
        </p:blipFill>
        <p:spPr>
          <a:xfrm>
            <a:off x="2266950" y="1571625"/>
            <a:ext cx="247650" cy="180975"/>
          </a:xfrm>
          <a:prstGeom prst="rect">
            <a:avLst/>
          </a:prstGeom>
        </p:spPr>
      </p:pic>
      <p:pic>
        <p:nvPicPr>
          <p:cNvPr id="24" name="Picture 23" descr="tmp7ut_ydmp.png"/>
          <p:cNvPicPr>
            <a:picLocks noChangeAspect="1"/>
          </p:cNvPicPr>
          <p:nvPr/>
        </p:nvPicPr>
        <p:blipFill>
          <a:blip r:embed="rId9"/>
          <a:stretch>
            <a:fillRect/>
          </a:stretch>
        </p:blipFill>
        <p:spPr>
          <a:xfrm>
            <a:off x="2609850" y="1571625"/>
            <a:ext cx="247650" cy="180975"/>
          </a:xfrm>
          <a:prstGeom prst="rect">
            <a:avLst/>
          </a:prstGeom>
        </p:spPr>
      </p:pic>
      <p:pic>
        <p:nvPicPr>
          <p:cNvPr id="25" name="Picture 24" descr="tmp5xes12fo.png"/>
          <p:cNvPicPr>
            <a:picLocks noChangeAspect="1"/>
          </p:cNvPicPr>
          <p:nvPr/>
        </p:nvPicPr>
        <p:blipFill>
          <a:blip r:embed="rId10"/>
          <a:stretch>
            <a:fillRect/>
          </a:stretch>
        </p:blipFill>
        <p:spPr>
          <a:xfrm>
            <a:off x="1209675" y="2190750"/>
            <a:ext cx="247650" cy="180975"/>
          </a:xfrm>
          <a:prstGeom prst="rect">
            <a:avLst/>
          </a:prstGeom>
        </p:spPr>
      </p:pic>
      <p:pic>
        <p:nvPicPr>
          <p:cNvPr id="26" name="Picture 25" descr="tmpsy92co8u.png"/>
          <p:cNvPicPr>
            <a:picLocks noChangeAspect="1"/>
          </p:cNvPicPr>
          <p:nvPr/>
        </p:nvPicPr>
        <p:blipFill>
          <a:blip r:embed="rId11"/>
          <a:stretch>
            <a:fillRect/>
          </a:stretch>
        </p:blipFill>
        <p:spPr>
          <a:xfrm>
            <a:off x="1562100" y="2190750"/>
            <a:ext cx="247650" cy="180975"/>
          </a:xfrm>
          <a:prstGeom prst="rect">
            <a:avLst/>
          </a:prstGeom>
        </p:spPr>
      </p:pic>
      <p:pic>
        <p:nvPicPr>
          <p:cNvPr id="27" name="Picture 26" descr="tmpndxhb2yl.png"/>
          <p:cNvPicPr>
            <a:picLocks noChangeAspect="1"/>
          </p:cNvPicPr>
          <p:nvPr/>
        </p:nvPicPr>
        <p:blipFill>
          <a:blip r:embed="rId12"/>
          <a:stretch>
            <a:fillRect/>
          </a:stretch>
        </p:blipFill>
        <p:spPr>
          <a:xfrm>
            <a:off x="1914525" y="2190750"/>
            <a:ext cx="247650" cy="180975"/>
          </a:xfrm>
          <a:prstGeom prst="rect">
            <a:avLst/>
          </a:prstGeom>
        </p:spPr>
      </p:pic>
      <p:pic>
        <p:nvPicPr>
          <p:cNvPr id="28" name="Picture 27" descr="tmp7ni3k6y9.png"/>
          <p:cNvPicPr>
            <a:picLocks noChangeAspect="1"/>
          </p:cNvPicPr>
          <p:nvPr/>
        </p:nvPicPr>
        <p:blipFill>
          <a:blip r:embed="rId13"/>
          <a:stretch>
            <a:fillRect/>
          </a:stretch>
        </p:blipFill>
        <p:spPr>
          <a:xfrm>
            <a:off x="2266950" y="2190750"/>
            <a:ext cx="247650" cy="180975"/>
          </a:xfrm>
          <a:prstGeom prst="rect">
            <a:avLst/>
          </a:prstGeom>
        </p:spPr>
      </p:pic>
      <p:pic>
        <p:nvPicPr>
          <p:cNvPr id="29" name="Picture 28" descr="tmp0vcbbv6s.png"/>
          <p:cNvPicPr>
            <a:picLocks noChangeAspect="1"/>
          </p:cNvPicPr>
          <p:nvPr/>
        </p:nvPicPr>
        <p:blipFill>
          <a:blip r:embed="rId14"/>
          <a:stretch>
            <a:fillRect/>
          </a:stretch>
        </p:blipFill>
        <p:spPr>
          <a:xfrm>
            <a:off x="2609850" y="2190750"/>
            <a:ext cx="247650" cy="180975"/>
          </a:xfrm>
          <a:prstGeom prst="rect">
            <a:avLst/>
          </a:prstGeom>
        </p:spPr>
      </p:pic>
      <p:pic>
        <p:nvPicPr>
          <p:cNvPr id="30" name="Picture 29" descr="tmpg2m6sjoi.png"/>
          <p:cNvPicPr>
            <a:picLocks noChangeAspect="1"/>
          </p:cNvPicPr>
          <p:nvPr/>
        </p:nvPicPr>
        <p:blipFill>
          <a:blip r:embed="rId15"/>
          <a:stretch>
            <a:fillRect/>
          </a:stretch>
        </p:blipFill>
        <p:spPr>
          <a:xfrm>
            <a:off x="1562100" y="2809875"/>
            <a:ext cx="247650" cy="180975"/>
          </a:xfrm>
          <a:prstGeom prst="rect">
            <a:avLst/>
          </a:prstGeom>
        </p:spPr>
      </p:pic>
      <p:pic>
        <p:nvPicPr>
          <p:cNvPr id="31" name="Picture 30" descr="tmpsq_c5j_6.png"/>
          <p:cNvPicPr>
            <a:picLocks noChangeAspect="1"/>
          </p:cNvPicPr>
          <p:nvPr/>
        </p:nvPicPr>
        <p:blipFill>
          <a:blip r:embed="rId16"/>
          <a:stretch>
            <a:fillRect/>
          </a:stretch>
        </p:blipFill>
        <p:spPr>
          <a:xfrm>
            <a:off x="1914525" y="2809875"/>
            <a:ext cx="247650" cy="180975"/>
          </a:xfrm>
          <a:prstGeom prst="rect">
            <a:avLst/>
          </a:prstGeom>
        </p:spPr>
      </p:pic>
      <p:pic>
        <p:nvPicPr>
          <p:cNvPr id="32" name="Picture 31" descr="tmpmbmozswn.png"/>
          <p:cNvPicPr>
            <a:picLocks noChangeAspect="1"/>
          </p:cNvPicPr>
          <p:nvPr/>
        </p:nvPicPr>
        <p:blipFill>
          <a:blip r:embed="rId17"/>
          <a:stretch>
            <a:fillRect/>
          </a:stretch>
        </p:blipFill>
        <p:spPr>
          <a:xfrm>
            <a:off x="2266950" y="2809875"/>
            <a:ext cx="247650" cy="180975"/>
          </a:xfrm>
          <a:prstGeom prst="rect">
            <a:avLst/>
          </a:prstGeom>
        </p:spPr>
      </p:pic>
      <p:pic>
        <p:nvPicPr>
          <p:cNvPr id="33" name="Picture 32" descr="tmpqgt4u2o2.png"/>
          <p:cNvPicPr>
            <a:picLocks noChangeAspect="1"/>
          </p:cNvPicPr>
          <p:nvPr/>
        </p:nvPicPr>
        <p:blipFill>
          <a:blip r:embed="rId18"/>
          <a:stretch>
            <a:fillRect/>
          </a:stretch>
        </p:blipFill>
        <p:spPr>
          <a:xfrm>
            <a:off x="2609850" y="2809875"/>
            <a:ext cx="247650" cy="180975"/>
          </a:xfrm>
          <a:prstGeom prst="rect">
            <a:avLst/>
          </a:prstGeom>
        </p:spPr>
      </p:pic>
      <p:pic>
        <p:nvPicPr>
          <p:cNvPr id="34" name="Picture 33" descr="tmpu34_mlly.png"/>
          <p:cNvPicPr>
            <a:picLocks noChangeAspect="1"/>
          </p:cNvPicPr>
          <p:nvPr/>
        </p:nvPicPr>
        <p:blipFill>
          <a:blip r:embed="rId19"/>
          <a:stretch>
            <a:fillRect/>
          </a:stretch>
        </p:blipFill>
        <p:spPr>
          <a:xfrm>
            <a:off x="2962275" y="2809875"/>
            <a:ext cx="247650" cy="180975"/>
          </a:xfrm>
          <a:prstGeom prst="rect">
            <a:avLst/>
          </a:prstGeom>
        </p:spPr>
      </p:pic>
      <p:pic>
        <p:nvPicPr>
          <p:cNvPr id="35" name="Picture 34" descr="tmpbxkvkdq_.png"/>
          <p:cNvPicPr>
            <a:picLocks noChangeAspect="1"/>
          </p:cNvPicPr>
          <p:nvPr/>
        </p:nvPicPr>
        <p:blipFill>
          <a:blip r:embed="rId20"/>
          <a:stretch>
            <a:fillRect/>
          </a:stretch>
        </p:blipFill>
        <p:spPr>
          <a:xfrm>
            <a:off x="1209675" y="4219575"/>
            <a:ext cx="247650" cy="171450"/>
          </a:xfrm>
          <a:prstGeom prst="rect">
            <a:avLst/>
          </a:prstGeom>
        </p:spPr>
      </p:pic>
      <p:pic>
        <p:nvPicPr>
          <p:cNvPr id="36" name="Picture 35" descr="tmpj7cojft9.png"/>
          <p:cNvPicPr>
            <a:picLocks noChangeAspect="1"/>
          </p:cNvPicPr>
          <p:nvPr/>
        </p:nvPicPr>
        <p:blipFill>
          <a:blip r:embed="rId21"/>
          <a:stretch>
            <a:fillRect/>
          </a:stretch>
        </p:blipFill>
        <p:spPr>
          <a:xfrm>
            <a:off x="1562100" y="4219575"/>
            <a:ext cx="247650" cy="171450"/>
          </a:xfrm>
          <a:prstGeom prst="rect">
            <a:avLst/>
          </a:prstGeom>
        </p:spPr>
      </p:pic>
      <p:pic>
        <p:nvPicPr>
          <p:cNvPr id="37" name="Picture 36" descr="tmpzc7alhsu.png"/>
          <p:cNvPicPr>
            <a:picLocks noChangeAspect="1"/>
          </p:cNvPicPr>
          <p:nvPr/>
        </p:nvPicPr>
        <p:blipFill>
          <a:blip r:embed="rId22"/>
          <a:stretch>
            <a:fillRect/>
          </a:stretch>
        </p:blipFill>
        <p:spPr>
          <a:xfrm>
            <a:off x="1914525" y="4219575"/>
            <a:ext cx="247650" cy="171450"/>
          </a:xfrm>
          <a:prstGeom prst="rect">
            <a:avLst/>
          </a:prstGeom>
        </p:spPr>
      </p:pic>
      <p:pic>
        <p:nvPicPr>
          <p:cNvPr id="38" name="Picture 37" descr="tmpcc7hsx1r.png"/>
          <p:cNvPicPr>
            <a:picLocks noChangeAspect="1"/>
          </p:cNvPicPr>
          <p:nvPr/>
        </p:nvPicPr>
        <p:blipFill>
          <a:blip r:embed="rId23"/>
          <a:stretch>
            <a:fillRect/>
          </a:stretch>
        </p:blipFill>
        <p:spPr>
          <a:xfrm>
            <a:off x="2266950" y="4219575"/>
            <a:ext cx="247650" cy="171450"/>
          </a:xfrm>
          <a:prstGeom prst="rect">
            <a:avLst/>
          </a:prstGeom>
        </p:spPr>
      </p:pic>
      <p:pic>
        <p:nvPicPr>
          <p:cNvPr id="39" name="Picture 38" descr="tmp_1r1lxqb.png"/>
          <p:cNvPicPr>
            <a:picLocks noChangeAspect="1"/>
          </p:cNvPicPr>
          <p:nvPr/>
        </p:nvPicPr>
        <p:blipFill>
          <a:blip r:embed="rId24"/>
          <a:stretch>
            <a:fillRect/>
          </a:stretch>
        </p:blipFill>
        <p:spPr>
          <a:xfrm>
            <a:off x="2609850" y="4219575"/>
            <a:ext cx="247650" cy="17145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55498" y="967130"/>
            <a:ext cx="9134855" cy="2044293"/>
          </a:xfrm>
          <a:prstGeom prst="roundRect">
            <a:avLst>
              <a:gd name="adj" fmla="val 6000"/>
            </a:avLst>
          </a:prstGeom>
          <a:solidFill>
            <a:srgbClr val="FEFEFD"/>
          </a:solidFill>
          <a:ln w="11430">
            <a:solidFill>
              <a:srgbClr val="0E599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55498" y="3115665"/>
            <a:ext cx="9134855" cy="2050084"/>
          </a:xfrm>
          <a:prstGeom prst="rect">
            <a:avLst/>
          </a:prstGeom>
          <a:solidFill>
            <a:srgbClr val="F1FEFE"/>
          </a:solidFill>
          <a:ln w="11430">
            <a:solidFill>
              <a:srgbClr val="DDF8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6933" y="399592"/>
            <a:ext cx="2149983" cy="289560"/>
          </a:xfrm>
          <a:prstGeom prst="rect">
            <a:avLst/>
          </a:prstGeom>
          <a:noFill/>
          <a:ln>
            <a:noFill/>
          </a:ln>
        </p:spPr>
        <p:txBody>
          <a:bodyPr wrap="none" lIns="19050" rIns="19050" tIns="0" bIns="0" anchor="ctr">
            <a:noAutofit/>
          </a:bodyPr>
          <a:lstStyle/>
          <a:p>
            <a:pPr algn="l"/>
            <a:r>
              <a:rPr sz="2700" b="1">
                <a:solidFill>
                  <a:srgbClr val="3D4F90"/>
                </a:solidFill>
                <a:latin typeface="PingFang SC"/>
              </a:rPr>
              <a:t>亚甲蓝</a:t>
            </a:r>
          </a:p>
        </p:txBody>
      </p:sp>
      <p:sp>
        <p:nvSpPr>
          <p:cNvPr id="6" name="TextBox 5"/>
          <p:cNvSpPr txBox="1"/>
          <p:nvPr/>
        </p:nvSpPr>
        <p:spPr>
          <a:xfrm>
            <a:off x="8353044" y="179527"/>
            <a:ext cx="3779443" cy="411175"/>
          </a:xfrm>
          <a:prstGeom prst="rect">
            <a:avLst/>
          </a:prstGeom>
          <a:noFill/>
          <a:ln>
            <a:noFill/>
          </a:ln>
        </p:spPr>
        <p:txBody>
          <a:bodyPr wrap="none" lIns="19050" rIns="19050" tIns="0" bIns="0" anchor="ctr">
            <a:noAutofit/>
          </a:bodyPr>
          <a:lstStyle/>
          <a:p>
            <a:pPr algn="r"/>
            <a:r>
              <a:rPr sz="1800" b="0">
                <a:solidFill>
                  <a:srgbClr val="AFC4A9"/>
                </a:solidFill>
                <a:latin typeface="PingFang SC"/>
              </a:rPr>
              <a:t>Surviving Sepsis Campaign</a:t>
            </a:r>
          </a:p>
        </p:txBody>
      </p:sp>
      <p:sp>
        <p:nvSpPr>
          <p:cNvPr id="7" name="TextBox 6"/>
          <p:cNvSpPr txBox="1"/>
          <p:nvPr/>
        </p:nvSpPr>
        <p:spPr>
          <a:xfrm>
            <a:off x="966978" y="1227734"/>
            <a:ext cx="8311896" cy="347472"/>
          </a:xfrm>
          <a:prstGeom prst="rect">
            <a:avLst/>
          </a:prstGeom>
          <a:noFill/>
          <a:ln>
            <a:noFill/>
          </a:ln>
        </p:spPr>
        <p:txBody>
          <a:bodyPr wrap="square" lIns="19050" rIns="19050" tIns="0" bIns="0" anchor="t">
            <a:normAutofit/>
          </a:bodyPr>
          <a:lstStyle/>
          <a:p>
            <a:pPr algn="l"/>
            <a:r>
              <a:rPr sz="1350" b="0">
                <a:solidFill>
                  <a:srgbClr val="7E868A"/>
                </a:solidFill>
                <a:latin typeface="PingFang SC"/>
              </a:rPr>
              <a:t>59. 对于患有难治性感染性休克且血管加压药需求不断增加的成年人，目前“证据不足”，无法就静脉注射亚甲蓝提出建议。</a:t>
            </a:r>
          </a:p>
        </p:txBody>
      </p:sp>
      <p:sp>
        <p:nvSpPr>
          <p:cNvPr id="8" name="TextBox 7"/>
          <p:cNvSpPr txBox="1"/>
          <p:nvPr/>
        </p:nvSpPr>
        <p:spPr>
          <a:xfrm>
            <a:off x="1275587" y="1864766"/>
            <a:ext cx="8003286" cy="231647"/>
          </a:xfrm>
          <a:prstGeom prst="rect">
            <a:avLst/>
          </a:prstGeom>
          <a:noFill/>
          <a:ln>
            <a:noFill/>
          </a:ln>
        </p:spPr>
        <p:txBody>
          <a:bodyPr wrap="square" lIns="19050" rIns="19050" tIns="0" bIns="0" anchor="t">
            <a:normAutofit/>
          </a:bodyPr>
          <a:lstStyle/>
          <a:p>
            <a:pPr algn="l"/>
            <a:r>
              <a:rPr sz="1130" b="0">
                <a:solidFill>
                  <a:srgbClr val="AEC5A3"/>
                </a:solidFill>
                <a:latin typeface="PingFang SC"/>
              </a:rPr>
              <a:t>备注：尽管亚甲蓝可能改善血压，但尚无足够证据确定将其用作挽救治疗是否能提高生存率；一些患有潜在可治疗疾病的患者可能会看重进行一次尝试。</a:t>
            </a:r>
          </a:p>
        </p:txBody>
      </p:sp>
      <p:sp>
        <p:nvSpPr>
          <p:cNvPr id="9" name="TextBox 8"/>
          <p:cNvSpPr txBox="1"/>
          <p:nvPr/>
        </p:nvSpPr>
        <p:spPr>
          <a:xfrm>
            <a:off x="1275587" y="2212238"/>
            <a:ext cx="8003286" cy="521208"/>
          </a:xfrm>
          <a:prstGeom prst="rect">
            <a:avLst/>
          </a:prstGeom>
          <a:noFill/>
          <a:ln>
            <a:noFill/>
          </a:ln>
        </p:spPr>
        <p:txBody>
          <a:bodyPr wrap="square" lIns="19050" rIns="19050" tIns="0" bIns="0" anchor="t">
            <a:normAutofit/>
          </a:bodyPr>
          <a:lstStyle/>
          <a:p>
            <a:pPr algn="l"/>
            <a:r>
              <a:rPr sz="1200" b="0">
                <a:solidFill>
                  <a:srgbClr val="ADC1A3"/>
                </a:solidFill>
                <a:latin typeface="PingFang SC"/>
              </a:rPr>
              <a:t>备注：“在我们的临床实践中”，69%的专家小组成员“从不”或“几乎从不”将亚甲蓝用作挽救治疗，23%的成员“有时”使用，6%的成员“通常”使用，1.5%的成员“几乎总是”使用。</a:t>
            </a:r>
          </a:p>
        </p:txBody>
      </p:sp>
      <p:sp>
        <p:nvSpPr>
          <p:cNvPr id="10" name="TextBox 9"/>
          <p:cNvSpPr txBox="1"/>
          <p:nvPr/>
        </p:nvSpPr>
        <p:spPr>
          <a:xfrm>
            <a:off x="761238" y="3254654"/>
            <a:ext cx="8723376" cy="637032"/>
          </a:xfrm>
          <a:prstGeom prst="rect">
            <a:avLst/>
          </a:prstGeom>
          <a:noFill/>
          <a:ln>
            <a:noFill/>
          </a:ln>
        </p:spPr>
        <p:txBody>
          <a:bodyPr wrap="square" lIns="19050" rIns="19050" tIns="0" bIns="0" anchor="t">
            <a:normAutofit/>
          </a:bodyPr>
          <a:lstStyle/>
          <a:p>
            <a:pPr algn="l"/>
            <a:r>
              <a:rPr sz="1200" b="0">
                <a:solidFill>
                  <a:srgbClr val="7D8D90"/>
                </a:solidFill>
                <a:latin typeface="PingFang SC"/>
              </a:rPr>
              <a:t>• 对于原本有可能存活并恢复到患者可接受生活质量的患者而言，亚甲蓝可能更易被接受；而对于那些长期存活或恢复到可接受生活质量可能性不大的濒死患者，亚甲蓝则不太可能被接受。因此，专家组就静脉使用或不使用亚甲蓝治疗难治性感染性休克给出了有条件的建议。</a:t>
            </a:r>
          </a:p>
        </p:txBody>
      </p:sp>
      <p:sp>
        <p:nvSpPr>
          <p:cNvPr id="11" name="TextBox 10"/>
          <p:cNvSpPr txBox="1"/>
          <p:nvPr/>
        </p:nvSpPr>
        <p:spPr>
          <a:xfrm>
            <a:off x="761238" y="3949598"/>
            <a:ext cx="8723376" cy="405384"/>
          </a:xfrm>
          <a:prstGeom prst="rect">
            <a:avLst/>
          </a:prstGeom>
          <a:noFill/>
          <a:ln>
            <a:noFill/>
          </a:ln>
        </p:spPr>
        <p:txBody>
          <a:bodyPr wrap="square" lIns="19050" rIns="19050" tIns="0" bIns="0" anchor="t">
            <a:normAutofit/>
          </a:bodyPr>
          <a:lstStyle/>
          <a:p>
            <a:pPr algn="l"/>
            <a:r>
              <a:rPr sz="1200" b="0">
                <a:solidFill>
                  <a:srgbClr val="7A8A8D"/>
                </a:solidFill>
                <a:latin typeface="PingFang SC"/>
              </a:rPr>
              <a:t>• 最后，专家组指出，在一些资源匮乏的地区，当其他血管活性药物治疗手段不可用时（例如无法获取血管加压素的国家），亚甲蓝可能是治疗难治性感染性休克唯一可行的二线治疗方案，因此可在复苏早期作为挽救性治疗使用。</a:t>
            </a:r>
          </a:p>
        </p:txBody>
      </p:sp>
      <p:sp>
        <p:nvSpPr>
          <p:cNvPr id="12" name="TextBox 11"/>
          <p:cNvSpPr txBox="1"/>
          <p:nvPr/>
        </p:nvSpPr>
        <p:spPr>
          <a:xfrm>
            <a:off x="761238" y="4412894"/>
            <a:ext cx="8723376" cy="405384"/>
          </a:xfrm>
          <a:prstGeom prst="rect">
            <a:avLst/>
          </a:prstGeom>
          <a:noFill/>
          <a:ln>
            <a:noFill/>
          </a:ln>
        </p:spPr>
        <p:txBody>
          <a:bodyPr wrap="square" lIns="19050" rIns="19050" tIns="0" bIns="0" anchor="t">
            <a:normAutofit/>
          </a:bodyPr>
          <a:lstStyle/>
          <a:p>
            <a:pPr algn="l"/>
            <a:r>
              <a:rPr sz="1200" b="0">
                <a:solidFill>
                  <a:srgbClr val="748488"/>
                </a:solidFill>
                <a:latin typeface="PingFang SC"/>
              </a:rPr>
              <a:t>• 在“我们的实践中”，69%的专家组成员“从不”或“几乎从不”将亚甲蓝用作挽救性治疗，23%的成员“有时”使用，6%的成员“通常”使用，1.5%的成员“几乎总是”使用。</a:t>
            </a:r>
          </a:p>
        </p:txBody>
      </p:sp>
      <p:sp>
        <p:nvSpPr>
          <p:cNvPr id="13" name="TextBox 12"/>
          <p:cNvSpPr txBox="1"/>
          <p:nvPr/>
        </p:nvSpPr>
        <p:spPr>
          <a:xfrm>
            <a:off x="555498" y="5455310"/>
            <a:ext cx="2715768" cy="115823"/>
          </a:xfrm>
          <a:prstGeom prst="rect">
            <a:avLst/>
          </a:prstGeom>
          <a:noFill/>
          <a:ln>
            <a:noFill/>
          </a:ln>
        </p:spPr>
        <p:txBody>
          <a:bodyPr wrap="none" lIns="19050" rIns="19050" tIns="0" bIns="0" anchor="ctr">
            <a:noAutofit/>
          </a:bodyPr>
          <a:lstStyle/>
          <a:p>
            <a:pPr algn="l"/>
            <a:r>
              <a:rPr sz="1050" b="0">
                <a:solidFill>
                  <a:srgbClr val="BBD7D8"/>
                </a:solidFill>
                <a:latin typeface="PingFang SC"/>
              </a:rPr>
              <a:t>公众号 指南导航</a:t>
            </a:r>
          </a:p>
        </p:txBody>
      </p:sp>
      <p:sp>
        <p:nvSpPr>
          <p:cNvPr id="14" name="TextBox 13"/>
          <p:cNvSpPr txBox="1"/>
          <p:nvPr/>
        </p:nvSpPr>
        <p:spPr>
          <a:xfrm>
            <a:off x="10287000" y="5339486"/>
            <a:ext cx="0" cy="173736"/>
          </a:xfrm>
          <a:prstGeom prst="rect">
            <a:avLst/>
          </a:prstGeom>
          <a:noFill/>
          <a:ln>
            <a:noFill/>
          </a:ln>
        </p:spPr>
        <p:txBody>
          <a:bodyPr wrap="none" lIns="19050" rIns="19050" tIns="0" bIns="0" anchor="ctr">
            <a:noAutofit/>
          </a:bodyPr>
          <a:lstStyle/>
          <a:p>
            <a:pPr algn="r"/>
            <a:r>
              <a:rPr sz="1350" b="0">
                <a:solidFill>
                  <a:srgbClr val="000000"/>
                </a:solidFill>
                <a:latin typeface="PingFang SC"/>
              </a:rPr>
              <a:t>37</a:t>
            </a:r>
          </a:p>
        </p:txBody>
      </p:sp>
      <p:sp>
        <p:nvSpPr>
          <p:cNvPr id="15" name="TextBox 14"/>
          <p:cNvSpPr txBox="1"/>
          <p:nvPr/>
        </p:nvSpPr>
        <p:spPr>
          <a:xfrm>
            <a:off x="9176004" y="1169822"/>
            <a:ext cx="814730" cy="138988"/>
          </a:xfrm>
          <a:prstGeom prst="rect">
            <a:avLst/>
          </a:prstGeom>
          <a:noFill/>
          <a:ln>
            <a:noFill/>
          </a:ln>
        </p:spPr>
        <p:txBody>
          <a:bodyPr wrap="none" lIns="19050" rIns="19050" tIns="0" bIns="0" anchor="ctr">
            <a:noAutofit/>
          </a:bodyPr>
          <a:lstStyle/>
          <a:p>
            <a:pPr algn="r"/>
            <a:r>
              <a:rPr sz="1200" b="1">
                <a:solidFill>
                  <a:srgbClr val="8FB0C9"/>
                </a:solidFill>
                <a:latin typeface="PingFang SC"/>
              </a:rPr>
              <a:t>新增</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8sd5sfhu.png"/>
          <p:cNvPicPr>
            <a:picLocks noChangeAspect="1"/>
          </p:cNvPicPr>
          <p:nvPr/>
        </p:nvPicPr>
        <p:blipFill>
          <a:blip r:embed="rId2"/>
          <a:stretch>
            <a:fillRect/>
          </a:stretch>
        </p:blipFill>
        <p:spPr>
          <a:xfrm>
            <a:off x="495300" y="4933950"/>
            <a:ext cx="2200275" cy="266700"/>
          </a:xfrm>
          <a:prstGeom prst="rect">
            <a:avLst/>
          </a:prstGeom>
        </p:spPr>
      </p:pic>
      <p:pic>
        <p:nvPicPr>
          <p:cNvPr id="4" name="Picture 3" descr="tmpddh_tkon.png"/>
          <p:cNvPicPr>
            <a:picLocks noChangeAspect="1"/>
          </p:cNvPicPr>
          <p:nvPr/>
        </p:nvPicPr>
        <p:blipFill>
          <a:blip r:embed="rId3"/>
          <a:stretch>
            <a:fillRect/>
          </a:stretch>
        </p:blipFill>
        <p:spPr>
          <a:xfrm>
            <a:off x="2800350" y="4933950"/>
            <a:ext cx="409575" cy="266700"/>
          </a:xfrm>
          <a:prstGeom prst="rect">
            <a:avLst/>
          </a:prstGeom>
        </p:spPr>
      </p:pic>
      <p:pic>
        <p:nvPicPr>
          <p:cNvPr id="5" name="Picture 4" descr="tmppb2zlbwd.png"/>
          <p:cNvPicPr>
            <a:picLocks noChangeAspect="1"/>
          </p:cNvPicPr>
          <p:nvPr/>
        </p:nvPicPr>
        <p:blipFill>
          <a:blip r:embed="rId4"/>
          <a:stretch>
            <a:fillRect/>
          </a:stretch>
        </p:blipFill>
        <p:spPr>
          <a:xfrm>
            <a:off x="3314700" y="4933950"/>
            <a:ext cx="923925" cy="266700"/>
          </a:xfrm>
          <a:prstGeom prst="rect">
            <a:avLst/>
          </a:prstGeom>
        </p:spPr>
      </p:pic>
      <p:sp>
        <p:nvSpPr>
          <p:cNvPr id="6" name="Rounded Rectangle 5"/>
          <p:cNvSpPr/>
          <p:nvPr/>
        </p:nvSpPr>
        <p:spPr>
          <a:xfrm>
            <a:off x="555498" y="967130"/>
            <a:ext cx="9165716" cy="1882139"/>
          </a:xfrm>
          <a:prstGeom prst="roundRect">
            <a:avLst>
              <a:gd name="adj" fmla="val 6000"/>
            </a:avLst>
          </a:prstGeom>
          <a:solidFill>
            <a:srgbClr val="FEFEFE"/>
          </a:solidFill>
          <a:ln w="11430">
            <a:solidFill>
              <a:srgbClr val="1056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55498" y="3057753"/>
            <a:ext cx="9165716" cy="1418844"/>
          </a:xfrm>
          <a:prstGeom prst="roundRect">
            <a:avLst>
              <a:gd name="adj" fmla="val 6000"/>
            </a:avLst>
          </a:prstGeom>
          <a:solidFill>
            <a:srgbClr val="EDF6FE"/>
          </a:solidFill>
          <a:ln w="11430">
            <a:solidFill>
              <a:srgbClr val="F1F5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5498" y="388010"/>
            <a:ext cx="4141546" cy="306933"/>
          </a:xfrm>
          <a:prstGeom prst="rect">
            <a:avLst/>
          </a:prstGeom>
          <a:noFill/>
          <a:ln>
            <a:noFill/>
          </a:ln>
        </p:spPr>
        <p:txBody>
          <a:bodyPr wrap="none" lIns="19050" rIns="19050" tIns="0" bIns="0" anchor="ctr">
            <a:noAutofit/>
          </a:bodyPr>
          <a:lstStyle/>
          <a:p>
            <a:pPr algn="l"/>
            <a:r>
              <a:rPr sz="2700" b="1">
                <a:solidFill>
                  <a:srgbClr val="3C4E8D"/>
                </a:solidFill>
                <a:latin typeface="PingFang SC"/>
              </a:rPr>
              <a:t>正性肌力药物</a:t>
            </a:r>
          </a:p>
        </p:txBody>
      </p:sp>
      <p:sp>
        <p:nvSpPr>
          <p:cNvPr id="9" name="TextBox 8"/>
          <p:cNvSpPr txBox="1"/>
          <p:nvPr/>
        </p:nvSpPr>
        <p:spPr>
          <a:xfrm>
            <a:off x="8301609" y="185318"/>
            <a:ext cx="3960494" cy="416966"/>
          </a:xfrm>
          <a:prstGeom prst="rect">
            <a:avLst/>
          </a:prstGeom>
          <a:noFill/>
          <a:ln>
            <a:noFill/>
          </a:ln>
        </p:spPr>
        <p:txBody>
          <a:bodyPr wrap="none" lIns="19050" rIns="19050" tIns="0" bIns="0" anchor="ctr">
            <a:noAutofit/>
          </a:bodyPr>
          <a:lstStyle/>
          <a:p>
            <a:pPr algn="r"/>
            <a:r>
              <a:rPr sz="1800" b="0">
                <a:solidFill>
                  <a:srgbClr val="AFC3AA"/>
                </a:solidFill>
                <a:latin typeface="PingFang SC"/>
              </a:rPr>
              <a:t>Surviving Sepsis Campaign</a:t>
            </a:r>
          </a:p>
        </p:txBody>
      </p:sp>
      <p:sp>
        <p:nvSpPr>
          <p:cNvPr id="10" name="TextBox 9"/>
          <p:cNvSpPr txBox="1"/>
          <p:nvPr/>
        </p:nvSpPr>
        <p:spPr>
          <a:xfrm>
            <a:off x="1172718" y="1285646"/>
            <a:ext cx="8209026" cy="440131"/>
          </a:xfrm>
          <a:prstGeom prst="rect">
            <a:avLst/>
          </a:prstGeom>
          <a:noFill/>
          <a:ln>
            <a:noFill/>
          </a:ln>
        </p:spPr>
        <p:txBody>
          <a:bodyPr wrap="square" lIns="19050" rIns="19050" tIns="0" bIns="0" anchor="t">
            <a:normAutofit/>
          </a:bodyPr>
          <a:lstStyle/>
          <a:p>
            <a:pPr algn="l"/>
            <a:r>
              <a:rPr sz="1350" b="0">
                <a:solidFill>
                  <a:srgbClr val="838B88"/>
                </a:solidFill>
                <a:latin typeface="PingFang SC"/>
              </a:rPr>
              <a:t>60. 对于患有感染性休克且存在心功能障碍、尽管液体状态和动脉血压充足但仍持续存在灌注不足的成年人，我们 “建议” 修订</a:t>
            </a:r>
          </a:p>
          <a:p>
            <a:pPr algn="l"/>
            <a:r>
              <a:rPr sz="1350" b="0">
                <a:solidFill>
                  <a:srgbClr val="838B88"/>
                </a:solidFill>
                <a:latin typeface="PingFang SC"/>
              </a:rPr>
              <a:t>使用正性肌力药物而非不使用正性肌力药物。</a:t>
            </a:r>
          </a:p>
        </p:txBody>
      </p:sp>
      <p:sp>
        <p:nvSpPr>
          <p:cNvPr id="11" name="TextBox 10"/>
          <p:cNvSpPr txBox="1"/>
          <p:nvPr/>
        </p:nvSpPr>
        <p:spPr>
          <a:xfrm>
            <a:off x="1172718" y="2171700"/>
            <a:ext cx="8209026" cy="440131"/>
          </a:xfrm>
          <a:prstGeom prst="rect">
            <a:avLst/>
          </a:prstGeom>
          <a:noFill/>
          <a:ln>
            <a:noFill/>
          </a:ln>
        </p:spPr>
        <p:txBody>
          <a:bodyPr wrap="square" lIns="19050" rIns="19050" tIns="0" bIns="0" anchor="t">
            <a:normAutofit/>
          </a:bodyPr>
          <a:lstStyle/>
          <a:p>
            <a:pPr algn="l"/>
            <a:r>
              <a:rPr sz="1200" b="0">
                <a:solidFill>
                  <a:srgbClr val="A9BF9F"/>
                </a:solidFill>
                <a:latin typeface="PingFang SC"/>
              </a:rPr>
              <a:t>备注：对于需要使用血管加压药将平均动脉压维持在目标水平的患者，除使用血管加压药外，还应使用正性肌力药物（而非用正性肌力药物替代血管加压药）。</a:t>
            </a:r>
          </a:p>
        </p:txBody>
      </p:sp>
      <p:sp>
        <p:nvSpPr>
          <p:cNvPr id="12" name="TextBox 11"/>
          <p:cNvSpPr txBox="1"/>
          <p:nvPr/>
        </p:nvSpPr>
        <p:spPr>
          <a:xfrm>
            <a:off x="802386" y="3254654"/>
            <a:ext cx="2579979" cy="150571"/>
          </a:xfrm>
          <a:prstGeom prst="rect">
            <a:avLst/>
          </a:prstGeom>
          <a:noFill/>
          <a:ln>
            <a:noFill/>
          </a:ln>
        </p:spPr>
        <p:txBody>
          <a:bodyPr wrap="none" lIns="19050" rIns="19050" tIns="0" bIns="0" anchor="ctr">
            <a:noAutofit/>
          </a:bodyPr>
          <a:lstStyle/>
          <a:p>
            <a:pPr algn="l"/>
            <a:r>
              <a:rPr sz="1350" b="1">
                <a:solidFill>
                  <a:srgbClr val="73A8BC"/>
                </a:solidFill>
                <a:latin typeface="PingFang SC"/>
              </a:rPr>
              <a:t>2021年声明 (60)</a:t>
            </a:r>
          </a:p>
        </p:txBody>
      </p:sp>
      <p:sp>
        <p:nvSpPr>
          <p:cNvPr id="13" name="TextBox 12"/>
          <p:cNvSpPr txBox="1"/>
          <p:nvPr/>
        </p:nvSpPr>
        <p:spPr>
          <a:xfrm>
            <a:off x="802386" y="3544214"/>
            <a:ext cx="8579358" cy="440131"/>
          </a:xfrm>
          <a:prstGeom prst="rect">
            <a:avLst/>
          </a:prstGeom>
          <a:noFill/>
          <a:ln>
            <a:noFill/>
          </a:ln>
        </p:spPr>
        <p:txBody>
          <a:bodyPr wrap="square" lIns="19050" rIns="19050" tIns="0" bIns="0" anchor="t">
            <a:normAutofit/>
          </a:bodyPr>
          <a:lstStyle/>
          <a:p>
            <a:pPr algn="l"/>
            <a:r>
              <a:rPr sz="1350" b="0">
                <a:solidFill>
                  <a:srgbClr val="A0A4AB"/>
                </a:solidFill>
                <a:latin typeface="PingFang SC"/>
              </a:rPr>
              <a:t>对于患有脓毒性休克且存在心功能障碍、尽管血容量状态和动脉血压正常但仍持续灌注不足的成人，我们建议加用多巴酚丁胺或单独使用肾上腺素。</a:t>
            </a:r>
          </a:p>
        </p:txBody>
      </p:sp>
      <p:sp>
        <p:nvSpPr>
          <p:cNvPr id="14" name="TextBox 13"/>
          <p:cNvSpPr txBox="1"/>
          <p:nvPr/>
        </p:nvSpPr>
        <p:spPr>
          <a:xfrm>
            <a:off x="555498" y="5455310"/>
            <a:ext cx="2670505" cy="127406"/>
          </a:xfrm>
          <a:prstGeom prst="rect">
            <a:avLst/>
          </a:prstGeom>
          <a:noFill/>
          <a:ln>
            <a:noFill/>
          </a:ln>
        </p:spPr>
        <p:txBody>
          <a:bodyPr wrap="none" lIns="19050" rIns="19050" tIns="0" bIns="0" anchor="ctr">
            <a:noAutofit/>
          </a:bodyPr>
          <a:lstStyle/>
          <a:p>
            <a:pPr algn="l"/>
            <a:r>
              <a:rPr sz="1050" b="0">
                <a:solidFill>
                  <a:srgbClr val="BDD6D7"/>
                </a:solidFill>
                <a:latin typeface="PingFang SC"/>
              </a:rPr>
              <a:t>公众号-指南导航</a:t>
            </a:r>
          </a:p>
        </p:txBody>
      </p:sp>
      <p:sp>
        <p:nvSpPr>
          <p:cNvPr id="15" name="TextBox 14"/>
          <p:cNvSpPr txBox="1"/>
          <p:nvPr/>
        </p:nvSpPr>
        <p:spPr>
          <a:xfrm>
            <a:off x="10287000" y="5339486"/>
            <a:ext cx="0" cy="208483"/>
          </a:xfrm>
          <a:prstGeom prst="rect">
            <a:avLst/>
          </a:prstGeom>
          <a:noFill/>
          <a:ln>
            <a:noFill/>
          </a:ln>
        </p:spPr>
        <p:txBody>
          <a:bodyPr wrap="none" lIns="19050" rIns="19050" tIns="0" bIns="0" anchor="ctr">
            <a:noAutofit/>
          </a:bodyPr>
          <a:lstStyle/>
          <a:p>
            <a:pPr algn="r"/>
            <a:r>
              <a:rPr sz="1350" b="0">
                <a:solidFill>
                  <a:srgbClr val="000000"/>
                </a:solidFill>
                <a:latin typeface="PingFang SC"/>
              </a:rPr>
              <a:t>38</a:t>
            </a:r>
          </a:p>
        </p:txBody>
      </p:sp>
      <p:pic>
        <p:nvPicPr>
          <p:cNvPr id="16" name="Picture 15" descr="tmp8gi1do94.png"/>
          <p:cNvPicPr>
            <a:picLocks noChangeAspect="1"/>
          </p:cNvPicPr>
          <p:nvPr/>
        </p:nvPicPr>
        <p:blipFill>
          <a:blip r:embed="rId5"/>
          <a:stretch>
            <a:fillRect/>
          </a:stretch>
        </p:blipFill>
        <p:spPr>
          <a:xfrm>
            <a:off x="1171575" y="1857375"/>
            <a:ext cx="1362075" cy="219075"/>
          </a:xfrm>
          <a:prstGeom prst="rect">
            <a:avLst/>
          </a:prstGeom>
        </p:spPr>
      </p:pic>
      <p:pic>
        <p:nvPicPr>
          <p:cNvPr id="17" name="Picture 16" descr="tmp7f118diq.png"/>
          <p:cNvPicPr>
            <a:picLocks noChangeAspect="1"/>
          </p:cNvPicPr>
          <p:nvPr/>
        </p:nvPicPr>
        <p:blipFill>
          <a:blip r:embed="rId6"/>
          <a:stretch>
            <a:fillRect/>
          </a:stretch>
        </p:blipFill>
        <p:spPr>
          <a:xfrm>
            <a:off x="1171575" y="4038600"/>
            <a:ext cx="1362075" cy="219075"/>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9jp6udsb.png"/>
          <p:cNvPicPr>
            <a:picLocks noChangeAspect="1"/>
          </p:cNvPicPr>
          <p:nvPr/>
        </p:nvPicPr>
        <p:blipFill>
          <a:blip r:embed="rId2"/>
          <a:stretch>
            <a:fillRect/>
          </a:stretch>
        </p:blipFill>
        <p:spPr>
          <a:xfrm>
            <a:off x="533400" y="4933950"/>
            <a:ext cx="1343025" cy="247650"/>
          </a:xfrm>
          <a:prstGeom prst="rect">
            <a:avLst/>
          </a:prstGeom>
        </p:spPr>
      </p:pic>
      <p:pic>
        <p:nvPicPr>
          <p:cNvPr id="4" name="Picture 3" descr="tmp2e2ifxbb.png"/>
          <p:cNvPicPr>
            <a:picLocks noChangeAspect="1"/>
          </p:cNvPicPr>
          <p:nvPr/>
        </p:nvPicPr>
        <p:blipFill>
          <a:blip r:embed="rId3"/>
          <a:stretch>
            <a:fillRect/>
          </a:stretch>
        </p:blipFill>
        <p:spPr>
          <a:xfrm>
            <a:off x="1933575" y="4953000"/>
            <a:ext cx="1066800" cy="209550"/>
          </a:xfrm>
          <a:prstGeom prst="rect">
            <a:avLst/>
          </a:prstGeom>
        </p:spPr>
      </p:pic>
      <p:sp>
        <p:nvSpPr>
          <p:cNvPr id="5" name="Rounded Rectangle 4"/>
          <p:cNvSpPr/>
          <p:nvPr/>
        </p:nvSpPr>
        <p:spPr>
          <a:xfrm>
            <a:off x="555498" y="967130"/>
            <a:ext cx="9196577" cy="2496007"/>
          </a:xfrm>
          <a:prstGeom prst="roundRect">
            <a:avLst>
              <a:gd name="adj" fmla="val 6000"/>
            </a:avLst>
          </a:prstGeom>
          <a:solidFill>
            <a:srgbClr val="FEFEFE"/>
          </a:solidFill>
          <a:ln w="11430">
            <a:solidFill>
              <a:srgbClr val="3264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5498" y="3590544"/>
            <a:ext cx="9196577" cy="1227734"/>
          </a:xfrm>
          <a:prstGeom prst="rect">
            <a:avLst/>
          </a:prstGeom>
          <a:solidFill>
            <a:srgbClr val="ED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6933" y="388010"/>
            <a:ext cx="4051020" cy="306933"/>
          </a:xfrm>
          <a:prstGeom prst="rect">
            <a:avLst/>
          </a:prstGeom>
          <a:noFill/>
          <a:ln>
            <a:noFill/>
          </a:ln>
        </p:spPr>
        <p:txBody>
          <a:bodyPr wrap="none" lIns="19050" rIns="19050" tIns="0" bIns="0" anchor="ctr">
            <a:noAutofit/>
          </a:bodyPr>
          <a:lstStyle/>
          <a:p>
            <a:pPr algn="l"/>
            <a:r>
              <a:rPr sz="3150" b="1">
                <a:solidFill>
                  <a:srgbClr val="3D4E8D"/>
                </a:solidFill>
                <a:latin typeface="PingFang SC"/>
              </a:rPr>
              <a:t>正性肌力药物</a:t>
            </a:r>
          </a:p>
        </p:txBody>
      </p:sp>
      <p:sp>
        <p:nvSpPr>
          <p:cNvPr id="8" name="TextBox 7"/>
          <p:cNvSpPr txBox="1"/>
          <p:nvPr/>
        </p:nvSpPr>
        <p:spPr>
          <a:xfrm>
            <a:off x="8322183" y="173735"/>
            <a:ext cx="3892600" cy="434339"/>
          </a:xfrm>
          <a:prstGeom prst="rect">
            <a:avLst/>
          </a:prstGeom>
          <a:noFill/>
          <a:ln>
            <a:noFill/>
          </a:ln>
        </p:spPr>
        <p:txBody>
          <a:bodyPr wrap="none" lIns="19050" rIns="19050" tIns="0" bIns="0" anchor="ctr">
            <a:noAutofit/>
          </a:bodyPr>
          <a:lstStyle/>
          <a:p>
            <a:pPr algn="r"/>
            <a:r>
              <a:rPr sz="1800" b="0">
                <a:solidFill>
                  <a:srgbClr val="AEC2A8"/>
                </a:solidFill>
                <a:latin typeface="PingFang SC"/>
              </a:rPr>
              <a:t>Surviving Sepsis Campaign</a:t>
            </a:r>
          </a:p>
        </p:txBody>
      </p:sp>
      <p:sp>
        <p:nvSpPr>
          <p:cNvPr id="9" name="TextBox 8"/>
          <p:cNvSpPr txBox="1"/>
          <p:nvPr/>
        </p:nvSpPr>
        <p:spPr>
          <a:xfrm>
            <a:off x="740663" y="1285646"/>
            <a:ext cx="8229600" cy="347471"/>
          </a:xfrm>
          <a:prstGeom prst="rect">
            <a:avLst/>
          </a:prstGeom>
          <a:noFill/>
          <a:ln>
            <a:noFill/>
          </a:ln>
        </p:spPr>
        <p:txBody>
          <a:bodyPr wrap="square" lIns="19050" rIns="19050" tIns="0" bIns="0" anchor="t">
            <a:normAutofit/>
          </a:bodyPr>
          <a:lstStyle/>
          <a:p>
            <a:pPr algn="l"/>
            <a:r>
              <a:rPr sz="1230" b="0">
                <a:solidFill>
                  <a:srgbClr val="7B8285"/>
                </a:solidFill>
                <a:latin typeface="PingFang SC"/>
              </a:rPr>
              <a:t>61. 对于尽管进行了充分的液体复苏且动脉血压正常，但仍存在持续性灌注不足和心功能障碍的感染性休克成年患者，我们 “建议” 在去甲肾上腺素基础上加用多巴酚丁胺，或单独使用肾上腺素。</a:t>
            </a:r>
          </a:p>
        </p:txBody>
      </p:sp>
      <p:sp>
        <p:nvSpPr>
          <p:cNvPr id="10" name="TextBox 9"/>
          <p:cNvSpPr txBox="1"/>
          <p:nvPr/>
        </p:nvSpPr>
        <p:spPr>
          <a:xfrm>
            <a:off x="1275587" y="2171700"/>
            <a:ext cx="4073652" cy="133197"/>
          </a:xfrm>
          <a:prstGeom prst="rect">
            <a:avLst/>
          </a:prstGeom>
          <a:noFill/>
          <a:ln>
            <a:noFill/>
          </a:ln>
        </p:spPr>
        <p:txBody>
          <a:bodyPr wrap="square" lIns="19050" rIns="19050" tIns="0" bIns="0" anchor="t">
            <a:normAutofit/>
          </a:bodyPr>
          <a:lstStyle/>
          <a:p>
            <a:pPr algn="l"/>
            <a:r>
              <a:rPr sz="940" b="0">
                <a:solidFill>
                  <a:srgbClr val="A6BE9C"/>
                </a:solidFill>
                <a:latin typeface="PingFang SC"/>
              </a:rPr>
              <a:t>备注：数据不足以对多巴酚丁胺与米力农的使用给出推荐建议。</a:t>
            </a:r>
          </a:p>
        </p:txBody>
      </p:sp>
      <p:sp>
        <p:nvSpPr>
          <p:cNvPr id="11" name="TextBox 10"/>
          <p:cNvSpPr txBox="1"/>
          <p:nvPr/>
        </p:nvSpPr>
        <p:spPr>
          <a:xfrm>
            <a:off x="740663" y="2478633"/>
            <a:ext cx="8229600" cy="428548"/>
          </a:xfrm>
          <a:prstGeom prst="rect">
            <a:avLst/>
          </a:prstGeom>
          <a:noFill/>
          <a:ln>
            <a:noFill/>
          </a:ln>
        </p:spPr>
        <p:txBody>
          <a:bodyPr wrap="square" lIns="19050" rIns="19050" tIns="0" bIns="0" anchor="t">
            <a:normAutofit/>
          </a:bodyPr>
          <a:lstStyle/>
          <a:p>
            <a:pPr algn="l"/>
            <a:r>
              <a:rPr sz="1500" b="0">
                <a:solidFill>
                  <a:srgbClr val="8A9186"/>
                </a:solidFill>
                <a:latin typeface="PingFang SC"/>
              </a:rPr>
              <a:t>62. 对于患有感染性休克和心功能障碍，且在容量状态和动脉血压充足的情况下仍存在持续低灌注的成年人，我们 “建议” 不使用” 左西孟旦。</a:t>
            </a:r>
          </a:p>
        </p:txBody>
      </p:sp>
      <p:sp>
        <p:nvSpPr>
          <p:cNvPr id="12" name="TextBox 11"/>
          <p:cNvSpPr txBox="1"/>
          <p:nvPr/>
        </p:nvSpPr>
        <p:spPr>
          <a:xfrm>
            <a:off x="740663" y="3660038"/>
            <a:ext cx="2942082" cy="133197"/>
          </a:xfrm>
          <a:prstGeom prst="rect">
            <a:avLst/>
          </a:prstGeom>
          <a:noFill/>
          <a:ln>
            <a:noFill/>
          </a:ln>
        </p:spPr>
        <p:txBody>
          <a:bodyPr wrap="none" lIns="19050" rIns="19050" tIns="0" bIns="0" anchor="ctr">
            <a:noAutofit/>
          </a:bodyPr>
          <a:lstStyle/>
          <a:p>
            <a:pPr algn="l"/>
            <a:r>
              <a:rPr sz="1350" b="1">
                <a:solidFill>
                  <a:srgbClr val="6FA7BC"/>
                </a:solidFill>
                <a:latin typeface="PingFang SC"/>
              </a:rPr>
              <a:t>2021年声明 (61)</a:t>
            </a:r>
          </a:p>
        </p:txBody>
      </p:sp>
      <p:sp>
        <p:nvSpPr>
          <p:cNvPr id="13" name="TextBox 12"/>
          <p:cNvSpPr txBox="1"/>
          <p:nvPr/>
        </p:nvSpPr>
        <p:spPr>
          <a:xfrm>
            <a:off x="740663" y="3891686"/>
            <a:ext cx="8229600" cy="347471"/>
          </a:xfrm>
          <a:prstGeom prst="rect">
            <a:avLst/>
          </a:prstGeom>
          <a:noFill/>
          <a:ln>
            <a:noFill/>
          </a:ln>
        </p:spPr>
        <p:txBody>
          <a:bodyPr wrap="square" lIns="19050" rIns="19050" tIns="0" bIns="0" anchor="t">
            <a:normAutofit/>
          </a:bodyPr>
          <a:lstStyle/>
          <a:p>
            <a:pPr algn="l"/>
            <a:r>
              <a:rPr sz="1350" b="0">
                <a:solidFill>
                  <a:srgbClr val="A0A5AB"/>
                </a:solidFill>
                <a:latin typeface="PingFang SC"/>
              </a:rPr>
              <a:t>对于患有感染性休克且存在心功能障碍、尽管血容量状态和动脉血压已达适当水平但仍持续存在灌注不足的成年人，我们建议加用多巴酚丁胺或单独使用肾上腺素。</a:t>
            </a:r>
          </a:p>
        </p:txBody>
      </p:sp>
      <p:sp>
        <p:nvSpPr>
          <p:cNvPr id="14" name="TextBox 13"/>
          <p:cNvSpPr txBox="1"/>
          <p:nvPr/>
        </p:nvSpPr>
        <p:spPr>
          <a:xfrm>
            <a:off x="606933" y="5455310"/>
            <a:ext cx="2331034" cy="133197"/>
          </a:xfrm>
          <a:prstGeom prst="rect">
            <a:avLst/>
          </a:prstGeom>
          <a:noFill/>
          <a:ln>
            <a:noFill/>
          </a:ln>
        </p:spPr>
        <p:txBody>
          <a:bodyPr wrap="none" lIns="19050" rIns="19050" tIns="0" bIns="0" anchor="ctr">
            <a:noAutofit/>
          </a:bodyPr>
          <a:lstStyle/>
          <a:p>
            <a:pPr algn="l"/>
            <a:r>
              <a:rPr sz="1200" b="0">
                <a:solidFill>
                  <a:srgbClr val="D2E6E7"/>
                </a:solidFill>
                <a:latin typeface="PingFang SC"/>
              </a:rPr>
              <a:t>公众号:指南导航</a:t>
            </a:r>
          </a:p>
        </p:txBody>
      </p:sp>
      <p:sp>
        <p:nvSpPr>
          <p:cNvPr id="15" name="TextBox 14"/>
          <p:cNvSpPr txBox="1"/>
          <p:nvPr/>
        </p:nvSpPr>
        <p:spPr>
          <a:xfrm>
            <a:off x="10287000" y="5356860"/>
            <a:ext cx="0" cy="231648"/>
          </a:xfrm>
          <a:prstGeom prst="rect">
            <a:avLst/>
          </a:prstGeom>
          <a:noFill/>
          <a:ln>
            <a:noFill/>
          </a:ln>
        </p:spPr>
        <p:txBody>
          <a:bodyPr wrap="none" lIns="19050" rIns="19050" tIns="0" bIns="0" anchor="ctr">
            <a:noAutofit/>
          </a:bodyPr>
          <a:lstStyle/>
          <a:p>
            <a:pPr algn="r"/>
            <a:r>
              <a:rPr sz="1350" b="0">
                <a:solidFill>
                  <a:srgbClr val="000000"/>
                </a:solidFill>
                <a:latin typeface="PingFang SC"/>
              </a:rPr>
              <a:t>39</a:t>
            </a:r>
          </a:p>
        </p:txBody>
      </p:sp>
      <p:sp>
        <p:nvSpPr>
          <p:cNvPr id="16" name="TextBox 15"/>
          <p:cNvSpPr txBox="1"/>
          <p:nvPr/>
        </p:nvSpPr>
        <p:spPr>
          <a:xfrm>
            <a:off x="9134856" y="1169822"/>
            <a:ext cx="769467" cy="133197"/>
          </a:xfrm>
          <a:prstGeom prst="rect">
            <a:avLst/>
          </a:prstGeom>
          <a:noFill/>
          <a:ln>
            <a:noFill/>
          </a:ln>
        </p:spPr>
        <p:txBody>
          <a:bodyPr wrap="none" lIns="19050" rIns="19050" tIns="0" bIns="0" anchor="ctr">
            <a:noAutofit/>
          </a:bodyPr>
          <a:lstStyle/>
          <a:p>
            <a:pPr algn="r"/>
            <a:r>
              <a:rPr sz="1350" b="1">
                <a:solidFill>
                  <a:srgbClr val="5A656C"/>
                </a:solidFill>
                <a:latin typeface="PingFang SC"/>
              </a:rPr>
              <a:t>修订</a:t>
            </a:r>
          </a:p>
        </p:txBody>
      </p:sp>
      <p:sp>
        <p:nvSpPr>
          <p:cNvPr id="17" name="TextBox 16"/>
          <p:cNvSpPr txBox="1"/>
          <p:nvPr/>
        </p:nvSpPr>
        <p:spPr>
          <a:xfrm>
            <a:off x="9134856" y="2478633"/>
            <a:ext cx="769467" cy="133197"/>
          </a:xfrm>
          <a:prstGeom prst="rect">
            <a:avLst/>
          </a:prstGeom>
          <a:noFill/>
          <a:ln>
            <a:noFill/>
          </a:ln>
        </p:spPr>
        <p:txBody>
          <a:bodyPr wrap="none" lIns="19050" rIns="19050" tIns="0" bIns="0" anchor="ctr">
            <a:noAutofit/>
          </a:bodyPr>
          <a:lstStyle/>
          <a:p>
            <a:pPr algn="r"/>
            <a:r>
              <a:rPr sz="1350" b="1">
                <a:solidFill>
                  <a:srgbClr val="8EB280"/>
                </a:solidFill>
                <a:latin typeface="PingFang SC"/>
              </a:rPr>
              <a:t>沿用</a:t>
            </a:r>
          </a:p>
        </p:txBody>
      </p:sp>
      <p:pic>
        <p:nvPicPr>
          <p:cNvPr id="18" name="Picture 17" descr="tmp15k4q_wr.png"/>
          <p:cNvPicPr>
            <a:picLocks noChangeAspect="1"/>
          </p:cNvPicPr>
          <p:nvPr/>
        </p:nvPicPr>
        <p:blipFill>
          <a:blip r:embed="rId4"/>
          <a:stretch>
            <a:fillRect/>
          </a:stretch>
        </p:blipFill>
        <p:spPr>
          <a:xfrm>
            <a:off x="1457325" y="1866900"/>
            <a:ext cx="1076325" cy="209550"/>
          </a:xfrm>
          <a:prstGeom prst="rect">
            <a:avLst/>
          </a:prstGeom>
        </p:spPr>
      </p:pic>
      <p:pic>
        <p:nvPicPr>
          <p:cNvPr id="19" name="Picture 18" descr="tmppr4yabbl.png"/>
          <p:cNvPicPr>
            <a:picLocks noChangeAspect="1"/>
          </p:cNvPicPr>
          <p:nvPr/>
        </p:nvPicPr>
        <p:blipFill>
          <a:blip r:embed="rId5"/>
          <a:stretch>
            <a:fillRect/>
          </a:stretch>
        </p:blipFill>
        <p:spPr>
          <a:xfrm>
            <a:off x="1228725" y="3019425"/>
            <a:ext cx="1304925" cy="209550"/>
          </a:xfrm>
          <a:prstGeom prst="rect">
            <a:avLst/>
          </a:prstGeom>
        </p:spPr>
      </p:pic>
      <p:pic>
        <p:nvPicPr>
          <p:cNvPr id="20" name="Picture 19" descr="tmpzqa57djx.png"/>
          <p:cNvPicPr>
            <a:picLocks noChangeAspect="1"/>
          </p:cNvPicPr>
          <p:nvPr/>
        </p:nvPicPr>
        <p:blipFill>
          <a:blip r:embed="rId6"/>
          <a:stretch>
            <a:fillRect/>
          </a:stretch>
        </p:blipFill>
        <p:spPr>
          <a:xfrm>
            <a:off x="1457325" y="4467225"/>
            <a:ext cx="1076325" cy="209550"/>
          </a:xfrm>
          <a:prstGeom prst="rect">
            <a:avLst/>
          </a:prstGeom>
        </p:spPr>
      </p:pic>
      <p:pic>
        <p:nvPicPr>
          <p:cNvPr id="21" name="Picture 20" descr="tmpefe7rp5t.png"/>
          <p:cNvPicPr>
            <a:picLocks noChangeAspect="1"/>
          </p:cNvPicPr>
          <p:nvPr/>
        </p:nvPicPr>
        <p:blipFill>
          <a:blip r:embed="rId7"/>
          <a:stretch>
            <a:fillRect/>
          </a:stretch>
        </p:blipFill>
        <p:spPr>
          <a:xfrm>
            <a:off x="9896475" y="247650"/>
            <a:ext cx="190500" cy="2286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924vipmw.png"/>
          <p:cNvPicPr>
            <a:picLocks noChangeAspect="1"/>
          </p:cNvPicPr>
          <p:nvPr/>
        </p:nvPicPr>
        <p:blipFill>
          <a:blip r:embed="rId2"/>
          <a:stretch>
            <a:fillRect/>
          </a:stretch>
        </p:blipFill>
        <p:spPr>
          <a:xfrm>
            <a:off x="1771650" y="5048250"/>
            <a:ext cx="304800" cy="114300"/>
          </a:xfrm>
          <a:prstGeom prst="rect">
            <a:avLst/>
          </a:prstGeom>
        </p:spPr>
      </p:pic>
      <p:pic>
        <p:nvPicPr>
          <p:cNvPr id="4" name="Picture 3" descr="tmp0tiehzht.png"/>
          <p:cNvPicPr>
            <a:picLocks noChangeAspect="1"/>
          </p:cNvPicPr>
          <p:nvPr/>
        </p:nvPicPr>
        <p:blipFill>
          <a:blip r:embed="rId3"/>
          <a:stretch>
            <a:fillRect/>
          </a:stretch>
        </p:blipFill>
        <p:spPr>
          <a:xfrm>
            <a:off x="2181225" y="5048250"/>
            <a:ext cx="514350" cy="114300"/>
          </a:xfrm>
          <a:prstGeom prst="rect">
            <a:avLst/>
          </a:prstGeom>
        </p:spPr>
      </p:pic>
      <p:sp>
        <p:nvSpPr>
          <p:cNvPr id="5" name="Rounded Rectangle 4"/>
          <p:cNvSpPr/>
          <p:nvPr/>
        </p:nvSpPr>
        <p:spPr>
          <a:xfrm>
            <a:off x="555498" y="967130"/>
            <a:ext cx="9134855" cy="943965"/>
          </a:xfrm>
          <a:prstGeom prst="roundRect">
            <a:avLst>
              <a:gd name="adj" fmla="val 6000"/>
            </a:avLst>
          </a:prstGeom>
          <a:solidFill>
            <a:srgbClr val="FDFEFD"/>
          </a:solidFill>
          <a:ln w="11430">
            <a:solidFill>
              <a:srgbClr val="1B559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55498" y="2617622"/>
            <a:ext cx="9134855" cy="972921"/>
          </a:xfrm>
          <a:prstGeom prst="roundRect">
            <a:avLst>
              <a:gd name="adj" fmla="val 6000"/>
            </a:avLst>
          </a:prstGeom>
          <a:solidFill>
            <a:srgbClr val="FEFEFE"/>
          </a:solidFill>
          <a:ln w="11430">
            <a:solidFill>
              <a:srgbClr val="DAF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55498" y="3752697"/>
            <a:ext cx="9134855" cy="1355140"/>
          </a:xfrm>
          <a:prstGeom prst="rect">
            <a:avLst/>
          </a:prstGeom>
          <a:solidFill>
            <a:srgbClr val="F1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5498" y="428548"/>
            <a:ext cx="2715768" cy="277977"/>
          </a:xfrm>
          <a:prstGeom prst="rect">
            <a:avLst/>
          </a:prstGeom>
          <a:noFill/>
          <a:ln>
            <a:noFill/>
          </a:ln>
        </p:spPr>
        <p:txBody>
          <a:bodyPr wrap="none" lIns="19050" rIns="19050" tIns="0" bIns="0" anchor="ctr">
            <a:noAutofit/>
          </a:bodyPr>
          <a:lstStyle/>
          <a:p>
            <a:pPr algn="l"/>
            <a:r>
              <a:rPr sz="2400" b="1">
                <a:solidFill>
                  <a:srgbClr val="508FB0"/>
                </a:solidFill>
                <a:latin typeface="PingFang SC"/>
              </a:rPr>
              <a:t>米多君</a:t>
            </a:r>
          </a:p>
        </p:txBody>
      </p:sp>
      <p:sp>
        <p:nvSpPr>
          <p:cNvPr id="9" name="TextBox 8"/>
          <p:cNvSpPr txBox="1"/>
          <p:nvPr/>
        </p:nvSpPr>
        <p:spPr>
          <a:xfrm>
            <a:off x="864108" y="1198778"/>
            <a:ext cx="8517636" cy="480669"/>
          </a:xfrm>
          <a:prstGeom prst="rect">
            <a:avLst/>
          </a:prstGeom>
          <a:noFill/>
          <a:ln>
            <a:noFill/>
          </a:ln>
        </p:spPr>
        <p:txBody>
          <a:bodyPr wrap="square" lIns="19050" rIns="19050" tIns="0" bIns="0" anchor="t">
            <a:normAutofit/>
          </a:bodyPr>
          <a:lstStyle/>
          <a:p>
            <a:pPr algn="l"/>
            <a:r>
              <a:rPr sz="1500" b="0">
                <a:solidFill>
                  <a:srgbClr val="80898D"/>
                </a:solidFill>
                <a:latin typeface="PingFang SC"/>
              </a:rPr>
              <a:t>63. 对于患有感染性休克且持续需要使用血管升压药的成年人，目前“证据不足”，无法就口服米多君的使用给出推荐建议。</a:t>
            </a:r>
          </a:p>
        </p:txBody>
      </p:sp>
      <p:sp>
        <p:nvSpPr>
          <p:cNvPr id="10" name="TextBox 9"/>
          <p:cNvSpPr txBox="1"/>
          <p:nvPr/>
        </p:nvSpPr>
        <p:spPr>
          <a:xfrm>
            <a:off x="555498" y="2131161"/>
            <a:ext cx="3621024" cy="277977"/>
          </a:xfrm>
          <a:prstGeom prst="rect">
            <a:avLst/>
          </a:prstGeom>
          <a:noFill/>
          <a:ln>
            <a:noFill/>
          </a:ln>
        </p:spPr>
        <p:txBody>
          <a:bodyPr wrap="none" lIns="19050" rIns="19050" tIns="0" bIns="0" anchor="ctr">
            <a:noAutofit/>
          </a:bodyPr>
          <a:lstStyle/>
          <a:p>
            <a:pPr algn="l"/>
            <a:r>
              <a:rPr sz="2400" b="1">
                <a:solidFill>
                  <a:srgbClr val="568DB1"/>
                </a:solidFill>
                <a:latin typeface="PingFang SC"/>
              </a:rPr>
              <a:t>β受体阻滞剂</a:t>
            </a:r>
          </a:p>
        </p:txBody>
      </p:sp>
      <p:sp>
        <p:nvSpPr>
          <p:cNvPr id="11" name="TextBox 10"/>
          <p:cNvSpPr txBox="1"/>
          <p:nvPr/>
        </p:nvSpPr>
        <p:spPr>
          <a:xfrm>
            <a:off x="864108" y="2849270"/>
            <a:ext cx="8517636" cy="480669"/>
          </a:xfrm>
          <a:prstGeom prst="rect">
            <a:avLst/>
          </a:prstGeom>
          <a:noFill/>
          <a:ln>
            <a:noFill/>
          </a:ln>
        </p:spPr>
        <p:txBody>
          <a:bodyPr wrap="square" lIns="19050" rIns="19050" tIns="0" bIns="0" anchor="t">
            <a:normAutofit/>
          </a:bodyPr>
          <a:lstStyle/>
          <a:p>
            <a:pPr algn="l"/>
            <a:r>
              <a:rPr sz="1500" b="0">
                <a:solidFill>
                  <a:srgbClr val="919891"/>
                </a:solidFill>
                <a:latin typeface="PingFang SC"/>
              </a:rPr>
              <a:t>64. 对于感染性休克的成人患者，我们“建议不”使用β受体阻滞剂治疗感染性休克。</a:t>
            </a:r>
          </a:p>
        </p:txBody>
      </p:sp>
      <p:sp>
        <p:nvSpPr>
          <p:cNvPr id="12" name="TextBox 11"/>
          <p:cNvSpPr txBox="1"/>
          <p:nvPr/>
        </p:nvSpPr>
        <p:spPr>
          <a:xfrm>
            <a:off x="761238" y="3949598"/>
            <a:ext cx="8723376" cy="926591"/>
          </a:xfrm>
          <a:prstGeom prst="rect">
            <a:avLst/>
          </a:prstGeom>
          <a:noFill/>
          <a:ln>
            <a:noFill/>
          </a:ln>
        </p:spPr>
        <p:txBody>
          <a:bodyPr wrap="square" lIns="19050" rIns="19050" tIns="0" bIns="0" anchor="t">
            <a:normAutofit/>
          </a:bodyPr>
          <a:lstStyle/>
          <a:p>
            <a:pPr algn="l"/>
            <a:r>
              <a:rPr sz="1500" b="0">
                <a:solidFill>
                  <a:srgbClr val="76878B"/>
                </a:solidFill>
                <a:latin typeface="PingFang SC"/>
              </a:rPr>
              <a:t>• 尽管在感染性休克中使用β受体阻滞剂可能看似有悖常理，但临床前数据表明，这可能改善预后。确切机制尚不清楚；然而，这可能与降低心肌负荷和优化心肌能量效率有关。</a:t>
            </a:r>
          </a:p>
          <a:p>
            <a:pPr algn="l"/>
            <a:r>
              <a:rPr sz="1500" b="0">
                <a:solidFill>
                  <a:srgbClr val="76878B"/>
                </a:solidFill>
                <a:latin typeface="PingFang SC"/>
              </a:rPr>
              <a:t>• 尽管动物研究结果令人鼓舞，但针对该问题的随机对照试验数据得出了不同的结果。</a:t>
            </a:r>
          </a:p>
        </p:txBody>
      </p:sp>
      <p:sp>
        <p:nvSpPr>
          <p:cNvPr id="13" name="TextBox 12"/>
          <p:cNvSpPr txBox="1"/>
          <p:nvPr/>
        </p:nvSpPr>
        <p:spPr>
          <a:xfrm>
            <a:off x="8322183" y="162153"/>
            <a:ext cx="3915232" cy="428548"/>
          </a:xfrm>
          <a:prstGeom prst="rect">
            <a:avLst/>
          </a:prstGeom>
          <a:noFill/>
          <a:ln>
            <a:noFill/>
          </a:ln>
        </p:spPr>
        <p:txBody>
          <a:bodyPr wrap="none" lIns="19050" rIns="19050" tIns="0" bIns="0" anchor="ctr">
            <a:noAutofit/>
          </a:bodyPr>
          <a:lstStyle/>
          <a:p>
            <a:pPr algn="r"/>
            <a:r>
              <a:rPr sz="1800" b="0">
                <a:solidFill>
                  <a:srgbClr val="AFC4A8"/>
                </a:solidFill>
                <a:latin typeface="PingFang SC"/>
              </a:rPr>
              <a:t>Surviving Sepsis Campaign</a:t>
            </a:r>
          </a:p>
        </p:txBody>
      </p:sp>
      <p:sp>
        <p:nvSpPr>
          <p:cNvPr id="14" name="TextBox 13"/>
          <p:cNvSpPr txBox="1"/>
          <p:nvPr/>
        </p:nvSpPr>
        <p:spPr>
          <a:xfrm>
            <a:off x="9176004" y="1140866"/>
            <a:ext cx="678941" cy="144779"/>
          </a:xfrm>
          <a:prstGeom prst="rect">
            <a:avLst/>
          </a:prstGeom>
          <a:noFill/>
          <a:ln>
            <a:noFill/>
          </a:ln>
        </p:spPr>
        <p:txBody>
          <a:bodyPr wrap="none" lIns="19050" rIns="19050" tIns="0" bIns="0" anchor="ctr">
            <a:noAutofit/>
          </a:bodyPr>
          <a:lstStyle/>
          <a:p>
            <a:pPr algn="r"/>
            <a:r>
              <a:rPr sz="1200" b="1">
                <a:solidFill>
                  <a:srgbClr val="8EAEBF"/>
                </a:solidFill>
                <a:latin typeface="PingFang SC"/>
              </a:rPr>
              <a:t>新增</a:t>
            </a:r>
          </a:p>
        </p:txBody>
      </p:sp>
      <p:sp>
        <p:nvSpPr>
          <p:cNvPr id="15" name="TextBox 14"/>
          <p:cNvSpPr txBox="1"/>
          <p:nvPr/>
        </p:nvSpPr>
        <p:spPr>
          <a:xfrm>
            <a:off x="9176004" y="2878226"/>
            <a:ext cx="678941" cy="144780"/>
          </a:xfrm>
          <a:prstGeom prst="rect">
            <a:avLst/>
          </a:prstGeom>
          <a:noFill/>
          <a:ln>
            <a:noFill/>
          </a:ln>
        </p:spPr>
        <p:txBody>
          <a:bodyPr wrap="none" lIns="19050" rIns="19050" tIns="0" bIns="0" anchor="ctr">
            <a:noAutofit/>
          </a:bodyPr>
          <a:lstStyle/>
          <a:p>
            <a:pPr algn="r"/>
            <a:r>
              <a:rPr sz="1200" b="1">
                <a:solidFill>
                  <a:srgbClr val="89B0CF"/>
                </a:solidFill>
                <a:latin typeface="PingFang SC"/>
              </a:rPr>
              <a:t>新增</a:t>
            </a:r>
          </a:p>
        </p:txBody>
      </p:sp>
      <p:sp>
        <p:nvSpPr>
          <p:cNvPr id="16" name="TextBox 15"/>
          <p:cNvSpPr txBox="1"/>
          <p:nvPr/>
        </p:nvSpPr>
        <p:spPr>
          <a:xfrm>
            <a:off x="555498" y="5049926"/>
            <a:ext cx="2444191" cy="115823"/>
          </a:xfrm>
          <a:prstGeom prst="rect">
            <a:avLst/>
          </a:prstGeom>
          <a:noFill/>
          <a:ln>
            <a:noFill/>
          </a:ln>
        </p:spPr>
        <p:txBody>
          <a:bodyPr wrap="none" lIns="19050" rIns="19050" tIns="0" bIns="0" anchor="ctr">
            <a:noAutofit/>
          </a:bodyPr>
          <a:lstStyle/>
          <a:p>
            <a:pPr algn="l"/>
            <a:r>
              <a:rPr sz="900" b="0">
                <a:solidFill>
                  <a:srgbClr val="849FA2"/>
                </a:solidFill>
                <a:latin typeface="PingFang SC"/>
              </a:rPr>
              <a:t>Critical Care Medicine</a:t>
            </a:r>
          </a:p>
        </p:txBody>
      </p:sp>
      <p:sp>
        <p:nvSpPr>
          <p:cNvPr id="17" name="TextBox 16"/>
          <p:cNvSpPr txBox="1"/>
          <p:nvPr/>
        </p:nvSpPr>
        <p:spPr>
          <a:xfrm>
            <a:off x="555498" y="5455310"/>
            <a:ext cx="2444191" cy="144780"/>
          </a:xfrm>
          <a:prstGeom prst="rect">
            <a:avLst/>
          </a:prstGeom>
          <a:noFill/>
          <a:ln>
            <a:noFill/>
          </a:ln>
        </p:spPr>
        <p:txBody>
          <a:bodyPr wrap="none" lIns="19050" rIns="19050" tIns="0" bIns="0" anchor="ctr">
            <a:noAutofit/>
          </a:bodyPr>
          <a:lstStyle/>
          <a:p>
            <a:pPr algn="l"/>
            <a:r>
              <a:rPr sz="1200" b="0">
                <a:solidFill>
                  <a:srgbClr val="BCD8DA"/>
                </a:solidFill>
                <a:latin typeface="PingFang SC"/>
              </a:rPr>
              <a:t>公众号 指南导航</a:t>
            </a:r>
          </a:p>
        </p:txBody>
      </p:sp>
      <p:sp>
        <p:nvSpPr>
          <p:cNvPr id="18" name="TextBox 17"/>
          <p:cNvSpPr txBox="1"/>
          <p:nvPr/>
        </p:nvSpPr>
        <p:spPr>
          <a:xfrm>
            <a:off x="10287000" y="5339486"/>
            <a:ext cx="0" cy="231647"/>
          </a:xfrm>
          <a:prstGeom prst="rect">
            <a:avLst/>
          </a:prstGeom>
          <a:noFill/>
          <a:ln>
            <a:noFill/>
          </a:ln>
        </p:spPr>
        <p:txBody>
          <a:bodyPr wrap="none" lIns="19050" rIns="19050" tIns="0" bIns="0" anchor="ctr">
            <a:noAutofit/>
          </a:bodyPr>
          <a:lstStyle/>
          <a:p>
            <a:pPr algn="r"/>
            <a:r>
              <a:rPr sz="1500" b="1">
                <a:solidFill>
                  <a:srgbClr val="000000"/>
                </a:solidFill>
                <a:latin typeface="PingFang SC"/>
              </a:rPr>
              <a:t>40</a:t>
            </a:r>
          </a:p>
        </p:txBody>
      </p:sp>
      <p:pic>
        <p:nvPicPr>
          <p:cNvPr id="19" name="Picture 18" descr="tmprf0nscg8.png"/>
          <p:cNvPicPr>
            <a:picLocks noChangeAspect="1"/>
          </p:cNvPicPr>
          <p:nvPr/>
        </p:nvPicPr>
        <p:blipFill>
          <a:blip r:embed="rId4"/>
          <a:stretch>
            <a:fillRect/>
          </a:stretch>
        </p:blipFill>
        <p:spPr>
          <a:xfrm>
            <a:off x="1276350" y="3228975"/>
            <a:ext cx="285750" cy="200025"/>
          </a:xfrm>
          <a:prstGeom prst="rect">
            <a:avLst/>
          </a:prstGeom>
        </p:spPr>
      </p:pic>
      <p:pic>
        <p:nvPicPr>
          <p:cNvPr id="20" name="Picture 19" descr="tmpa7k5yqo6.png"/>
          <p:cNvPicPr>
            <a:picLocks noChangeAspect="1"/>
          </p:cNvPicPr>
          <p:nvPr/>
        </p:nvPicPr>
        <p:blipFill>
          <a:blip r:embed="rId5"/>
          <a:stretch>
            <a:fillRect/>
          </a:stretch>
        </p:blipFill>
        <p:spPr>
          <a:xfrm>
            <a:off x="1666875" y="3228975"/>
            <a:ext cx="276225" cy="200025"/>
          </a:xfrm>
          <a:prstGeom prst="rect">
            <a:avLst/>
          </a:prstGeom>
        </p:spPr>
      </p:pic>
      <p:pic>
        <p:nvPicPr>
          <p:cNvPr id="21" name="Picture 20" descr="tmph2hrki5c.png"/>
          <p:cNvPicPr>
            <a:picLocks noChangeAspect="1"/>
          </p:cNvPicPr>
          <p:nvPr/>
        </p:nvPicPr>
        <p:blipFill>
          <a:blip r:embed="rId6"/>
          <a:stretch>
            <a:fillRect/>
          </a:stretch>
        </p:blipFill>
        <p:spPr>
          <a:xfrm>
            <a:off x="2047875" y="3228975"/>
            <a:ext cx="276225" cy="200025"/>
          </a:xfrm>
          <a:prstGeom prst="rect">
            <a:avLst/>
          </a:prstGeom>
        </p:spPr>
      </p:pic>
      <p:pic>
        <p:nvPicPr>
          <p:cNvPr id="22" name="Picture 21" descr="tmpf10ozdys.png"/>
          <p:cNvPicPr>
            <a:picLocks noChangeAspect="1"/>
          </p:cNvPicPr>
          <p:nvPr/>
        </p:nvPicPr>
        <p:blipFill>
          <a:blip r:embed="rId7"/>
          <a:stretch>
            <a:fillRect/>
          </a:stretch>
        </p:blipFill>
        <p:spPr>
          <a:xfrm>
            <a:off x="2428875" y="3228975"/>
            <a:ext cx="276225" cy="200025"/>
          </a:xfrm>
          <a:prstGeom prst="rect">
            <a:avLst/>
          </a:prstGeom>
        </p:spPr>
      </p:pic>
      <p:pic>
        <p:nvPicPr>
          <p:cNvPr id="23" name="Picture 22" descr="tmpbjtrg70l.png"/>
          <p:cNvPicPr>
            <a:picLocks noChangeAspect="1"/>
          </p:cNvPicPr>
          <p:nvPr/>
        </p:nvPicPr>
        <p:blipFill>
          <a:blip r:embed="rId8"/>
          <a:stretch>
            <a:fillRect/>
          </a:stretch>
        </p:blipFill>
        <p:spPr>
          <a:xfrm>
            <a:off x="2809875" y="3228975"/>
            <a:ext cx="276225" cy="200025"/>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oupkqssq.png"/>
          <p:cNvPicPr>
            <a:picLocks noChangeAspect="1"/>
          </p:cNvPicPr>
          <p:nvPr/>
        </p:nvPicPr>
        <p:blipFill>
          <a:blip r:embed="rId2"/>
          <a:stretch>
            <a:fillRect/>
          </a:stretch>
        </p:blipFill>
        <p:spPr>
          <a:xfrm>
            <a:off x="533400" y="4924425"/>
            <a:ext cx="1095375" cy="323850"/>
          </a:xfrm>
          <a:prstGeom prst="rect">
            <a:avLst/>
          </a:prstGeom>
        </p:spPr>
      </p:pic>
      <p:pic>
        <p:nvPicPr>
          <p:cNvPr id="4" name="Picture 3" descr="tmpbicepdwg.png"/>
          <p:cNvPicPr>
            <a:picLocks noChangeAspect="1"/>
          </p:cNvPicPr>
          <p:nvPr/>
        </p:nvPicPr>
        <p:blipFill>
          <a:blip r:embed="rId3"/>
          <a:stretch>
            <a:fillRect/>
          </a:stretch>
        </p:blipFill>
        <p:spPr>
          <a:xfrm>
            <a:off x="1666875" y="4924425"/>
            <a:ext cx="952500" cy="323850"/>
          </a:xfrm>
          <a:prstGeom prst="rect">
            <a:avLst/>
          </a:prstGeom>
        </p:spPr>
      </p:pic>
      <p:sp>
        <p:nvSpPr>
          <p:cNvPr id="5" name="Rectangle 4"/>
          <p:cNvSpPr/>
          <p:nvPr/>
        </p:nvSpPr>
        <p:spPr>
          <a:xfrm>
            <a:off x="3909060" y="1772107"/>
            <a:ext cx="1717929" cy="75285"/>
          </a:xfrm>
          <a:prstGeom prst="rect">
            <a:avLst/>
          </a:prstGeom>
          <a:solidFill>
            <a:srgbClr val="9AC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3932224"/>
            <a:ext cx="7056882" cy="75285"/>
          </a:xfrm>
          <a:prstGeom prst="rect">
            <a:avLst/>
          </a:prstGeom>
          <a:solidFill>
            <a:srgbClr val="F4F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933956" y="2432304"/>
            <a:ext cx="2987344" cy="822350"/>
          </a:xfrm>
          <a:prstGeom prst="rect">
            <a:avLst/>
          </a:prstGeom>
          <a:noFill/>
          <a:ln>
            <a:noFill/>
          </a:ln>
        </p:spPr>
        <p:txBody>
          <a:bodyPr wrap="none" lIns="19050" rIns="19050" tIns="0" bIns="0" anchor="ctr">
            <a:noAutofit/>
          </a:bodyPr>
          <a:lstStyle/>
          <a:p>
            <a:pPr algn="l"/>
            <a:r>
              <a:rPr sz="9000" b="1">
                <a:solidFill>
                  <a:srgbClr val="139ED4"/>
                </a:solidFill>
                <a:latin typeface="PingFang SC"/>
              </a:rPr>
              <a:t>04</a:t>
            </a:r>
          </a:p>
        </p:txBody>
      </p:sp>
      <p:sp>
        <p:nvSpPr>
          <p:cNvPr id="8" name="TextBox 7"/>
          <p:cNvSpPr txBox="1"/>
          <p:nvPr/>
        </p:nvSpPr>
        <p:spPr>
          <a:xfrm>
            <a:off x="3950208" y="2432304"/>
            <a:ext cx="4775225" cy="822350"/>
          </a:xfrm>
          <a:prstGeom prst="rect">
            <a:avLst/>
          </a:prstGeom>
          <a:noFill/>
          <a:ln>
            <a:noFill/>
          </a:ln>
        </p:spPr>
        <p:txBody>
          <a:bodyPr wrap="none" lIns="19050" rIns="19050" tIns="0" bIns="0" anchor="ctr">
            <a:noAutofit/>
          </a:bodyPr>
          <a:lstStyle/>
          <a:p>
            <a:pPr algn="l"/>
            <a:r>
              <a:rPr sz="3600" b="1">
                <a:solidFill>
                  <a:srgbClr val="374654"/>
                </a:solidFill>
                <a:latin typeface="PingFang SC"/>
              </a:rPr>
              <a:t>呼吸支持</a:t>
            </a:r>
          </a:p>
          <a:p>
            <a:pPr algn="l"/>
            <a:r>
              <a:rPr sz="3600" b="1">
                <a:solidFill>
                  <a:srgbClr val="374654"/>
                </a:solidFill>
                <a:latin typeface="PingFang SC"/>
              </a:rPr>
              <a:t>Respiratory support</a:t>
            </a:r>
          </a:p>
        </p:txBody>
      </p:sp>
      <p:sp>
        <p:nvSpPr>
          <p:cNvPr id="9" name="TextBox 8"/>
          <p:cNvSpPr txBox="1"/>
          <p:nvPr/>
        </p:nvSpPr>
        <p:spPr>
          <a:xfrm>
            <a:off x="8322183" y="162153"/>
            <a:ext cx="3915232" cy="451713"/>
          </a:xfrm>
          <a:prstGeom prst="rect">
            <a:avLst/>
          </a:prstGeom>
          <a:noFill/>
          <a:ln>
            <a:noFill/>
          </a:ln>
        </p:spPr>
        <p:txBody>
          <a:bodyPr wrap="none" lIns="19050" rIns="19050" tIns="0" bIns="0" anchor="ctr">
            <a:noAutofit/>
          </a:bodyPr>
          <a:lstStyle/>
          <a:p>
            <a:pPr algn="r"/>
            <a:r>
              <a:rPr sz="1800" b="0">
                <a:solidFill>
                  <a:srgbClr val="AFC3A9"/>
                </a:solidFill>
                <a:latin typeface="PingFang SC"/>
              </a:rPr>
              <a:t>Surviving Sepsis Campaign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7xyrfpb4.png"/>
          <p:cNvPicPr>
            <a:picLocks noChangeAspect="1"/>
          </p:cNvPicPr>
          <p:nvPr/>
        </p:nvPicPr>
        <p:blipFill>
          <a:blip r:embed="rId2"/>
          <a:stretch>
            <a:fillRect/>
          </a:stretch>
        </p:blipFill>
        <p:spPr>
          <a:xfrm>
            <a:off x="1666875" y="5048250"/>
            <a:ext cx="1028700" cy="95250"/>
          </a:xfrm>
          <a:prstGeom prst="rect">
            <a:avLst/>
          </a:prstGeom>
        </p:spPr>
      </p:pic>
      <p:sp>
        <p:nvSpPr>
          <p:cNvPr id="4" name="Rounded Rectangle 3"/>
          <p:cNvSpPr/>
          <p:nvPr/>
        </p:nvSpPr>
        <p:spPr>
          <a:xfrm>
            <a:off x="555498" y="967130"/>
            <a:ext cx="9196577" cy="2113788"/>
          </a:xfrm>
          <a:prstGeom prst="roundRect">
            <a:avLst>
              <a:gd name="adj" fmla="val 6000"/>
            </a:avLst>
          </a:prstGeom>
          <a:solidFill>
            <a:srgbClr val="FDFEFD"/>
          </a:solidFill>
          <a:ln w="11430">
            <a:solidFill>
              <a:srgbClr val="0E599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55498" y="3185160"/>
            <a:ext cx="9196577" cy="1922678"/>
          </a:xfrm>
          <a:prstGeom prst="rect">
            <a:avLst/>
          </a:prstGeom>
          <a:solidFill>
            <a:srgbClr val="F1FEFE"/>
          </a:solidFill>
          <a:ln w="11430">
            <a:solidFill>
              <a:srgbClr val="F2FE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6646" y="388010"/>
            <a:ext cx="3258921" cy="289560"/>
          </a:xfrm>
          <a:prstGeom prst="rect">
            <a:avLst/>
          </a:prstGeom>
          <a:noFill/>
          <a:ln>
            <a:noFill/>
          </a:ln>
        </p:spPr>
        <p:txBody>
          <a:bodyPr wrap="none" lIns="19050" rIns="19050" tIns="0" bIns="0" anchor="ctr">
            <a:noAutofit/>
          </a:bodyPr>
          <a:lstStyle/>
          <a:p>
            <a:pPr algn="l"/>
            <a:r>
              <a:rPr sz="3150" b="1">
                <a:solidFill>
                  <a:srgbClr val="435690"/>
                </a:solidFill>
                <a:latin typeface="PingFang SC"/>
              </a:rPr>
              <a:t>低氧监测</a:t>
            </a:r>
          </a:p>
        </p:txBody>
      </p:sp>
      <p:sp>
        <p:nvSpPr>
          <p:cNvPr id="7" name="TextBox 6"/>
          <p:cNvSpPr txBox="1"/>
          <p:nvPr/>
        </p:nvSpPr>
        <p:spPr>
          <a:xfrm>
            <a:off x="1049274" y="1227734"/>
            <a:ext cx="8126730" cy="463296"/>
          </a:xfrm>
          <a:prstGeom prst="rect">
            <a:avLst/>
          </a:prstGeom>
          <a:noFill/>
          <a:ln>
            <a:noFill/>
          </a:ln>
        </p:spPr>
        <p:txBody>
          <a:bodyPr wrap="square" lIns="19050" rIns="19050" tIns="0" bIns="0" anchor="t">
            <a:normAutofit/>
          </a:bodyPr>
          <a:lstStyle/>
          <a:p>
            <a:pPr algn="l"/>
            <a:r>
              <a:rPr sz="1500" b="0">
                <a:solidFill>
                  <a:srgbClr val="858C89"/>
                </a:solidFill>
                <a:latin typeface="PingFang SC"/>
              </a:rPr>
              <a:t>65. 对于患有脓毒症的成年人，我们 “建议” 结合体格检查和临床判断，使用脉搏血氧仪（SpO₂）或动脉血气分析（SaO₂）测量氧合情况。</a:t>
            </a:r>
          </a:p>
        </p:txBody>
      </p:sp>
      <p:sp>
        <p:nvSpPr>
          <p:cNvPr id="8" name="TextBox 7"/>
          <p:cNvSpPr txBox="1"/>
          <p:nvPr/>
        </p:nvSpPr>
        <p:spPr>
          <a:xfrm>
            <a:off x="1049274" y="2154326"/>
            <a:ext cx="8229600" cy="723900"/>
          </a:xfrm>
          <a:prstGeom prst="rect">
            <a:avLst/>
          </a:prstGeom>
          <a:noFill/>
          <a:ln>
            <a:noFill/>
          </a:ln>
        </p:spPr>
        <p:txBody>
          <a:bodyPr wrap="square" lIns="19050" rIns="19050" tIns="0" bIns="0" anchor="t">
            <a:normAutofit/>
          </a:bodyPr>
          <a:lstStyle/>
          <a:p>
            <a:pPr algn="l"/>
            <a:r>
              <a:rPr sz="1220" b="0">
                <a:solidFill>
                  <a:srgbClr val="AEC4A4"/>
                </a:solidFill>
                <a:latin typeface="PingFang SC"/>
              </a:rPr>
              <a:t>备注：动脉血气测量是评估氧合的金标准；它还包含其他重要信息，如pH值、动脉血二氧化碳分压（Paco₂）、乳酸和碳酸氢盐；若条件允许，应优先采用。脉搏血氧仪测得的血氧饱和度（SpO₂）与吸入氧分数（FiO₂）的比值可替代动脉血氧分压（PaO₂）与吸入氧分数（FiO₂）的比值，但对于休克患者、肤色较深者，以及/或者血氧饱和度低于90%或高于97%的患者，其准确性较差。</a:t>
            </a:r>
          </a:p>
        </p:txBody>
      </p:sp>
      <p:sp>
        <p:nvSpPr>
          <p:cNvPr id="9" name="TextBox 8"/>
          <p:cNvSpPr txBox="1"/>
          <p:nvPr/>
        </p:nvSpPr>
        <p:spPr>
          <a:xfrm>
            <a:off x="740663" y="3602126"/>
            <a:ext cx="8805672" cy="1158239"/>
          </a:xfrm>
          <a:prstGeom prst="rect">
            <a:avLst/>
          </a:prstGeom>
          <a:noFill/>
          <a:ln>
            <a:noFill/>
          </a:ln>
        </p:spPr>
        <p:txBody>
          <a:bodyPr wrap="square" lIns="19050" rIns="19050" tIns="0" bIns="0" anchor="t">
            <a:normAutofit/>
          </a:bodyPr>
          <a:lstStyle/>
          <a:p>
            <a:pPr algn="l"/>
            <a:r>
              <a:rPr sz="1350" b="0">
                <a:solidFill>
                  <a:srgbClr val="798A8D"/>
                </a:solidFill>
                <a:latin typeface="PingFang SC"/>
              </a:rPr>
              <a:t>• 动脉血气（ABG）测量是评估氧合的金标准，但它具有侵入性、成本高，且并非在所有情况下都能进行。脉搏血氧饱和度测定法是非侵入性的，更普及，并且可以提供易于解读的连续监测，不过在低灌注状态下其准确性会降低。</a:t>
            </a:r>
          </a:p>
          <a:p>
            <a:pPr algn="l"/>
            <a:r>
              <a:rPr sz="1350" b="0">
                <a:solidFill>
                  <a:srgbClr val="798A8D"/>
                </a:solidFill>
                <a:latin typeface="PingFang SC"/>
              </a:rPr>
              <a:t>• 诊断急性呼吸窘迫综合征（ARDS）的低氧血症标准需要测量动脉血氧分压（Pao2）与吸入氧分数（Fio2）的比值。然而，越来越多的证据也支持使用基于脉搏血氧饱和度测定法的测量值（如血氧饱和度（SpO2））与Fio2的比值来进行ARDS的临床诊断和管理。</a:t>
            </a:r>
          </a:p>
        </p:txBody>
      </p:sp>
      <p:sp>
        <p:nvSpPr>
          <p:cNvPr id="10" name="TextBox 9"/>
          <p:cNvSpPr txBox="1"/>
          <p:nvPr/>
        </p:nvSpPr>
        <p:spPr>
          <a:xfrm>
            <a:off x="8311896" y="173735"/>
            <a:ext cx="3937863" cy="416966"/>
          </a:xfrm>
          <a:prstGeom prst="rect">
            <a:avLst/>
          </a:prstGeom>
          <a:noFill/>
          <a:ln>
            <a:noFill/>
          </a:ln>
        </p:spPr>
        <p:txBody>
          <a:bodyPr wrap="none" lIns="19050" rIns="19050" tIns="0" bIns="0" anchor="ctr">
            <a:noAutofit/>
          </a:bodyPr>
          <a:lstStyle/>
          <a:p>
            <a:pPr algn="r"/>
            <a:r>
              <a:rPr sz="1800" b="0">
                <a:solidFill>
                  <a:srgbClr val="AFC4A9"/>
                </a:solidFill>
                <a:latin typeface="PingFang SC"/>
              </a:rPr>
              <a:t>Surviving Sepsis Campaign</a:t>
            </a:r>
          </a:p>
        </p:txBody>
      </p:sp>
      <p:sp>
        <p:nvSpPr>
          <p:cNvPr id="11" name="TextBox 10"/>
          <p:cNvSpPr txBox="1"/>
          <p:nvPr/>
        </p:nvSpPr>
        <p:spPr>
          <a:xfrm>
            <a:off x="9176004" y="1227734"/>
            <a:ext cx="814730" cy="173736"/>
          </a:xfrm>
          <a:prstGeom prst="rect">
            <a:avLst/>
          </a:prstGeom>
          <a:noFill/>
          <a:ln>
            <a:noFill/>
          </a:ln>
        </p:spPr>
        <p:txBody>
          <a:bodyPr wrap="none" lIns="19050" rIns="19050" tIns="0" bIns="0" anchor="ctr">
            <a:noAutofit/>
          </a:bodyPr>
          <a:lstStyle/>
          <a:p>
            <a:pPr algn="r"/>
            <a:r>
              <a:rPr sz="1350" b="1">
                <a:solidFill>
                  <a:srgbClr val="8DAFCA"/>
                </a:solidFill>
                <a:latin typeface="PingFang SC"/>
              </a:rPr>
              <a:t>新增</a:t>
            </a:r>
          </a:p>
        </p:txBody>
      </p:sp>
      <p:sp>
        <p:nvSpPr>
          <p:cNvPr id="12" name="TextBox 11"/>
          <p:cNvSpPr txBox="1"/>
          <p:nvPr/>
        </p:nvSpPr>
        <p:spPr>
          <a:xfrm>
            <a:off x="555498" y="5049926"/>
            <a:ext cx="2444191" cy="92659"/>
          </a:xfrm>
          <a:prstGeom prst="rect">
            <a:avLst/>
          </a:prstGeom>
          <a:noFill/>
          <a:ln>
            <a:noFill/>
          </a:ln>
        </p:spPr>
        <p:txBody>
          <a:bodyPr wrap="none" lIns="19050" rIns="19050" tIns="0" bIns="0" anchor="ctr">
            <a:noAutofit/>
          </a:bodyPr>
          <a:lstStyle/>
          <a:p>
            <a:pPr algn="l"/>
            <a:r>
              <a:rPr sz="900" b="0">
                <a:solidFill>
                  <a:srgbClr val="84999B"/>
                </a:solidFill>
                <a:latin typeface="PingFang SC"/>
              </a:rPr>
              <a:t>Critical Care Medicine</a:t>
            </a:r>
          </a:p>
        </p:txBody>
      </p:sp>
      <p:sp>
        <p:nvSpPr>
          <p:cNvPr id="13" name="TextBox 12"/>
          <p:cNvSpPr txBox="1"/>
          <p:nvPr/>
        </p:nvSpPr>
        <p:spPr>
          <a:xfrm>
            <a:off x="555498" y="5455310"/>
            <a:ext cx="2444191" cy="115823"/>
          </a:xfrm>
          <a:prstGeom prst="rect">
            <a:avLst/>
          </a:prstGeom>
          <a:noFill/>
          <a:ln>
            <a:noFill/>
          </a:ln>
        </p:spPr>
        <p:txBody>
          <a:bodyPr wrap="none" lIns="19050" rIns="19050" tIns="0" bIns="0" anchor="ctr">
            <a:noAutofit/>
          </a:bodyPr>
          <a:lstStyle/>
          <a:p>
            <a:pPr algn="l"/>
            <a:r>
              <a:rPr sz="1200" b="0">
                <a:solidFill>
                  <a:srgbClr val="BBD5D6"/>
                </a:solidFill>
                <a:latin typeface="PingFang SC"/>
              </a:rPr>
              <a:t>公众号·指南导航</a:t>
            </a:r>
          </a:p>
        </p:txBody>
      </p:sp>
      <p:sp>
        <p:nvSpPr>
          <p:cNvPr id="14" name="TextBox 13"/>
          <p:cNvSpPr txBox="1"/>
          <p:nvPr/>
        </p:nvSpPr>
        <p:spPr>
          <a:xfrm>
            <a:off x="10287000" y="5339486"/>
            <a:ext cx="0" cy="173736"/>
          </a:xfrm>
          <a:prstGeom prst="rect">
            <a:avLst/>
          </a:prstGeom>
          <a:noFill/>
          <a:ln>
            <a:noFill/>
          </a:ln>
        </p:spPr>
        <p:txBody>
          <a:bodyPr wrap="none" lIns="19050" rIns="19050" tIns="0" bIns="0" anchor="ctr">
            <a:noAutofit/>
          </a:bodyPr>
          <a:lstStyle/>
          <a:p>
            <a:pPr algn="r"/>
            <a:r>
              <a:rPr sz="1500" b="0">
                <a:solidFill>
                  <a:srgbClr val="000000"/>
                </a:solidFill>
                <a:latin typeface="PingFang SC"/>
              </a:rPr>
              <a:t>42</a:t>
            </a:r>
          </a:p>
        </p:txBody>
      </p:sp>
      <p:pic>
        <p:nvPicPr>
          <p:cNvPr id="15" name="Picture 14" descr="tmpbzdxjkdr.png"/>
          <p:cNvPicPr>
            <a:picLocks noChangeAspect="1"/>
          </p:cNvPicPr>
          <p:nvPr/>
        </p:nvPicPr>
        <p:blipFill>
          <a:blip r:embed="rId3"/>
          <a:stretch>
            <a:fillRect/>
          </a:stretch>
        </p:blipFill>
        <p:spPr>
          <a:xfrm>
            <a:off x="1257300" y="1895475"/>
            <a:ext cx="1295400" cy="200025"/>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pzm8_84w.png"/>
          <p:cNvPicPr>
            <a:picLocks noChangeAspect="1"/>
          </p:cNvPicPr>
          <p:nvPr/>
        </p:nvPicPr>
        <p:blipFill>
          <a:blip r:embed="rId2"/>
          <a:stretch>
            <a:fillRect/>
          </a:stretch>
        </p:blipFill>
        <p:spPr>
          <a:xfrm>
            <a:off x="2181225" y="5048250"/>
            <a:ext cx="923925" cy="95250"/>
          </a:xfrm>
          <a:prstGeom prst="rect">
            <a:avLst/>
          </a:prstGeom>
        </p:spPr>
      </p:pic>
      <p:pic>
        <p:nvPicPr>
          <p:cNvPr id="4" name="Picture 3" descr="tmppked9ohr.png"/>
          <p:cNvPicPr>
            <a:picLocks noChangeAspect="1"/>
          </p:cNvPicPr>
          <p:nvPr/>
        </p:nvPicPr>
        <p:blipFill>
          <a:blip r:embed="rId3"/>
          <a:stretch>
            <a:fillRect/>
          </a:stretch>
        </p:blipFill>
        <p:spPr>
          <a:xfrm>
            <a:off x="3105150" y="5048250"/>
            <a:ext cx="1028700" cy="95250"/>
          </a:xfrm>
          <a:prstGeom prst="rect">
            <a:avLst/>
          </a:prstGeom>
        </p:spPr>
      </p:pic>
      <p:sp>
        <p:nvSpPr>
          <p:cNvPr id="5" name="Rounded Rectangle 4"/>
          <p:cNvSpPr/>
          <p:nvPr/>
        </p:nvSpPr>
        <p:spPr>
          <a:xfrm>
            <a:off x="555498" y="967130"/>
            <a:ext cx="9196577" cy="2287524"/>
          </a:xfrm>
          <a:prstGeom prst="roundRect">
            <a:avLst>
              <a:gd name="adj" fmla="val 6000"/>
            </a:avLst>
          </a:prstGeom>
          <a:solidFill>
            <a:srgbClr val="FDFEFD"/>
          </a:solidFill>
          <a:ln w="11430">
            <a:solidFill>
              <a:srgbClr val="1953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5498" y="3376269"/>
            <a:ext cx="9196577" cy="1719986"/>
          </a:xfrm>
          <a:prstGeom prst="rect">
            <a:avLst/>
          </a:prstGeom>
          <a:solidFill>
            <a:srgbClr val="F1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6646" y="405384"/>
            <a:ext cx="3485235" cy="301142"/>
          </a:xfrm>
          <a:prstGeom prst="rect">
            <a:avLst/>
          </a:prstGeom>
          <a:noFill/>
          <a:ln>
            <a:noFill/>
          </a:ln>
        </p:spPr>
        <p:txBody>
          <a:bodyPr wrap="none" lIns="19050" rIns="19050" tIns="0" bIns="0" anchor="ctr">
            <a:noAutofit/>
          </a:bodyPr>
          <a:lstStyle/>
          <a:p>
            <a:pPr algn="l"/>
            <a:r>
              <a:rPr sz="3000" b="1">
                <a:solidFill>
                  <a:srgbClr val="40538D"/>
                </a:solidFill>
                <a:latin typeface="PingFang SC"/>
              </a:rPr>
              <a:t>氧疗目标</a:t>
            </a:r>
          </a:p>
        </p:txBody>
      </p:sp>
      <p:sp>
        <p:nvSpPr>
          <p:cNvPr id="8" name="TextBox 7"/>
          <p:cNvSpPr txBox="1"/>
          <p:nvPr/>
        </p:nvSpPr>
        <p:spPr>
          <a:xfrm>
            <a:off x="8353044" y="185318"/>
            <a:ext cx="3779443" cy="405384"/>
          </a:xfrm>
          <a:prstGeom prst="rect">
            <a:avLst/>
          </a:prstGeom>
          <a:noFill/>
          <a:ln>
            <a:noFill/>
          </a:ln>
        </p:spPr>
        <p:txBody>
          <a:bodyPr wrap="none" lIns="19050" rIns="19050" tIns="0" bIns="0" anchor="ctr">
            <a:noAutofit/>
          </a:bodyPr>
          <a:lstStyle/>
          <a:p>
            <a:pPr algn="r"/>
            <a:r>
              <a:rPr sz="1800" b="0">
                <a:solidFill>
                  <a:srgbClr val="AFC3AA"/>
                </a:solidFill>
                <a:latin typeface="PingFang SC"/>
              </a:rPr>
              <a:t>Surviving Sepsis Campaign</a:t>
            </a:r>
          </a:p>
        </p:txBody>
      </p:sp>
      <p:sp>
        <p:nvSpPr>
          <p:cNvPr id="9" name="TextBox 8"/>
          <p:cNvSpPr txBox="1"/>
          <p:nvPr/>
        </p:nvSpPr>
        <p:spPr>
          <a:xfrm>
            <a:off x="1255014" y="1227734"/>
            <a:ext cx="7756398" cy="463296"/>
          </a:xfrm>
          <a:prstGeom prst="rect">
            <a:avLst/>
          </a:prstGeom>
          <a:noFill/>
          <a:ln>
            <a:noFill/>
          </a:ln>
        </p:spPr>
        <p:txBody>
          <a:bodyPr wrap="square" lIns="19050" rIns="19050" tIns="0" bIns="0" anchor="t">
            <a:normAutofit/>
          </a:bodyPr>
          <a:lstStyle/>
          <a:p>
            <a:pPr algn="l"/>
            <a:r>
              <a:rPr sz="1390" b="0">
                <a:solidFill>
                  <a:srgbClr val="848B8A"/>
                </a:solidFill>
                <a:latin typeface="PingFang SC"/>
              </a:rPr>
              <a:t>66. 对于患有脓毒症和急性低氧性呼吸衰竭的成年人，我们“建议”根据患者因素和资源限制，将吸氧浓度（FiO₂）调整至目标值，可选择较高、更宽松的氧水平或较低、保守的氧水平。</a:t>
            </a:r>
          </a:p>
        </p:txBody>
      </p:sp>
      <p:sp>
        <p:nvSpPr>
          <p:cNvPr id="10" name="TextBox 9"/>
          <p:cNvSpPr txBox="1"/>
          <p:nvPr/>
        </p:nvSpPr>
        <p:spPr>
          <a:xfrm>
            <a:off x="1255014" y="2189073"/>
            <a:ext cx="7756398" cy="312724"/>
          </a:xfrm>
          <a:prstGeom prst="rect">
            <a:avLst/>
          </a:prstGeom>
          <a:noFill/>
          <a:ln>
            <a:noFill/>
          </a:ln>
        </p:spPr>
        <p:txBody>
          <a:bodyPr wrap="square" lIns="19050" rIns="19050" tIns="0" bIns="0" anchor="t">
            <a:normAutofit/>
          </a:bodyPr>
          <a:lstStyle/>
          <a:p>
            <a:pPr algn="l"/>
            <a:r>
              <a:rPr sz="1200" b="0">
                <a:solidFill>
                  <a:srgbClr val="A8BE9E"/>
                </a:solidFill>
                <a:latin typeface="PingFang SC"/>
              </a:rPr>
              <a:t>备注：尽管为该建议提供依据的各项试验存在差异，但大多数试验采用的血氧饱和度（Spo2）下限目标约为90-93%，上限目标为Spo2≥96%。</a:t>
            </a:r>
          </a:p>
        </p:txBody>
      </p:sp>
      <p:sp>
        <p:nvSpPr>
          <p:cNvPr id="11" name="TextBox 10"/>
          <p:cNvSpPr txBox="1"/>
          <p:nvPr/>
        </p:nvSpPr>
        <p:spPr>
          <a:xfrm>
            <a:off x="1255014" y="2571292"/>
            <a:ext cx="7756398" cy="324307"/>
          </a:xfrm>
          <a:prstGeom prst="rect">
            <a:avLst/>
          </a:prstGeom>
          <a:noFill/>
          <a:ln>
            <a:noFill/>
          </a:ln>
        </p:spPr>
        <p:txBody>
          <a:bodyPr wrap="square" lIns="19050" rIns="19050" tIns="0" bIns="0" anchor="t">
            <a:normAutofit/>
          </a:bodyPr>
          <a:lstStyle/>
          <a:p>
            <a:pPr algn="l"/>
            <a:r>
              <a:rPr sz="1160" b="0">
                <a:solidFill>
                  <a:srgbClr val="A9BF9F"/>
                </a:solidFill>
                <a:latin typeface="PingFang SC"/>
              </a:rPr>
              <a:t>备注：“在我们的实践中”，专家小组成员为脓毒症和急性低氧性呼吸衰竭患者设定的血氧饱和度（SpO₂）目标范围是90%（四分位距90-92%）至96%（四分位距94-98%）。</a:t>
            </a:r>
          </a:p>
        </p:txBody>
      </p:sp>
      <p:sp>
        <p:nvSpPr>
          <p:cNvPr id="12" name="TextBox 11"/>
          <p:cNvSpPr txBox="1"/>
          <p:nvPr/>
        </p:nvSpPr>
        <p:spPr>
          <a:xfrm>
            <a:off x="637793" y="3486302"/>
            <a:ext cx="9031985" cy="1447800"/>
          </a:xfrm>
          <a:prstGeom prst="rect">
            <a:avLst/>
          </a:prstGeom>
          <a:noFill/>
          <a:ln>
            <a:noFill/>
          </a:ln>
        </p:spPr>
        <p:txBody>
          <a:bodyPr wrap="square" lIns="19050" rIns="19050" tIns="0" bIns="0" anchor="t">
            <a:normAutofit/>
          </a:bodyPr>
          <a:lstStyle/>
          <a:p>
            <a:pPr algn="l"/>
            <a:r>
              <a:rPr sz="1200" b="0">
                <a:solidFill>
                  <a:srgbClr val="748487"/>
                </a:solidFill>
                <a:latin typeface="PingFang SC"/>
              </a:rPr>
              <a:t>• 本建议基于10项随机对照试验（共24022例患者），这些试验报告了28天或90天死亡率。对这些试验的荟萃分析表明，较低的保守氧疗目标在短期死亡率方面可能几乎没有差异，相当于每1000例患者多7例死亡。</a:t>
            </a:r>
          </a:p>
          <a:p>
            <a:pPr algn="l"/>
            <a:r>
              <a:rPr sz="1200" b="0">
                <a:solidFill>
                  <a:srgbClr val="748487"/>
                </a:solidFill>
                <a:latin typeface="PingFang SC"/>
              </a:rPr>
              <a:t>• 在机械通气时长方面或无机械通气天数方面可能也几乎没有差异，但这些估计均基于一项试验。鉴于较低与较高氧疗目标在关键结局上的效应量微不足道，较低的氧疗目标在个体层面的死亡率或其他结局方面可能几乎没有差异。然而，鉴于脓毒症和急性低氧性呼吸衰竭患者数量众多，较小的效应量仍可能对人群产生重要影响。不过，在氧疗或机械通气设备有限的资源匮乏环境中，将氧疗目标调整至较低水平总体上可能更有益。</a:t>
            </a:r>
          </a:p>
        </p:txBody>
      </p:sp>
      <p:sp>
        <p:nvSpPr>
          <p:cNvPr id="13" name="TextBox 12"/>
          <p:cNvSpPr txBox="1"/>
          <p:nvPr/>
        </p:nvSpPr>
        <p:spPr>
          <a:xfrm>
            <a:off x="555498" y="5049926"/>
            <a:ext cx="3575761" cy="92659"/>
          </a:xfrm>
          <a:prstGeom prst="rect">
            <a:avLst/>
          </a:prstGeom>
          <a:noFill/>
          <a:ln>
            <a:noFill/>
          </a:ln>
        </p:spPr>
        <p:txBody>
          <a:bodyPr wrap="none" lIns="19050" rIns="19050" tIns="0" bIns="0" anchor="ctr">
            <a:noAutofit/>
          </a:bodyPr>
          <a:lstStyle/>
          <a:p>
            <a:pPr algn="l"/>
            <a:r>
              <a:rPr sz="750" b="0">
                <a:solidFill>
                  <a:srgbClr val="7D96A0"/>
                </a:solidFill>
                <a:latin typeface="PingFang SC"/>
              </a:rPr>
              <a:t>Critical Care Medicine</a:t>
            </a:r>
          </a:p>
        </p:txBody>
      </p:sp>
      <p:sp>
        <p:nvSpPr>
          <p:cNvPr id="14" name="TextBox 13"/>
          <p:cNvSpPr txBox="1"/>
          <p:nvPr/>
        </p:nvSpPr>
        <p:spPr>
          <a:xfrm>
            <a:off x="555498" y="5455310"/>
            <a:ext cx="2670505" cy="115823"/>
          </a:xfrm>
          <a:prstGeom prst="rect">
            <a:avLst/>
          </a:prstGeom>
          <a:noFill/>
          <a:ln>
            <a:noFill/>
          </a:ln>
        </p:spPr>
        <p:txBody>
          <a:bodyPr wrap="none" lIns="19050" rIns="19050" tIns="0" bIns="0" anchor="ctr">
            <a:noAutofit/>
          </a:bodyPr>
          <a:lstStyle/>
          <a:p>
            <a:pPr algn="l"/>
            <a:r>
              <a:rPr sz="1050" b="0">
                <a:solidFill>
                  <a:srgbClr val="BDD6D8"/>
                </a:solidFill>
                <a:latin typeface="PingFang SC"/>
              </a:rPr>
              <a:t>公众号·指南导航</a:t>
            </a:r>
          </a:p>
        </p:txBody>
      </p:sp>
      <p:sp>
        <p:nvSpPr>
          <p:cNvPr id="15" name="TextBox 14"/>
          <p:cNvSpPr txBox="1"/>
          <p:nvPr/>
        </p:nvSpPr>
        <p:spPr>
          <a:xfrm>
            <a:off x="10287000" y="5374233"/>
            <a:ext cx="0" cy="173735"/>
          </a:xfrm>
          <a:prstGeom prst="rect">
            <a:avLst/>
          </a:prstGeom>
          <a:noFill/>
          <a:ln>
            <a:noFill/>
          </a:ln>
        </p:spPr>
        <p:txBody>
          <a:bodyPr wrap="none" lIns="19050" rIns="19050" tIns="0" bIns="0" anchor="ctr">
            <a:noAutofit/>
          </a:bodyPr>
          <a:lstStyle/>
          <a:p>
            <a:pPr algn="r"/>
            <a:r>
              <a:rPr sz="1350" b="0">
                <a:solidFill>
                  <a:srgbClr val="000000"/>
                </a:solidFill>
                <a:latin typeface="PingFang SC"/>
              </a:rPr>
              <a:t>43</a:t>
            </a:r>
          </a:p>
        </p:txBody>
      </p:sp>
      <p:sp>
        <p:nvSpPr>
          <p:cNvPr id="16" name="TextBox 15"/>
          <p:cNvSpPr txBox="1"/>
          <p:nvPr/>
        </p:nvSpPr>
        <p:spPr>
          <a:xfrm>
            <a:off x="9176004" y="1204569"/>
            <a:ext cx="814730" cy="138988"/>
          </a:xfrm>
          <a:prstGeom prst="rect">
            <a:avLst/>
          </a:prstGeom>
          <a:noFill/>
          <a:ln>
            <a:noFill/>
          </a:ln>
        </p:spPr>
        <p:txBody>
          <a:bodyPr wrap="none" lIns="19050" rIns="19050" tIns="0" bIns="0" anchor="ctr">
            <a:noAutofit/>
          </a:bodyPr>
          <a:lstStyle/>
          <a:p>
            <a:pPr algn="r"/>
            <a:r>
              <a:rPr sz="1200" b="1">
                <a:solidFill>
                  <a:srgbClr val="87AFC7"/>
                </a:solidFill>
                <a:latin typeface="PingFang SC"/>
              </a:rPr>
              <a:t>新增</a:t>
            </a:r>
          </a:p>
        </p:txBody>
      </p:sp>
      <p:pic>
        <p:nvPicPr>
          <p:cNvPr id="17" name="Picture 16" descr="tmps_g_wqly.png"/>
          <p:cNvPicPr>
            <a:picLocks noChangeAspect="1"/>
          </p:cNvPicPr>
          <p:nvPr/>
        </p:nvPicPr>
        <p:blipFill>
          <a:blip r:embed="rId4"/>
          <a:stretch>
            <a:fillRect/>
          </a:stretch>
        </p:blipFill>
        <p:spPr>
          <a:xfrm>
            <a:off x="1257300" y="1895475"/>
            <a:ext cx="247650" cy="180975"/>
          </a:xfrm>
          <a:prstGeom prst="rect">
            <a:avLst/>
          </a:prstGeom>
        </p:spPr>
      </p:pic>
      <p:pic>
        <p:nvPicPr>
          <p:cNvPr id="18" name="Picture 17" descr="tmp7ktiq3q4.png"/>
          <p:cNvPicPr>
            <a:picLocks noChangeAspect="1"/>
          </p:cNvPicPr>
          <p:nvPr/>
        </p:nvPicPr>
        <p:blipFill>
          <a:blip r:embed="rId5"/>
          <a:stretch>
            <a:fillRect/>
          </a:stretch>
        </p:blipFill>
        <p:spPr>
          <a:xfrm>
            <a:off x="1600200" y="1895475"/>
            <a:ext cx="247650" cy="180975"/>
          </a:xfrm>
          <a:prstGeom prst="rect">
            <a:avLst/>
          </a:prstGeom>
        </p:spPr>
      </p:pic>
      <p:pic>
        <p:nvPicPr>
          <p:cNvPr id="19" name="Picture 18" descr="tmp019dswpy.png"/>
          <p:cNvPicPr>
            <a:picLocks noChangeAspect="1"/>
          </p:cNvPicPr>
          <p:nvPr/>
        </p:nvPicPr>
        <p:blipFill>
          <a:blip r:embed="rId6"/>
          <a:stretch>
            <a:fillRect/>
          </a:stretch>
        </p:blipFill>
        <p:spPr>
          <a:xfrm>
            <a:off x="1952625" y="1895475"/>
            <a:ext cx="247650" cy="180975"/>
          </a:xfrm>
          <a:prstGeom prst="rect">
            <a:avLst/>
          </a:prstGeom>
        </p:spPr>
      </p:pic>
      <p:pic>
        <p:nvPicPr>
          <p:cNvPr id="20" name="Picture 19" descr="tmppraexax1.png"/>
          <p:cNvPicPr>
            <a:picLocks noChangeAspect="1"/>
          </p:cNvPicPr>
          <p:nvPr/>
        </p:nvPicPr>
        <p:blipFill>
          <a:blip r:embed="rId7"/>
          <a:stretch>
            <a:fillRect/>
          </a:stretch>
        </p:blipFill>
        <p:spPr>
          <a:xfrm>
            <a:off x="2305050" y="1895475"/>
            <a:ext cx="247650" cy="180975"/>
          </a:xfrm>
          <a:prstGeom prst="rect">
            <a:avLst/>
          </a:prstGeom>
        </p:spPr>
      </p:pic>
      <p:pic>
        <p:nvPicPr>
          <p:cNvPr id="21" name="Picture 20" descr="tmp7ut_ydmp.png"/>
          <p:cNvPicPr>
            <a:picLocks noChangeAspect="1"/>
          </p:cNvPicPr>
          <p:nvPr/>
        </p:nvPicPr>
        <p:blipFill>
          <a:blip r:embed="rId8"/>
          <a:stretch>
            <a:fillRect/>
          </a:stretch>
        </p:blipFill>
        <p:spPr>
          <a:xfrm>
            <a:off x="2657475" y="1895475"/>
            <a:ext cx="247650" cy="180975"/>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najbfoux.png"/>
          <p:cNvPicPr>
            <a:picLocks noChangeAspect="1"/>
          </p:cNvPicPr>
          <p:nvPr/>
        </p:nvPicPr>
        <p:blipFill>
          <a:blip r:embed="rId2"/>
          <a:stretch>
            <a:fillRect/>
          </a:stretch>
        </p:blipFill>
        <p:spPr>
          <a:xfrm>
            <a:off x="571500" y="4933950"/>
            <a:ext cx="2228850" cy="257175"/>
          </a:xfrm>
          <a:prstGeom prst="rect">
            <a:avLst/>
          </a:prstGeom>
        </p:spPr>
      </p:pic>
      <p:pic>
        <p:nvPicPr>
          <p:cNvPr id="4" name="Picture 3" descr="tmpvbh8isat.png"/>
          <p:cNvPicPr>
            <a:picLocks noChangeAspect="1"/>
          </p:cNvPicPr>
          <p:nvPr/>
        </p:nvPicPr>
        <p:blipFill>
          <a:blip r:embed="rId3"/>
          <a:stretch>
            <a:fillRect/>
          </a:stretch>
        </p:blipFill>
        <p:spPr>
          <a:xfrm>
            <a:off x="2905125" y="4962525"/>
            <a:ext cx="409575" cy="200025"/>
          </a:xfrm>
          <a:prstGeom prst="rect">
            <a:avLst/>
          </a:prstGeom>
        </p:spPr>
      </p:pic>
      <p:pic>
        <p:nvPicPr>
          <p:cNvPr id="5" name="Picture 4" descr="tmp1de2eud5.png"/>
          <p:cNvPicPr>
            <a:picLocks noChangeAspect="1"/>
          </p:cNvPicPr>
          <p:nvPr/>
        </p:nvPicPr>
        <p:blipFill>
          <a:blip r:embed="rId4"/>
          <a:stretch>
            <a:fillRect/>
          </a:stretch>
        </p:blipFill>
        <p:spPr>
          <a:xfrm>
            <a:off x="3419475" y="4962525"/>
            <a:ext cx="819150" cy="200025"/>
          </a:xfrm>
          <a:prstGeom prst="rect">
            <a:avLst/>
          </a:prstGeom>
        </p:spPr>
      </p:pic>
      <p:sp>
        <p:nvSpPr>
          <p:cNvPr id="6" name="Rounded Rectangle 5"/>
          <p:cNvSpPr/>
          <p:nvPr/>
        </p:nvSpPr>
        <p:spPr>
          <a:xfrm>
            <a:off x="576072" y="967130"/>
            <a:ext cx="9114281" cy="3567379"/>
          </a:xfrm>
          <a:prstGeom prst="roundRect">
            <a:avLst>
              <a:gd name="adj" fmla="val 6000"/>
            </a:avLst>
          </a:prstGeom>
          <a:solidFill>
            <a:srgbClr val="FEFEFE"/>
          </a:solidFill>
          <a:ln w="11430">
            <a:solidFill>
              <a:srgbClr val="1451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6072" y="388010"/>
            <a:ext cx="4390491" cy="318516"/>
          </a:xfrm>
          <a:prstGeom prst="rect">
            <a:avLst/>
          </a:prstGeom>
          <a:noFill/>
          <a:ln>
            <a:noFill/>
          </a:ln>
        </p:spPr>
        <p:txBody>
          <a:bodyPr wrap="none" lIns="19050" rIns="19050" tIns="0" bIns="0" anchor="ctr">
            <a:noAutofit/>
          </a:bodyPr>
          <a:lstStyle/>
          <a:p>
            <a:pPr algn="l"/>
            <a:r>
              <a:rPr sz="3000" b="1">
                <a:solidFill>
                  <a:srgbClr val="3F508E"/>
                </a:solidFill>
                <a:latin typeface="PingFang SC"/>
              </a:rPr>
              <a:t>无创呼吸支持</a:t>
            </a:r>
          </a:p>
        </p:txBody>
      </p:sp>
      <p:sp>
        <p:nvSpPr>
          <p:cNvPr id="8" name="TextBox 7"/>
          <p:cNvSpPr txBox="1"/>
          <p:nvPr/>
        </p:nvSpPr>
        <p:spPr>
          <a:xfrm>
            <a:off x="946404" y="1285646"/>
            <a:ext cx="8023860" cy="173736"/>
          </a:xfrm>
          <a:prstGeom prst="rect">
            <a:avLst/>
          </a:prstGeom>
          <a:noFill/>
          <a:ln>
            <a:noFill/>
          </a:ln>
        </p:spPr>
        <p:txBody>
          <a:bodyPr wrap="square" lIns="19050" rIns="19050" tIns="0" bIns="0" anchor="t">
            <a:normAutofit/>
          </a:bodyPr>
          <a:lstStyle/>
          <a:p>
            <a:pPr algn="l"/>
            <a:r>
              <a:rPr sz="1070" b="0">
                <a:solidFill>
                  <a:srgbClr val="818986"/>
                </a:solidFill>
                <a:latin typeface="PingFang SC"/>
              </a:rPr>
              <a:t>67. 对于患有脓毒症和急性低氧血症性呼吸衰竭的成年人，我们 “建议” 采用高流量鼻导管（HFNC）治疗而非常规氧疗。</a:t>
            </a:r>
          </a:p>
        </p:txBody>
      </p:sp>
      <p:sp>
        <p:nvSpPr>
          <p:cNvPr id="9" name="TextBox 8"/>
          <p:cNvSpPr txBox="1"/>
          <p:nvPr/>
        </p:nvSpPr>
        <p:spPr>
          <a:xfrm>
            <a:off x="1275587" y="1951634"/>
            <a:ext cx="7694676" cy="289559"/>
          </a:xfrm>
          <a:prstGeom prst="rect">
            <a:avLst/>
          </a:prstGeom>
          <a:noFill/>
          <a:ln>
            <a:noFill/>
          </a:ln>
        </p:spPr>
        <p:txBody>
          <a:bodyPr wrap="square" lIns="19050" rIns="19050" tIns="0" bIns="0" anchor="t">
            <a:normAutofit/>
          </a:bodyPr>
          <a:lstStyle/>
          <a:p>
            <a:pPr algn="l"/>
            <a:r>
              <a:rPr sz="1150" b="0">
                <a:solidFill>
                  <a:srgbClr val="7C8386"/>
                </a:solidFill>
                <a:latin typeface="PingFang SC"/>
              </a:rPr>
              <a:t>备注：本建议适用于动脉血氧分压（Pao2）与吸入氧分数（Fio2）比值小于200或脉搏血氧饱和度（Spo2）与吸入氧分数（Fio2）比值小于235的患者。</a:t>
            </a:r>
          </a:p>
        </p:txBody>
      </p:sp>
      <p:sp>
        <p:nvSpPr>
          <p:cNvPr id="10" name="TextBox 9"/>
          <p:cNvSpPr txBox="1"/>
          <p:nvPr/>
        </p:nvSpPr>
        <p:spPr>
          <a:xfrm>
            <a:off x="946404" y="2501798"/>
            <a:ext cx="8023860" cy="289559"/>
          </a:xfrm>
          <a:prstGeom prst="rect">
            <a:avLst/>
          </a:prstGeom>
          <a:noFill/>
          <a:ln>
            <a:noFill/>
          </a:ln>
        </p:spPr>
        <p:txBody>
          <a:bodyPr wrap="square" lIns="19050" rIns="19050" tIns="0" bIns="0" anchor="t">
            <a:normAutofit/>
          </a:bodyPr>
          <a:lstStyle/>
          <a:p>
            <a:pPr algn="l"/>
            <a:r>
              <a:rPr sz="1300" b="0">
                <a:solidFill>
                  <a:srgbClr val="848B88"/>
                </a:solidFill>
                <a:latin typeface="PingFang SC"/>
              </a:rPr>
              <a:t>68. 对于患有脓毒症和急性低氧血症性呼吸衰竭的成人，我们 “建议” 将高流量鼻导管吸氧（HFNC）作为初始治疗，而非无创正压通气。</a:t>
            </a:r>
          </a:p>
        </p:txBody>
      </p:sp>
      <p:sp>
        <p:nvSpPr>
          <p:cNvPr id="11" name="TextBox 10"/>
          <p:cNvSpPr txBox="1"/>
          <p:nvPr/>
        </p:nvSpPr>
        <p:spPr>
          <a:xfrm>
            <a:off x="946404" y="3341522"/>
            <a:ext cx="8023860" cy="289560"/>
          </a:xfrm>
          <a:prstGeom prst="rect">
            <a:avLst/>
          </a:prstGeom>
          <a:noFill/>
          <a:ln>
            <a:noFill/>
          </a:ln>
        </p:spPr>
        <p:txBody>
          <a:bodyPr wrap="square" lIns="19050" rIns="19050" tIns="0" bIns="0" anchor="t">
            <a:normAutofit/>
          </a:bodyPr>
          <a:lstStyle/>
          <a:p>
            <a:pPr algn="l"/>
            <a:r>
              <a:rPr sz="1250" b="0">
                <a:solidFill>
                  <a:srgbClr val="868D8A"/>
                </a:solidFill>
                <a:latin typeface="PingFang SC"/>
              </a:rPr>
              <a:t>69. 对于患有脓毒症和急性低氧血症性呼吸衰竭的成人，我们 “建议” 使用高流量鼻导管吸氧（HFNC），而非高流量吸氧与无创正压通气交替使用。</a:t>
            </a:r>
          </a:p>
        </p:txBody>
      </p:sp>
      <p:sp>
        <p:nvSpPr>
          <p:cNvPr id="12" name="TextBox 11"/>
          <p:cNvSpPr txBox="1"/>
          <p:nvPr/>
        </p:nvSpPr>
        <p:spPr>
          <a:xfrm>
            <a:off x="9073134" y="1169822"/>
            <a:ext cx="905255" cy="144779"/>
          </a:xfrm>
          <a:prstGeom prst="rect">
            <a:avLst/>
          </a:prstGeom>
          <a:noFill/>
          <a:ln>
            <a:noFill/>
          </a:ln>
        </p:spPr>
        <p:txBody>
          <a:bodyPr wrap="none" lIns="19050" rIns="19050" tIns="0" bIns="0" anchor="ctr">
            <a:noAutofit/>
          </a:bodyPr>
          <a:lstStyle/>
          <a:p>
            <a:pPr algn="r"/>
            <a:r>
              <a:rPr sz="1350" b="0">
                <a:solidFill>
                  <a:srgbClr val="89ACC9"/>
                </a:solidFill>
                <a:latin typeface="PingFang SC"/>
              </a:rPr>
              <a:t>新增</a:t>
            </a:r>
          </a:p>
        </p:txBody>
      </p:sp>
      <p:sp>
        <p:nvSpPr>
          <p:cNvPr id="13" name="TextBox 12"/>
          <p:cNvSpPr txBox="1"/>
          <p:nvPr/>
        </p:nvSpPr>
        <p:spPr>
          <a:xfrm>
            <a:off x="9073134" y="2443886"/>
            <a:ext cx="905255" cy="144780"/>
          </a:xfrm>
          <a:prstGeom prst="rect">
            <a:avLst/>
          </a:prstGeom>
          <a:noFill/>
          <a:ln>
            <a:noFill/>
          </a:ln>
        </p:spPr>
        <p:txBody>
          <a:bodyPr wrap="none" lIns="19050" rIns="19050" tIns="0" bIns="0" anchor="ctr">
            <a:noAutofit/>
          </a:bodyPr>
          <a:lstStyle/>
          <a:p>
            <a:pPr algn="r"/>
            <a:r>
              <a:rPr sz="1350" b="0">
                <a:solidFill>
                  <a:srgbClr val="7DAE69"/>
                </a:solidFill>
                <a:latin typeface="PingFang SC"/>
              </a:rPr>
              <a:t>新增</a:t>
            </a:r>
          </a:p>
        </p:txBody>
      </p:sp>
      <p:sp>
        <p:nvSpPr>
          <p:cNvPr id="14" name="TextBox 13"/>
          <p:cNvSpPr txBox="1"/>
          <p:nvPr/>
        </p:nvSpPr>
        <p:spPr>
          <a:xfrm>
            <a:off x="9073134" y="3312566"/>
            <a:ext cx="905255" cy="144780"/>
          </a:xfrm>
          <a:prstGeom prst="rect">
            <a:avLst/>
          </a:prstGeom>
          <a:noFill/>
          <a:ln>
            <a:noFill/>
          </a:ln>
        </p:spPr>
        <p:txBody>
          <a:bodyPr wrap="none" lIns="19050" rIns="19050" tIns="0" bIns="0" anchor="ctr">
            <a:noAutofit/>
          </a:bodyPr>
          <a:lstStyle/>
          <a:p>
            <a:pPr algn="r"/>
            <a:r>
              <a:rPr sz="1350" b="0">
                <a:solidFill>
                  <a:srgbClr val="7BB16A"/>
                </a:solidFill>
                <a:latin typeface="PingFang SC"/>
              </a:rPr>
              <a:t>新增</a:t>
            </a:r>
          </a:p>
        </p:txBody>
      </p:sp>
      <p:sp>
        <p:nvSpPr>
          <p:cNvPr id="15" name="TextBox 14"/>
          <p:cNvSpPr txBox="1"/>
          <p:nvPr/>
        </p:nvSpPr>
        <p:spPr>
          <a:xfrm>
            <a:off x="576072" y="5455310"/>
            <a:ext cx="2625242" cy="144780"/>
          </a:xfrm>
          <a:prstGeom prst="rect">
            <a:avLst/>
          </a:prstGeom>
          <a:noFill/>
          <a:ln>
            <a:noFill/>
          </a:ln>
        </p:spPr>
        <p:txBody>
          <a:bodyPr wrap="none" lIns="19050" rIns="19050" tIns="0" bIns="0" anchor="ctr">
            <a:noAutofit/>
          </a:bodyPr>
          <a:lstStyle/>
          <a:p>
            <a:pPr algn="l"/>
            <a:r>
              <a:rPr sz="1200" b="0">
                <a:solidFill>
                  <a:srgbClr val="BFDCDC"/>
                </a:solidFill>
                <a:latin typeface="PingFang SC"/>
              </a:rPr>
              <a:t>公众号·指南导航</a:t>
            </a:r>
          </a:p>
        </p:txBody>
      </p:sp>
      <p:sp>
        <p:nvSpPr>
          <p:cNvPr id="16" name="TextBox 15"/>
          <p:cNvSpPr txBox="1"/>
          <p:nvPr/>
        </p:nvSpPr>
        <p:spPr>
          <a:xfrm>
            <a:off x="10287000" y="5368442"/>
            <a:ext cx="0" cy="202691"/>
          </a:xfrm>
          <a:prstGeom prst="rect">
            <a:avLst/>
          </a:prstGeom>
          <a:noFill/>
          <a:ln>
            <a:noFill/>
          </a:ln>
        </p:spPr>
        <p:txBody>
          <a:bodyPr wrap="none" lIns="19050" rIns="19050" tIns="0" bIns="0" anchor="ctr">
            <a:noAutofit/>
          </a:bodyPr>
          <a:lstStyle/>
          <a:p>
            <a:pPr algn="r"/>
            <a:r>
              <a:rPr sz="1500" b="0">
                <a:solidFill>
                  <a:srgbClr val="000000"/>
                </a:solidFill>
                <a:latin typeface="PingFang SC"/>
              </a:rPr>
              <a:t>44</a:t>
            </a:r>
          </a:p>
        </p:txBody>
      </p:sp>
      <p:sp>
        <p:nvSpPr>
          <p:cNvPr id="17" name="TextBox 16"/>
          <p:cNvSpPr txBox="1"/>
          <p:nvPr/>
        </p:nvSpPr>
        <p:spPr>
          <a:xfrm>
            <a:off x="8311896" y="185318"/>
            <a:ext cx="3937863" cy="405384"/>
          </a:xfrm>
          <a:prstGeom prst="rect">
            <a:avLst/>
          </a:prstGeom>
          <a:noFill/>
          <a:ln>
            <a:noFill/>
          </a:ln>
        </p:spPr>
        <p:txBody>
          <a:bodyPr wrap="none" lIns="19050" rIns="19050" tIns="0" bIns="0" anchor="ctr">
            <a:noAutofit/>
          </a:bodyPr>
          <a:lstStyle/>
          <a:p>
            <a:pPr algn="r"/>
            <a:r>
              <a:rPr sz="1800" b="0">
                <a:solidFill>
                  <a:srgbClr val="AEC2A8"/>
                </a:solidFill>
                <a:latin typeface="PingFang SC"/>
              </a:rPr>
              <a:t>Surviving Sepsis Campaign</a:t>
            </a:r>
          </a:p>
        </p:txBody>
      </p:sp>
      <p:pic>
        <p:nvPicPr>
          <p:cNvPr id="18" name="Picture 17" descr="tmp1itqnkcc.png"/>
          <p:cNvPicPr>
            <a:picLocks noChangeAspect="1"/>
          </p:cNvPicPr>
          <p:nvPr/>
        </p:nvPicPr>
        <p:blipFill>
          <a:blip r:embed="rId5"/>
          <a:stretch>
            <a:fillRect/>
          </a:stretch>
        </p:blipFill>
        <p:spPr>
          <a:xfrm>
            <a:off x="1190625" y="1571625"/>
            <a:ext cx="266700" cy="180975"/>
          </a:xfrm>
          <a:prstGeom prst="rect">
            <a:avLst/>
          </a:prstGeom>
        </p:spPr>
      </p:pic>
      <p:pic>
        <p:nvPicPr>
          <p:cNvPr id="19" name="Picture 18" descr="tmp8r444w8b.png"/>
          <p:cNvPicPr>
            <a:picLocks noChangeAspect="1"/>
          </p:cNvPicPr>
          <p:nvPr/>
        </p:nvPicPr>
        <p:blipFill>
          <a:blip r:embed="rId6"/>
          <a:stretch>
            <a:fillRect/>
          </a:stretch>
        </p:blipFill>
        <p:spPr>
          <a:xfrm>
            <a:off x="1190625" y="3019425"/>
            <a:ext cx="266700" cy="180975"/>
          </a:xfrm>
          <a:prstGeom prst="rect">
            <a:avLst/>
          </a:prstGeom>
        </p:spPr>
      </p:pic>
      <p:pic>
        <p:nvPicPr>
          <p:cNvPr id="20" name="Picture 19" descr="tmpqpqccvn1.png"/>
          <p:cNvPicPr>
            <a:picLocks noChangeAspect="1"/>
          </p:cNvPicPr>
          <p:nvPr/>
        </p:nvPicPr>
        <p:blipFill>
          <a:blip r:embed="rId7"/>
          <a:stretch>
            <a:fillRect/>
          </a:stretch>
        </p:blipFill>
        <p:spPr>
          <a:xfrm>
            <a:off x="1190625" y="3895725"/>
            <a:ext cx="266700" cy="171450"/>
          </a:xfrm>
          <a:prstGeom prst="rect">
            <a:avLst/>
          </a:prstGeom>
        </p:spPr>
      </p:pic>
      <p:pic>
        <p:nvPicPr>
          <p:cNvPr id="21" name="Picture 20" descr="tmp1_or06l2.png"/>
          <p:cNvPicPr>
            <a:picLocks noChangeAspect="1"/>
          </p:cNvPicPr>
          <p:nvPr/>
        </p:nvPicPr>
        <p:blipFill>
          <a:blip r:embed="rId8"/>
          <a:stretch>
            <a:fillRect/>
          </a:stretch>
        </p:blipFill>
        <p:spPr>
          <a:xfrm>
            <a:off x="1562100" y="1571625"/>
            <a:ext cx="266700" cy="180975"/>
          </a:xfrm>
          <a:prstGeom prst="rect">
            <a:avLst/>
          </a:prstGeom>
        </p:spPr>
      </p:pic>
      <p:pic>
        <p:nvPicPr>
          <p:cNvPr id="22" name="Picture 21" descr="tmport1xz7g.png"/>
          <p:cNvPicPr>
            <a:picLocks noChangeAspect="1"/>
          </p:cNvPicPr>
          <p:nvPr/>
        </p:nvPicPr>
        <p:blipFill>
          <a:blip r:embed="rId9"/>
          <a:stretch>
            <a:fillRect/>
          </a:stretch>
        </p:blipFill>
        <p:spPr>
          <a:xfrm>
            <a:off x="1933575" y="1571625"/>
            <a:ext cx="266700" cy="180975"/>
          </a:xfrm>
          <a:prstGeom prst="rect">
            <a:avLst/>
          </a:prstGeom>
        </p:spPr>
      </p:pic>
      <p:pic>
        <p:nvPicPr>
          <p:cNvPr id="23" name="Picture 22" descr="tmpa0x4av_h.png"/>
          <p:cNvPicPr>
            <a:picLocks noChangeAspect="1"/>
          </p:cNvPicPr>
          <p:nvPr/>
        </p:nvPicPr>
        <p:blipFill>
          <a:blip r:embed="rId10"/>
          <a:stretch>
            <a:fillRect/>
          </a:stretch>
        </p:blipFill>
        <p:spPr>
          <a:xfrm>
            <a:off x="2305050" y="1571625"/>
            <a:ext cx="266700" cy="180975"/>
          </a:xfrm>
          <a:prstGeom prst="rect">
            <a:avLst/>
          </a:prstGeom>
        </p:spPr>
      </p:pic>
      <p:pic>
        <p:nvPicPr>
          <p:cNvPr id="24" name="Picture 23" descr="tmp1dg12h6_.png"/>
          <p:cNvPicPr>
            <a:picLocks noChangeAspect="1"/>
          </p:cNvPicPr>
          <p:nvPr/>
        </p:nvPicPr>
        <p:blipFill>
          <a:blip r:embed="rId11"/>
          <a:stretch>
            <a:fillRect/>
          </a:stretch>
        </p:blipFill>
        <p:spPr>
          <a:xfrm>
            <a:off x="2676525" y="1571625"/>
            <a:ext cx="266700" cy="180975"/>
          </a:xfrm>
          <a:prstGeom prst="rect">
            <a:avLst/>
          </a:prstGeom>
        </p:spPr>
      </p:pic>
      <p:pic>
        <p:nvPicPr>
          <p:cNvPr id="25" name="Picture 24" descr="tmphgs51dz7.png"/>
          <p:cNvPicPr>
            <a:picLocks noChangeAspect="1"/>
          </p:cNvPicPr>
          <p:nvPr/>
        </p:nvPicPr>
        <p:blipFill>
          <a:blip r:embed="rId12"/>
          <a:stretch>
            <a:fillRect/>
          </a:stretch>
        </p:blipFill>
        <p:spPr>
          <a:xfrm>
            <a:off x="1562100" y="3019425"/>
            <a:ext cx="266700" cy="180975"/>
          </a:xfrm>
          <a:prstGeom prst="rect">
            <a:avLst/>
          </a:prstGeom>
        </p:spPr>
      </p:pic>
      <p:pic>
        <p:nvPicPr>
          <p:cNvPr id="26" name="Picture 25" descr="tmp_w95hrcs.png"/>
          <p:cNvPicPr>
            <a:picLocks noChangeAspect="1"/>
          </p:cNvPicPr>
          <p:nvPr/>
        </p:nvPicPr>
        <p:blipFill>
          <a:blip r:embed="rId13"/>
          <a:stretch>
            <a:fillRect/>
          </a:stretch>
        </p:blipFill>
        <p:spPr>
          <a:xfrm>
            <a:off x="1933575" y="3019425"/>
            <a:ext cx="266700" cy="180975"/>
          </a:xfrm>
          <a:prstGeom prst="rect">
            <a:avLst/>
          </a:prstGeom>
        </p:spPr>
      </p:pic>
      <p:pic>
        <p:nvPicPr>
          <p:cNvPr id="27" name="Picture 26" descr="tmp0z1xmdmw.png"/>
          <p:cNvPicPr>
            <a:picLocks noChangeAspect="1"/>
          </p:cNvPicPr>
          <p:nvPr/>
        </p:nvPicPr>
        <p:blipFill>
          <a:blip r:embed="rId14"/>
          <a:stretch>
            <a:fillRect/>
          </a:stretch>
        </p:blipFill>
        <p:spPr>
          <a:xfrm>
            <a:off x="2305050" y="3019425"/>
            <a:ext cx="266700" cy="180975"/>
          </a:xfrm>
          <a:prstGeom prst="rect">
            <a:avLst/>
          </a:prstGeom>
        </p:spPr>
      </p:pic>
      <p:pic>
        <p:nvPicPr>
          <p:cNvPr id="28" name="Picture 27" descr="tmp1dg12h6_.png"/>
          <p:cNvPicPr>
            <a:picLocks noChangeAspect="1"/>
          </p:cNvPicPr>
          <p:nvPr/>
        </p:nvPicPr>
        <p:blipFill>
          <a:blip r:embed="rId11"/>
          <a:stretch>
            <a:fillRect/>
          </a:stretch>
        </p:blipFill>
        <p:spPr>
          <a:xfrm>
            <a:off x="2676525" y="3019425"/>
            <a:ext cx="266700" cy="180975"/>
          </a:xfrm>
          <a:prstGeom prst="rect">
            <a:avLst/>
          </a:prstGeom>
        </p:spPr>
      </p:pic>
      <p:pic>
        <p:nvPicPr>
          <p:cNvPr id="29" name="Picture 28" descr="tmp_3vpydw1.png"/>
          <p:cNvPicPr>
            <a:picLocks noChangeAspect="1"/>
          </p:cNvPicPr>
          <p:nvPr/>
        </p:nvPicPr>
        <p:blipFill>
          <a:blip r:embed="rId15"/>
          <a:stretch>
            <a:fillRect/>
          </a:stretch>
        </p:blipFill>
        <p:spPr>
          <a:xfrm>
            <a:off x="1562100" y="3895725"/>
            <a:ext cx="266700" cy="171450"/>
          </a:xfrm>
          <a:prstGeom prst="rect">
            <a:avLst/>
          </a:prstGeom>
        </p:spPr>
      </p:pic>
      <p:pic>
        <p:nvPicPr>
          <p:cNvPr id="30" name="Picture 29" descr="tmpx_u97rj2.png"/>
          <p:cNvPicPr>
            <a:picLocks noChangeAspect="1"/>
          </p:cNvPicPr>
          <p:nvPr/>
        </p:nvPicPr>
        <p:blipFill>
          <a:blip r:embed="rId16"/>
          <a:stretch>
            <a:fillRect/>
          </a:stretch>
        </p:blipFill>
        <p:spPr>
          <a:xfrm>
            <a:off x="1933575" y="3895725"/>
            <a:ext cx="266700" cy="171450"/>
          </a:xfrm>
          <a:prstGeom prst="rect">
            <a:avLst/>
          </a:prstGeom>
        </p:spPr>
      </p:pic>
      <p:pic>
        <p:nvPicPr>
          <p:cNvPr id="31" name="Picture 30" descr="tmp64ac9rer.png"/>
          <p:cNvPicPr>
            <a:picLocks noChangeAspect="1"/>
          </p:cNvPicPr>
          <p:nvPr/>
        </p:nvPicPr>
        <p:blipFill>
          <a:blip r:embed="rId17"/>
          <a:stretch>
            <a:fillRect/>
          </a:stretch>
        </p:blipFill>
        <p:spPr>
          <a:xfrm>
            <a:off x="2305050" y="3895725"/>
            <a:ext cx="266700" cy="171450"/>
          </a:xfrm>
          <a:prstGeom prst="rect">
            <a:avLst/>
          </a:prstGeom>
        </p:spPr>
      </p:pic>
      <p:pic>
        <p:nvPicPr>
          <p:cNvPr id="32" name="Picture 31" descr="tmp3okwzmac.png"/>
          <p:cNvPicPr>
            <a:picLocks noChangeAspect="1"/>
          </p:cNvPicPr>
          <p:nvPr/>
        </p:nvPicPr>
        <p:blipFill>
          <a:blip r:embed="rId18"/>
          <a:stretch>
            <a:fillRect/>
          </a:stretch>
        </p:blipFill>
        <p:spPr>
          <a:xfrm>
            <a:off x="2676525" y="3895725"/>
            <a:ext cx="266700" cy="17145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meuncffx.png"/>
          <p:cNvPicPr>
            <a:picLocks noChangeAspect="1"/>
          </p:cNvPicPr>
          <p:nvPr/>
        </p:nvPicPr>
        <p:blipFill>
          <a:blip r:embed="rId2"/>
          <a:stretch>
            <a:fillRect/>
          </a:stretch>
        </p:blipFill>
        <p:spPr>
          <a:xfrm>
            <a:off x="1724025" y="5067300"/>
            <a:ext cx="933450" cy="95250"/>
          </a:xfrm>
          <a:prstGeom prst="rect">
            <a:avLst/>
          </a:prstGeom>
        </p:spPr>
      </p:pic>
      <p:sp>
        <p:nvSpPr>
          <p:cNvPr id="4" name="Rounded Rectangle 3"/>
          <p:cNvSpPr/>
          <p:nvPr/>
        </p:nvSpPr>
        <p:spPr>
          <a:xfrm>
            <a:off x="545211" y="949756"/>
            <a:ext cx="9248012" cy="1349349"/>
          </a:xfrm>
          <a:prstGeom prst="roundRect">
            <a:avLst>
              <a:gd name="adj" fmla="val 6000"/>
            </a:avLst>
          </a:prstGeom>
          <a:solidFill>
            <a:srgbClr val="FDFEFE"/>
          </a:solidFill>
          <a:ln w="11430">
            <a:solidFill>
              <a:srgbClr val="E4F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5211" y="2432304"/>
            <a:ext cx="9206865" cy="2692908"/>
          </a:xfrm>
          <a:prstGeom prst="rect">
            <a:avLst/>
          </a:prstGeom>
          <a:solidFill>
            <a:srgbClr val="F1FEFE"/>
          </a:solidFill>
          <a:ln w="11430">
            <a:solidFill>
              <a:srgbClr val="E4FE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6933" y="388010"/>
            <a:ext cx="3462604" cy="306933"/>
          </a:xfrm>
          <a:prstGeom prst="rect">
            <a:avLst/>
          </a:prstGeom>
          <a:noFill/>
          <a:ln>
            <a:noFill/>
          </a:ln>
        </p:spPr>
        <p:txBody>
          <a:bodyPr wrap="none" lIns="19050" rIns="19050" tIns="0" bIns="0" anchor="ctr">
            <a:noAutofit/>
          </a:bodyPr>
          <a:lstStyle/>
          <a:p>
            <a:pPr algn="l"/>
            <a:r>
              <a:rPr sz="2700" b="1">
                <a:solidFill>
                  <a:srgbClr val="41548F"/>
                </a:solidFill>
                <a:latin typeface="PingFang SC"/>
              </a:rPr>
              <a:t>清醒俯卧位</a:t>
            </a:r>
          </a:p>
        </p:txBody>
      </p:sp>
      <p:sp>
        <p:nvSpPr>
          <p:cNvPr id="7" name="TextBox 6"/>
          <p:cNvSpPr txBox="1"/>
          <p:nvPr/>
        </p:nvSpPr>
        <p:spPr>
          <a:xfrm>
            <a:off x="946404" y="1256690"/>
            <a:ext cx="8023860" cy="173735"/>
          </a:xfrm>
          <a:prstGeom prst="rect">
            <a:avLst/>
          </a:prstGeom>
          <a:noFill/>
          <a:ln>
            <a:noFill/>
          </a:ln>
        </p:spPr>
        <p:txBody>
          <a:bodyPr wrap="square" lIns="19050" rIns="19050" tIns="0" bIns="0" anchor="t">
            <a:normAutofit/>
          </a:bodyPr>
          <a:lstStyle/>
          <a:p>
            <a:pPr algn="l"/>
            <a:r>
              <a:rPr sz="1140" b="0">
                <a:solidFill>
                  <a:srgbClr val="878F8B"/>
                </a:solidFill>
                <a:latin typeface="PingFang SC"/>
              </a:rPr>
              <a:t>70. 对于患有脓毒症且出现急性低氧性呼吸衰竭但未行气管插管的成人，我们“建议”试行清醒俯卧位通气。</a:t>
            </a:r>
          </a:p>
        </p:txBody>
      </p:sp>
      <p:sp>
        <p:nvSpPr>
          <p:cNvPr id="8" name="TextBox 7"/>
          <p:cNvSpPr txBox="1"/>
          <p:nvPr/>
        </p:nvSpPr>
        <p:spPr>
          <a:xfrm>
            <a:off x="9176004" y="1256690"/>
            <a:ext cx="724204" cy="144779"/>
          </a:xfrm>
          <a:prstGeom prst="rect">
            <a:avLst/>
          </a:prstGeom>
          <a:noFill/>
          <a:ln>
            <a:noFill/>
          </a:ln>
        </p:spPr>
        <p:txBody>
          <a:bodyPr wrap="none" lIns="19050" rIns="19050" tIns="0" bIns="0" anchor="ctr">
            <a:noAutofit/>
          </a:bodyPr>
          <a:lstStyle/>
          <a:p>
            <a:pPr algn="r"/>
            <a:r>
              <a:rPr sz="1200" b="0">
                <a:solidFill>
                  <a:srgbClr val="88ADC8"/>
                </a:solidFill>
                <a:latin typeface="PingFang SC"/>
              </a:rPr>
              <a:t>新增</a:t>
            </a:r>
          </a:p>
        </p:txBody>
      </p:sp>
      <p:sp>
        <p:nvSpPr>
          <p:cNvPr id="9" name="TextBox 8"/>
          <p:cNvSpPr txBox="1"/>
          <p:nvPr/>
        </p:nvSpPr>
        <p:spPr>
          <a:xfrm>
            <a:off x="1275587" y="1911096"/>
            <a:ext cx="7694676" cy="144779"/>
          </a:xfrm>
          <a:prstGeom prst="rect">
            <a:avLst/>
          </a:prstGeom>
          <a:noFill/>
          <a:ln>
            <a:noFill/>
          </a:ln>
        </p:spPr>
        <p:txBody>
          <a:bodyPr wrap="square" lIns="19050" rIns="19050" tIns="0" bIns="0" anchor="t">
            <a:normAutofit/>
          </a:bodyPr>
          <a:lstStyle/>
          <a:p>
            <a:pPr algn="l"/>
            <a:r>
              <a:rPr sz="960" b="0">
                <a:solidFill>
                  <a:srgbClr val="ACC4A1"/>
                </a:solidFill>
                <a:latin typeface="PingFang SC"/>
              </a:rPr>
              <a:t>备注：俯卧位的持续时间和频率将取决于患者的耐受情况。对于未插管患者，不应为提高其对俯卧位的耐受性而使用镇静剂。</a:t>
            </a:r>
          </a:p>
        </p:txBody>
      </p:sp>
      <p:sp>
        <p:nvSpPr>
          <p:cNvPr id="10" name="TextBox 9"/>
          <p:cNvSpPr txBox="1"/>
          <p:nvPr/>
        </p:nvSpPr>
        <p:spPr>
          <a:xfrm>
            <a:off x="740663" y="3040380"/>
            <a:ext cx="8949690" cy="1708403"/>
          </a:xfrm>
          <a:prstGeom prst="rect">
            <a:avLst/>
          </a:prstGeom>
          <a:noFill/>
          <a:ln>
            <a:noFill/>
          </a:ln>
        </p:spPr>
        <p:txBody>
          <a:bodyPr wrap="square" lIns="19050" rIns="19050" tIns="0" bIns="0" anchor="t">
            <a:normAutofit/>
          </a:bodyPr>
          <a:lstStyle/>
          <a:p>
            <a:pPr algn="l"/>
            <a:r>
              <a:rPr sz="1350" b="0">
                <a:solidFill>
                  <a:srgbClr val="708084"/>
                </a:solidFill>
                <a:latin typeface="PingFang SC"/>
              </a:rPr>
              <a:t>• 我们确定了17项随机对照试验（3537名患者）为该推荐提供依据。清醒俯卧位可能会使气管插管需求略有降低。由于间接性（因为所有试验均聚焦于新冠肺炎患者）和不精确性，荟萃分析对大多数其他结局得出的结果不确定。</a:t>
            </a:r>
          </a:p>
          <a:p>
            <a:pPr algn="l"/>
            <a:r>
              <a:rPr sz="1350" b="0">
                <a:solidFill>
                  <a:srgbClr val="708084"/>
                </a:solidFill>
                <a:latin typeface="PingFang SC"/>
              </a:rPr>
              <a:t>• 然而，点估计表明清醒俯卧位可能会使14天死亡率降低，增加无住院天数，以及增加呼吸机无使用天数，但置信区间较宽，不能排除有害的可能性。</a:t>
            </a:r>
          </a:p>
          <a:p>
            <a:pPr algn="l"/>
            <a:r>
              <a:rPr sz="1350" b="0">
                <a:solidFill>
                  <a:srgbClr val="708084"/>
                </a:solidFill>
                <a:latin typeface="PingFang SC"/>
              </a:rPr>
              <a:t>• 此外，点估计表明清醒俯卧位可能会增加严重不良事件。</a:t>
            </a:r>
          </a:p>
        </p:txBody>
      </p:sp>
      <p:sp>
        <p:nvSpPr>
          <p:cNvPr id="11" name="TextBox 10"/>
          <p:cNvSpPr txBox="1"/>
          <p:nvPr/>
        </p:nvSpPr>
        <p:spPr>
          <a:xfrm>
            <a:off x="545211" y="5067300"/>
            <a:ext cx="2421559" cy="98450"/>
          </a:xfrm>
          <a:prstGeom prst="rect">
            <a:avLst/>
          </a:prstGeom>
          <a:noFill/>
          <a:ln>
            <a:noFill/>
          </a:ln>
        </p:spPr>
        <p:txBody>
          <a:bodyPr wrap="none" lIns="19050" rIns="19050" tIns="0" bIns="0" anchor="ctr">
            <a:noAutofit/>
          </a:bodyPr>
          <a:lstStyle/>
          <a:p>
            <a:pPr algn="l"/>
            <a:r>
              <a:rPr sz="900" b="0">
                <a:solidFill>
                  <a:srgbClr val="87979A"/>
                </a:solidFill>
                <a:latin typeface="PingFang SC"/>
              </a:rPr>
              <a:t>Critical Care Medicine</a:t>
            </a:r>
          </a:p>
        </p:txBody>
      </p:sp>
      <p:sp>
        <p:nvSpPr>
          <p:cNvPr id="12" name="TextBox 11"/>
          <p:cNvSpPr txBox="1"/>
          <p:nvPr/>
        </p:nvSpPr>
        <p:spPr>
          <a:xfrm>
            <a:off x="545211" y="5455310"/>
            <a:ext cx="2421559" cy="115823"/>
          </a:xfrm>
          <a:prstGeom prst="rect">
            <a:avLst/>
          </a:prstGeom>
          <a:noFill/>
          <a:ln>
            <a:noFill/>
          </a:ln>
        </p:spPr>
        <p:txBody>
          <a:bodyPr wrap="none" lIns="19050" rIns="19050" tIns="0" bIns="0" anchor="ctr">
            <a:noAutofit/>
          </a:bodyPr>
          <a:lstStyle/>
          <a:p>
            <a:pPr algn="l"/>
            <a:r>
              <a:rPr sz="1050" b="0">
                <a:solidFill>
                  <a:srgbClr val="BED6DB"/>
                </a:solidFill>
                <a:latin typeface="PingFang SC"/>
              </a:rPr>
              <a:t>公众号 指南导航</a:t>
            </a:r>
          </a:p>
        </p:txBody>
      </p:sp>
      <p:sp>
        <p:nvSpPr>
          <p:cNvPr id="13" name="TextBox 12"/>
          <p:cNvSpPr txBox="1"/>
          <p:nvPr/>
        </p:nvSpPr>
        <p:spPr>
          <a:xfrm>
            <a:off x="10287000" y="5356860"/>
            <a:ext cx="0" cy="173736"/>
          </a:xfrm>
          <a:prstGeom prst="rect">
            <a:avLst/>
          </a:prstGeom>
          <a:noFill/>
          <a:ln>
            <a:noFill/>
          </a:ln>
        </p:spPr>
        <p:txBody>
          <a:bodyPr wrap="none" lIns="19050" rIns="19050" tIns="0" bIns="0" anchor="ctr">
            <a:noAutofit/>
          </a:bodyPr>
          <a:lstStyle/>
          <a:p>
            <a:pPr algn="r"/>
            <a:r>
              <a:rPr sz="1350" b="0">
                <a:solidFill>
                  <a:srgbClr val="000000"/>
                </a:solidFill>
                <a:latin typeface="PingFang SC"/>
              </a:rPr>
              <a:t>45</a:t>
            </a:r>
          </a:p>
        </p:txBody>
      </p:sp>
      <p:sp>
        <p:nvSpPr>
          <p:cNvPr id="14" name="TextBox 13"/>
          <p:cNvSpPr txBox="1"/>
          <p:nvPr/>
        </p:nvSpPr>
        <p:spPr>
          <a:xfrm>
            <a:off x="8353044" y="162153"/>
            <a:ext cx="3847337" cy="428548"/>
          </a:xfrm>
          <a:prstGeom prst="rect">
            <a:avLst/>
          </a:prstGeom>
          <a:noFill/>
          <a:ln>
            <a:noFill/>
          </a:ln>
        </p:spPr>
        <p:txBody>
          <a:bodyPr wrap="none" lIns="19050" rIns="19050" tIns="0" bIns="0" anchor="ctr">
            <a:noAutofit/>
          </a:bodyPr>
          <a:lstStyle/>
          <a:p>
            <a:pPr algn="r"/>
            <a:r>
              <a:rPr sz="1800" b="0">
                <a:solidFill>
                  <a:srgbClr val="AFC3A9"/>
                </a:solidFill>
                <a:latin typeface="PingFang SC"/>
              </a:rPr>
              <a:t>Surviving Sepsis Campaign</a:t>
            </a:r>
          </a:p>
        </p:txBody>
      </p:sp>
      <p:pic>
        <p:nvPicPr>
          <p:cNvPr id="15" name="Picture 14" descr="tmpj9q9oxxo.png"/>
          <p:cNvPicPr>
            <a:picLocks noChangeAspect="1"/>
          </p:cNvPicPr>
          <p:nvPr/>
        </p:nvPicPr>
        <p:blipFill>
          <a:blip r:embed="rId3"/>
          <a:stretch>
            <a:fillRect/>
          </a:stretch>
        </p:blipFill>
        <p:spPr>
          <a:xfrm>
            <a:off x="1257300" y="1543050"/>
            <a:ext cx="1295400" cy="20955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5jynwzg8.png"/>
          <p:cNvPicPr>
            <a:picLocks noChangeAspect="1"/>
          </p:cNvPicPr>
          <p:nvPr/>
        </p:nvPicPr>
        <p:blipFill>
          <a:blip r:embed="rId2"/>
          <a:stretch>
            <a:fillRect/>
          </a:stretch>
        </p:blipFill>
        <p:spPr>
          <a:xfrm>
            <a:off x="1724025" y="4933950"/>
            <a:ext cx="314325" cy="228600"/>
          </a:xfrm>
          <a:prstGeom prst="rect">
            <a:avLst/>
          </a:prstGeom>
        </p:spPr>
      </p:pic>
      <p:sp>
        <p:nvSpPr>
          <p:cNvPr id="4" name="Rounded Rectangle 3"/>
          <p:cNvSpPr/>
          <p:nvPr/>
        </p:nvSpPr>
        <p:spPr>
          <a:xfrm>
            <a:off x="576072" y="967130"/>
            <a:ext cx="9176003" cy="3683203"/>
          </a:xfrm>
          <a:prstGeom prst="roundRect">
            <a:avLst>
              <a:gd name="adj" fmla="val 6000"/>
            </a:avLst>
          </a:prstGeom>
          <a:solidFill>
            <a:srgbClr val="FEFEFE"/>
          </a:solidFill>
          <a:ln w="11430">
            <a:solidFill>
              <a:srgbClr val="4A7A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6933" y="393801"/>
            <a:ext cx="4051020" cy="312724"/>
          </a:xfrm>
          <a:prstGeom prst="rect">
            <a:avLst/>
          </a:prstGeom>
          <a:noFill/>
          <a:ln>
            <a:noFill/>
          </a:ln>
        </p:spPr>
        <p:txBody>
          <a:bodyPr wrap="none" lIns="19050" rIns="19050" tIns="0" bIns="0" anchor="ctr">
            <a:noAutofit/>
          </a:bodyPr>
          <a:lstStyle/>
          <a:p>
            <a:pPr algn="l"/>
            <a:r>
              <a:rPr sz="3150" b="1">
                <a:solidFill>
                  <a:srgbClr val="40528F"/>
                </a:solidFill>
                <a:latin typeface="PingFang SC"/>
              </a:rPr>
              <a:t>有创机械通气</a:t>
            </a:r>
          </a:p>
        </p:txBody>
      </p:sp>
      <p:sp>
        <p:nvSpPr>
          <p:cNvPr id="6" name="TextBox 5"/>
          <p:cNvSpPr txBox="1"/>
          <p:nvPr/>
        </p:nvSpPr>
        <p:spPr>
          <a:xfrm>
            <a:off x="8301609" y="173735"/>
            <a:ext cx="3960494" cy="416966"/>
          </a:xfrm>
          <a:prstGeom prst="rect">
            <a:avLst/>
          </a:prstGeom>
          <a:noFill/>
          <a:ln>
            <a:noFill/>
          </a:ln>
        </p:spPr>
        <p:txBody>
          <a:bodyPr wrap="none" lIns="19050" rIns="19050" tIns="0" bIns="0" anchor="ctr">
            <a:noAutofit/>
          </a:bodyPr>
          <a:lstStyle/>
          <a:p>
            <a:pPr algn="r"/>
            <a:r>
              <a:rPr sz="1800" b="0">
                <a:solidFill>
                  <a:srgbClr val="AFC3A8"/>
                </a:solidFill>
                <a:latin typeface="PingFang SC"/>
              </a:rPr>
              <a:t>Surviving Sepsis Campaign</a:t>
            </a:r>
          </a:p>
        </p:txBody>
      </p:sp>
      <p:sp>
        <p:nvSpPr>
          <p:cNvPr id="7" name="TextBox 6"/>
          <p:cNvSpPr txBox="1"/>
          <p:nvPr/>
        </p:nvSpPr>
        <p:spPr>
          <a:xfrm>
            <a:off x="966978" y="1285646"/>
            <a:ext cx="8003286" cy="173736"/>
          </a:xfrm>
          <a:prstGeom prst="rect">
            <a:avLst/>
          </a:prstGeom>
          <a:noFill/>
          <a:ln>
            <a:noFill/>
          </a:ln>
        </p:spPr>
        <p:txBody>
          <a:bodyPr wrap="square" lIns="19050" rIns="19050" tIns="0" bIns="0" anchor="t">
            <a:normAutofit/>
          </a:bodyPr>
          <a:lstStyle/>
          <a:p>
            <a:pPr algn="l"/>
            <a:r>
              <a:rPr sz="1019" b="0">
                <a:solidFill>
                  <a:srgbClr val="7F8183"/>
                </a:solidFill>
                <a:latin typeface="PingFang SC"/>
              </a:rPr>
              <a:t>71. 对于患有脓毒症和ARDS的成人，我们“推荐”采用低潮气量通气策略（6mL/kg）而非高潮气量策略（&gt;10mL/kg。</a:t>
            </a:r>
          </a:p>
        </p:txBody>
      </p:sp>
      <p:sp>
        <p:nvSpPr>
          <p:cNvPr id="8" name="TextBox 7"/>
          <p:cNvSpPr txBox="1"/>
          <p:nvPr/>
        </p:nvSpPr>
        <p:spPr>
          <a:xfrm>
            <a:off x="966978" y="1806854"/>
            <a:ext cx="8003286" cy="289560"/>
          </a:xfrm>
          <a:prstGeom prst="rect">
            <a:avLst/>
          </a:prstGeom>
          <a:noFill/>
          <a:ln>
            <a:noFill/>
          </a:ln>
        </p:spPr>
        <p:txBody>
          <a:bodyPr wrap="square" lIns="19050" rIns="19050" tIns="0" bIns="0" anchor="t">
            <a:normAutofit/>
          </a:bodyPr>
          <a:lstStyle/>
          <a:p>
            <a:pPr algn="l"/>
            <a:r>
              <a:rPr sz="1060" b="0">
                <a:solidFill>
                  <a:srgbClr val="828A87"/>
                </a:solidFill>
                <a:latin typeface="PingFang SC"/>
              </a:rPr>
              <a:t>72. 对于患有脓毒症相关低氧性呼吸衰竭但无急性呼吸窘迫综合征（ARDS）的成年人，我们“建议”使用6-8mL/kg理想体重（IBW）的潮气量，而非更低（4至&lt;6mL/kgIBW）的潮气量。</a:t>
            </a:r>
          </a:p>
        </p:txBody>
      </p:sp>
      <p:sp>
        <p:nvSpPr>
          <p:cNvPr id="9" name="TextBox 8"/>
          <p:cNvSpPr txBox="1"/>
          <p:nvPr/>
        </p:nvSpPr>
        <p:spPr>
          <a:xfrm>
            <a:off x="1275587" y="2328062"/>
            <a:ext cx="7694676" cy="150571"/>
          </a:xfrm>
          <a:prstGeom prst="rect">
            <a:avLst/>
          </a:prstGeom>
          <a:noFill/>
          <a:ln>
            <a:noFill/>
          </a:ln>
        </p:spPr>
        <p:txBody>
          <a:bodyPr wrap="square" lIns="19050" rIns="19050" tIns="0" bIns="0" anchor="t">
            <a:normAutofit/>
          </a:bodyPr>
          <a:lstStyle/>
          <a:p>
            <a:pPr algn="l"/>
            <a:r>
              <a:rPr sz="1050" b="0">
                <a:solidFill>
                  <a:srgbClr val="7F8587"/>
                </a:solidFill>
                <a:latin typeface="PingFang SC"/>
              </a:rPr>
              <a:t>备注：应定期对患者进行ARDS发生情况的筛查，因为在临床实践中，ARDS的诊断常常被漏诊或误诊。</a:t>
            </a:r>
          </a:p>
        </p:txBody>
      </p:sp>
      <p:sp>
        <p:nvSpPr>
          <p:cNvPr id="10" name="TextBox 9"/>
          <p:cNvSpPr txBox="1"/>
          <p:nvPr/>
        </p:nvSpPr>
        <p:spPr>
          <a:xfrm>
            <a:off x="966978" y="2733446"/>
            <a:ext cx="8003286" cy="173736"/>
          </a:xfrm>
          <a:prstGeom prst="rect">
            <a:avLst/>
          </a:prstGeom>
          <a:noFill/>
          <a:ln>
            <a:noFill/>
          </a:ln>
        </p:spPr>
        <p:txBody>
          <a:bodyPr wrap="square" lIns="19050" rIns="19050" tIns="0" bIns="0" anchor="t">
            <a:normAutofit/>
          </a:bodyPr>
          <a:lstStyle/>
          <a:p>
            <a:pPr algn="l"/>
            <a:r>
              <a:rPr sz="1070" b="0">
                <a:solidFill>
                  <a:srgbClr val="ABC1A1"/>
                </a:solidFill>
                <a:latin typeface="PingFang SC"/>
              </a:rPr>
              <a:t>73. 对于患有脓毒症和ARDS的成年人，我们“推荐”将平台压上限目标设定为30cmH₂O，而非采用更高的平台压。</a:t>
            </a:r>
          </a:p>
        </p:txBody>
      </p:sp>
      <p:sp>
        <p:nvSpPr>
          <p:cNvPr id="11" name="TextBox 10"/>
          <p:cNvSpPr txBox="1"/>
          <p:nvPr/>
        </p:nvSpPr>
        <p:spPr>
          <a:xfrm>
            <a:off x="966978" y="3254654"/>
            <a:ext cx="8003286" cy="173735"/>
          </a:xfrm>
          <a:prstGeom prst="rect">
            <a:avLst/>
          </a:prstGeom>
          <a:noFill/>
          <a:ln>
            <a:noFill/>
          </a:ln>
        </p:spPr>
        <p:txBody>
          <a:bodyPr wrap="square" lIns="19050" rIns="19050" tIns="0" bIns="0" anchor="t">
            <a:normAutofit/>
          </a:bodyPr>
          <a:lstStyle/>
          <a:p>
            <a:pPr algn="l"/>
            <a:r>
              <a:rPr sz="1000" b="0">
                <a:solidFill>
                  <a:srgbClr val="61975E"/>
                </a:solidFill>
                <a:latin typeface="PingFang SC"/>
              </a:rPr>
              <a:t>74. 对于患有脓毒症和中重度急性呼吸窘迫综合征（ARDS）的成人，我们“建议”采用较高呼气末正压（PEEP）而非较低呼气末正压。</a:t>
            </a:r>
          </a:p>
        </p:txBody>
      </p:sp>
      <p:sp>
        <p:nvSpPr>
          <p:cNvPr id="12" name="TextBox 11"/>
          <p:cNvSpPr txBox="1"/>
          <p:nvPr/>
        </p:nvSpPr>
        <p:spPr>
          <a:xfrm>
            <a:off x="9176004" y="1285646"/>
            <a:ext cx="678941" cy="150571"/>
          </a:xfrm>
          <a:prstGeom prst="rect">
            <a:avLst/>
          </a:prstGeom>
          <a:noFill/>
          <a:ln>
            <a:noFill/>
          </a:ln>
        </p:spPr>
        <p:txBody>
          <a:bodyPr wrap="none" lIns="19050" rIns="19050" tIns="0" bIns="0" anchor="ctr">
            <a:noAutofit/>
          </a:bodyPr>
          <a:lstStyle/>
          <a:p>
            <a:pPr algn="r"/>
            <a:r>
              <a:rPr sz="1200" b="0">
                <a:solidFill>
                  <a:srgbClr val="91B47D"/>
                </a:solidFill>
                <a:latin typeface="PingFang SC"/>
              </a:rPr>
              <a:t>沿用</a:t>
            </a:r>
          </a:p>
        </p:txBody>
      </p:sp>
      <p:sp>
        <p:nvSpPr>
          <p:cNvPr id="13" name="TextBox 12"/>
          <p:cNvSpPr txBox="1"/>
          <p:nvPr/>
        </p:nvSpPr>
        <p:spPr>
          <a:xfrm>
            <a:off x="9176004" y="1806854"/>
            <a:ext cx="678941" cy="150571"/>
          </a:xfrm>
          <a:prstGeom prst="rect">
            <a:avLst/>
          </a:prstGeom>
          <a:noFill/>
          <a:ln>
            <a:noFill/>
          </a:ln>
        </p:spPr>
        <p:txBody>
          <a:bodyPr wrap="none" lIns="19050" rIns="19050" tIns="0" bIns="0" anchor="ctr">
            <a:noAutofit/>
          </a:bodyPr>
          <a:lstStyle/>
          <a:p>
            <a:pPr algn="r"/>
            <a:r>
              <a:rPr sz="1200" b="0">
                <a:solidFill>
                  <a:srgbClr val="87ABC8"/>
                </a:solidFill>
                <a:latin typeface="PingFang SC"/>
              </a:rPr>
              <a:t>新增</a:t>
            </a:r>
          </a:p>
        </p:txBody>
      </p:sp>
      <p:sp>
        <p:nvSpPr>
          <p:cNvPr id="14" name="TextBox 13"/>
          <p:cNvSpPr txBox="1"/>
          <p:nvPr/>
        </p:nvSpPr>
        <p:spPr>
          <a:xfrm>
            <a:off x="9176004" y="2733446"/>
            <a:ext cx="678941" cy="150571"/>
          </a:xfrm>
          <a:prstGeom prst="rect">
            <a:avLst/>
          </a:prstGeom>
          <a:noFill/>
          <a:ln>
            <a:noFill/>
          </a:ln>
        </p:spPr>
        <p:txBody>
          <a:bodyPr wrap="none" lIns="19050" rIns="19050" tIns="0" bIns="0" anchor="ctr">
            <a:noAutofit/>
          </a:bodyPr>
          <a:lstStyle/>
          <a:p>
            <a:pPr algn="r"/>
            <a:r>
              <a:rPr sz="1200" b="0">
                <a:solidFill>
                  <a:srgbClr val="000000"/>
                </a:solidFill>
                <a:latin typeface="PingFang SC"/>
              </a:rPr>
              <a:t>沿用</a:t>
            </a:r>
          </a:p>
        </p:txBody>
      </p:sp>
      <p:sp>
        <p:nvSpPr>
          <p:cNvPr id="15" name="TextBox 14"/>
          <p:cNvSpPr txBox="1"/>
          <p:nvPr/>
        </p:nvSpPr>
        <p:spPr>
          <a:xfrm>
            <a:off x="9176004" y="3254654"/>
            <a:ext cx="678941" cy="150571"/>
          </a:xfrm>
          <a:prstGeom prst="rect">
            <a:avLst/>
          </a:prstGeom>
          <a:noFill/>
          <a:ln>
            <a:noFill/>
          </a:ln>
        </p:spPr>
        <p:txBody>
          <a:bodyPr wrap="none" lIns="19050" rIns="19050" tIns="0" bIns="0" anchor="ctr">
            <a:noAutofit/>
          </a:bodyPr>
          <a:lstStyle/>
          <a:p>
            <a:pPr algn="r"/>
            <a:r>
              <a:rPr sz="1200" b="0">
                <a:solidFill>
                  <a:srgbClr val="000000"/>
                </a:solidFill>
                <a:latin typeface="PingFang SC"/>
              </a:rPr>
              <a:t>沿用</a:t>
            </a:r>
          </a:p>
        </p:txBody>
      </p:sp>
      <p:sp>
        <p:nvSpPr>
          <p:cNvPr id="16" name="TextBox 15"/>
          <p:cNvSpPr txBox="1"/>
          <p:nvPr/>
        </p:nvSpPr>
        <p:spPr>
          <a:xfrm>
            <a:off x="493776" y="4934102"/>
            <a:ext cx="2715768" cy="231648"/>
          </a:xfrm>
          <a:prstGeom prst="rect">
            <a:avLst/>
          </a:prstGeom>
          <a:noFill/>
          <a:ln>
            <a:noFill/>
          </a:ln>
        </p:spPr>
        <p:txBody>
          <a:bodyPr wrap="none" lIns="19050" rIns="19050" tIns="0" bIns="0" anchor="ctr">
            <a:noAutofit/>
          </a:bodyPr>
          <a:lstStyle/>
          <a:p>
            <a:pPr algn="l"/>
            <a:r>
              <a:rPr sz="900" b="0">
                <a:solidFill>
                  <a:srgbClr val="959595"/>
                </a:solidFill>
                <a:latin typeface="PingFang SC"/>
              </a:rPr>
              <a:t>Society of Critical Care Medicine</a:t>
            </a:r>
          </a:p>
          <a:p>
            <a:pPr algn="l"/>
            <a:r>
              <a:rPr sz="900" b="0">
                <a:solidFill>
                  <a:srgbClr val="959595"/>
                </a:solidFill>
                <a:latin typeface="PingFang SC"/>
              </a:rPr>
              <a:t>The Intensive Care Professionals</a:t>
            </a:r>
          </a:p>
        </p:txBody>
      </p:sp>
      <p:sp>
        <p:nvSpPr>
          <p:cNvPr id="17" name="TextBox 16"/>
          <p:cNvSpPr txBox="1"/>
          <p:nvPr/>
        </p:nvSpPr>
        <p:spPr>
          <a:xfrm>
            <a:off x="1769364" y="4934102"/>
            <a:ext cx="2489453" cy="231648"/>
          </a:xfrm>
          <a:prstGeom prst="rect">
            <a:avLst/>
          </a:prstGeom>
          <a:noFill/>
          <a:ln>
            <a:noFill/>
          </a:ln>
        </p:spPr>
        <p:txBody>
          <a:bodyPr wrap="none" lIns="19050" rIns="19050" tIns="0" bIns="0" anchor="ctr">
            <a:noAutofit/>
          </a:bodyPr>
          <a:lstStyle/>
          <a:p>
            <a:pPr algn="l"/>
            <a:r>
              <a:rPr sz="900" b="0">
                <a:solidFill>
                  <a:srgbClr val="7251B1"/>
                </a:solidFill>
                <a:latin typeface="PingFang SC"/>
              </a:rPr>
              <a:t>esicm</a:t>
            </a:r>
          </a:p>
          <a:p>
            <a:pPr algn="l"/>
            <a:r>
              <a:rPr sz="900" b="0">
                <a:solidFill>
                  <a:srgbClr val="7251B1"/>
                </a:solidFill>
                <a:latin typeface="PingFang SC"/>
              </a:rPr>
              <a:t>European Society of Intensive Care Medicine</a:t>
            </a:r>
          </a:p>
        </p:txBody>
      </p:sp>
      <p:sp>
        <p:nvSpPr>
          <p:cNvPr id="18" name="TextBox 17"/>
          <p:cNvSpPr txBox="1"/>
          <p:nvPr/>
        </p:nvSpPr>
        <p:spPr>
          <a:xfrm>
            <a:off x="493776" y="5432145"/>
            <a:ext cx="2263140" cy="138988"/>
          </a:xfrm>
          <a:prstGeom prst="rect">
            <a:avLst/>
          </a:prstGeom>
          <a:noFill/>
          <a:ln>
            <a:noFill/>
          </a:ln>
        </p:spPr>
        <p:txBody>
          <a:bodyPr wrap="none" lIns="19050" rIns="19050" tIns="0" bIns="0" anchor="ctr">
            <a:noAutofit/>
          </a:bodyPr>
          <a:lstStyle/>
          <a:p>
            <a:pPr algn="l"/>
            <a:r>
              <a:rPr sz="1050" b="0">
                <a:solidFill>
                  <a:srgbClr val="BDD0D5"/>
                </a:solidFill>
                <a:latin typeface="PingFang SC"/>
              </a:rPr>
              <a:t>公众号·指南导航</a:t>
            </a:r>
          </a:p>
        </p:txBody>
      </p:sp>
      <p:sp>
        <p:nvSpPr>
          <p:cNvPr id="19" name="TextBox 18"/>
          <p:cNvSpPr txBox="1"/>
          <p:nvPr/>
        </p:nvSpPr>
        <p:spPr>
          <a:xfrm>
            <a:off x="10287000" y="5374233"/>
            <a:ext cx="0" cy="173735"/>
          </a:xfrm>
          <a:prstGeom prst="rect">
            <a:avLst/>
          </a:prstGeom>
          <a:noFill/>
          <a:ln>
            <a:noFill/>
          </a:ln>
        </p:spPr>
        <p:txBody>
          <a:bodyPr wrap="none" lIns="19050" rIns="19050" tIns="0" bIns="0" anchor="ctr">
            <a:noAutofit/>
          </a:bodyPr>
          <a:lstStyle/>
          <a:p>
            <a:pPr algn="r"/>
            <a:r>
              <a:rPr sz="1200" b="0">
                <a:solidFill>
                  <a:srgbClr val="000000"/>
                </a:solidFill>
                <a:latin typeface="PingFang SC"/>
              </a:rPr>
              <a:t>46</a:t>
            </a:r>
          </a:p>
        </p:txBody>
      </p:sp>
      <p:pic>
        <p:nvPicPr>
          <p:cNvPr id="20" name="Picture 19" descr="tmp0454fbai.png"/>
          <p:cNvPicPr>
            <a:picLocks noChangeAspect="1"/>
          </p:cNvPicPr>
          <p:nvPr/>
        </p:nvPicPr>
        <p:blipFill>
          <a:blip r:embed="rId3"/>
          <a:stretch>
            <a:fillRect/>
          </a:stretch>
        </p:blipFill>
        <p:spPr>
          <a:xfrm>
            <a:off x="1209675" y="1571625"/>
            <a:ext cx="314325" cy="180975"/>
          </a:xfrm>
          <a:prstGeom prst="rect">
            <a:avLst/>
          </a:prstGeom>
        </p:spPr>
      </p:pic>
      <p:pic>
        <p:nvPicPr>
          <p:cNvPr id="21" name="Picture 20" descr="tmpikw93zk4.png"/>
          <p:cNvPicPr>
            <a:picLocks noChangeAspect="1"/>
          </p:cNvPicPr>
          <p:nvPr/>
        </p:nvPicPr>
        <p:blipFill>
          <a:blip r:embed="rId4"/>
          <a:stretch>
            <a:fillRect/>
          </a:stretch>
        </p:blipFill>
        <p:spPr>
          <a:xfrm>
            <a:off x="1628775" y="1571625"/>
            <a:ext cx="304800" cy="180975"/>
          </a:xfrm>
          <a:prstGeom prst="rect">
            <a:avLst/>
          </a:prstGeom>
        </p:spPr>
      </p:pic>
      <p:pic>
        <p:nvPicPr>
          <p:cNvPr id="22" name="Picture 21" descr="tmpnht_espt.png"/>
          <p:cNvPicPr>
            <a:picLocks noChangeAspect="1"/>
          </p:cNvPicPr>
          <p:nvPr/>
        </p:nvPicPr>
        <p:blipFill>
          <a:blip r:embed="rId5"/>
          <a:stretch>
            <a:fillRect/>
          </a:stretch>
        </p:blipFill>
        <p:spPr>
          <a:xfrm>
            <a:off x="2038350" y="1571625"/>
            <a:ext cx="304800" cy="180975"/>
          </a:xfrm>
          <a:prstGeom prst="rect">
            <a:avLst/>
          </a:prstGeom>
        </p:spPr>
      </p:pic>
      <p:pic>
        <p:nvPicPr>
          <p:cNvPr id="23" name="Picture 22" descr="tmp3u1k8b_9.png"/>
          <p:cNvPicPr>
            <a:picLocks noChangeAspect="1"/>
          </p:cNvPicPr>
          <p:nvPr/>
        </p:nvPicPr>
        <p:blipFill>
          <a:blip r:embed="rId6"/>
          <a:stretch>
            <a:fillRect/>
          </a:stretch>
        </p:blipFill>
        <p:spPr>
          <a:xfrm>
            <a:off x="2447925" y="1571625"/>
            <a:ext cx="304800" cy="180975"/>
          </a:xfrm>
          <a:prstGeom prst="rect">
            <a:avLst/>
          </a:prstGeom>
        </p:spPr>
      </p:pic>
      <p:pic>
        <p:nvPicPr>
          <p:cNvPr id="24" name="Picture 23" descr="tmpo1ichg5c.png"/>
          <p:cNvPicPr>
            <a:picLocks noChangeAspect="1"/>
          </p:cNvPicPr>
          <p:nvPr/>
        </p:nvPicPr>
        <p:blipFill>
          <a:blip r:embed="rId7"/>
          <a:stretch>
            <a:fillRect/>
          </a:stretch>
        </p:blipFill>
        <p:spPr>
          <a:xfrm>
            <a:off x="2857500" y="1571625"/>
            <a:ext cx="314325" cy="180975"/>
          </a:xfrm>
          <a:prstGeom prst="rect">
            <a:avLst/>
          </a:prstGeom>
        </p:spPr>
      </p:pic>
      <p:pic>
        <p:nvPicPr>
          <p:cNvPr id="25" name="Picture 24" descr="tmp05h55sji.png"/>
          <p:cNvPicPr>
            <a:picLocks noChangeAspect="1"/>
          </p:cNvPicPr>
          <p:nvPr/>
        </p:nvPicPr>
        <p:blipFill>
          <a:blip r:embed="rId8"/>
          <a:stretch>
            <a:fillRect/>
          </a:stretch>
        </p:blipFill>
        <p:spPr>
          <a:xfrm>
            <a:off x="1209675" y="2447925"/>
            <a:ext cx="314325" cy="171450"/>
          </a:xfrm>
          <a:prstGeom prst="rect">
            <a:avLst/>
          </a:prstGeom>
        </p:spPr>
      </p:pic>
      <p:pic>
        <p:nvPicPr>
          <p:cNvPr id="26" name="Picture 25" descr="tmp_u2y6k49.png"/>
          <p:cNvPicPr>
            <a:picLocks noChangeAspect="1"/>
          </p:cNvPicPr>
          <p:nvPr/>
        </p:nvPicPr>
        <p:blipFill>
          <a:blip r:embed="rId9"/>
          <a:stretch>
            <a:fillRect/>
          </a:stretch>
        </p:blipFill>
        <p:spPr>
          <a:xfrm>
            <a:off x="1628775" y="2447925"/>
            <a:ext cx="304800" cy="171450"/>
          </a:xfrm>
          <a:prstGeom prst="rect">
            <a:avLst/>
          </a:prstGeom>
        </p:spPr>
      </p:pic>
      <p:pic>
        <p:nvPicPr>
          <p:cNvPr id="27" name="Picture 26" descr="tmpv6rsv_f3.png"/>
          <p:cNvPicPr>
            <a:picLocks noChangeAspect="1"/>
          </p:cNvPicPr>
          <p:nvPr/>
        </p:nvPicPr>
        <p:blipFill>
          <a:blip r:embed="rId10"/>
          <a:stretch>
            <a:fillRect/>
          </a:stretch>
        </p:blipFill>
        <p:spPr>
          <a:xfrm>
            <a:off x="2038350" y="2447925"/>
            <a:ext cx="304800" cy="171450"/>
          </a:xfrm>
          <a:prstGeom prst="rect">
            <a:avLst/>
          </a:prstGeom>
        </p:spPr>
      </p:pic>
      <p:pic>
        <p:nvPicPr>
          <p:cNvPr id="28" name="Picture 27" descr="tmpwfrxsl4z.png"/>
          <p:cNvPicPr>
            <a:picLocks noChangeAspect="1"/>
          </p:cNvPicPr>
          <p:nvPr/>
        </p:nvPicPr>
        <p:blipFill>
          <a:blip r:embed="rId11"/>
          <a:stretch>
            <a:fillRect/>
          </a:stretch>
        </p:blipFill>
        <p:spPr>
          <a:xfrm>
            <a:off x="2447925" y="2447925"/>
            <a:ext cx="304800" cy="171450"/>
          </a:xfrm>
          <a:prstGeom prst="rect">
            <a:avLst/>
          </a:prstGeom>
        </p:spPr>
      </p:pic>
      <p:pic>
        <p:nvPicPr>
          <p:cNvPr id="29" name="Picture 28" descr="tmp73urs2re.png"/>
          <p:cNvPicPr>
            <a:picLocks noChangeAspect="1"/>
          </p:cNvPicPr>
          <p:nvPr/>
        </p:nvPicPr>
        <p:blipFill>
          <a:blip r:embed="rId12"/>
          <a:stretch>
            <a:fillRect/>
          </a:stretch>
        </p:blipFill>
        <p:spPr>
          <a:xfrm>
            <a:off x="2857500" y="2447925"/>
            <a:ext cx="314325" cy="171450"/>
          </a:xfrm>
          <a:prstGeom prst="rect">
            <a:avLst/>
          </a:prstGeom>
        </p:spPr>
      </p:pic>
      <p:pic>
        <p:nvPicPr>
          <p:cNvPr id="30" name="Picture 29" descr="tmpwd22qpyh.png"/>
          <p:cNvPicPr>
            <a:picLocks noChangeAspect="1"/>
          </p:cNvPicPr>
          <p:nvPr/>
        </p:nvPicPr>
        <p:blipFill>
          <a:blip r:embed="rId13"/>
          <a:stretch>
            <a:fillRect/>
          </a:stretch>
        </p:blipFill>
        <p:spPr>
          <a:xfrm>
            <a:off x="1209675" y="3371850"/>
            <a:ext cx="314325" cy="171450"/>
          </a:xfrm>
          <a:prstGeom prst="rect">
            <a:avLst/>
          </a:prstGeom>
        </p:spPr>
      </p:pic>
      <p:pic>
        <p:nvPicPr>
          <p:cNvPr id="31" name="Picture 30" descr="tmpgeffk9xy.png"/>
          <p:cNvPicPr>
            <a:picLocks noChangeAspect="1"/>
          </p:cNvPicPr>
          <p:nvPr/>
        </p:nvPicPr>
        <p:blipFill>
          <a:blip r:embed="rId14"/>
          <a:stretch>
            <a:fillRect/>
          </a:stretch>
        </p:blipFill>
        <p:spPr>
          <a:xfrm>
            <a:off x="1628775" y="3371850"/>
            <a:ext cx="304800" cy="171450"/>
          </a:xfrm>
          <a:prstGeom prst="rect">
            <a:avLst/>
          </a:prstGeom>
        </p:spPr>
      </p:pic>
      <p:pic>
        <p:nvPicPr>
          <p:cNvPr id="32" name="Picture 31" descr="tmp13gr8b7b.png"/>
          <p:cNvPicPr>
            <a:picLocks noChangeAspect="1"/>
          </p:cNvPicPr>
          <p:nvPr/>
        </p:nvPicPr>
        <p:blipFill>
          <a:blip r:embed="rId15"/>
          <a:stretch>
            <a:fillRect/>
          </a:stretch>
        </p:blipFill>
        <p:spPr>
          <a:xfrm>
            <a:off x="2038350" y="3371850"/>
            <a:ext cx="304800" cy="171450"/>
          </a:xfrm>
          <a:prstGeom prst="rect">
            <a:avLst/>
          </a:prstGeom>
        </p:spPr>
      </p:pic>
      <p:pic>
        <p:nvPicPr>
          <p:cNvPr id="33" name="Picture 32" descr="tmpar9vkymz.png"/>
          <p:cNvPicPr>
            <a:picLocks noChangeAspect="1"/>
          </p:cNvPicPr>
          <p:nvPr/>
        </p:nvPicPr>
        <p:blipFill>
          <a:blip r:embed="rId16"/>
          <a:stretch>
            <a:fillRect/>
          </a:stretch>
        </p:blipFill>
        <p:spPr>
          <a:xfrm>
            <a:off x="2447925" y="3371850"/>
            <a:ext cx="304800" cy="171450"/>
          </a:xfrm>
          <a:prstGeom prst="rect">
            <a:avLst/>
          </a:prstGeom>
        </p:spPr>
      </p:pic>
      <p:pic>
        <p:nvPicPr>
          <p:cNvPr id="34" name="Picture 33" descr="tmpghrnmbnv.png"/>
          <p:cNvPicPr>
            <a:picLocks noChangeAspect="1"/>
          </p:cNvPicPr>
          <p:nvPr/>
        </p:nvPicPr>
        <p:blipFill>
          <a:blip r:embed="rId17"/>
          <a:stretch>
            <a:fillRect/>
          </a:stretch>
        </p:blipFill>
        <p:spPr>
          <a:xfrm>
            <a:off x="2857500" y="3371850"/>
            <a:ext cx="314325" cy="171450"/>
          </a:xfrm>
          <a:prstGeom prst="rect">
            <a:avLst/>
          </a:prstGeom>
        </p:spPr>
      </p:pic>
      <p:pic>
        <p:nvPicPr>
          <p:cNvPr id="35" name="Picture 34" descr="tmp9uc40_w5.png"/>
          <p:cNvPicPr>
            <a:picLocks noChangeAspect="1"/>
          </p:cNvPicPr>
          <p:nvPr/>
        </p:nvPicPr>
        <p:blipFill>
          <a:blip r:embed="rId18"/>
          <a:stretch>
            <a:fillRect/>
          </a:stretch>
        </p:blipFill>
        <p:spPr>
          <a:xfrm>
            <a:off x="1209675" y="3895725"/>
            <a:ext cx="314325" cy="171450"/>
          </a:xfrm>
          <a:prstGeom prst="rect">
            <a:avLst/>
          </a:prstGeom>
        </p:spPr>
      </p:pic>
      <p:pic>
        <p:nvPicPr>
          <p:cNvPr id="36" name="Picture 35" descr="tmp7c0g8ger.png"/>
          <p:cNvPicPr>
            <a:picLocks noChangeAspect="1"/>
          </p:cNvPicPr>
          <p:nvPr/>
        </p:nvPicPr>
        <p:blipFill>
          <a:blip r:embed="rId19"/>
          <a:stretch>
            <a:fillRect/>
          </a:stretch>
        </p:blipFill>
        <p:spPr>
          <a:xfrm>
            <a:off x="1628775" y="3895725"/>
            <a:ext cx="304800" cy="171450"/>
          </a:xfrm>
          <a:prstGeom prst="rect">
            <a:avLst/>
          </a:prstGeom>
        </p:spPr>
      </p:pic>
      <p:pic>
        <p:nvPicPr>
          <p:cNvPr id="37" name="Picture 36" descr="tmp41zd622f.png"/>
          <p:cNvPicPr>
            <a:picLocks noChangeAspect="1"/>
          </p:cNvPicPr>
          <p:nvPr/>
        </p:nvPicPr>
        <p:blipFill>
          <a:blip r:embed="rId20"/>
          <a:stretch>
            <a:fillRect/>
          </a:stretch>
        </p:blipFill>
        <p:spPr>
          <a:xfrm>
            <a:off x="2038350" y="3895725"/>
            <a:ext cx="304800" cy="171450"/>
          </a:xfrm>
          <a:prstGeom prst="rect">
            <a:avLst/>
          </a:prstGeom>
        </p:spPr>
      </p:pic>
      <p:pic>
        <p:nvPicPr>
          <p:cNvPr id="38" name="Picture 37" descr="tmpoe05ajzb.png"/>
          <p:cNvPicPr>
            <a:picLocks noChangeAspect="1"/>
          </p:cNvPicPr>
          <p:nvPr/>
        </p:nvPicPr>
        <p:blipFill>
          <a:blip r:embed="rId21"/>
          <a:stretch>
            <a:fillRect/>
          </a:stretch>
        </p:blipFill>
        <p:spPr>
          <a:xfrm>
            <a:off x="2447925" y="3895725"/>
            <a:ext cx="304800" cy="171450"/>
          </a:xfrm>
          <a:prstGeom prst="rect">
            <a:avLst/>
          </a:prstGeom>
        </p:spPr>
      </p:pic>
      <p:pic>
        <p:nvPicPr>
          <p:cNvPr id="39" name="Picture 38" descr="tmpbvcu30ky.png"/>
          <p:cNvPicPr>
            <a:picLocks noChangeAspect="1"/>
          </p:cNvPicPr>
          <p:nvPr/>
        </p:nvPicPr>
        <p:blipFill>
          <a:blip r:embed="rId22"/>
          <a:stretch>
            <a:fillRect/>
          </a:stretch>
        </p:blipFill>
        <p:spPr>
          <a:xfrm>
            <a:off x="2857500" y="3895725"/>
            <a:ext cx="314325" cy="17145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55498" y="967130"/>
            <a:ext cx="9196577" cy="3272028"/>
          </a:xfrm>
          <a:prstGeom prst="roundRect">
            <a:avLst>
              <a:gd name="adj" fmla="val 6000"/>
            </a:avLst>
          </a:prstGeom>
          <a:solidFill>
            <a:srgbClr val="FEFEFE"/>
          </a:solidFill>
          <a:ln w="11430">
            <a:solidFill>
              <a:srgbClr val="2961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6933" y="393801"/>
            <a:ext cx="4096283" cy="312724"/>
          </a:xfrm>
          <a:prstGeom prst="rect">
            <a:avLst/>
          </a:prstGeom>
          <a:noFill/>
          <a:ln>
            <a:noFill/>
          </a:ln>
        </p:spPr>
        <p:txBody>
          <a:bodyPr wrap="none" lIns="19050" rIns="19050" tIns="0" bIns="0" anchor="ctr">
            <a:noAutofit/>
          </a:bodyPr>
          <a:lstStyle/>
          <a:p>
            <a:pPr algn="l"/>
            <a:r>
              <a:rPr sz="3150" b="1">
                <a:solidFill>
                  <a:srgbClr val="40528E"/>
                </a:solidFill>
                <a:latin typeface="PingFang SC"/>
              </a:rPr>
              <a:t>有创机械通气</a:t>
            </a:r>
          </a:p>
        </p:txBody>
      </p:sp>
      <p:sp>
        <p:nvSpPr>
          <p:cNvPr id="5" name="TextBox 4"/>
          <p:cNvSpPr txBox="1"/>
          <p:nvPr/>
        </p:nvSpPr>
        <p:spPr>
          <a:xfrm>
            <a:off x="946404" y="1262481"/>
            <a:ext cx="8023860" cy="370636"/>
          </a:xfrm>
          <a:prstGeom prst="rect">
            <a:avLst/>
          </a:prstGeom>
          <a:noFill/>
          <a:ln>
            <a:noFill/>
          </a:ln>
        </p:spPr>
        <p:txBody>
          <a:bodyPr wrap="square" lIns="19050" rIns="19050" tIns="0" bIns="0" anchor="t">
            <a:normAutofit/>
          </a:bodyPr>
          <a:lstStyle/>
          <a:p>
            <a:pPr algn="l"/>
            <a:r>
              <a:rPr sz="1470" b="0">
                <a:solidFill>
                  <a:srgbClr val="878285"/>
                </a:solidFill>
                <a:latin typeface="PingFang SC"/>
              </a:rPr>
              <a:t>75. 对于患有脓毒症和中重度急性呼吸窘迫综合征 (ARDS) 的成人患者，我们 “建议不采用” 递增式呼气末正压 (PEEP) 滴定策略。</a:t>
            </a:r>
          </a:p>
        </p:txBody>
      </p:sp>
      <p:sp>
        <p:nvSpPr>
          <p:cNvPr id="6" name="TextBox 5"/>
          <p:cNvSpPr txBox="1"/>
          <p:nvPr/>
        </p:nvSpPr>
        <p:spPr>
          <a:xfrm>
            <a:off x="946404" y="2154326"/>
            <a:ext cx="8023860" cy="370636"/>
          </a:xfrm>
          <a:prstGeom prst="rect">
            <a:avLst/>
          </a:prstGeom>
          <a:noFill/>
          <a:ln>
            <a:noFill/>
          </a:ln>
        </p:spPr>
        <p:txBody>
          <a:bodyPr wrap="square" lIns="19050" rIns="19050" tIns="0" bIns="0" anchor="t">
            <a:normAutofit/>
          </a:bodyPr>
          <a:lstStyle/>
          <a:p>
            <a:pPr algn="l"/>
            <a:r>
              <a:rPr sz="1500" b="0">
                <a:solidFill>
                  <a:srgbClr val="8C938F"/>
                </a:solidFill>
                <a:latin typeface="PingFang SC"/>
              </a:rPr>
              <a:t>76. 对于患有脓毒症和中重度急性呼吸窘迫综合征 (ARDS) 的成人，我们 “建议” 每日进行俯卧位通气超过12小时。</a:t>
            </a:r>
          </a:p>
        </p:txBody>
      </p:sp>
      <p:sp>
        <p:nvSpPr>
          <p:cNvPr id="7" name="TextBox 6"/>
          <p:cNvSpPr txBox="1"/>
          <p:nvPr/>
        </p:nvSpPr>
        <p:spPr>
          <a:xfrm>
            <a:off x="1275587" y="2814523"/>
            <a:ext cx="6336792" cy="150571"/>
          </a:xfrm>
          <a:prstGeom prst="rect">
            <a:avLst/>
          </a:prstGeom>
          <a:noFill/>
          <a:ln>
            <a:noFill/>
          </a:ln>
        </p:spPr>
        <p:txBody>
          <a:bodyPr wrap="square" lIns="19050" rIns="19050" tIns="0" bIns="0" anchor="t">
            <a:normAutofit/>
          </a:bodyPr>
          <a:lstStyle/>
          <a:p>
            <a:pPr algn="l"/>
            <a:r>
              <a:rPr sz="960" b="0">
                <a:solidFill>
                  <a:srgbClr val="AEC5A4"/>
                </a:solidFill>
                <a:latin typeface="PingFang SC"/>
              </a:rPr>
              <a:t>备注：应定期对患者进行ARDS发生情况的筛查，因为在临床实践中，ARDS的诊断常常被漏诊或延误。</a:t>
            </a:r>
          </a:p>
        </p:txBody>
      </p:sp>
      <p:sp>
        <p:nvSpPr>
          <p:cNvPr id="8" name="TextBox 7"/>
          <p:cNvSpPr txBox="1"/>
          <p:nvPr/>
        </p:nvSpPr>
        <p:spPr>
          <a:xfrm>
            <a:off x="946404" y="3254654"/>
            <a:ext cx="8023860" cy="370636"/>
          </a:xfrm>
          <a:prstGeom prst="rect">
            <a:avLst/>
          </a:prstGeom>
          <a:noFill/>
          <a:ln>
            <a:noFill/>
          </a:ln>
        </p:spPr>
        <p:txBody>
          <a:bodyPr wrap="square" lIns="19050" rIns="19050" tIns="0" bIns="0" anchor="t">
            <a:normAutofit/>
          </a:bodyPr>
          <a:lstStyle/>
          <a:p>
            <a:pPr algn="l"/>
            <a:r>
              <a:rPr sz="1370" b="0">
                <a:solidFill>
                  <a:srgbClr val="898F8D"/>
                </a:solidFill>
                <a:latin typeface="PingFang SC"/>
              </a:rPr>
              <a:t>77. 对于患有脓毒症和中重度急性呼吸窘迫综合征 (ARDS) 的成人，我们 “建议” 采用间歇性神经肌肉阻滞剂 (NMBA) 推注，而非持续静脉输注NMBA。</a:t>
            </a:r>
          </a:p>
        </p:txBody>
      </p:sp>
      <p:sp>
        <p:nvSpPr>
          <p:cNvPr id="9" name="TextBox 8"/>
          <p:cNvSpPr txBox="1"/>
          <p:nvPr/>
        </p:nvSpPr>
        <p:spPr>
          <a:xfrm>
            <a:off x="9176004" y="1262481"/>
            <a:ext cx="724204" cy="150571"/>
          </a:xfrm>
          <a:prstGeom prst="rect">
            <a:avLst/>
          </a:prstGeom>
          <a:noFill/>
          <a:ln>
            <a:noFill/>
          </a:ln>
        </p:spPr>
        <p:txBody>
          <a:bodyPr wrap="none" lIns="19050" rIns="19050" tIns="0" bIns="0" anchor="ctr">
            <a:noAutofit/>
          </a:bodyPr>
          <a:lstStyle/>
          <a:p>
            <a:pPr algn="r"/>
            <a:r>
              <a:rPr sz="1350" b="0">
                <a:solidFill>
                  <a:srgbClr val="8FB57E"/>
                </a:solidFill>
                <a:latin typeface="PingFang SC"/>
              </a:rPr>
              <a:t>沿用</a:t>
            </a:r>
          </a:p>
        </p:txBody>
      </p:sp>
      <p:sp>
        <p:nvSpPr>
          <p:cNvPr id="10" name="TextBox 9"/>
          <p:cNvSpPr txBox="1"/>
          <p:nvPr/>
        </p:nvSpPr>
        <p:spPr>
          <a:xfrm>
            <a:off x="9176004" y="2154326"/>
            <a:ext cx="724204" cy="150571"/>
          </a:xfrm>
          <a:prstGeom prst="rect">
            <a:avLst/>
          </a:prstGeom>
          <a:noFill/>
          <a:ln>
            <a:noFill/>
          </a:ln>
        </p:spPr>
        <p:txBody>
          <a:bodyPr wrap="none" lIns="19050" rIns="19050" tIns="0" bIns="0" anchor="ctr">
            <a:noAutofit/>
          </a:bodyPr>
          <a:lstStyle/>
          <a:p>
            <a:pPr algn="r"/>
            <a:r>
              <a:rPr sz="1350" b="0">
                <a:solidFill>
                  <a:srgbClr val="8AB27C"/>
                </a:solidFill>
                <a:latin typeface="PingFang SC"/>
              </a:rPr>
              <a:t>沿用</a:t>
            </a:r>
          </a:p>
        </p:txBody>
      </p:sp>
      <p:sp>
        <p:nvSpPr>
          <p:cNvPr id="11" name="TextBox 10"/>
          <p:cNvSpPr txBox="1"/>
          <p:nvPr/>
        </p:nvSpPr>
        <p:spPr>
          <a:xfrm>
            <a:off x="9176004" y="3254654"/>
            <a:ext cx="724204" cy="150571"/>
          </a:xfrm>
          <a:prstGeom prst="rect">
            <a:avLst/>
          </a:prstGeom>
          <a:noFill/>
          <a:ln>
            <a:noFill/>
          </a:ln>
        </p:spPr>
        <p:txBody>
          <a:bodyPr wrap="none" lIns="19050" rIns="19050" tIns="0" bIns="0" anchor="ctr">
            <a:noAutofit/>
          </a:bodyPr>
          <a:lstStyle/>
          <a:p>
            <a:pPr algn="r"/>
            <a:r>
              <a:rPr sz="1350" b="0">
                <a:solidFill>
                  <a:srgbClr val="96B487"/>
                </a:solidFill>
                <a:latin typeface="PingFang SC"/>
              </a:rPr>
              <a:t>沿用</a:t>
            </a:r>
          </a:p>
        </p:txBody>
      </p:sp>
      <p:sp>
        <p:nvSpPr>
          <p:cNvPr id="12" name="TextBox 11"/>
          <p:cNvSpPr txBox="1"/>
          <p:nvPr/>
        </p:nvSpPr>
        <p:spPr>
          <a:xfrm>
            <a:off x="493776" y="4910937"/>
            <a:ext cx="1275587" cy="312724"/>
          </a:xfrm>
          <a:prstGeom prst="rect">
            <a:avLst/>
          </a:prstGeom>
          <a:noFill/>
          <a:ln>
            <a:noFill/>
          </a:ln>
        </p:spPr>
        <p:txBody>
          <a:bodyPr wrap="square" lIns="19050" rIns="19050" tIns="0" bIns="0" anchor="t">
            <a:normAutofit/>
          </a:bodyPr>
          <a:lstStyle/>
          <a:p>
            <a:pPr algn="l"/>
            <a:r>
              <a:rPr sz="680" b="0">
                <a:solidFill>
                  <a:srgbClr val="98989A"/>
                </a:solidFill>
                <a:latin typeface="PingFang SC"/>
              </a:rPr>
              <a:t>Society of Critical Care Medicine</a:t>
            </a:r>
          </a:p>
          <a:p>
            <a:pPr algn="l"/>
            <a:r>
              <a:rPr sz="680" b="0">
                <a:solidFill>
                  <a:srgbClr val="98989A"/>
                </a:solidFill>
                <a:latin typeface="PingFang SC"/>
              </a:rPr>
              <a:t>The Intensive Care Professionals</a:t>
            </a:r>
          </a:p>
        </p:txBody>
      </p:sp>
      <p:sp>
        <p:nvSpPr>
          <p:cNvPr id="13" name="TextBox 12"/>
          <p:cNvSpPr txBox="1"/>
          <p:nvPr/>
        </p:nvSpPr>
        <p:spPr>
          <a:xfrm>
            <a:off x="1831085" y="4910937"/>
            <a:ext cx="1172717" cy="312724"/>
          </a:xfrm>
          <a:prstGeom prst="rect">
            <a:avLst/>
          </a:prstGeom>
          <a:noFill/>
          <a:ln>
            <a:noFill/>
          </a:ln>
        </p:spPr>
        <p:txBody>
          <a:bodyPr wrap="square" lIns="19050" rIns="19050" tIns="0" bIns="0" anchor="t">
            <a:normAutofit/>
          </a:bodyPr>
          <a:lstStyle/>
          <a:p>
            <a:pPr algn="l"/>
            <a:r>
              <a:rPr sz="680" b="0">
                <a:solidFill>
                  <a:srgbClr val="9275BD"/>
                </a:solidFill>
                <a:latin typeface="PingFang SC"/>
              </a:rPr>
              <a:t>esicm</a:t>
            </a:r>
          </a:p>
          <a:p>
            <a:pPr algn="l"/>
            <a:r>
              <a:rPr sz="680" b="0">
                <a:solidFill>
                  <a:srgbClr val="9275BD"/>
                </a:solidFill>
                <a:latin typeface="PingFang SC"/>
              </a:rPr>
              <a:t>European Society of Intensive Care Medicine</a:t>
            </a:r>
          </a:p>
        </p:txBody>
      </p:sp>
      <p:sp>
        <p:nvSpPr>
          <p:cNvPr id="14" name="TextBox 13"/>
          <p:cNvSpPr txBox="1"/>
          <p:nvPr/>
        </p:nvSpPr>
        <p:spPr>
          <a:xfrm>
            <a:off x="493776" y="5455310"/>
            <a:ext cx="2353665" cy="127406"/>
          </a:xfrm>
          <a:prstGeom prst="rect">
            <a:avLst/>
          </a:prstGeom>
          <a:noFill/>
          <a:ln>
            <a:noFill/>
          </a:ln>
        </p:spPr>
        <p:txBody>
          <a:bodyPr wrap="none" lIns="19050" rIns="19050" tIns="0" bIns="0" anchor="ctr">
            <a:noAutofit/>
          </a:bodyPr>
          <a:lstStyle/>
          <a:p>
            <a:pPr algn="l"/>
            <a:r>
              <a:rPr sz="1050" b="0">
                <a:solidFill>
                  <a:srgbClr val="BCD9D7"/>
                </a:solidFill>
                <a:latin typeface="PingFang SC"/>
              </a:rPr>
              <a:t>公众号·指南导航</a:t>
            </a:r>
          </a:p>
        </p:txBody>
      </p:sp>
      <p:sp>
        <p:nvSpPr>
          <p:cNvPr id="15" name="TextBox 14"/>
          <p:cNvSpPr txBox="1"/>
          <p:nvPr/>
        </p:nvSpPr>
        <p:spPr>
          <a:xfrm>
            <a:off x="8311896" y="173735"/>
            <a:ext cx="3937863" cy="416966"/>
          </a:xfrm>
          <a:prstGeom prst="rect">
            <a:avLst/>
          </a:prstGeom>
          <a:noFill/>
          <a:ln>
            <a:noFill/>
          </a:ln>
        </p:spPr>
        <p:txBody>
          <a:bodyPr wrap="none" lIns="19050" rIns="19050" tIns="0" bIns="0" anchor="ctr">
            <a:noAutofit/>
          </a:bodyPr>
          <a:lstStyle/>
          <a:p>
            <a:pPr algn="r"/>
            <a:r>
              <a:rPr sz="1800" b="0">
                <a:solidFill>
                  <a:srgbClr val="AFC4AA"/>
                </a:solidFill>
                <a:latin typeface="PingFang SC"/>
              </a:rPr>
              <a:t>Surviving Sepsis Campaign</a:t>
            </a:r>
          </a:p>
        </p:txBody>
      </p:sp>
      <p:sp>
        <p:nvSpPr>
          <p:cNvPr id="16" name="TextBox 15"/>
          <p:cNvSpPr txBox="1"/>
          <p:nvPr/>
        </p:nvSpPr>
        <p:spPr>
          <a:xfrm>
            <a:off x="10287000" y="5339486"/>
            <a:ext cx="0" cy="208483"/>
          </a:xfrm>
          <a:prstGeom prst="rect">
            <a:avLst/>
          </a:prstGeom>
          <a:noFill/>
          <a:ln>
            <a:noFill/>
          </a:ln>
        </p:spPr>
        <p:txBody>
          <a:bodyPr wrap="none" lIns="19050" rIns="19050" tIns="0" bIns="0" anchor="ctr">
            <a:noAutofit/>
          </a:bodyPr>
          <a:lstStyle/>
          <a:p>
            <a:pPr algn="r"/>
            <a:r>
              <a:rPr sz="1500" b="0">
                <a:solidFill>
                  <a:srgbClr val="000000"/>
                </a:solidFill>
                <a:latin typeface="PingFang SC"/>
              </a:rPr>
              <a:t>47</a:t>
            </a:r>
          </a:p>
        </p:txBody>
      </p:sp>
      <p:pic>
        <p:nvPicPr>
          <p:cNvPr id="17" name="Picture 16" descr="tmpwzydadi5.png"/>
          <p:cNvPicPr>
            <a:picLocks noChangeAspect="1"/>
          </p:cNvPicPr>
          <p:nvPr/>
        </p:nvPicPr>
        <p:blipFill>
          <a:blip r:embed="rId2"/>
          <a:stretch>
            <a:fillRect/>
          </a:stretch>
        </p:blipFill>
        <p:spPr>
          <a:xfrm>
            <a:off x="1276350" y="1895475"/>
            <a:ext cx="285750" cy="200025"/>
          </a:xfrm>
          <a:prstGeom prst="rect">
            <a:avLst/>
          </a:prstGeom>
        </p:spPr>
      </p:pic>
      <p:pic>
        <p:nvPicPr>
          <p:cNvPr id="18" name="Picture 17" descr="tmpgbmdrdja.png"/>
          <p:cNvPicPr>
            <a:picLocks noChangeAspect="1"/>
          </p:cNvPicPr>
          <p:nvPr/>
        </p:nvPicPr>
        <p:blipFill>
          <a:blip r:embed="rId3"/>
          <a:stretch>
            <a:fillRect/>
          </a:stretch>
        </p:blipFill>
        <p:spPr>
          <a:xfrm>
            <a:off x="1628775" y="1895475"/>
            <a:ext cx="285750" cy="200025"/>
          </a:xfrm>
          <a:prstGeom prst="rect">
            <a:avLst/>
          </a:prstGeom>
        </p:spPr>
      </p:pic>
      <p:pic>
        <p:nvPicPr>
          <p:cNvPr id="19" name="Picture 18" descr="tmpmmqe5_41.png"/>
          <p:cNvPicPr>
            <a:picLocks noChangeAspect="1"/>
          </p:cNvPicPr>
          <p:nvPr/>
        </p:nvPicPr>
        <p:blipFill>
          <a:blip r:embed="rId4"/>
          <a:stretch>
            <a:fillRect/>
          </a:stretch>
        </p:blipFill>
        <p:spPr>
          <a:xfrm>
            <a:off x="1971675" y="1895475"/>
            <a:ext cx="295275" cy="200025"/>
          </a:xfrm>
          <a:prstGeom prst="rect">
            <a:avLst/>
          </a:prstGeom>
        </p:spPr>
      </p:pic>
      <p:pic>
        <p:nvPicPr>
          <p:cNvPr id="20" name="Picture 19" descr="tmpwvmy7__o.png"/>
          <p:cNvPicPr>
            <a:picLocks noChangeAspect="1"/>
          </p:cNvPicPr>
          <p:nvPr/>
        </p:nvPicPr>
        <p:blipFill>
          <a:blip r:embed="rId5"/>
          <a:stretch>
            <a:fillRect/>
          </a:stretch>
        </p:blipFill>
        <p:spPr>
          <a:xfrm>
            <a:off x="2324100" y="1895475"/>
            <a:ext cx="285750" cy="200025"/>
          </a:xfrm>
          <a:prstGeom prst="rect">
            <a:avLst/>
          </a:prstGeom>
        </p:spPr>
      </p:pic>
      <p:pic>
        <p:nvPicPr>
          <p:cNvPr id="21" name="Picture 20" descr="tmph40kdup0.png"/>
          <p:cNvPicPr>
            <a:picLocks noChangeAspect="1"/>
          </p:cNvPicPr>
          <p:nvPr/>
        </p:nvPicPr>
        <p:blipFill>
          <a:blip r:embed="rId6"/>
          <a:stretch>
            <a:fillRect/>
          </a:stretch>
        </p:blipFill>
        <p:spPr>
          <a:xfrm>
            <a:off x="2676525" y="1895475"/>
            <a:ext cx="285750" cy="200025"/>
          </a:xfrm>
          <a:prstGeom prst="rect">
            <a:avLst/>
          </a:prstGeom>
        </p:spPr>
      </p:pic>
      <p:pic>
        <p:nvPicPr>
          <p:cNvPr id="22" name="Picture 21" descr="tmpj5e8reqj.png"/>
          <p:cNvPicPr>
            <a:picLocks noChangeAspect="1"/>
          </p:cNvPicPr>
          <p:nvPr/>
        </p:nvPicPr>
        <p:blipFill>
          <a:blip r:embed="rId7"/>
          <a:stretch>
            <a:fillRect/>
          </a:stretch>
        </p:blipFill>
        <p:spPr>
          <a:xfrm>
            <a:off x="1276350" y="2524125"/>
            <a:ext cx="285750" cy="200025"/>
          </a:xfrm>
          <a:prstGeom prst="rect">
            <a:avLst/>
          </a:prstGeom>
        </p:spPr>
      </p:pic>
      <p:pic>
        <p:nvPicPr>
          <p:cNvPr id="23" name="Picture 22" descr="tmprg579_i1.png"/>
          <p:cNvPicPr>
            <a:picLocks noChangeAspect="1"/>
          </p:cNvPicPr>
          <p:nvPr/>
        </p:nvPicPr>
        <p:blipFill>
          <a:blip r:embed="rId8"/>
          <a:stretch>
            <a:fillRect/>
          </a:stretch>
        </p:blipFill>
        <p:spPr>
          <a:xfrm>
            <a:off x="1628775" y="2524125"/>
            <a:ext cx="285750" cy="200025"/>
          </a:xfrm>
          <a:prstGeom prst="rect">
            <a:avLst/>
          </a:prstGeom>
        </p:spPr>
      </p:pic>
      <p:pic>
        <p:nvPicPr>
          <p:cNvPr id="24" name="Picture 23" descr="tmphfzxoz_v.png"/>
          <p:cNvPicPr>
            <a:picLocks noChangeAspect="1"/>
          </p:cNvPicPr>
          <p:nvPr/>
        </p:nvPicPr>
        <p:blipFill>
          <a:blip r:embed="rId9"/>
          <a:stretch>
            <a:fillRect/>
          </a:stretch>
        </p:blipFill>
        <p:spPr>
          <a:xfrm>
            <a:off x="1971675" y="2524125"/>
            <a:ext cx="295275" cy="200025"/>
          </a:xfrm>
          <a:prstGeom prst="rect">
            <a:avLst/>
          </a:prstGeom>
        </p:spPr>
      </p:pic>
      <p:pic>
        <p:nvPicPr>
          <p:cNvPr id="25" name="Picture 24" descr="tmpp7_qdymp.png"/>
          <p:cNvPicPr>
            <a:picLocks noChangeAspect="1"/>
          </p:cNvPicPr>
          <p:nvPr/>
        </p:nvPicPr>
        <p:blipFill>
          <a:blip r:embed="rId10"/>
          <a:stretch>
            <a:fillRect/>
          </a:stretch>
        </p:blipFill>
        <p:spPr>
          <a:xfrm>
            <a:off x="2324100" y="2524125"/>
            <a:ext cx="285750" cy="200025"/>
          </a:xfrm>
          <a:prstGeom prst="rect">
            <a:avLst/>
          </a:prstGeom>
        </p:spPr>
      </p:pic>
      <p:pic>
        <p:nvPicPr>
          <p:cNvPr id="26" name="Picture 25" descr="tmp6fsix43w.png"/>
          <p:cNvPicPr>
            <a:picLocks noChangeAspect="1"/>
          </p:cNvPicPr>
          <p:nvPr/>
        </p:nvPicPr>
        <p:blipFill>
          <a:blip r:embed="rId11"/>
          <a:stretch>
            <a:fillRect/>
          </a:stretch>
        </p:blipFill>
        <p:spPr>
          <a:xfrm>
            <a:off x="2676525" y="2524125"/>
            <a:ext cx="285750" cy="200025"/>
          </a:xfrm>
          <a:prstGeom prst="rect">
            <a:avLst/>
          </a:prstGeom>
        </p:spPr>
      </p:pic>
      <p:pic>
        <p:nvPicPr>
          <p:cNvPr id="27" name="Picture 26" descr="tmp0lf8wh27.png"/>
          <p:cNvPicPr>
            <a:picLocks noChangeAspect="1"/>
          </p:cNvPicPr>
          <p:nvPr/>
        </p:nvPicPr>
        <p:blipFill>
          <a:blip r:embed="rId12"/>
          <a:stretch>
            <a:fillRect/>
          </a:stretch>
        </p:blipFill>
        <p:spPr>
          <a:xfrm>
            <a:off x="1276350" y="3771900"/>
            <a:ext cx="285750" cy="200025"/>
          </a:xfrm>
          <a:prstGeom prst="rect">
            <a:avLst/>
          </a:prstGeom>
        </p:spPr>
      </p:pic>
      <p:pic>
        <p:nvPicPr>
          <p:cNvPr id="28" name="Picture 27" descr="tmpsk0utgt9.png"/>
          <p:cNvPicPr>
            <a:picLocks noChangeAspect="1"/>
          </p:cNvPicPr>
          <p:nvPr/>
        </p:nvPicPr>
        <p:blipFill>
          <a:blip r:embed="rId13"/>
          <a:stretch>
            <a:fillRect/>
          </a:stretch>
        </p:blipFill>
        <p:spPr>
          <a:xfrm>
            <a:off x="1628775" y="3771900"/>
            <a:ext cx="285750" cy="200025"/>
          </a:xfrm>
          <a:prstGeom prst="rect">
            <a:avLst/>
          </a:prstGeom>
        </p:spPr>
      </p:pic>
      <p:pic>
        <p:nvPicPr>
          <p:cNvPr id="29" name="Picture 28" descr="tmpw6p60wgl.png"/>
          <p:cNvPicPr>
            <a:picLocks noChangeAspect="1"/>
          </p:cNvPicPr>
          <p:nvPr/>
        </p:nvPicPr>
        <p:blipFill>
          <a:blip r:embed="rId14"/>
          <a:stretch>
            <a:fillRect/>
          </a:stretch>
        </p:blipFill>
        <p:spPr>
          <a:xfrm>
            <a:off x="1971675" y="3771900"/>
            <a:ext cx="295275" cy="200025"/>
          </a:xfrm>
          <a:prstGeom prst="rect">
            <a:avLst/>
          </a:prstGeom>
        </p:spPr>
      </p:pic>
      <p:pic>
        <p:nvPicPr>
          <p:cNvPr id="30" name="Picture 29" descr="tmptkxqpjuw.png"/>
          <p:cNvPicPr>
            <a:picLocks noChangeAspect="1"/>
          </p:cNvPicPr>
          <p:nvPr/>
        </p:nvPicPr>
        <p:blipFill>
          <a:blip r:embed="rId15"/>
          <a:stretch>
            <a:fillRect/>
          </a:stretch>
        </p:blipFill>
        <p:spPr>
          <a:xfrm>
            <a:off x="2324100" y="3771900"/>
            <a:ext cx="285750" cy="200025"/>
          </a:xfrm>
          <a:prstGeom prst="rect">
            <a:avLst/>
          </a:prstGeom>
        </p:spPr>
      </p:pic>
      <p:pic>
        <p:nvPicPr>
          <p:cNvPr id="31" name="Picture 30" descr="tmpcyiv6x3u.png"/>
          <p:cNvPicPr>
            <a:picLocks noChangeAspect="1"/>
          </p:cNvPicPr>
          <p:nvPr/>
        </p:nvPicPr>
        <p:blipFill>
          <a:blip r:embed="rId16"/>
          <a:stretch>
            <a:fillRect/>
          </a:stretch>
        </p:blipFill>
        <p:spPr>
          <a:xfrm>
            <a:off x="2676525" y="3771900"/>
            <a:ext cx="285750" cy="200025"/>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d8n3x0sx.png"/>
          <p:cNvPicPr>
            <a:picLocks noChangeAspect="1"/>
          </p:cNvPicPr>
          <p:nvPr/>
        </p:nvPicPr>
        <p:blipFill>
          <a:blip r:embed="rId2"/>
          <a:stretch>
            <a:fillRect/>
          </a:stretch>
        </p:blipFill>
        <p:spPr>
          <a:xfrm>
            <a:off x="1724025" y="4933950"/>
            <a:ext cx="247650" cy="171450"/>
          </a:xfrm>
          <a:prstGeom prst="rect">
            <a:avLst/>
          </a:prstGeom>
        </p:spPr>
      </p:pic>
      <p:sp>
        <p:nvSpPr>
          <p:cNvPr id="4" name="Rounded Rectangle 3"/>
          <p:cNvSpPr/>
          <p:nvPr/>
        </p:nvSpPr>
        <p:spPr>
          <a:xfrm>
            <a:off x="555498" y="967130"/>
            <a:ext cx="9176003" cy="1337767"/>
          </a:xfrm>
          <a:prstGeom prst="roundRect">
            <a:avLst>
              <a:gd name="adj" fmla="val 6000"/>
            </a:avLst>
          </a:prstGeom>
          <a:solidFill>
            <a:srgbClr val="FDFEFE"/>
          </a:solidFill>
          <a:ln w="11430">
            <a:solidFill>
              <a:srgbClr val="1A53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6933" y="388010"/>
            <a:ext cx="5092065" cy="301142"/>
          </a:xfrm>
          <a:prstGeom prst="rect">
            <a:avLst/>
          </a:prstGeom>
          <a:noFill/>
          <a:ln>
            <a:noFill/>
          </a:ln>
        </p:spPr>
        <p:txBody>
          <a:bodyPr wrap="none" lIns="19050" rIns="19050" tIns="0" bIns="0" anchor="ctr">
            <a:noAutofit/>
          </a:bodyPr>
          <a:lstStyle/>
          <a:p>
            <a:pPr algn="l"/>
            <a:r>
              <a:rPr sz="2700" b="1">
                <a:solidFill>
                  <a:srgbClr val="3B4F92"/>
                </a:solidFill>
                <a:latin typeface="PingFang SC"/>
              </a:rPr>
              <a:t>静脉-静脉ECMO</a:t>
            </a:r>
          </a:p>
        </p:txBody>
      </p:sp>
      <p:sp>
        <p:nvSpPr>
          <p:cNvPr id="6" name="TextBox 5"/>
          <p:cNvSpPr txBox="1"/>
          <p:nvPr/>
        </p:nvSpPr>
        <p:spPr>
          <a:xfrm>
            <a:off x="925830" y="1268272"/>
            <a:ext cx="7735824" cy="364845"/>
          </a:xfrm>
          <a:prstGeom prst="rect">
            <a:avLst/>
          </a:prstGeom>
          <a:noFill/>
          <a:ln>
            <a:noFill/>
          </a:ln>
        </p:spPr>
        <p:txBody>
          <a:bodyPr wrap="square" lIns="19050" rIns="19050" tIns="0" bIns="0" anchor="t">
            <a:normAutofit/>
          </a:bodyPr>
          <a:lstStyle/>
          <a:p>
            <a:pPr algn="l"/>
            <a:r>
              <a:rPr sz="1180" b="0">
                <a:solidFill>
                  <a:srgbClr val="848B8A"/>
                </a:solidFill>
                <a:latin typeface="PingFang SC"/>
              </a:rPr>
              <a:t>78. 对于因脓毒症导致严重急性呼吸窘迫综合征（ARDS）的成人患者，我们“建议”在具备支持使用体外膜肺氧合（ECMO）基础设施的有经验的中心，当常规机械通气失败时采用静脉-静脉ECMO。</a:t>
            </a:r>
          </a:p>
        </p:txBody>
      </p:sp>
      <p:sp>
        <p:nvSpPr>
          <p:cNvPr id="7" name="TextBox 6"/>
          <p:cNvSpPr txBox="1"/>
          <p:nvPr/>
        </p:nvSpPr>
        <p:spPr>
          <a:xfrm>
            <a:off x="8970264" y="1268272"/>
            <a:ext cx="905256" cy="173736"/>
          </a:xfrm>
          <a:prstGeom prst="rect">
            <a:avLst/>
          </a:prstGeom>
          <a:noFill/>
          <a:ln>
            <a:noFill/>
          </a:ln>
        </p:spPr>
        <p:txBody>
          <a:bodyPr wrap="none" lIns="19050" rIns="19050" tIns="0" bIns="0" anchor="ctr">
            <a:noAutofit/>
          </a:bodyPr>
          <a:lstStyle/>
          <a:p>
            <a:pPr algn="r"/>
            <a:r>
              <a:rPr sz="1650" b="1">
                <a:solidFill>
                  <a:srgbClr val="73A162"/>
                </a:solidFill>
                <a:latin typeface="PingFang SC"/>
              </a:rPr>
              <a:t>沿用</a:t>
            </a:r>
          </a:p>
        </p:txBody>
      </p:sp>
      <p:sp>
        <p:nvSpPr>
          <p:cNvPr id="8" name="TextBox 7"/>
          <p:cNvSpPr txBox="1"/>
          <p:nvPr/>
        </p:nvSpPr>
        <p:spPr>
          <a:xfrm>
            <a:off x="555498" y="4934102"/>
            <a:ext cx="2444191" cy="266395"/>
          </a:xfrm>
          <a:prstGeom prst="rect">
            <a:avLst/>
          </a:prstGeom>
          <a:noFill/>
          <a:ln>
            <a:noFill/>
          </a:ln>
        </p:spPr>
        <p:txBody>
          <a:bodyPr wrap="none" lIns="19050" rIns="19050" tIns="0" bIns="0" anchor="ctr">
            <a:noAutofit/>
          </a:bodyPr>
          <a:lstStyle/>
          <a:p>
            <a:pPr algn="l"/>
            <a:r>
              <a:rPr sz="900" b="0">
                <a:solidFill>
                  <a:srgbClr val="979796"/>
                </a:solidFill>
                <a:latin typeface="PingFang SC"/>
              </a:rPr>
              <a:t>Society of</a:t>
            </a:r>
          </a:p>
          <a:p>
            <a:pPr algn="l"/>
            <a:r>
              <a:rPr sz="900" b="0">
                <a:solidFill>
                  <a:srgbClr val="979796"/>
                </a:solidFill>
                <a:latin typeface="PingFang SC"/>
              </a:rPr>
              <a:t>Critical Care Medicine</a:t>
            </a:r>
          </a:p>
          <a:p>
            <a:pPr algn="l"/>
            <a:r>
              <a:rPr sz="900" b="0">
                <a:solidFill>
                  <a:srgbClr val="979796"/>
                </a:solidFill>
                <a:latin typeface="PingFang SC"/>
              </a:rPr>
              <a:t>The Intensive Care Professionals</a:t>
            </a:r>
          </a:p>
        </p:txBody>
      </p:sp>
      <p:sp>
        <p:nvSpPr>
          <p:cNvPr id="9" name="TextBox 8"/>
          <p:cNvSpPr txBox="1"/>
          <p:nvPr/>
        </p:nvSpPr>
        <p:spPr>
          <a:xfrm>
            <a:off x="1769364" y="4934102"/>
            <a:ext cx="2036826" cy="266395"/>
          </a:xfrm>
          <a:prstGeom prst="rect">
            <a:avLst/>
          </a:prstGeom>
          <a:noFill/>
          <a:ln>
            <a:noFill/>
          </a:ln>
        </p:spPr>
        <p:txBody>
          <a:bodyPr wrap="none" lIns="19050" rIns="19050" tIns="0" bIns="0" anchor="ctr">
            <a:noAutofit/>
          </a:bodyPr>
          <a:lstStyle/>
          <a:p>
            <a:pPr algn="l"/>
            <a:r>
              <a:rPr sz="900" b="0">
                <a:solidFill>
                  <a:srgbClr val="7C5FB5"/>
                </a:solidFill>
                <a:latin typeface="PingFang SC"/>
              </a:rPr>
              <a:t>esicm</a:t>
            </a:r>
          </a:p>
          <a:p>
            <a:pPr algn="l"/>
            <a:r>
              <a:rPr sz="900" b="0">
                <a:solidFill>
                  <a:srgbClr val="7C5FB5"/>
                </a:solidFill>
                <a:latin typeface="PingFang SC"/>
              </a:rPr>
              <a:t>European Society of</a:t>
            </a:r>
          </a:p>
          <a:p>
            <a:pPr algn="l"/>
            <a:r>
              <a:rPr sz="900" b="0">
                <a:solidFill>
                  <a:srgbClr val="7C5FB5"/>
                </a:solidFill>
                <a:latin typeface="PingFang SC"/>
              </a:rPr>
              <a:t>Intensive Care Medicine</a:t>
            </a:r>
          </a:p>
        </p:txBody>
      </p:sp>
      <p:sp>
        <p:nvSpPr>
          <p:cNvPr id="10" name="TextBox 9"/>
          <p:cNvSpPr txBox="1"/>
          <p:nvPr/>
        </p:nvSpPr>
        <p:spPr>
          <a:xfrm>
            <a:off x="555498" y="5455310"/>
            <a:ext cx="2217877" cy="115823"/>
          </a:xfrm>
          <a:prstGeom prst="rect">
            <a:avLst/>
          </a:prstGeom>
          <a:noFill/>
          <a:ln>
            <a:noFill/>
          </a:ln>
        </p:spPr>
        <p:txBody>
          <a:bodyPr wrap="none" lIns="19050" rIns="19050" tIns="0" bIns="0" anchor="ctr">
            <a:noAutofit/>
          </a:bodyPr>
          <a:lstStyle/>
          <a:p>
            <a:pPr algn="l"/>
            <a:r>
              <a:rPr sz="1050" b="0">
                <a:solidFill>
                  <a:srgbClr val="CAE1E1"/>
                </a:solidFill>
                <a:latin typeface="PingFang SC"/>
              </a:rPr>
              <a:t>公众号·指南导航</a:t>
            </a:r>
          </a:p>
        </p:txBody>
      </p:sp>
      <p:sp>
        <p:nvSpPr>
          <p:cNvPr id="11" name="TextBox 10"/>
          <p:cNvSpPr txBox="1"/>
          <p:nvPr/>
        </p:nvSpPr>
        <p:spPr>
          <a:xfrm>
            <a:off x="8322183" y="173735"/>
            <a:ext cx="3915232" cy="428548"/>
          </a:xfrm>
          <a:prstGeom prst="rect">
            <a:avLst/>
          </a:prstGeom>
          <a:noFill/>
          <a:ln>
            <a:noFill/>
          </a:ln>
        </p:spPr>
        <p:txBody>
          <a:bodyPr wrap="none" lIns="19050" rIns="19050" tIns="0" bIns="0" anchor="ctr">
            <a:noAutofit/>
          </a:bodyPr>
          <a:lstStyle/>
          <a:p>
            <a:pPr algn="r"/>
            <a:r>
              <a:rPr sz="1500" b="0">
                <a:solidFill>
                  <a:srgbClr val="AFC2AA"/>
                </a:solidFill>
                <a:latin typeface="PingFang SC"/>
              </a:rPr>
              <a:t>Surviving Sepsis</a:t>
            </a:r>
          </a:p>
          <a:p>
            <a:pPr algn="r"/>
            <a:r>
              <a:rPr sz="1500" b="0">
                <a:solidFill>
                  <a:srgbClr val="AFC2AA"/>
                </a:solidFill>
                <a:latin typeface="PingFang SC"/>
              </a:rPr>
              <a:t>Campaign</a:t>
            </a:r>
          </a:p>
        </p:txBody>
      </p:sp>
      <p:sp>
        <p:nvSpPr>
          <p:cNvPr id="12" name="TextBox 11"/>
          <p:cNvSpPr txBox="1"/>
          <p:nvPr/>
        </p:nvSpPr>
        <p:spPr>
          <a:xfrm>
            <a:off x="10287000" y="5339486"/>
            <a:ext cx="0" cy="231647"/>
          </a:xfrm>
          <a:prstGeom prst="rect">
            <a:avLst/>
          </a:prstGeom>
          <a:noFill/>
          <a:ln>
            <a:noFill/>
          </a:ln>
        </p:spPr>
        <p:txBody>
          <a:bodyPr wrap="none" lIns="19050" rIns="19050" tIns="0" bIns="0" anchor="ctr">
            <a:noAutofit/>
          </a:bodyPr>
          <a:lstStyle/>
          <a:p>
            <a:pPr algn="r"/>
            <a:r>
              <a:rPr sz="1350" b="0">
                <a:solidFill>
                  <a:srgbClr val="000000"/>
                </a:solidFill>
                <a:latin typeface="PingFang SC"/>
              </a:rPr>
              <a:t>48</a:t>
            </a:r>
          </a:p>
        </p:txBody>
      </p:sp>
      <p:pic>
        <p:nvPicPr>
          <p:cNvPr id="13" name="Picture 12" descr="tmpc6ty8qmr.png"/>
          <p:cNvPicPr>
            <a:picLocks noChangeAspect="1"/>
          </p:cNvPicPr>
          <p:nvPr/>
        </p:nvPicPr>
        <p:blipFill>
          <a:blip r:embed="rId3"/>
          <a:stretch>
            <a:fillRect/>
          </a:stretch>
        </p:blipFill>
        <p:spPr>
          <a:xfrm>
            <a:off x="1190625" y="1876425"/>
            <a:ext cx="228600" cy="200025"/>
          </a:xfrm>
          <a:prstGeom prst="rect">
            <a:avLst/>
          </a:prstGeom>
        </p:spPr>
      </p:pic>
      <p:pic>
        <p:nvPicPr>
          <p:cNvPr id="14" name="Picture 13" descr="tmpay5glp8u.png"/>
          <p:cNvPicPr>
            <a:picLocks noChangeAspect="1"/>
          </p:cNvPicPr>
          <p:nvPr/>
        </p:nvPicPr>
        <p:blipFill>
          <a:blip r:embed="rId4"/>
          <a:stretch>
            <a:fillRect/>
          </a:stretch>
        </p:blipFill>
        <p:spPr>
          <a:xfrm>
            <a:off x="1504950" y="1876425"/>
            <a:ext cx="219075" cy="200025"/>
          </a:xfrm>
          <a:prstGeom prst="rect">
            <a:avLst/>
          </a:prstGeom>
        </p:spPr>
      </p:pic>
      <p:pic>
        <p:nvPicPr>
          <p:cNvPr id="15" name="Picture 14" descr="tmpqgcqp9dz.png"/>
          <p:cNvPicPr>
            <a:picLocks noChangeAspect="1"/>
          </p:cNvPicPr>
          <p:nvPr/>
        </p:nvPicPr>
        <p:blipFill>
          <a:blip r:embed="rId5"/>
          <a:stretch>
            <a:fillRect/>
          </a:stretch>
        </p:blipFill>
        <p:spPr>
          <a:xfrm>
            <a:off x="1809750" y="1876425"/>
            <a:ext cx="228600" cy="200025"/>
          </a:xfrm>
          <a:prstGeom prst="rect">
            <a:avLst/>
          </a:prstGeom>
        </p:spPr>
      </p:pic>
      <p:pic>
        <p:nvPicPr>
          <p:cNvPr id="16" name="Picture 15" descr="tmpc3flt2e0.png"/>
          <p:cNvPicPr>
            <a:picLocks noChangeAspect="1"/>
          </p:cNvPicPr>
          <p:nvPr/>
        </p:nvPicPr>
        <p:blipFill>
          <a:blip r:embed="rId6"/>
          <a:stretch>
            <a:fillRect/>
          </a:stretch>
        </p:blipFill>
        <p:spPr>
          <a:xfrm>
            <a:off x="2114550" y="1876425"/>
            <a:ext cx="228600" cy="200025"/>
          </a:xfrm>
          <a:prstGeom prst="rect">
            <a:avLst/>
          </a:prstGeom>
        </p:spPr>
      </p:pic>
      <p:pic>
        <p:nvPicPr>
          <p:cNvPr id="17" name="Picture 16" descr="tmp9_kjr8w4.png"/>
          <p:cNvPicPr>
            <a:picLocks noChangeAspect="1"/>
          </p:cNvPicPr>
          <p:nvPr/>
        </p:nvPicPr>
        <p:blipFill>
          <a:blip r:embed="rId7"/>
          <a:stretch>
            <a:fillRect/>
          </a:stretch>
        </p:blipFill>
        <p:spPr>
          <a:xfrm>
            <a:off x="2428875" y="1876425"/>
            <a:ext cx="228600" cy="200025"/>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rn3q6ym8.png"/>
          <p:cNvPicPr>
            <a:picLocks noChangeAspect="1"/>
          </p:cNvPicPr>
          <p:nvPr/>
        </p:nvPicPr>
        <p:blipFill>
          <a:blip r:embed="rId2"/>
          <a:stretch>
            <a:fillRect/>
          </a:stretch>
        </p:blipFill>
        <p:spPr>
          <a:xfrm>
            <a:off x="533400" y="4924425"/>
            <a:ext cx="1095375" cy="323850"/>
          </a:xfrm>
          <a:prstGeom prst="rect">
            <a:avLst/>
          </a:prstGeom>
        </p:spPr>
      </p:pic>
      <p:pic>
        <p:nvPicPr>
          <p:cNvPr id="4" name="Picture 3" descr="tmpbe_lqzs_.png"/>
          <p:cNvPicPr>
            <a:picLocks noChangeAspect="1"/>
          </p:cNvPicPr>
          <p:nvPr/>
        </p:nvPicPr>
        <p:blipFill>
          <a:blip r:embed="rId3"/>
          <a:stretch>
            <a:fillRect/>
          </a:stretch>
        </p:blipFill>
        <p:spPr>
          <a:xfrm>
            <a:off x="1666875" y="4924425"/>
            <a:ext cx="990600" cy="323850"/>
          </a:xfrm>
          <a:prstGeom prst="rect">
            <a:avLst/>
          </a:prstGeom>
        </p:spPr>
      </p:pic>
      <p:sp>
        <p:nvSpPr>
          <p:cNvPr id="5" name="Rectangle 4"/>
          <p:cNvSpPr/>
          <p:nvPr/>
        </p:nvSpPr>
        <p:spPr>
          <a:xfrm>
            <a:off x="3909060" y="1772107"/>
            <a:ext cx="1717929" cy="57912"/>
          </a:xfrm>
          <a:prstGeom prst="rect">
            <a:avLst/>
          </a:prstGeom>
          <a:solidFill>
            <a:srgbClr val="ECF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41823" y="3932224"/>
            <a:ext cx="1615059" cy="57911"/>
          </a:xfrm>
          <a:prstGeom prst="rect">
            <a:avLst/>
          </a:prstGeom>
          <a:solidFill>
            <a:srgbClr val="95CC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933956" y="2443886"/>
            <a:ext cx="2942082" cy="799185"/>
          </a:xfrm>
          <a:prstGeom prst="rect">
            <a:avLst/>
          </a:prstGeom>
          <a:noFill/>
          <a:ln>
            <a:noFill/>
          </a:ln>
        </p:spPr>
        <p:txBody>
          <a:bodyPr wrap="none" lIns="19050" rIns="19050" tIns="0" bIns="0" anchor="ctr">
            <a:noAutofit/>
          </a:bodyPr>
          <a:lstStyle/>
          <a:p>
            <a:pPr algn="l"/>
            <a:r>
              <a:rPr sz="8100" b="1">
                <a:solidFill>
                  <a:srgbClr val="139ED3"/>
                </a:solidFill>
                <a:latin typeface="PingFang SC"/>
              </a:rPr>
              <a:t>05</a:t>
            </a:r>
          </a:p>
        </p:txBody>
      </p:sp>
      <p:sp>
        <p:nvSpPr>
          <p:cNvPr id="8" name="TextBox 7"/>
          <p:cNvSpPr txBox="1"/>
          <p:nvPr/>
        </p:nvSpPr>
        <p:spPr>
          <a:xfrm>
            <a:off x="3909060" y="2443886"/>
            <a:ext cx="7106793" cy="486460"/>
          </a:xfrm>
          <a:prstGeom prst="rect">
            <a:avLst/>
          </a:prstGeom>
          <a:noFill/>
          <a:ln>
            <a:noFill/>
          </a:ln>
        </p:spPr>
        <p:txBody>
          <a:bodyPr wrap="none" lIns="19050" rIns="19050" tIns="0" bIns="0" anchor="ctr">
            <a:noAutofit/>
          </a:bodyPr>
          <a:lstStyle/>
          <a:p>
            <a:pPr algn="l"/>
            <a:r>
              <a:rPr sz="4800" b="1">
                <a:solidFill>
                  <a:srgbClr val="364554"/>
                </a:solidFill>
                <a:latin typeface="PingFang SC"/>
              </a:rPr>
              <a:t>辅助/附加治疗</a:t>
            </a:r>
          </a:p>
        </p:txBody>
      </p:sp>
      <p:sp>
        <p:nvSpPr>
          <p:cNvPr id="9" name="TextBox 8"/>
          <p:cNvSpPr txBox="1"/>
          <p:nvPr/>
        </p:nvSpPr>
        <p:spPr>
          <a:xfrm>
            <a:off x="3909060" y="3080918"/>
            <a:ext cx="8012049" cy="185318"/>
          </a:xfrm>
          <a:prstGeom prst="rect">
            <a:avLst/>
          </a:prstGeom>
          <a:noFill/>
          <a:ln>
            <a:noFill/>
          </a:ln>
        </p:spPr>
        <p:txBody>
          <a:bodyPr wrap="none" lIns="19050" rIns="19050" tIns="0" bIns="0" anchor="ctr">
            <a:noAutofit/>
          </a:bodyPr>
          <a:lstStyle/>
          <a:p>
            <a:pPr algn="l"/>
            <a:r>
              <a:rPr sz="1800" b="0">
                <a:solidFill>
                  <a:srgbClr val="5F676A"/>
                </a:solidFill>
                <a:latin typeface="PingFang SC"/>
              </a:rPr>
              <a:t>Adjuunctive therapies for the management of sepsis</a:t>
            </a:r>
          </a:p>
        </p:txBody>
      </p:sp>
      <p:sp>
        <p:nvSpPr>
          <p:cNvPr id="10" name="TextBox 9"/>
          <p:cNvSpPr txBox="1"/>
          <p:nvPr/>
        </p:nvSpPr>
        <p:spPr>
          <a:xfrm>
            <a:off x="8301609" y="162153"/>
            <a:ext cx="3960494" cy="451713"/>
          </a:xfrm>
          <a:prstGeom prst="rect">
            <a:avLst/>
          </a:prstGeom>
          <a:noFill/>
          <a:ln>
            <a:noFill/>
          </a:ln>
        </p:spPr>
        <p:txBody>
          <a:bodyPr wrap="none" lIns="19050" rIns="19050" tIns="0" bIns="0" anchor="ctr">
            <a:noAutofit/>
          </a:bodyPr>
          <a:lstStyle/>
          <a:p>
            <a:pPr algn="r"/>
            <a:r>
              <a:rPr sz="1800" b="0">
                <a:solidFill>
                  <a:srgbClr val="AFC3A8"/>
                </a:solidFill>
                <a:latin typeface="PingFang SC"/>
              </a:rPr>
              <a:t>Surviving Sepsis Campaign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8pajocr1.png"/>
          <p:cNvPicPr>
            <a:picLocks noChangeAspect="1"/>
          </p:cNvPicPr>
          <p:nvPr/>
        </p:nvPicPr>
        <p:blipFill>
          <a:blip r:embed="rId2"/>
          <a:stretch>
            <a:fillRect/>
          </a:stretch>
        </p:blipFill>
        <p:spPr>
          <a:xfrm>
            <a:off x="1771650" y="5076825"/>
            <a:ext cx="1028700" cy="104775"/>
          </a:xfrm>
          <a:prstGeom prst="rect">
            <a:avLst/>
          </a:prstGeom>
        </p:spPr>
      </p:pic>
      <p:sp>
        <p:nvSpPr>
          <p:cNvPr id="4" name="Rounded Rectangle 3"/>
          <p:cNvSpPr/>
          <p:nvPr/>
        </p:nvSpPr>
        <p:spPr>
          <a:xfrm>
            <a:off x="534924" y="967130"/>
            <a:ext cx="9186291" cy="1106119"/>
          </a:xfrm>
          <a:prstGeom prst="roundRect">
            <a:avLst>
              <a:gd name="adj" fmla="val 6000"/>
            </a:avLst>
          </a:prstGeom>
          <a:solidFill>
            <a:srgbClr val="FEFEFE"/>
          </a:solidFill>
          <a:ln w="11430">
            <a:solidFill>
              <a:srgbClr val="13589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34924" y="2125370"/>
            <a:ext cx="9186291" cy="1001877"/>
          </a:xfrm>
          <a:prstGeom prst="rect">
            <a:avLst/>
          </a:prstGeom>
          <a:solidFill>
            <a:srgbClr val="ED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34924" y="3150412"/>
            <a:ext cx="9186291" cy="1899513"/>
          </a:xfrm>
          <a:prstGeom prst="rect">
            <a:avLst/>
          </a:prstGeom>
          <a:solidFill>
            <a:srgbClr val="F1FEFE"/>
          </a:solidFill>
          <a:ln w="11430">
            <a:solidFill>
              <a:srgbClr val="A5C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6646" y="376428"/>
            <a:ext cx="6246266" cy="312724"/>
          </a:xfrm>
          <a:prstGeom prst="rect">
            <a:avLst/>
          </a:prstGeom>
          <a:noFill/>
          <a:ln>
            <a:noFill/>
          </a:ln>
        </p:spPr>
        <p:txBody>
          <a:bodyPr wrap="none" lIns="19050" rIns="19050" tIns="0" bIns="0" anchor="ctr">
            <a:noAutofit/>
          </a:bodyPr>
          <a:lstStyle/>
          <a:p>
            <a:pPr algn="l"/>
            <a:r>
              <a:rPr sz="2700" b="1">
                <a:solidFill>
                  <a:srgbClr val="3F5190"/>
                </a:solidFill>
                <a:latin typeface="PingFang SC"/>
              </a:rPr>
              <a:t>静脉注射皮质类固醇</a:t>
            </a:r>
          </a:p>
        </p:txBody>
      </p:sp>
      <p:sp>
        <p:nvSpPr>
          <p:cNvPr id="8" name="TextBox 7"/>
          <p:cNvSpPr txBox="1"/>
          <p:nvPr/>
        </p:nvSpPr>
        <p:spPr>
          <a:xfrm>
            <a:off x="699516" y="1239316"/>
            <a:ext cx="7962138" cy="191109"/>
          </a:xfrm>
          <a:prstGeom prst="rect">
            <a:avLst/>
          </a:prstGeom>
          <a:noFill/>
          <a:ln>
            <a:noFill/>
          </a:ln>
        </p:spPr>
        <p:txBody>
          <a:bodyPr wrap="square" lIns="19050" rIns="19050" tIns="0" bIns="0" anchor="t">
            <a:normAutofit/>
          </a:bodyPr>
          <a:lstStyle/>
          <a:p>
            <a:pPr algn="l"/>
            <a:r>
              <a:rPr sz="1410" b="0">
                <a:solidFill>
                  <a:srgbClr val="88908B"/>
                </a:solidFill>
                <a:latin typeface="PingFang SC"/>
              </a:rPr>
              <a:t>79. 对于患有感染性休克的成年人，我们 “建议” 使用静脉注射皮质类固醇。</a:t>
            </a:r>
          </a:p>
        </p:txBody>
      </p:sp>
      <p:sp>
        <p:nvSpPr>
          <p:cNvPr id="9" name="TextBox 8"/>
          <p:cNvSpPr txBox="1"/>
          <p:nvPr/>
        </p:nvSpPr>
        <p:spPr>
          <a:xfrm>
            <a:off x="8970264" y="1239316"/>
            <a:ext cx="1041044" cy="191109"/>
          </a:xfrm>
          <a:prstGeom prst="rect">
            <a:avLst/>
          </a:prstGeom>
          <a:noFill/>
          <a:ln>
            <a:noFill/>
          </a:ln>
        </p:spPr>
        <p:txBody>
          <a:bodyPr wrap="none" lIns="19050" rIns="19050" tIns="0" bIns="0" anchor="ctr">
            <a:noAutofit/>
          </a:bodyPr>
          <a:lstStyle/>
          <a:p>
            <a:pPr algn="r"/>
            <a:r>
              <a:rPr sz="1500" b="1">
                <a:solidFill>
                  <a:srgbClr val="88B278"/>
                </a:solidFill>
                <a:latin typeface="PingFang SC"/>
              </a:rPr>
              <a:t>修订</a:t>
            </a:r>
          </a:p>
        </p:txBody>
      </p:sp>
      <p:sp>
        <p:nvSpPr>
          <p:cNvPr id="10" name="TextBox 9"/>
          <p:cNvSpPr txBox="1"/>
          <p:nvPr/>
        </p:nvSpPr>
        <p:spPr>
          <a:xfrm>
            <a:off x="699516" y="2183282"/>
            <a:ext cx="3032607" cy="144780"/>
          </a:xfrm>
          <a:prstGeom prst="rect">
            <a:avLst/>
          </a:prstGeom>
          <a:noFill/>
          <a:ln>
            <a:noFill/>
          </a:ln>
        </p:spPr>
        <p:txBody>
          <a:bodyPr wrap="none" lIns="19050" rIns="19050" tIns="0" bIns="0" anchor="ctr">
            <a:noAutofit/>
          </a:bodyPr>
          <a:lstStyle/>
          <a:p>
            <a:pPr algn="l"/>
            <a:r>
              <a:rPr sz="1350" b="1">
                <a:solidFill>
                  <a:srgbClr val="72A7B7"/>
                </a:solidFill>
                <a:latin typeface="PingFang SC"/>
              </a:rPr>
              <a:t>2021年声明（79）</a:t>
            </a:r>
          </a:p>
        </p:txBody>
      </p:sp>
      <p:sp>
        <p:nvSpPr>
          <p:cNvPr id="11" name="TextBox 10"/>
          <p:cNvSpPr txBox="1"/>
          <p:nvPr/>
        </p:nvSpPr>
        <p:spPr>
          <a:xfrm>
            <a:off x="699516" y="2443886"/>
            <a:ext cx="5966460" cy="144780"/>
          </a:xfrm>
          <a:prstGeom prst="rect">
            <a:avLst/>
          </a:prstGeom>
          <a:noFill/>
          <a:ln>
            <a:noFill/>
          </a:ln>
        </p:spPr>
        <p:txBody>
          <a:bodyPr wrap="square" lIns="19050" rIns="19050" tIns="0" bIns="0" anchor="t">
            <a:normAutofit/>
          </a:bodyPr>
          <a:lstStyle/>
          <a:p>
            <a:pPr algn="l"/>
            <a:r>
              <a:rPr sz="969" b="0">
                <a:solidFill>
                  <a:srgbClr val="A3A8AE"/>
                </a:solidFill>
                <a:latin typeface="PingFang SC"/>
              </a:rPr>
              <a:t>对于患有感染性休克且持续需要血管活性药物治疗的成人，我们建议使用静脉注射皮质类固醇。</a:t>
            </a:r>
          </a:p>
        </p:txBody>
      </p:sp>
      <p:sp>
        <p:nvSpPr>
          <p:cNvPr id="12" name="TextBox 11"/>
          <p:cNvSpPr txBox="1"/>
          <p:nvPr/>
        </p:nvSpPr>
        <p:spPr>
          <a:xfrm>
            <a:off x="699516" y="3573170"/>
            <a:ext cx="8949690" cy="1129284"/>
          </a:xfrm>
          <a:prstGeom prst="rect">
            <a:avLst/>
          </a:prstGeom>
          <a:noFill/>
          <a:ln>
            <a:noFill/>
          </a:ln>
        </p:spPr>
        <p:txBody>
          <a:bodyPr wrap="square" lIns="19050" rIns="19050" tIns="0" bIns="0" anchor="t">
            <a:normAutofit/>
          </a:bodyPr>
          <a:lstStyle/>
          <a:p>
            <a:pPr algn="l"/>
            <a:r>
              <a:rPr sz="1350" b="0">
                <a:solidFill>
                  <a:srgbClr val="6D7D81"/>
                </a:solidFill>
                <a:latin typeface="PingFang SC"/>
              </a:rPr>
              <a:t>• 皮质类固醇已在多种类型感染（包括脓毒症和感染性休克）的成人患者中得到广泛研究，近期一项荟萃分析纳入了45项随机对照试验，涉及9543名患者。</a:t>
            </a:r>
          </a:p>
          <a:p>
            <a:pPr algn="l"/>
            <a:r>
              <a:rPr sz="1350" b="0">
                <a:solidFill>
                  <a:srgbClr val="6D7D81"/>
                </a:solidFill>
                <a:latin typeface="PingFang SC"/>
              </a:rPr>
              <a:t>• 皮质类固醇可能会使28天死亡率略有降低以及60天或更长时间的长期死亡率降低，不过鉴于各试验人群和干预措施的异质性，这些结果受准确性不足和不一致性的限制。</a:t>
            </a:r>
          </a:p>
        </p:txBody>
      </p:sp>
      <p:sp>
        <p:nvSpPr>
          <p:cNvPr id="13" name="TextBox 12"/>
          <p:cNvSpPr txBox="1"/>
          <p:nvPr/>
        </p:nvSpPr>
        <p:spPr>
          <a:xfrm>
            <a:off x="534924" y="5078882"/>
            <a:ext cx="2489454" cy="104241"/>
          </a:xfrm>
          <a:prstGeom prst="rect">
            <a:avLst/>
          </a:prstGeom>
          <a:noFill/>
          <a:ln>
            <a:noFill/>
          </a:ln>
        </p:spPr>
        <p:txBody>
          <a:bodyPr wrap="none" lIns="19050" rIns="19050" tIns="0" bIns="0" anchor="ctr">
            <a:noAutofit/>
          </a:bodyPr>
          <a:lstStyle/>
          <a:p>
            <a:pPr algn="l"/>
            <a:r>
              <a:rPr sz="900" b="0">
                <a:solidFill>
                  <a:srgbClr val="959797"/>
                </a:solidFill>
                <a:latin typeface="PingFang SC"/>
              </a:rPr>
              <a:t>Critical Care Medicine</a:t>
            </a:r>
          </a:p>
        </p:txBody>
      </p:sp>
      <p:sp>
        <p:nvSpPr>
          <p:cNvPr id="14" name="TextBox 13"/>
          <p:cNvSpPr txBox="1"/>
          <p:nvPr/>
        </p:nvSpPr>
        <p:spPr>
          <a:xfrm>
            <a:off x="534924" y="5455310"/>
            <a:ext cx="2489454" cy="133197"/>
          </a:xfrm>
          <a:prstGeom prst="rect">
            <a:avLst/>
          </a:prstGeom>
          <a:noFill/>
          <a:ln>
            <a:noFill/>
          </a:ln>
        </p:spPr>
        <p:txBody>
          <a:bodyPr wrap="none" lIns="19050" rIns="19050" tIns="0" bIns="0" anchor="ctr">
            <a:noAutofit/>
          </a:bodyPr>
          <a:lstStyle/>
          <a:p>
            <a:pPr algn="l"/>
            <a:r>
              <a:rPr sz="1050" b="0">
                <a:solidFill>
                  <a:srgbClr val="D3E7E8"/>
                </a:solidFill>
                <a:latin typeface="PingFang SC"/>
              </a:rPr>
              <a:t>公众号·指南导航</a:t>
            </a:r>
          </a:p>
        </p:txBody>
      </p:sp>
      <p:sp>
        <p:nvSpPr>
          <p:cNvPr id="15" name="TextBox 14"/>
          <p:cNvSpPr txBox="1"/>
          <p:nvPr/>
        </p:nvSpPr>
        <p:spPr>
          <a:xfrm>
            <a:off x="10287000" y="5356860"/>
            <a:ext cx="0" cy="231648"/>
          </a:xfrm>
          <a:prstGeom prst="rect">
            <a:avLst/>
          </a:prstGeom>
          <a:noFill/>
          <a:ln>
            <a:noFill/>
          </a:ln>
        </p:spPr>
        <p:txBody>
          <a:bodyPr wrap="none" lIns="19050" rIns="19050" tIns="0" bIns="0" anchor="ctr">
            <a:noAutofit/>
          </a:bodyPr>
          <a:lstStyle/>
          <a:p>
            <a:pPr algn="r"/>
            <a:r>
              <a:rPr sz="1350" b="0">
                <a:solidFill>
                  <a:srgbClr val="000000"/>
                </a:solidFill>
                <a:latin typeface="PingFang SC"/>
              </a:rPr>
              <a:t>50</a:t>
            </a:r>
          </a:p>
        </p:txBody>
      </p:sp>
      <p:sp>
        <p:nvSpPr>
          <p:cNvPr id="16" name="TextBox 15"/>
          <p:cNvSpPr txBox="1"/>
          <p:nvPr/>
        </p:nvSpPr>
        <p:spPr>
          <a:xfrm>
            <a:off x="8311896" y="162153"/>
            <a:ext cx="3937863" cy="428548"/>
          </a:xfrm>
          <a:prstGeom prst="rect">
            <a:avLst/>
          </a:prstGeom>
          <a:noFill/>
          <a:ln>
            <a:noFill/>
          </a:ln>
        </p:spPr>
        <p:txBody>
          <a:bodyPr wrap="none" lIns="19050" rIns="19050" tIns="0" bIns="0" anchor="ctr">
            <a:noAutofit/>
          </a:bodyPr>
          <a:lstStyle/>
          <a:p>
            <a:pPr algn="r"/>
            <a:r>
              <a:rPr sz="1800" b="0">
                <a:solidFill>
                  <a:srgbClr val="B0C4A9"/>
                </a:solidFill>
                <a:latin typeface="PingFang SC"/>
              </a:rPr>
              <a:t>Surviving Sepsis Campaign</a:t>
            </a:r>
          </a:p>
        </p:txBody>
      </p:sp>
      <p:pic>
        <p:nvPicPr>
          <p:cNvPr id="17" name="Picture 16" descr="tmp9uzdgqm9.png"/>
          <p:cNvPicPr>
            <a:picLocks noChangeAspect="1"/>
          </p:cNvPicPr>
          <p:nvPr/>
        </p:nvPicPr>
        <p:blipFill>
          <a:blip r:embed="rId3"/>
          <a:stretch>
            <a:fillRect/>
          </a:stretch>
        </p:blipFill>
        <p:spPr>
          <a:xfrm>
            <a:off x="1257300" y="1590675"/>
            <a:ext cx="266700" cy="190500"/>
          </a:xfrm>
          <a:prstGeom prst="rect">
            <a:avLst/>
          </a:prstGeom>
        </p:spPr>
      </p:pic>
      <p:pic>
        <p:nvPicPr>
          <p:cNvPr id="18" name="Picture 17" descr="tmpebe2z714.png"/>
          <p:cNvPicPr>
            <a:picLocks noChangeAspect="1"/>
          </p:cNvPicPr>
          <p:nvPr/>
        </p:nvPicPr>
        <p:blipFill>
          <a:blip r:embed="rId4"/>
          <a:stretch>
            <a:fillRect/>
          </a:stretch>
        </p:blipFill>
        <p:spPr>
          <a:xfrm>
            <a:off x="1628775" y="1590675"/>
            <a:ext cx="266700" cy="190500"/>
          </a:xfrm>
          <a:prstGeom prst="rect">
            <a:avLst/>
          </a:prstGeom>
        </p:spPr>
      </p:pic>
      <p:pic>
        <p:nvPicPr>
          <p:cNvPr id="19" name="Picture 18" descr="tmpwpl738h_.png"/>
          <p:cNvPicPr>
            <a:picLocks noChangeAspect="1"/>
          </p:cNvPicPr>
          <p:nvPr/>
        </p:nvPicPr>
        <p:blipFill>
          <a:blip r:embed="rId5"/>
          <a:stretch>
            <a:fillRect/>
          </a:stretch>
        </p:blipFill>
        <p:spPr>
          <a:xfrm>
            <a:off x="2000250" y="1590675"/>
            <a:ext cx="266700" cy="190500"/>
          </a:xfrm>
          <a:prstGeom prst="rect">
            <a:avLst/>
          </a:prstGeom>
        </p:spPr>
      </p:pic>
      <p:pic>
        <p:nvPicPr>
          <p:cNvPr id="20" name="Picture 19" descr="tmpxx0pmvio.png"/>
          <p:cNvPicPr>
            <a:picLocks noChangeAspect="1"/>
          </p:cNvPicPr>
          <p:nvPr/>
        </p:nvPicPr>
        <p:blipFill>
          <a:blip r:embed="rId6"/>
          <a:stretch>
            <a:fillRect/>
          </a:stretch>
        </p:blipFill>
        <p:spPr>
          <a:xfrm>
            <a:off x="2362200" y="1590675"/>
            <a:ext cx="266700" cy="190500"/>
          </a:xfrm>
          <a:prstGeom prst="rect">
            <a:avLst/>
          </a:prstGeom>
        </p:spPr>
      </p:pic>
      <p:pic>
        <p:nvPicPr>
          <p:cNvPr id="21" name="Picture 20" descr="tmpn5pnlzcy.png"/>
          <p:cNvPicPr>
            <a:picLocks noChangeAspect="1"/>
          </p:cNvPicPr>
          <p:nvPr/>
        </p:nvPicPr>
        <p:blipFill>
          <a:blip r:embed="rId7"/>
          <a:stretch>
            <a:fillRect/>
          </a:stretch>
        </p:blipFill>
        <p:spPr>
          <a:xfrm>
            <a:off x="1257300" y="2790825"/>
            <a:ext cx="266700" cy="190500"/>
          </a:xfrm>
          <a:prstGeom prst="rect">
            <a:avLst/>
          </a:prstGeom>
        </p:spPr>
      </p:pic>
      <p:pic>
        <p:nvPicPr>
          <p:cNvPr id="22" name="Picture 21" descr="tmpei3pnfxh.png"/>
          <p:cNvPicPr>
            <a:picLocks noChangeAspect="1"/>
          </p:cNvPicPr>
          <p:nvPr/>
        </p:nvPicPr>
        <p:blipFill>
          <a:blip r:embed="rId8"/>
          <a:stretch>
            <a:fillRect/>
          </a:stretch>
        </p:blipFill>
        <p:spPr>
          <a:xfrm>
            <a:off x="1628775" y="2790825"/>
            <a:ext cx="266700" cy="190500"/>
          </a:xfrm>
          <a:prstGeom prst="rect">
            <a:avLst/>
          </a:prstGeom>
        </p:spPr>
      </p:pic>
      <p:pic>
        <p:nvPicPr>
          <p:cNvPr id="23" name="Picture 22" descr="tmpu45h5211.png"/>
          <p:cNvPicPr>
            <a:picLocks noChangeAspect="1"/>
          </p:cNvPicPr>
          <p:nvPr/>
        </p:nvPicPr>
        <p:blipFill>
          <a:blip r:embed="rId9"/>
          <a:stretch>
            <a:fillRect/>
          </a:stretch>
        </p:blipFill>
        <p:spPr>
          <a:xfrm>
            <a:off x="2000250" y="2790825"/>
            <a:ext cx="266700" cy="190500"/>
          </a:xfrm>
          <a:prstGeom prst="rect">
            <a:avLst/>
          </a:prstGeom>
        </p:spPr>
      </p:pic>
      <p:pic>
        <p:nvPicPr>
          <p:cNvPr id="24" name="Picture 23" descr="tmpwbzg5k5c.png"/>
          <p:cNvPicPr>
            <a:picLocks noChangeAspect="1"/>
          </p:cNvPicPr>
          <p:nvPr/>
        </p:nvPicPr>
        <p:blipFill>
          <a:blip r:embed="rId10"/>
          <a:stretch>
            <a:fillRect/>
          </a:stretch>
        </p:blipFill>
        <p:spPr>
          <a:xfrm>
            <a:off x="2362200" y="2790825"/>
            <a:ext cx="266700" cy="190500"/>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ehzrc_sx.png"/>
          <p:cNvPicPr>
            <a:picLocks noChangeAspect="1"/>
          </p:cNvPicPr>
          <p:nvPr/>
        </p:nvPicPr>
        <p:blipFill>
          <a:blip r:embed="rId2"/>
          <a:stretch>
            <a:fillRect/>
          </a:stretch>
        </p:blipFill>
        <p:spPr>
          <a:xfrm>
            <a:off x="571500" y="4933950"/>
            <a:ext cx="1095375" cy="266700"/>
          </a:xfrm>
          <a:prstGeom prst="rect">
            <a:avLst/>
          </a:prstGeom>
        </p:spPr>
      </p:pic>
      <p:pic>
        <p:nvPicPr>
          <p:cNvPr id="4" name="Picture 3" descr="tmp13c3hosj.png"/>
          <p:cNvPicPr>
            <a:picLocks noChangeAspect="1"/>
          </p:cNvPicPr>
          <p:nvPr/>
        </p:nvPicPr>
        <p:blipFill>
          <a:blip r:embed="rId3"/>
          <a:stretch>
            <a:fillRect/>
          </a:stretch>
        </p:blipFill>
        <p:spPr>
          <a:xfrm>
            <a:off x="1771650" y="4933950"/>
            <a:ext cx="409575" cy="266700"/>
          </a:xfrm>
          <a:prstGeom prst="rect">
            <a:avLst/>
          </a:prstGeom>
        </p:spPr>
      </p:pic>
      <p:pic>
        <p:nvPicPr>
          <p:cNvPr id="5" name="Picture 4" descr="tmp56lcfyed.png"/>
          <p:cNvPicPr>
            <a:picLocks noChangeAspect="1"/>
          </p:cNvPicPr>
          <p:nvPr/>
        </p:nvPicPr>
        <p:blipFill>
          <a:blip r:embed="rId4"/>
          <a:stretch>
            <a:fillRect/>
          </a:stretch>
        </p:blipFill>
        <p:spPr>
          <a:xfrm>
            <a:off x="2286000" y="4933950"/>
            <a:ext cx="819150" cy="266700"/>
          </a:xfrm>
          <a:prstGeom prst="rect">
            <a:avLst/>
          </a:prstGeom>
        </p:spPr>
      </p:pic>
      <p:sp>
        <p:nvSpPr>
          <p:cNvPr id="6" name="Rounded Rectangle 5"/>
          <p:cNvSpPr/>
          <p:nvPr/>
        </p:nvSpPr>
        <p:spPr>
          <a:xfrm>
            <a:off x="576072" y="967130"/>
            <a:ext cx="9176003" cy="1940052"/>
          </a:xfrm>
          <a:prstGeom prst="roundRect">
            <a:avLst>
              <a:gd name="adj" fmla="val 6000"/>
            </a:avLst>
          </a:prstGeom>
          <a:solidFill>
            <a:srgbClr val="FEFEFE"/>
          </a:solidFill>
          <a:ln w="11430">
            <a:solidFill>
              <a:srgbClr val="1459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76072" y="3550005"/>
            <a:ext cx="9176003" cy="1036624"/>
          </a:xfrm>
          <a:prstGeom prst="roundRect">
            <a:avLst>
              <a:gd name="adj" fmla="val 6000"/>
            </a:avLst>
          </a:prstGeom>
          <a:solidFill>
            <a:srgbClr val="FDFEFD"/>
          </a:solidFill>
          <a:ln w="11430">
            <a:solidFill>
              <a:srgbClr val="F4FE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445922"/>
            <a:ext cx="3077870" cy="260604"/>
          </a:xfrm>
          <a:prstGeom prst="rect">
            <a:avLst/>
          </a:prstGeom>
          <a:noFill/>
          <a:ln>
            <a:noFill/>
          </a:ln>
        </p:spPr>
        <p:txBody>
          <a:bodyPr wrap="none" lIns="19050" rIns="19050" tIns="0" bIns="0" anchor="ctr">
            <a:noAutofit/>
          </a:bodyPr>
          <a:lstStyle/>
          <a:p>
            <a:pPr algn="l"/>
            <a:r>
              <a:rPr sz="2400" b="1">
                <a:solidFill>
                  <a:srgbClr val="5590B1"/>
                </a:solidFill>
                <a:latin typeface="PingFang SC"/>
              </a:rPr>
              <a:t>退热剂</a:t>
            </a:r>
          </a:p>
        </p:txBody>
      </p:sp>
      <p:sp>
        <p:nvSpPr>
          <p:cNvPr id="9" name="TextBox 8"/>
          <p:cNvSpPr txBox="1"/>
          <p:nvPr/>
        </p:nvSpPr>
        <p:spPr>
          <a:xfrm>
            <a:off x="864108" y="1227734"/>
            <a:ext cx="8311896" cy="405384"/>
          </a:xfrm>
          <a:prstGeom prst="rect">
            <a:avLst/>
          </a:prstGeom>
          <a:noFill/>
          <a:ln>
            <a:noFill/>
          </a:ln>
        </p:spPr>
        <p:txBody>
          <a:bodyPr wrap="square" lIns="19050" rIns="19050" tIns="0" bIns="0" anchor="t">
            <a:normAutofit/>
          </a:bodyPr>
          <a:lstStyle/>
          <a:p>
            <a:pPr algn="l"/>
            <a:r>
              <a:rPr sz="1500" b="0">
                <a:solidFill>
                  <a:srgbClr val="888F86"/>
                </a:solidFill>
                <a:latin typeface="PingFang SC"/>
              </a:rPr>
              <a:t>80. 对于患有脓毒症或脓毒性休克的成年人，我们“建议反对”为改善临床结局而使用退热疗法，无论是药物退热还是体表降温。</a:t>
            </a:r>
          </a:p>
        </p:txBody>
      </p:sp>
      <p:sp>
        <p:nvSpPr>
          <p:cNvPr id="10" name="TextBox 9"/>
          <p:cNvSpPr txBox="1"/>
          <p:nvPr/>
        </p:nvSpPr>
        <p:spPr>
          <a:xfrm>
            <a:off x="1255014" y="2154326"/>
            <a:ext cx="8023860" cy="405384"/>
          </a:xfrm>
          <a:prstGeom prst="rect">
            <a:avLst/>
          </a:prstGeom>
          <a:noFill/>
          <a:ln>
            <a:noFill/>
          </a:ln>
        </p:spPr>
        <p:txBody>
          <a:bodyPr wrap="square" lIns="19050" rIns="19050" tIns="0" bIns="0" anchor="t">
            <a:normAutofit/>
          </a:bodyPr>
          <a:lstStyle/>
          <a:p>
            <a:pPr algn="l"/>
            <a:r>
              <a:rPr sz="1200" b="0">
                <a:solidFill>
                  <a:srgbClr val="A8C09E"/>
                </a:solidFill>
                <a:latin typeface="PingFang SC"/>
              </a:rPr>
              <a:t>备注：本建议不适用于使用退热疗法进行疼痛控制、患者症状控制，或不适用于有其他体温控制指征的患者，如神经重症监护患者或心脏骤停后的患者。</a:t>
            </a:r>
          </a:p>
        </p:txBody>
      </p:sp>
      <p:sp>
        <p:nvSpPr>
          <p:cNvPr id="11" name="TextBox 10"/>
          <p:cNvSpPr txBox="1"/>
          <p:nvPr/>
        </p:nvSpPr>
        <p:spPr>
          <a:xfrm>
            <a:off x="576072" y="3057753"/>
            <a:ext cx="6664451" cy="254812"/>
          </a:xfrm>
          <a:prstGeom prst="rect">
            <a:avLst/>
          </a:prstGeom>
          <a:noFill/>
          <a:ln>
            <a:noFill/>
          </a:ln>
        </p:spPr>
        <p:txBody>
          <a:bodyPr wrap="none" lIns="19050" rIns="19050" tIns="0" bIns="0" anchor="ctr">
            <a:noAutofit/>
          </a:bodyPr>
          <a:lstStyle/>
          <a:p>
            <a:pPr algn="l"/>
            <a:r>
              <a:rPr sz="2400" b="1">
                <a:solidFill>
                  <a:srgbClr val="5486AC"/>
                </a:solidFill>
                <a:latin typeface="PingFang SC"/>
              </a:rPr>
              <a:t>静脉注射用维生素C</a:t>
            </a:r>
          </a:p>
        </p:txBody>
      </p:sp>
      <p:sp>
        <p:nvSpPr>
          <p:cNvPr id="12" name="TextBox 11"/>
          <p:cNvSpPr txBox="1"/>
          <p:nvPr/>
        </p:nvSpPr>
        <p:spPr>
          <a:xfrm>
            <a:off x="864108" y="3810609"/>
            <a:ext cx="8311896" cy="405383"/>
          </a:xfrm>
          <a:prstGeom prst="rect">
            <a:avLst/>
          </a:prstGeom>
          <a:noFill/>
          <a:ln>
            <a:noFill/>
          </a:ln>
        </p:spPr>
        <p:txBody>
          <a:bodyPr wrap="square" lIns="19050" rIns="19050" tIns="0" bIns="0" anchor="t">
            <a:normAutofit/>
          </a:bodyPr>
          <a:lstStyle/>
          <a:p>
            <a:pPr algn="l"/>
            <a:r>
              <a:rPr sz="1500" b="0">
                <a:solidFill>
                  <a:srgbClr val="889089"/>
                </a:solidFill>
                <a:latin typeface="PingFang SC"/>
              </a:rPr>
              <a:t>81. 对于患有脓毒症或脓毒性休克的成年人，我们“建议反对”对脓毒症或脓毒性休克患者使用静脉注射维生素C。</a:t>
            </a:r>
          </a:p>
        </p:txBody>
      </p:sp>
      <p:sp>
        <p:nvSpPr>
          <p:cNvPr id="13" name="TextBox 12"/>
          <p:cNvSpPr txBox="1"/>
          <p:nvPr/>
        </p:nvSpPr>
        <p:spPr>
          <a:xfrm>
            <a:off x="9176004" y="1169822"/>
            <a:ext cx="814730" cy="150571"/>
          </a:xfrm>
          <a:prstGeom prst="rect">
            <a:avLst/>
          </a:prstGeom>
          <a:noFill/>
          <a:ln>
            <a:noFill/>
          </a:ln>
        </p:spPr>
        <p:txBody>
          <a:bodyPr wrap="none" lIns="19050" rIns="19050" tIns="0" bIns="0" anchor="ctr">
            <a:noAutofit/>
          </a:bodyPr>
          <a:lstStyle/>
          <a:p>
            <a:pPr algn="r"/>
            <a:r>
              <a:rPr sz="1200" b="0">
                <a:solidFill>
                  <a:srgbClr val="88ACC6"/>
                </a:solidFill>
                <a:latin typeface="PingFang SC"/>
              </a:rPr>
              <a:t>新增</a:t>
            </a:r>
          </a:p>
        </p:txBody>
      </p:sp>
      <p:sp>
        <p:nvSpPr>
          <p:cNvPr id="14" name="TextBox 13"/>
          <p:cNvSpPr txBox="1"/>
          <p:nvPr/>
        </p:nvSpPr>
        <p:spPr>
          <a:xfrm>
            <a:off x="9176004" y="3752697"/>
            <a:ext cx="814730" cy="150571"/>
          </a:xfrm>
          <a:prstGeom prst="rect">
            <a:avLst/>
          </a:prstGeom>
          <a:noFill/>
          <a:ln>
            <a:noFill/>
          </a:ln>
        </p:spPr>
        <p:txBody>
          <a:bodyPr wrap="none" lIns="19050" rIns="19050" tIns="0" bIns="0" anchor="ctr">
            <a:noAutofit/>
          </a:bodyPr>
          <a:lstStyle/>
          <a:p>
            <a:pPr algn="r"/>
            <a:r>
              <a:rPr sz="1200" b="0">
                <a:solidFill>
                  <a:srgbClr val="91B084"/>
                </a:solidFill>
                <a:latin typeface="PingFang SC"/>
              </a:rPr>
              <a:t>修订</a:t>
            </a:r>
          </a:p>
        </p:txBody>
      </p:sp>
      <p:sp>
        <p:nvSpPr>
          <p:cNvPr id="15" name="TextBox 14"/>
          <p:cNvSpPr txBox="1"/>
          <p:nvPr/>
        </p:nvSpPr>
        <p:spPr>
          <a:xfrm>
            <a:off x="8353044" y="173735"/>
            <a:ext cx="3892600" cy="416966"/>
          </a:xfrm>
          <a:prstGeom prst="rect">
            <a:avLst/>
          </a:prstGeom>
          <a:noFill/>
          <a:ln>
            <a:noFill/>
          </a:ln>
        </p:spPr>
        <p:txBody>
          <a:bodyPr wrap="none" lIns="19050" rIns="19050" tIns="0" bIns="0" anchor="ctr">
            <a:noAutofit/>
          </a:bodyPr>
          <a:lstStyle/>
          <a:p>
            <a:pPr algn="r"/>
            <a:r>
              <a:rPr sz="1800" b="0">
                <a:solidFill>
                  <a:srgbClr val="B0C4A8"/>
                </a:solidFill>
                <a:latin typeface="PingFang SC"/>
              </a:rPr>
              <a:t>Surviving Sepsis Campaign</a:t>
            </a:r>
          </a:p>
        </p:txBody>
      </p:sp>
      <p:sp>
        <p:nvSpPr>
          <p:cNvPr id="16" name="TextBox 15"/>
          <p:cNvSpPr txBox="1"/>
          <p:nvPr/>
        </p:nvSpPr>
        <p:spPr>
          <a:xfrm>
            <a:off x="576072" y="5455310"/>
            <a:ext cx="2625242" cy="150571"/>
          </a:xfrm>
          <a:prstGeom prst="rect">
            <a:avLst/>
          </a:prstGeom>
          <a:noFill/>
          <a:ln>
            <a:noFill/>
          </a:ln>
        </p:spPr>
        <p:txBody>
          <a:bodyPr wrap="none" lIns="19050" rIns="19050" tIns="0" bIns="0" anchor="ctr">
            <a:noAutofit/>
          </a:bodyPr>
          <a:lstStyle/>
          <a:p>
            <a:pPr algn="l"/>
            <a:r>
              <a:rPr sz="1200" b="0">
                <a:solidFill>
                  <a:srgbClr val="D2E7E8"/>
                </a:solidFill>
                <a:latin typeface="PingFang SC"/>
              </a:rPr>
              <a:t>公众号·指南导航</a:t>
            </a:r>
          </a:p>
        </p:txBody>
      </p:sp>
      <p:sp>
        <p:nvSpPr>
          <p:cNvPr id="17" name="TextBox 16"/>
          <p:cNvSpPr txBox="1"/>
          <p:nvPr/>
        </p:nvSpPr>
        <p:spPr>
          <a:xfrm>
            <a:off x="10287000" y="5339486"/>
            <a:ext cx="0" cy="208483"/>
          </a:xfrm>
          <a:prstGeom prst="rect">
            <a:avLst/>
          </a:prstGeom>
          <a:noFill/>
          <a:ln>
            <a:noFill/>
          </a:ln>
        </p:spPr>
        <p:txBody>
          <a:bodyPr wrap="none" lIns="19050" rIns="19050" tIns="0" bIns="0" anchor="ctr">
            <a:noAutofit/>
          </a:bodyPr>
          <a:lstStyle/>
          <a:p>
            <a:pPr algn="r"/>
            <a:r>
              <a:rPr sz="1500" b="0">
                <a:solidFill>
                  <a:srgbClr val="000000"/>
                </a:solidFill>
                <a:latin typeface="PingFang SC"/>
              </a:rPr>
              <a:t>51</a:t>
            </a:r>
          </a:p>
        </p:txBody>
      </p:sp>
      <p:pic>
        <p:nvPicPr>
          <p:cNvPr id="18" name="Picture 17" descr="tmpb3thjjrf.png"/>
          <p:cNvPicPr>
            <a:picLocks noChangeAspect="1"/>
          </p:cNvPicPr>
          <p:nvPr/>
        </p:nvPicPr>
        <p:blipFill>
          <a:blip r:embed="rId5"/>
          <a:stretch>
            <a:fillRect/>
          </a:stretch>
        </p:blipFill>
        <p:spPr>
          <a:xfrm>
            <a:off x="571500" y="485775"/>
            <a:ext cx="371475" cy="161925"/>
          </a:xfrm>
          <a:prstGeom prst="rect">
            <a:avLst/>
          </a:prstGeom>
        </p:spPr>
      </p:pic>
      <p:pic>
        <p:nvPicPr>
          <p:cNvPr id="19" name="Picture 18" descr="tmpzba3zhug.png"/>
          <p:cNvPicPr>
            <a:picLocks noChangeAspect="1"/>
          </p:cNvPicPr>
          <p:nvPr/>
        </p:nvPicPr>
        <p:blipFill>
          <a:blip r:embed="rId6"/>
          <a:stretch>
            <a:fillRect/>
          </a:stretch>
        </p:blipFill>
        <p:spPr>
          <a:xfrm>
            <a:off x="1257300" y="1866900"/>
            <a:ext cx="304800" cy="209550"/>
          </a:xfrm>
          <a:prstGeom prst="rect">
            <a:avLst/>
          </a:prstGeom>
        </p:spPr>
      </p:pic>
      <p:pic>
        <p:nvPicPr>
          <p:cNvPr id="20" name="Picture 19" descr="tmpjb4kpicy.png"/>
          <p:cNvPicPr>
            <a:picLocks noChangeAspect="1"/>
          </p:cNvPicPr>
          <p:nvPr/>
        </p:nvPicPr>
        <p:blipFill>
          <a:blip r:embed="rId7"/>
          <a:stretch>
            <a:fillRect/>
          </a:stretch>
        </p:blipFill>
        <p:spPr>
          <a:xfrm>
            <a:off x="1628775" y="1866900"/>
            <a:ext cx="304800" cy="209550"/>
          </a:xfrm>
          <a:prstGeom prst="rect">
            <a:avLst/>
          </a:prstGeom>
        </p:spPr>
      </p:pic>
      <p:pic>
        <p:nvPicPr>
          <p:cNvPr id="21" name="Picture 20" descr="tmpvzu68nma.png"/>
          <p:cNvPicPr>
            <a:picLocks noChangeAspect="1"/>
          </p:cNvPicPr>
          <p:nvPr/>
        </p:nvPicPr>
        <p:blipFill>
          <a:blip r:embed="rId8"/>
          <a:stretch>
            <a:fillRect/>
          </a:stretch>
        </p:blipFill>
        <p:spPr>
          <a:xfrm>
            <a:off x="2000250" y="1866900"/>
            <a:ext cx="304800" cy="209550"/>
          </a:xfrm>
          <a:prstGeom prst="rect">
            <a:avLst/>
          </a:prstGeom>
        </p:spPr>
      </p:pic>
      <p:pic>
        <p:nvPicPr>
          <p:cNvPr id="22" name="Picture 21" descr="tmp3lx03lpw.png"/>
          <p:cNvPicPr>
            <a:picLocks noChangeAspect="1"/>
          </p:cNvPicPr>
          <p:nvPr/>
        </p:nvPicPr>
        <p:blipFill>
          <a:blip r:embed="rId9"/>
          <a:stretch>
            <a:fillRect/>
          </a:stretch>
        </p:blipFill>
        <p:spPr>
          <a:xfrm>
            <a:off x="2362200" y="1866900"/>
            <a:ext cx="314325" cy="209550"/>
          </a:xfrm>
          <a:prstGeom prst="rect">
            <a:avLst/>
          </a:prstGeom>
        </p:spPr>
      </p:pic>
      <p:pic>
        <p:nvPicPr>
          <p:cNvPr id="23" name="Picture 22" descr="tmp1l22ntav.png"/>
          <p:cNvPicPr>
            <a:picLocks noChangeAspect="1"/>
          </p:cNvPicPr>
          <p:nvPr/>
        </p:nvPicPr>
        <p:blipFill>
          <a:blip r:embed="rId10"/>
          <a:stretch>
            <a:fillRect/>
          </a:stretch>
        </p:blipFill>
        <p:spPr>
          <a:xfrm>
            <a:off x="1257300" y="4295775"/>
            <a:ext cx="304800" cy="209550"/>
          </a:xfrm>
          <a:prstGeom prst="rect">
            <a:avLst/>
          </a:prstGeom>
        </p:spPr>
      </p:pic>
      <p:pic>
        <p:nvPicPr>
          <p:cNvPr id="24" name="Picture 23" descr="tmp8c4hgqgu.png"/>
          <p:cNvPicPr>
            <a:picLocks noChangeAspect="1"/>
          </p:cNvPicPr>
          <p:nvPr/>
        </p:nvPicPr>
        <p:blipFill>
          <a:blip r:embed="rId11"/>
          <a:stretch>
            <a:fillRect/>
          </a:stretch>
        </p:blipFill>
        <p:spPr>
          <a:xfrm>
            <a:off x="1628775" y="4295775"/>
            <a:ext cx="304800" cy="209550"/>
          </a:xfrm>
          <a:prstGeom prst="rect">
            <a:avLst/>
          </a:prstGeom>
        </p:spPr>
      </p:pic>
      <p:pic>
        <p:nvPicPr>
          <p:cNvPr id="25" name="Picture 24" descr="tmp54tc8rza.png"/>
          <p:cNvPicPr>
            <a:picLocks noChangeAspect="1"/>
          </p:cNvPicPr>
          <p:nvPr/>
        </p:nvPicPr>
        <p:blipFill>
          <a:blip r:embed="rId12"/>
          <a:stretch>
            <a:fillRect/>
          </a:stretch>
        </p:blipFill>
        <p:spPr>
          <a:xfrm>
            <a:off x="2000250" y="4295775"/>
            <a:ext cx="304800" cy="209550"/>
          </a:xfrm>
          <a:prstGeom prst="rect">
            <a:avLst/>
          </a:prstGeom>
        </p:spPr>
      </p:pic>
      <p:pic>
        <p:nvPicPr>
          <p:cNvPr id="26" name="Picture 25" descr="tmpwmohk39i.png"/>
          <p:cNvPicPr>
            <a:picLocks noChangeAspect="1"/>
          </p:cNvPicPr>
          <p:nvPr/>
        </p:nvPicPr>
        <p:blipFill>
          <a:blip r:embed="rId13"/>
          <a:stretch>
            <a:fillRect/>
          </a:stretch>
        </p:blipFill>
        <p:spPr>
          <a:xfrm>
            <a:off x="2362200" y="4295775"/>
            <a:ext cx="314325" cy="209550"/>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dywokm8f.png"/>
          <p:cNvPicPr>
            <a:picLocks noChangeAspect="1"/>
          </p:cNvPicPr>
          <p:nvPr/>
        </p:nvPicPr>
        <p:blipFill>
          <a:blip r:embed="rId2"/>
          <a:stretch>
            <a:fillRect/>
          </a:stretch>
        </p:blipFill>
        <p:spPr>
          <a:xfrm>
            <a:off x="8315325" y="161925"/>
            <a:ext cx="1809750" cy="428625"/>
          </a:xfrm>
          <a:prstGeom prst="rect">
            <a:avLst/>
          </a:prstGeom>
        </p:spPr>
      </p:pic>
      <p:pic>
        <p:nvPicPr>
          <p:cNvPr id="4" name="Picture 3" descr="tmpsrh7le2o.png"/>
          <p:cNvPicPr>
            <a:picLocks noChangeAspect="1"/>
          </p:cNvPicPr>
          <p:nvPr/>
        </p:nvPicPr>
        <p:blipFill>
          <a:blip r:embed="rId3"/>
          <a:stretch>
            <a:fillRect/>
          </a:stretch>
        </p:blipFill>
        <p:spPr>
          <a:xfrm>
            <a:off x="1752600" y="5076825"/>
            <a:ext cx="904875" cy="85725"/>
          </a:xfrm>
          <a:prstGeom prst="rect">
            <a:avLst/>
          </a:prstGeom>
        </p:spPr>
      </p:pic>
      <p:sp>
        <p:nvSpPr>
          <p:cNvPr id="5" name="Rounded Rectangle 4"/>
          <p:cNvSpPr/>
          <p:nvPr/>
        </p:nvSpPr>
        <p:spPr>
          <a:xfrm>
            <a:off x="555498" y="967130"/>
            <a:ext cx="9196577" cy="1036624"/>
          </a:xfrm>
          <a:prstGeom prst="roundRect">
            <a:avLst>
              <a:gd name="adj" fmla="val 6000"/>
            </a:avLst>
          </a:prstGeom>
          <a:solidFill>
            <a:srgbClr val="FEFEFE"/>
          </a:solidFill>
          <a:ln w="11430">
            <a:solidFill>
              <a:srgbClr val="2A62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5498" y="2096414"/>
            <a:ext cx="9196577" cy="2941929"/>
          </a:xfrm>
          <a:prstGeom prst="rect">
            <a:avLst/>
          </a:prstGeom>
          <a:solidFill>
            <a:srgbClr val="F1FEFE"/>
          </a:solidFill>
          <a:ln w="11430">
            <a:solidFill>
              <a:srgbClr val="B2D2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6646" y="388010"/>
            <a:ext cx="7549134" cy="318516"/>
          </a:xfrm>
          <a:prstGeom prst="rect">
            <a:avLst/>
          </a:prstGeom>
          <a:noFill/>
          <a:ln>
            <a:noFill/>
          </a:ln>
        </p:spPr>
        <p:txBody>
          <a:bodyPr wrap="none" lIns="19050" rIns="19050" tIns="0" bIns="0" anchor="ctr">
            <a:noAutofit/>
          </a:bodyPr>
          <a:lstStyle/>
          <a:p>
            <a:pPr algn="l"/>
            <a:r>
              <a:rPr sz="2700" b="1">
                <a:solidFill>
                  <a:srgbClr val="3D5090"/>
                </a:solidFill>
                <a:latin typeface="PingFang SC"/>
              </a:rPr>
              <a:t>静脉注射免疫球蛋白（IVIG）</a:t>
            </a:r>
          </a:p>
        </p:txBody>
      </p:sp>
      <p:sp>
        <p:nvSpPr>
          <p:cNvPr id="8" name="TextBox 7"/>
          <p:cNvSpPr txBox="1"/>
          <p:nvPr/>
        </p:nvSpPr>
        <p:spPr>
          <a:xfrm>
            <a:off x="905255" y="1285646"/>
            <a:ext cx="7756398" cy="173736"/>
          </a:xfrm>
          <a:prstGeom prst="rect">
            <a:avLst/>
          </a:prstGeom>
          <a:noFill/>
          <a:ln>
            <a:noFill/>
          </a:ln>
        </p:spPr>
        <p:txBody>
          <a:bodyPr wrap="square" lIns="19050" rIns="19050" tIns="0" bIns="0" anchor="t">
            <a:normAutofit/>
          </a:bodyPr>
          <a:lstStyle/>
          <a:p>
            <a:pPr algn="l"/>
            <a:r>
              <a:rPr sz="1240" b="0">
                <a:solidFill>
                  <a:srgbClr val="959D87"/>
                </a:solidFill>
                <a:latin typeface="PingFang SC"/>
              </a:rPr>
              <a:t>82. 对于患有脓毒症或感染性休克的成年人，我们 “建议不使用” 静脉注射免疫球蛋白。</a:t>
            </a:r>
          </a:p>
        </p:txBody>
      </p:sp>
      <p:sp>
        <p:nvSpPr>
          <p:cNvPr id="9" name="TextBox 8"/>
          <p:cNvSpPr txBox="1"/>
          <p:nvPr/>
        </p:nvSpPr>
        <p:spPr>
          <a:xfrm>
            <a:off x="9155430" y="1239316"/>
            <a:ext cx="769467" cy="150571"/>
          </a:xfrm>
          <a:prstGeom prst="rect">
            <a:avLst/>
          </a:prstGeom>
          <a:noFill/>
          <a:ln>
            <a:noFill/>
          </a:ln>
        </p:spPr>
        <p:txBody>
          <a:bodyPr wrap="none" lIns="19050" rIns="19050" tIns="0" bIns="0" anchor="ctr">
            <a:noAutofit/>
          </a:bodyPr>
          <a:lstStyle/>
          <a:p>
            <a:pPr algn="r"/>
            <a:r>
              <a:rPr sz="1350" b="0">
                <a:solidFill>
                  <a:srgbClr val="566367"/>
                </a:solidFill>
                <a:latin typeface="PingFang SC"/>
              </a:rPr>
              <a:t>修订</a:t>
            </a:r>
          </a:p>
        </p:txBody>
      </p:sp>
      <p:sp>
        <p:nvSpPr>
          <p:cNvPr id="10" name="TextBox 9"/>
          <p:cNvSpPr txBox="1"/>
          <p:nvPr/>
        </p:nvSpPr>
        <p:spPr>
          <a:xfrm>
            <a:off x="617220" y="3173577"/>
            <a:ext cx="9073134" cy="833932"/>
          </a:xfrm>
          <a:prstGeom prst="rect">
            <a:avLst/>
          </a:prstGeom>
          <a:noFill/>
          <a:ln>
            <a:noFill/>
          </a:ln>
        </p:spPr>
        <p:txBody>
          <a:bodyPr wrap="square" lIns="19050" rIns="19050" tIns="0" bIns="0" anchor="t">
            <a:normAutofit/>
          </a:bodyPr>
          <a:lstStyle/>
          <a:p>
            <a:pPr algn="l"/>
            <a:r>
              <a:rPr sz="1500" b="0">
                <a:solidFill>
                  <a:srgbClr val="708083"/>
                </a:solidFill>
                <a:latin typeface="PingFang SC"/>
              </a:rPr>
              <a:t>自2021年指南发布以来，我们未发现任何评估静脉注射免疫球蛋白（IVIG）用于脓毒症或感染性休克的新大型随机对照试验（RCT）。除了比较富含IgM与非富含IgM的情况外，我们还评估了大剂量与小剂量静脉注射免疫球蛋白的亚组。有关原理请参阅2021年拯救脓毒症运动（SSC）指南。</a:t>
            </a:r>
          </a:p>
        </p:txBody>
      </p:sp>
      <p:sp>
        <p:nvSpPr>
          <p:cNvPr id="11" name="TextBox 10"/>
          <p:cNvSpPr txBox="1"/>
          <p:nvPr/>
        </p:nvSpPr>
        <p:spPr>
          <a:xfrm>
            <a:off x="596646" y="5073091"/>
            <a:ext cx="2353665" cy="92659"/>
          </a:xfrm>
          <a:prstGeom prst="rect">
            <a:avLst/>
          </a:prstGeom>
          <a:noFill/>
          <a:ln>
            <a:noFill/>
          </a:ln>
        </p:spPr>
        <p:txBody>
          <a:bodyPr wrap="none" lIns="19050" rIns="19050" tIns="0" bIns="0" anchor="ctr">
            <a:noAutofit/>
          </a:bodyPr>
          <a:lstStyle/>
          <a:p>
            <a:pPr algn="l"/>
            <a:r>
              <a:rPr sz="900" b="0">
                <a:solidFill>
                  <a:srgbClr val="949495"/>
                </a:solidFill>
                <a:latin typeface="PingFang SC"/>
              </a:rPr>
              <a:t>Critical Care Medicine</a:t>
            </a:r>
          </a:p>
        </p:txBody>
      </p:sp>
      <p:sp>
        <p:nvSpPr>
          <p:cNvPr id="12" name="TextBox 11"/>
          <p:cNvSpPr txBox="1"/>
          <p:nvPr/>
        </p:nvSpPr>
        <p:spPr>
          <a:xfrm>
            <a:off x="596646" y="5466892"/>
            <a:ext cx="2353665" cy="115823"/>
          </a:xfrm>
          <a:prstGeom prst="rect">
            <a:avLst/>
          </a:prstGeom>
          <a:noFill/>
          <a:ln>
            <a:noFill/>
          </a:ln>
        </p:spPr>
        <p:txBody>
          <a:bodyPr wrap="none" lIns="19050" rIns="19050" tIns="0" bIns="0" anchor="ctr">
            <a:noAutofit/>
          </a:bodyPr>
          <a:lstStyle/>
          <a:p>
            <a:pPr algn="l"/>
            <a:r>
              <a:rPr sz="1050" b="0">
                <a:solidFill>
                  <a:srgbClr val="D3E8E9"/>
                </a:solidFill>
                <a:latin typeface="PingFang SC"/>
              </a:rPr>
              <a:t>公众号·指南导航</a:t>
            </a:r>
          </a:p>
        </p:txBody>
      </p:sp>
      <p:sp>
        <p:nvSpPr>
          <p:cNvPr id="13" name="TextBox 12"/>
          <p:cNvSpPr txBox="1"/>
          <p:nvPr/>
        </p:nvSpPr>
        <p:spPr>
          <a:xfrm>
            <a:off x="10287000" y="5351068"/>
            <a:ext cx="0" cy="196900"/>
          </a:xfrm>
          <a:prstGeom prst="rect">
            <a:avLst/>
          </a:prstGeom>
          <a:noFill/>
          <a:ln>
            <a:noFill/>
          </a:ln>
        </p:spPr>
        <p:txBody>
          <a:bodyPr wrap="none" lIns="19050" rIns="19050" tIns="0" bIns="0" anchor="ctr">
            <a:noAutofit/>
          </a:bodyPr>
          <a:lstStyle/>
          <a:p>
            <a:pPr algn="r"/>
            <a:r>
              <a:rPr sz="1350" b="0">
                <a:solidFill>
                  <a:srgbClr val="000000"/>
                </a:solidFill>
                <a:latin typeface="PingFang SC"/>
              </a:rPr>
              <a:t>52</a:t>
            </a:r>
          </a:p>
        </p:txBody>
      </p:sp>
      <p:pic>
        <p:nvPicPr>
          <p:cNvPr id="14" name="Picture 13" descr="tmpvhur_d37.png"/>
          <p:cNvPicPr>
            <a:picLocks noChangeAspect="1"/>
          </p:cNvPicPr>
          <p:nvPr/>
        </p:nvPicPr>
        <p:blipFill>
          <a:blip r:embed="rId4"/>
          <a:stretch>
            <a:fillRect/>
          </a:stretch>
        </p:blipFill>
        <p:spPr>
          <a:xfrm>
            <a:off x="1209675" y="1571625"/>
            <a:ext cx="247650" cy="190500"/>
          </a:xfrm>
          <a:prstGeom prst="rect">
            <a:avLst/>
          </a:prstGeom>
        </p:spPr>
      </p:pic>
      <p:pic>
        <p:nvPicPr>
          <p:cNvPr id="15" name="Picture 14" descr="tmpjib845v_.png"/>
          <p:cNvPicPr>
            <a:picLocks noChangeAspect="1"/>
          </p:cNvPicPr>
          <p:nvPr/>
        </p:nvPicPr>
        <p:blipFill>
          <a:blip r:embed="rId5"/>
          <a:stretch>
            <a:fillRect/>
          </a:stretch>
        </p:blipFill>
        <p:spPr>
          <a:xfrm>
            <a:off x="1543050" y="1571625"/>
            <a:ext cx="247650" cy="190500"/>
          </a:xfrm>
          <a:prstGeom prst="rect">
            <a:avLst/>
          </a:prstGeom>
        </p:spPr>
      </p:pic>
      <p:pic>
        <p:nvPicPr>
          <p:cNvPr id="16" name="Picture 15" descr="tmpb4qepa7d.png"/>
          <p:cNvPicPr>
            <a:picLocks noChangeAspect="1"/>
          </p:cNvPicPr>
          <p:nvPr/>
        </p:nvPicPr>
        <p:blipFill>
          <a:blip r:embed="rId6"/>
          <a:stretch>
            <a:fillRect/>
          </a:stretch>
        </p:blipFill>
        <p:spPr>
          <a:xfrm>
            <a:off x="1876425" y="1571625"/>
            <a:ext cx="238125" cy="190500"/>
          </a:xfrm>
          <a:prstGeom prst="rect">
            <a:avLst/>
          </a:prstGeom>
        </p:spPr>
      </p:pic>
      <p:pic>
        <p:nvPicPr>
          <p:cNvPr id="17" name="Picture 16" descr="tmpuc0gcwx3.png"/>
          <p:cNvPicPr>
            <a:picLocks noChangeAspect="1"/>
          </p:cNvPicPr>
          <p:nvPr/>
        </p:nvPicPr>
        <p:blipFill>
          <a:blip r:embed="rId7"/>
          <a:stretch>
            <a:fillRect/>
          </a:stretch>
        </p:blipFill>
        <p:spPr>
          <a:xfrm>
            <a:off x="2200275" y="1571625"/>
            <a:ext cx="247650" cy="190500"/>
          </a:xfrm>
          <a:prstGeom prst="rect">
            <a:avLst/>
          </a:prstGeom>
        </p:spPr>
      </p:pic>
      <p:pic>
        <p:nvPicPr>
          <p:cNvPr id="18" name="Picture 17" descr="tmpoguwlsza.png"/>
          <p:cNvPicPr>
            <a:picLocks noChangeAspect="1"/>
          </p:cNvPicPr>
          <p:nvPr/>
        </p:nvPicPr>
        <p:blipFill>
          <a:blip r:embed="rId8"/>
          <a:stretch>
            <a:fillRect/>
          </a:stretch>
        </p:blipFill>
        <p:spPr>
          <a:xfrm>
            <a:off x="2533650" y="1571625"/>
            <a:ext cx="247650" cy="190500"/>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55498" y="967130"/>
            <a:ext cx="9237725" cy="1887931"/>
          </a:xfrm>
          <a:prstGeom prst="roundRect">
            <a:avLst>
              <a:gd name="adj" fmla="val 6000"/>
            </a:avLst>
          </a:prstGeom>
          <a:solidFill>
            <a:srgbClr val="FEFEFE"/>
          </a:solidFill>
          <a:ln w="11430">
            <a:solidFill>
              <a:srgbClr val="195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55498" y="2941929"/>
            <a:ext cx="9237725" cy="833932"/>
          </a:xfrm>
          <a:prstGeom prst="rect">
            <a:avLst/>
          </a:prstGeom>
          <a:solidFill>
            <a:srgbClr val="ED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55498" y="3891686"/>
            <a:ext cx="9237725" cy="1100327"/>
          </a:xfrm>
          <a:prstGeom prst="rect">
            <a:avLst/>
          </a:prstGeom>
          <a:solidFill>
            <a:srgbClr val="F2FEFE"/>
          </a:solidFill>
          <a:ln w="11430">
            <a:solidFill>
              <a:srgbClr val="F2F9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5498" y="388010"/>
            <a:ext cx="3575761" cy="301142"/>
          </a:xfrm>
          <a:prstGeom prst="rect">
            <a:avLst/>
          </a:prstGeom>
          <a:noFill/>
          <a:ln>
            <a:noFill/>
          </a:ln>
        </p:spPr>
        <p:txBody>
          <a:bodyPr wrap="none" lIns="19050" rIns="19050" tIns="0" bIns="0" anchor="ctr">
            <a:noAutofit/>
          </a:bodyPr>
          <a:lstStyle/>
          <a:p>
            <a:pPr algn="l"/>
            <a:r>
              <a:rPr sz="3150" b="1">
                <a:solidFill>
                  <a:srgbClr val="3C4F8F"/>
                </a:solidFill>
                <a:latin typeface="PingFang SC"/>
              </a:rPr>
              <a:t>血液净化</a:t>
            </a:r>
          </a:p>
        </p:txBody>
      </p:sp>
      <p:sp>
        <p:nvSpPr>
          <p:cNvPr id="7" name="TextBox 6"/>
          <p:cNvSpPr txBox="1"/>
          <p:nvPr/>
        </p:nvSpPr>
        <p:spPr>
          <a:xfrm>
            <a:off x="8322183" y="179527"/>
            <a:ext cx="3915232" cy="411175"/>
          </a:xfrm>
          <a:prstGeom prst="rect">
            <a:avLst/>
          </a:prstGeom>
          <a:noFill/>
          <a:ln>
            <a:noFill/>
          </a:ln>
        </p:spPr>
        <p:txBody>
          <a:bodyPr wrap="none" lIns="19050" rIns="19050" tIns="0" bIns="0" anchor="ctr">
            <a:noAutofit/>
          </a:bodyPr>
          <a:lstStyle/>
          <a:p>
            <a:pPr algn="r"/>
            <a:r>
              <a:rPr sz="1800" b="0">
                <a:solidFill>
                  <a:srgbClr val="B0C4AA"/>
                </a:solidFill>
                <a:latin typeface="PingFang SC"/>
              </a:rPr>
              <a:t>Surviving Sepsis Campaign</a:t>
            </a:r>
          </a:p>
        </p:txBody>
      </p:sp>
      <p:sp>
        <p:nvSpPr>
          <p:cNvPr id="8" name="TextBox 7"/>
          <p:cNvSpPr txBox="1"/>
          <p:nvPr/>
        </p:nvSpPr>
        <p:spPr>
          <a:xfrm>
            <a:off x="740663" y="1227734"/>
            <a:ext cx="8229600" cy="463296"/>
          </a:xfrm>
          <a:prstGeom prst="rect">
            <a:avLst/>
          </a:prstGeom>
          <a:noFill/>
          <a:ln>
            <a:noFill/>
          </a:ln>
        </p:spPr>
        <p:txBody>
          <a:bodyPr wrap="square" lIns="19050" rIns="19050" tIns="0" bIns="0" anchor="t">
            <a:normAutofit/>
          </a:bodyPr>
          <a:lstStyle/>
          <a:p>
            <a:pPr algn="l"/>
            <a:r>
              <a:rPr sz="1500" b="0">
                <a:solidFill>
                  <a:srgbClr val="8D9489"/>
                </a:solidFill>
                <a:latin typeface="PingFang SC"/>
              </a:rPr>
              <a:t>83. 对于患有脓毒症或感染性休克的成年人，我们“建议不使用”血液净化技术，包括血液灌流、高剂量血液滤过或血浆置换。</a:t>
            </a:r>
          </a:p>
        </p:txBody>
      </p:sp>
      <p:sp>
        <p:nvSpPr>
          <p:cNvPr id="9" name="TextBox 8"/>
          <p:cNvSpPr txBox="1"/>
          <p:nvPr/>
        </p:nvSpPr>
        <p:spPr>
          <a:xfrm>
            <a:off x="740663" y="2154326"/>
            <a:ext cx="8229600" cy="231647"/>
          </a:xfrm>
          <a:prstGeom prst="rect">
            <a:avLst/>
          </a:prstGeom>
          <a:noFill/>
          <a:ln>
            <a:noFill/>
          </a:ln>
        </p:spPr>
        <p:txBody>
          <a:bodyPr wrap="square" lIns="19050" rIns="19050" tIns="0" bIns="0" anchor="t">
            <a:normAutofit/>
          </a:bodyPr>
          <a:lstStyle/>
          <a:p>
            <a:pPr algn="l"/>
            <a:r>
              <a:rPr sz="1480" b="0">
                <a:solidFill>
                  <a:srgbClr val="969E88"/>
                </a:solidFill>
                <a:latin typeface="PingFang SC"/>
              </a:rPr>
              <a:t>84. 对于患有脓毒症或感染性休克的成年人，我们“建议不使用”多黏菌素B血液灌流。</a:t>
            </a:r>
          </a:p>
        </p:txBody>
      </p:sp>
      <p:sp>
        <p:nvSpPr>
          <p:cNvPr id="10" name="TextBox 9"/>
          <p:cNvSpPr txBox="1"/>
          <p:nvPr/>
        </p:nvSpPr>
        <p:spPr>
          <a:xfrm>
            <a:off x="740663" y="2999841"/>
            <a:ext cx="3168396" cy="138988"/>
          </a:xfrm>
          <a:prstGeom prst="rect">
            <a:avLst/>
          </a:prstGeom>
          <a:noFill/>
          <a:ln>
            <a:noFill/>
          </a:ln>
        </p:spPr>
        <p:txBody>
          <a:bodyPr wrap="none" lIns="19050" rIns="19050" tIns="0" bIns="0" anchor="ctr">
            <a:noAutofit/>
          </a:bodyPr>
          <a:lstStyle/>
          <a:p>
            <a:pPr algn="l"/>
            <a:r>
              <a:rPr sz="1350" b="1">
                <a:solidFill>
                  <a:srgbClr val="70A3B7"/>
                </a:solidFill>
                <a:latin typeface="PingFang SC"/>
              </a:rPr>
              <a:t>2021年声明 (83)</a:t>
            </a:r>
          </a:p>
        </p:txBody>
      </p:sp>
      <p:sp>
        <p:nvSpPr>
          <p:cNvPr id="11" name="TextBox 10"/>
          <p:cNvSpPr txBox="1"/>
          <p:nvPr/>
        </p:nvSpPr>
        <p:spPr>
          <a:xfrm>
            <a:off x="740663" y="3231489"/>
            <a:ext cx="8229600" cy="196900"/>
          </a:xfrm>
          <a:prstGeom prst="rect">
            <a:avLst/>
          </a:prstGeom>
          <a:noFill/>
          <a:ln>
            <a:noFill/>
          </a:ln>
        </p:spPr>
        <p:txBody>
          <a:bodyPr wrap="square" lIns="19050" rIns="19050" tIns="0" bIns="0" anchor="t">
            <a:normAutofit/>
          </a:bodyPr>
          <a:lstStyle/>
          <a:p>
            <a:pPr algn="l"/>
            <a:r>
              <a:rPr sz="1350" b="0">
                <a:solidFill>
                  <a:srgbClr val="9FA4A9"/>
                </a:solidFill>
                <a:latin typeface="PingFang SC"/>
              </a:rPr>
              <a:t>对于患有脓毒症或脓毒性休克的成人，我们建议不要使用多粘菌素B血液灌流。</a:t>
            </a:r>
          </a:p>
        </p:txBody>
      </p:sp>
      <p:sp>
        <p:nvSpPr>
          <p:cNvPr id="12" name="TextBox 11"/>
          <p:cNvSpPr txBox="1"/>
          <p:nvPr/>
        </p:nvSpPr>
        <p:spPr>
          <a:xfrm>
            <a:off x="740663" y="3949598"/>
            <a:ext cx="9031986" cy="926591"/>
          </a:xfrm>
          <a:prstGeom prst="rect">
            <a:avLst/>
          </a:prstGeom>
          <a:noFill/>
          <a:ln>
            <a:noFill/>
          </a:ln>
        </p:spPr>
        <p:txBody>
          <a:bodyPr wrap="square" lIns="19050" rIns="19050" tIns="0" bIns="0" anchor="t">
            <a:normAutofit/>
          </a:bodyPr>
          <a:lstStyle/>
          <a:p>
            <a:pPr algn="l"/>
            <a:r>
              <a:rPr sz="1260" b="0">
                <a:solidFill>
                  <a:srgbClr val="828487"/>
                </a:solidFill>
                <a:latin typeface="PingFang SC"/>
              </a:rPr>
              <a:t>尽管有许多随机对照试验，但我们不确定血液净化对死亡率的影响。虽然三种技术均显示出降低短期死亡率（28-30天）的迹象（血液灌流相对危险度0.83；95%置信区间，0.71-0.98，低确定性；血液滤过相对危险度0.61；95%置信区间，0.61-0.90，低确定性；血浆置换相对危险度0.64；95%置信区间，0.46-0.89，低确定性），但由于每种技术存在不同因素（血液灌流——不一致性、不精确性；血液滤过——偏倚风险、不一致性；血浆置换——非常严重的不精确性），证据的确定性较低。</a:t>
            </a:r>
          </a:p>
        </p:txBody>
      </p:sp>
      <p:sp>
        <p:nvSpPr>
          <p:cNvPr id="13" name="TextBox 12"/>
          <p:cNvSpPr txBox="1"/>
          <p:nvPr/>
        </p:nvSpPr>
        <p:spPr>
          <a:xfrm>
            <a:off x="555498" y="5049926"/>
            <a:ext cx="2444191" cy="92659"/>
          </a:xfrm>
          <a:prstGeom prst="rect">
            <a:avLst/>
          </a:prstGeom>
          <a:noFill/>
          <a:ln>
            <a:noFill/>
          </a:ln>
        </p:spPr>
        <p:txBody>
          <a:bodyPr wrap="none" lIns="19050" rIns="19050" tIns="0" bIns="0" anchor="ctr">
            <a:noAutofit/>
          </a:bodyPr>
          <a:lstStyle/>
          <a:p>
            <a:pPr algn="l"/>
            <a:r>
              <a:rPr sz="900" b="0">
                <a:solidFill>
                  <a:srgbClr val="839D9C"/>
                </a:solidFill>
                <a:latin typeface="PingFang SC"/>
              </a:rPr>
              <a:t>Critical Care Medicine</a:t>
            </a:r>
          </a:p>
        </p:txBody>
      </p:sp>
      <p:sp>
        <p:nvSpPr>
          <p:cNvPr id="14" name="TextBox 13"/>
          <p:cNvSpPr txBox="1"/>
          <p:nvPr/>
        </p:nvSpPr>
        <p:spPr>
          <a:xfrm>
            <a:off x="555498" y="5432145"/>
            <a:ext cx="2670505" cy="115823"/>
          </a:xfrm>
          <a:prstGeom prst="rect">
            <a:avLst/>
          </a:prstGeom>
          <a:noFill/>
          <a:ln>
            <a:noFill/>
          </a:ln>
        </p:spPr>
        <p:txBody>
          <a:bodyPr wrap="none" lIns="19050" rIns="19050" tIns="0" bIns="0" anchor="ctr">
            <a:noAutofit/>
          </a:bodyPr>
          <a:lstStyle/>
          <a:p>
            <a:pPr algn="l"/>
            <a:r>
              <a:rPr sz="1200" b="0">
                <a:solidFill>
                  <a:srgbClr val="D1E7E8"/>
                </a:solidFill>
                <a:latin typeface="PingFang SC"/>
              </a:rPr>
              <a:t>公众号: 指南导航</a:t>
            </a:r>
          </a:p>
        </p:txBody>
      </p:sp>
      <p:sp>
        <p:nvSpPr>
          <p:cNvPr id="15" name="TextBox 14"/>
          <p:cNvSpPr txBox="1"/>
          <p:nvPr/>
        </p:nvSpPr>
        <p:spPr>
          <a:xfrm>
            <a:off x="10287000" y="5339486"/>
            <a:ext cx="0" cy="173736"/>
          </a:xfrm>
          <a:prstGeom prst="rect">
            <a:avLst/>
          </a:prstGeom>
          <a:noFill/>
          <a:ln>
            <a:noFill/>
          </a:ln>
        </p:spPr>
        <p:txBody>
          <a:bodyPr wrap="none" lIns="19050" rIns="19050" tIns="0" bIns="0" anchor="ctr">
            <a:noAutofit/>
          </a:bodyPr>
          <a:lstStyle/>
          <a:p>
            <a:pPr algn="r"/>
            <a:r>
              <a:rPr sz="1500" b="0">
                <a:solidFill>
                  <a:srgbClr val="000000"/>
                </a:solidFill>
                <a:latin typeface="PingFang SC"/>
              </a:rPr>
              <a:t>53</a:t>
            </a:r>
          </a:p>
        </p:txBody>
      </p:sp>
      <p:sp>
        <p:nvSpPr>
          <p:cNvPr id="16" name="TextBox 15"/>
          <p:cNvSpPr txBox="1"/>
          <p:nvPr/>
        </p:nvSpPr>
        <p:spPr>
          <a:xfrm>
            <a:off x="9176004" y="1227734"/>
            <a:ext cx="905256" cy="150571"/>
          </a:xfrm>
          <a:prstGeom prst="rect">
            <a:avLst/>
          </a:prstGeom>
          <a:noFill/>
          <a:ln>
            <a:noFill/>
          </a:ln>
        </p:spPr>
        <p:txBody>
          <a:bodyPr wrap="none" lIns="19050" rIns="19050" tIns="0" bIns="0" anchor="ctr">
            <a:noAutofit/>
          </a:bodyPr>
          <a:lstStyle/>
          <a:p>
            <a:pPr algn="r"/>
            <a:r>
              <a:rPr sz="1350" b="0">
                <a:solidFill>
                  <a:srgbClr val="486980"/>
                </a:solidFill>
                <a:latin typeface="PingFang SC"/>
              </a:rPr>
              <a:t>修订</a:t>
            </a:r>
          </a:p>
        </p:txBody>
      </p:sp>
      <p:sp>
        <p:nvSpPr>
          <p:cNvPr id="17" name="TextBox 16"/>
          <p:cNvSpPr txBox="1"/>
          <p:nvPr/>
        </p:nvSpPr>
        <p:spPr>
          <a:xfrm>
            <a:off x="9176004" y="2154326"/>
            <a:ext cx="905256" cy="150571"/>
          </a:xfrm>
          <a:prstGeom prst="rect">
            <a:avLst/>
          </a:prstGeom>
          <a:noFill/>
          <a:ln>
            <a:noFill/>
          </a:ln>
        </p:spPr>
        <p:txBody>
          <a:bodyPr wrap="none" lIns="19050" rIns="19050" tIns="0" bIns="0" anchor="ctr">
            <a:noAutofit/>
          </a:bodyPr>
          <a:lstStyle/>
          <a:p>
            <a:pPr algn="r"/>
            <a:r>
              <a:rPr sz="1350" b="0">
                <a:solidFill>
                  <a:srgbClr val="83AA7C"/>
                </a:solidFill>
                <a:latin typeface="PingFang SC"/>
              </a:rPr>
              <a:t>沿用</a:t>
            </a:r>
          </a:p>
        </p:txBody>
      </p:sp>
      <p:pic>
        <p:nvPicPr>
          <p:cNvPr id="18" name="Picture 17" descr="tmp145kl705.png"/>
          <p:cNvPicPr>
            <a:picLocks noChangeAspect="1"/>
          </p:cNvPicPr>
          <p:nvPr/>
        </p:nvPicPr>
        <p:blipFill>
          <a:blip r:embed="rId2"/>
          <a:stretch>
            <a:fillRect/>
          </a:stretch>
        </p:blipFill>
        <p:spPr>
          <a:xfrm>
            <a:off x="1257300" y="1866900"/>
            <a:ext cx="266700" cy="171450"/>
          </a:xfrm>
          <a:prstGeom prst="rect">
            <a:avLst/>
          </a:prstGeom>
        </p:spPr>
      </p:pic>
      <p:pic>
        <p:nvPicPr>
          <p:cNvPr id="19" name="Picture 18" descr="tmpe3okfl2d.png"/>
          <p:cNvPicPr>
            <a:picLocks noChangeAspect="1"/>
          </p:cNvPicPr>
          <p:nvPr/>
        </p:nvPicPr>
        <p:blipFill>
          <a:blip r:embed="rId3"/>
          <a:stretch>
            <a:fillRect/>
          </a:stretch>
        </p:blipFill>
        <p:spPr>
          <a:xfrm>
            <a:off x="1666875" y="1866900"/>
            <a:ext cx="266700" cy="171450"/>
          </a:xfrm>
          <a:prstGeom prst="rect">
            <a:avLst/>
          </a:prstGeom>
        </p:spPr>
      </p:pic>
      <p:pic>
        <p:nvPicPr>
          <p:cNvPr id="20" name="Picture 19" descr="tmprwudbj1o.png"/>
          <p:cNvPicPr>
            <a:picLocks noChangeAspect="1"/>
          </p:cNvPicPr>
          <p:nvPr/>
        </p:nvPicPr>
        <p:blipFill>
          <a:blip r:embed="rId4"/>
          <a:stretch>
            <a:fillRect/>
          </a:stretch>
        </p:blipFill>
        <p:spPr>
          <a:xfrm>
            <a:off x="1257300" y="2447925"/>
            <a:ext cx="266700" cy="171450"/>
          </a:xfrm>
          <a:prstGeom prst="rect">
            <a:avLst/>
          </a:prstGeom>
        </p:spPr>
      </p:pic>
      <p:pic>
        <p:nvPicPr>
          <p:cNvPr id="21" name="Picture 20" descr="tmpkd0yvvuo.png"/>
          <p:cNvPicPr>
            <a:picLocks noChangeAspect="1"/>
          </p:cNvPicPr>
          <p:nvPr/>
        </p:nvPicPr>
        <p:blipFill>
          <a:blip r:embed="rId5"/>
          <a:stretch>
            <a:fillRect/>
          </a:stretch>
        </p:blipFill>
        <p:spPr>
          <a:xfrm>
            <a:off x="1666875" y="2447925"/>
            <a:ext cx="266700" cy="171450"/>
          </a:xfrm>
          <a:prstGeom prst="rect">
            <a:avLst/>
          </a:prstGeom>
        </p:spPr>
      </p:pic>
      <p:pic>
        <p:nvPicPr>
          <p:cNvPr id="22" name="Picture 21" descr="tmpfnye1h67.png"/>
          <p:cNvPicPr>
            <a:picLocks noChangeAspect="1"/>
          </p:cNvPicPr>
          <p:nvPr/>
        </p:nvPicPr>
        <p:blipFill>
          <a:blip r:embed="rId6"/>
          <a:stretch>
            <a:fillRect/>
          </a:stretch>
        </p:blipFill>
        <p:spPr>
          <a:xfrm>
            <a:off x="1257300" y="3314700"/>
            <a:ext cx="266700" cy="171450"/>
          </a:xfrm>
          <a:prstGeom prst="rect">
            <a:avLst/>
          </a:prstGeom>
        </p:spPr>
      </p:pic>
      <p:pic>
        <p:nvPicPr>
          <p:cNvPr id="23" name="Picture 22" descr="tmpzarxk0hi.png"/>
          <p:cNvPicPr>
            <a:picLocks noChangeAspect="1"/>
          </p:cNvPicPr>
          <p:nvPr/>
        </p:nvPicPr>
        <p:blipFill>
          <a:blip r:embed="rId7"/>
          <a:stretch>
            <a:fillRect/>
          </a:stretch>
        </p:blipFill>
        <p:spPr>
          <a:xfrm>
            <a:off x="1666875" y="3314700"/>
            <a:ext cx="266700" cy="171450"/>
          </a:xfrm>
          <a:prstGeom prst="rect">
            <a:avLst/>
          </a:prstGeom>
        </p:spPr>
      </p:pic>
      <p:pic>
        <p:nvPicPr>
          <p:cNvPr id="24" name="Picture 23" descr="tmpdggavcsg.png"/>
          <p:cNvPicPr>
            <a:picLocks noChangeAspect="1"/>
          </p:cNvPicPr>
          <p:nvPr/>
        </p:nvPicPr>
        <p:blipFill>
          <a:blip r:embed="rId8"/>
          <a:stretch>
            <a:fillRect/>
          </a:stretch>
        </p:blipFill>
        <p:spPr>
          <a:xfrm>
            <a:off x="2076450" y="3314700"/>
            <a:ext cx="266700" cy="171450"/>
          </a:xfrm>
          <a:prstGeom prst="rect">
            <a:avLst/>
          </a:prstGeom>
        </p:spPr>
      </p:pic>
      <p:pic>
        <p:nvPicPr>
          <p:cNvPr id="25" name="Picture 24" descr="tmp6gc8ymnt.png"/>
          <p:cNvPicPr>
            <a:picLocks noChangeAspect="1"/>
          </p:cNvPicPr>
          <p:nvPr/>
        </p:nvPicPr>
        <p:blipFill>
          <a:blip r:embed="rId9"/>
          <a:stretch>
            <a:fillRect/>
          </a:stretch>
        </p:blipFill>
        <p:spPr>
          <a:xfrm>
            <a:off x="2076450" y="2447925"/>
            <a:ext cx="266700" cy="171450"/>
          </a:xfrm>
          <a:prstGeom prst="rect">
            <a:avLst/>
          </a:prstGeom>
        </p:spPr>
      </p:pic>
      <p:pic>
        <p:nvPicPr>
          <p:cNvPr id="26" name="Picture 25" descr="tmpb_8qdb6c.png"/>
          <p:cNvPicPr>
            <a:picLocks noChangeAspect="1"/>
          </p:cNvPicPr>
          <p:nvPr/>
        </p:nvPicPr>
        <p:blipFill>
          <a:blip r:embed="rId10"/>
          <a:stretch>
            <a:fillRect/>
          </a:stretch>
        </p:blipFill>
        <p:spPr>
          <a:xfrm>
            <a:off x="2076450" y="1866900"/>
            <a:ext cx="266700" cy="171450"/>
          </a:xfrm>
          <a:prstGeom prst="rect">
            <a:avLst/>
          </a:prstGeom>
        </p:spPr>
      </p:pic>
      <p:pic>
        <p:nvPicPr>
          <p:cNvPr id="27" name="Picture 26" descr="tmp0rsvho3a.png"/>
          <p:cNvPicPr>
            <a:picLocks noChangeAspect="1"/>
          </p:cNvPicPr>
          <p:nvPr/>
        </p:nvPicPr>
        <p:blipFill>
          <a:blip r:embed="rId11"/>
          <a:stretch>
            <a:fillRect/>
          </a:stretch>
        </p:blipFill>
        <p:spPr>
          <a:xfrm>
            <a:off x="2486025" y="3314700"/>
            <a:ext cx="266700" cy="171450"/>
          </a:xfrm>
          <a:prstGeom prst="rect">
            <a:avLst/>
          </a:prstGeom>
        </p:spPr>
      </p:pic>
      <p:pic>
        <p:nvPicPr>
          <p:cNvPr id="28" name="Picture 27" descr="tmpyz9o1_dv.png"/>
          <p:cNvPicPr>
            <a:picLocks noChangeAspect="1"/>
          </p:cNvPicPr>
          <p:nvPr/>
        </p:nvPicPr>
        <p:blipFill>
          <a:blip r:embed="rId12"/>
          <a:stretch>
            <a:fillRect/>
          </a:stretch>
        </p:blipFill>
        <p:spPr>
          <a:xfrm>
            <a:off x="2486025" y="2447925"/>
            <a:ext cx="266700" cy="171450"/>
          </a:xfrm>
          <a:prstGeom prst="rect">
            <a:avLst/>
          </a:prstGeom>
        </p:spPr>
      </p:pic>
      <p:pic>
        <p:nvPicPr>
          <p:cNvPr id="29" name="Picture 28" descr="tmp3yfd092g.png"/>
          <p:cNvPicPr>
            <a:picLocks noChangeAspect="1"/>
          </p:cNvPicPr>
          <p:nvPr/>
        </p:nvPicPr>
        <p:blipFill>
          <a:blip r:embed="rId13"/>
          <a:stretch>
            <a:fillRect/>
          </a:stretch>
        </p:blipFill>
        <p:spPr>
          <a:xfrm>
            <a:off x="2486025" y="1866900"/>
            <a:ext cx="266700" cy="171450"/>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t12foseb.png"/>
          <p:cNvPicPr>
            <a:picLocks noChangeAspect="1"/>
          </p:cNvPicPr>
          <p:nvPr/>
        </p:nvPicPr>
        <p:blipFill>
          <a:blip r:embed="rId2"/>
          <a:stretch>
            <a:fillRect/>
          </a:stretch>
        </p:blipFill>
        <p:spPr>
          <a:xfrm>
            <a:off x="552450" y="4895850"/>
            <a:ext cx="2247900" cy="266700"/>
          </a:xfrm>
          <a:prstGeom prst="rect">
            <a:avLst/>
          </a:prstGeom>
        </p:spPr>
      </p:pic>
      <p:pic>
        <p:nvPicPr>
          <p:cNvPr id="4" name="Picture 3" descr="tmp9is9o0q1.png"/>
          <p:cNvPicPr>
            <a:picLocks noChangeAspect="1"/>
          </p:cNvPicPr>
          <p:nvPr/>
        </p:nvPicPr>
        <p:blipFill>
          <a:blip r:embed="rId3"/>
          <a:stretch>
            <a:fillRect/>
          </a:stretch>
        </p:blipFill>
        <p:spPr>
          <a:xfrm>
            <a:off x="2905125" y="4895850"/>
            <a:ext cx="609600" cy="266700"/>
          </a:xfrm>
          <a:prstGeom prst="rect">
            <a:avLst/>
          </a:prstGeom>
        </p:spPr>
      </p:pic>
      <p:pic>
        <p:nvPicPr>
          <p:cNvPr id="5" name="Picture 4" descr="tmp0n12w2vt.png"/>
          <p:cNvPicPr>
            <a:picLocks noChangeAspect="1"/>
          </p:cNvPicPr>
          <p:nvPr/>
        </p:nvPicPr>
        <p:blipFill>
          <a:blip r:embed="rId4"/>
          <a:stretch>
            <a:fillRect/>
          </a:stretch>
        </p:blipFill>
        <p:spPr>
          <a:xfrm>
            <a:off x="3619500" y="4895850"/>
            <a:ext cx="723900" cy="266700"/>
          </a:xfrm>
          <a:prstGeom prst="rect">
            <a:avLst/>
          </a:prstGeom>
        </p:spPr>
      </p:pic>
      <p:sp>
        <p:nvSpPr>
          <p:cNvPr id="6" name="Rounded Rectangle 5"/>
          <p:cNvSpPr/>
          <p:nvPr/>
        </p:nvSpPr>
        <p:spPr>
          <a:xfrm>
            <a:off x="555498" y="943965"/>
            <a:ext cx="9186291" cy="1326184"/>
          </a:xfrm>
          <a:prstGeom prst="roundRect">
            <a:avLst>
              <a:gd name="adj" fmla="val 6000"/>
            </a:avLst>
          </a:prstGeom>
          <a:solidFill>
            <a:srgbClr val="FEFEFE"/>
          </a:solidFill>
          <a:ln w="11430">
            <a:solidFill>
              <a:srgbClr val="F2FD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55498" y="2941929"/>
            <a:ext cx="9186291" cy="1106119"/>
          </a:xfrm>
          <a:prstGeom prst="roundRect">
            <a:avLst>
              <a:gd name="adj" fmla="val 6000"/>
            </a:avLst>
          </a:prstGeom>
          <a:solidFill>
            <a:srgbClr val="FDFEFD"/>
          </a:solidFill>
          <a:ln w="11430">
            <a:solidFill>
              <a:srgbClr val="FBFD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5498" y="428548"/>
            <a:ext cx="3575761" cy="277977"/>
          </a:xfrm>
          <a:prstGeom prst="rect">
            <a:avLst/>
          </a:prstGeom>
          <a:noFill/>
          <a:ln>
            <a:noFill/>
          </a:ln>
        </p:spPr>
        <p:txBody>
          <a:bodyPr wrap="none" lIns="19050" rIns="19050" tIns="0" bIns="0" anchor="ctr">
            <a:noAutofit/>
          </a:bodyPr>
          <a:lstStyle/>
          <a:p>
            <a:pPr algn="l"/>
            <a:r>
              <a:rPr sz="2400" b="1">
                <a:solidFill>
                  <a:srgbClr val="558FB1"/>
                </a:solidFill>
                <a:latin typeface="PingFang SC"/>
              </a:rPr>
              <a:t>&gt;&gt; 维生素D</a:t>
            </a:r>
          </a:p>
        </p:txBody>
      </p:sp>
      <p:sp>
        <p:nvSpPr>
          <p:cNvPr id="9" name="TextBox 8"/>
          <p:cNvSpPr txBox="1"/>
          <p:nvPr/>
        </p:nvSpPr>
        <p:spPr>
          <a:xfrm>
            <a:off x="946404" y="1239316"/>
            <a:ext cx="8044433" cy="191109"/>
          </a:xfrm>
          <a:prstGeom prst="rect">
            <a:avLst/>
          </a:prstGeom>
          <a:noFill/>
          <a:ln>
            <a:noFill/>
          </a:ln>
        </p:spPr>
        <p:txBody>
          <a:bodyPr wrap="square" lIns="19050" rIns="19050" tIns="0" bIns="0" anchor="t">
            <a:normAutofit/>
          </a:bodyPr>
          <a:lstStyle/>
          <a:p>
            <a:pPr algn="l"/>
            <a:r>
              <a:rPr sz="1300" b="0">
                <a:solidFill>
                  <a:srgbClr val="868D86"/>
                </a:solidFill>
                <a:latin typeface="PingFang SC"/>
              </a:rPr>
              <a:t>85. 对于患有脓毒症和感染性休克的成年人，我们“建议不”使用维生素D疗法治疗脓毒症。</a:t>
            </a:r>
          </a:p>
        </p:txBody>
      </p:sp>
      <p:sp>
        <p:nvSpPr>
          <p:cNvPr id="10" name="TextBox 9"/>
          <p:cNvSpPr txBox="1"/>
          <p:nvPr/>
        </p:nvSpPr>
        <p:spPr>
          <a:xfrm>
            <a:off x="1275587" y="1853184"/>
            <a:ext cx="6789420" cy="138988"/>
          </a:xfrm>
          <a:prstGeom prst="rect">
            <a:avLst/>
          </a:prstGeom>
          <a:noFill/>
          <a:ln>
            <a:noFill/>
          </a:ln>
        </p:spPr>
        <p:txBody>
          <a:bodyPr wrap="square" lIns="19050" rIns="19050" tIns="0" bIns="0" anchor="t">
            <a:normAutofit/>
          </a:bodyPr>
          <a:lstStyle/>
          <a:p>
            <a:pPr algn="l"/>
            <a:r>
              <a:rPr sz="930" b="0">
                <a:solidFill>
                  <a:srgbClr val="A7BE9C"/>
                </a:solidFill>
                <a:latin typeface="PingFang SC"/>
              </a:rPr>
              <a:t>备注：本建议不适用于因其他指征而服用低剂量维生素D补充剂或作为标准营养方案一部分接受该补充剂的患者。</a:t>
            </a:r>
          </a:p>
        </p:txBody>
      </p:sp>
      <p:sp>
        <p:nvSpPr>
          <p:cNvPr id="11" name="TextBox 10"/>
          <p:cNvSpPr txBox="1"/>
          <p:nvPr/>
        </p:nvSpPr>
        <p:spPr>
          <a:xfrm>
            <a:off x="555498" y="2501798"/>
            <a:ext cx="3575761" cy="272186"/>
          </a:xfrm>
          <a:prstGeom prst="rect">
            <a:avLst/>
          </a:prstGeom>
          <a:noFill/>
          <a:ln>
            <a:noFill/>
          </a:ln>
        </p:spPr>
        <p:txBody>
          <a:bodyPr wrap="none" lIns="19050" rIns="19050" tIns="0" bIns="0" anchor="ctr">
            <a:noAutofit/>
          </a:bodyPr>
          <a:lstStyle/>
          <a:p>
            <a:pPr algn="l"/>
            <a:r>
              <a:rPr sz="2400" b="1">
                <a:solidFill>
                  <a:srgbClr val="538BB0"/>
                </a:solidFill>
                <a:latin typeface="PingFang SC"/>
              </a:rPr>
              <a:t>&gt;&gt; 静脉血必净</a:t>
            </a:r>
          </a:p>
        </p:txBody>
      </p:sp>
      <p:sp>
        <p:nvSpPr>
          <p:cNvPr id="12" name="TextBox 11"/>
          <p:cNvSpPr txBox="1"/>
          <p:nvPr/>
        </p:nvSpPr>
        <p:spPr>
          <a:xfrm>
            <a:off x="946404" y="3237280"/>
            <a:ext cx="8044433" cy="191109"/>
          </a:xfrm>
          <a:prstGeom prst="rect">
            <a:avLst/>
          </a:prstGeom>
          <a:noFill/>
          <a:ln>
            <a:noFill/>
          </a:ln>
        </p:spPr>
        <p:txBody>
          <a:bodyPr wrap="square" lIns="19050" rIns="19050" tIns="0" bIns="0" anchor="t">
            <a:normAutofit/>
          </a:bodyPr>
          <a:lstStyle/>
          <a:p>
            <a:pPr algn="l"/>
            <a:r>
              <a:rPr sz="1180" b="0">
                <a:solidFill>
                  <a:srgbClr val="878E87"/>
                </a:solidFill>
                <a:latin typeface="PingFang SC"/>
              </a:rPr>
              <a:t>86. 对于患有脓毒症或感染性休克的成年人，我们“建议不要”在血必净注射液未获监管批准的辖区使用该药物。</a:t>
            </a:r>
          </a:p>
        </p:txBody>
      </p:sp>
      <p:sp>
        <p:nvSpPr>
          <p:cNvPr id="13" name="TextBox 12"/>
          <p:cNvSpPr txBox="1"/>
          <p:nvPr/>
        </p:nvSpPr>
        <p:spPr>
          <a:xfrm>
            <a:off x="8353044" y="173735"/>
            <a:ext cx="3847337" cy="416966"/>
          </a:xfrm>
          <a:prstGeom prst="rect">
            <a:avLst/>
          </a:prstGeom>
          <a:noFill/>
          <a:ln>
            <a:noFill/>
          </a:ln>
        </p:spPr>
        <p:txBody>
          <a:bodyPr wrap="none" lIns="19050" rIns="19050" tIns="0" bIns="0" anchor="ctr">
            <a:noAutofit/>
          </a:bodyPr>
          <a:lstStyle/>
          <a:p>
            <a:pPr algn="r"/>
            <a:r>
              <a:rPr sz="1800" b="0">
                <a:solidFill>
                  <a:srgbClr val="AFC3A8"/>
                </a:solidFill>
                <a:latin typeface="PingFang SC"/>
              </a:rPr>
              <a:t>Surviving Sepsis Campaign</a:t>
            </a:r>
          </a:p>
        </p:txBody>
      </p:sp>
      <p:sp>
        <p:nvSpPr>
          <p:cNvPr id="14" name="TextBox 13"/>
          <p:cNvSpPr txBox="1"/>
          <p:nvPr/>
        </p:nvSpPr>
        <p:spPr>
          <a:xfrm>
            <a:off x="9176004" y="1239316"/>
            <a:ext cx="724204" cy="162153"/>
          </a:xfrm>
          <a:prstGeom prst="rect">
            <a:avLst/>
          </a:prstGeom>
          <a:noFill/>
          <a:ln>
            <a:noFill/>
          </a:ln>
        </p:spPr>
        <p:txBody>
          <a:bodyPr wrap="none" lIns="19050" rIns="19050" tIns="0" bIns="0" anchor="ctr">
            <a:noAutofit/>
          </a:bodyPr>
          <a:lstStyle/>
          <a:p>
            <a:pPr algn="r"/>
            <a:r>
              <a:rPr sz="1200" b="0">
                <a:solidFill>
                  <a:srgbClr val="89ACC7"/>
                </a:solidFill>
                <a:latin typeface="PingFang SC"/>
              </a:rPr>
              <a:t>新增</a:t>
            </a:r>
          </a:p>
        </p:txBody>
      </p:sp>
      <p:sp>
        <p:nvSpPr>
          <p:cNvPr id="15" name="TextBox 14"/>
          <p:cNvSpPr txBox="1"/>
          <p:nvPr/>
        </p:nvSpPr>
        <p:spPr>
          <a:xfrm>
            <a:off x="9176004" y="3237280"/>
            <a:ext cx="724204" cy="162153"/>
          </a:xfrm>
          <a:prstGeom prst="rect">
            <a:avLst/>
          </a:prstGeom>
          <a:noFill/>
          <a:ln>
            <a:noFill/>
          </a:ln>
        </p:spPr>
        <p:txBody>
          <a:bodyPr wrap="none" lIns="19050" rIns="19050" tIns="0" bIns="0" anchor="ctr">
            <a:noAutofit/>
          </a:bodyPr>
          <a:lstStyle/>
          <a:p>
            <a:pPr algn="r"/>
            <a:r>
              <a:rPr sz="1200" b="0">
                <a:solidFill>
                  <a:srgbClr val="87AEC7"/>
                </a:solidFill>
                <a:latin typeface="PingFang SC"/>
              </a:rPr>
              <a:t>新增</a:t>
            </a:r>
          </a:p>
        </p:txBody>
      </p:sp>
      <p:sp>
        <p:nvSpPr>
          <p:cNvPr id="16" name="TextBox 15"/>
          <p:cNvSpPr txBox="1"/>
          <p:nvPr/>
        </p:nvSpPr>
        <p:spPr>
          <a:xfrm>
            <a:off x="555498" y="5455310"/>
            <a:ext cx="2444191" cy="138988"/>
          </a:xfrm>
          <a:prstGeom prst="rect">
            <a:avLst/>
          </a:prstGeom>
          <a:noFill/>
          <a:ln>
            <a:noFill/>
          </a:ln>
        </p:spPr>
        <p:txBody>
          <a:bodyPr wrap="none" lIns="19050" rIns="19050" tIns="0" bIns="0" anchor="ctr">
            <a:noAutofit/>
          </a:bodyPr>
          <a:lstStyle/>
          <a:p>
            <a:pPr algn="l"/>
            <a:r>
              <a:rPr sz="1050" b="0">
                <a:solidFill>
                  <a:srgbClr val="D3E7E8"/>
                </a:solidFill>
                <a:latin typeface="PingFang SC"/>
              </a:rPr>
              <a:t>公众号·指南导航</a:t>
            </a:r>
          </a:p>
        </p:txBody>
      </p:sp>
      <p:sp>
        <p:nvSpPr>
          <p:cNvPr id="17" name="TextBox 16"/>
          <p:cNvSpPr txBox="1"/>
          <p:nvPr/>
        </p:nvSpPr>
        <p:spPr>
          <a:xfrm>
            <a:off x="10287000" y="5339486"/>
            <a:ext cx="0" cy="231647"/>
          </a:xfrm>
          <a:prstGeom prst="rect">
            <a:avLst/>
          </a:prstGeom>
          <a:noFill/>
          <a:ln>
            <a:noFill/>
          </a:ln>
        </p:spPr>
        <p:txBody>
          <a:bodyPr wrap="none" lIns="19050" rIns="19050" tIns="0" bIns="0" anchor="ctr">
            <a:noAutofit/>
          </a:bodyPr>
          <a:lstStyle/>
          <a:p>
            <a:pPr algn="r"/>
            <a:r>
              <a:rPr sz="1350" b="0">
                <a:solidFill>
                  <a:srgbClr val="000000"/>
                </a:solidFill>
                <a:latin typeface="PingFang SC"/>
              </a:rPr>
              <a:t>54</a:t>
            </a:r>
          </a:p>
        </p:txBody>
      </p:sp>
      <p:pic>
        <p:nvPicPr>
          <p:cNvPr id="18" name="Picture 17" descr="tmprr143adc.png"/>
          <p:cNvPicPr>
            <a:picLocks noChangeAspect="1"/>
          </p:cNvPicPr>
          <p:nvPr/>
        </p:nvPicPr>
        <p:blipFill>
          <a:blip r:embed="rId5"/>
          <a:stretch>
            <a:fillRect/>
          </a:stretch>
        </p:blipFill>
        <p:spPr>
          <a:xfrm>
            <a:off x="1209675" y="1590675"/>
            <a:ext cx="247650" cy="161925"/>
          </a:xfrm>
          <a:prstGeom prst="rect">
            <a:avLst/>
          </a:prstGeom>
        </p:spPr>
      </p:pic>
      <p:pic>
        <p:nvPicPr>
          <p:cNvPr id="19" name="Picture 18" descr="tmp5nr8fjkd.png"/>
          <p:cNvPicPr>
            <a:picLocks noChangeAspect="1"/>
          </p:cNvPicPr>
          <p:nvPr/>
        </p:nvPicPr>
        <p:blipFill>
          <a:blip r:embed="rId6"/>
          <a:stretch>
            <a:fillRect/>
          </a:stretch>
        </p:blipFill>
        <p:spPr>
          <a:xfrm>
            <a:off x="1209675" y="3609975"/>
            <a:ext cx="247650" cy="161925"/>
          </a:xfrm>
          <a:prstGeom prst="rect">
            <a:avLst/>
          </a:prstGeom>
        </p:spPr>
      </p:pic>
      <p:pic>
        <p:nvPicPr>
          <p:cNvPr id="20" name="Picture 19" descr="tmpjbjn0tbn.png"/>
          <p:cNvPicPr>
            <a:picLocks noChangeAspect="1"/>
          </p:cNvPicPr>
          <p:nvPr/>
        </p:nvPicPr>
        <p:blipFill>
          <a:blip r:embed="rId7"/>
          <a:stretch>
            <a:fillRect/>
          </a:stretch>
        </p:blipFill>
        <p:spPr>
          <a:xfrm>
            <a:off x="1562100" y="1590675"/>
            <a:ext cx="971550" cy="161925"/>
          </a:xfrm>
          <a:prstGeom prst="rect">
            <a:avLst/>
          </a:prstGeom>
        </p:spPr>
      </p:pic>
      <p:pic>
        <p:nvPicPr>
          <p:cNvPr id="21" name="Picture 20" descr="tmpdj9nwe8h.png"/>
          <p:cNvPicPr>
            <a:picLocks noChangeAspect="1"/>
          </p:cNvPicPr>
          <p:nvPr/>
        </p:nvPicPr>
        <p:blipFill>
          <a:blip r:embed="rId8"/>
          <a:stretch>
            <a:fillRect/>
          </a:stretch>
        </p:blipFill>
        <p:spPr>
          <a:xfrm>
            <a:off x="1562100" y="3609975"/>
            <a:ext cx="971550" cy="161925"/>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cm8xjehx.png"/>
          <p:cNvPicPr>
            <a:picLocks noChangeAspect="1"/>
          </p:cNvPicPr>
          <p:nvPr/>
        </p:nvPicPr>
        <p:blipFill>
          <a:blip r:embed="rId2"/>
          <a:stretch>
            <a:fillRect/>
          </a:stretch>
        </p:blipFill>
        <p:spPr>
          <a:xfrm>
            <a:off x="533400" y="4924425"/>
            <a:ext cx="1095375" cy="333375"/>
          </a:xfrm>
          <a:prstGeom prst="rect">
            <a:avLst/>
          </a:prstGeom>
        </p:spPr>
      </p:pic>
      <p:pic>
        <p:nvPicPr>
          <p:cNvPr id="4" name="Picture 3" descr="tmp9e_zmql4.png"/>
          <p:cNvPicPr>
            <a:picLocks noChangeAspect="1"/>
          </p:cNvPicPr>
          <p:nvPr/>
        </p:nvPicPr>
        <p:blipFill>
          <a:blip r:embed="rId3"/>
          <a:stretch>
            <a:fillRect/>
          </a:stretch>
        </p:blipFill>
        <p:spPr>
          <a:xfrm>
            <a:off x="1685925" y="4924425"/>
            <a:ext cx="933450" cy="333375"/>
          </a:xfrm>
          <a:prstGeom prst="rect">
            <a:avLst/>
          </a:prstGeom>
        </p:spPr>
      </p:pic>
      <p:sp>
        <p:nvSpPr>
          <p:cNvPr id="5" name="Rectangle 4"/>
          <p:cNvSpPr/>
          <p:nvPr/>
        </p:nvSpPr>
        <p:spPr>
          <a:xfrm>
            <a:off x="3898773" y="1772107"/>
            <a:ext cx="6388227" cy="57912"/>
          </a:xfrm>
          <a:prstGeom prst="rect">
            <a:avLst/>
          </a:prstGeom>
          <a:solidFill>
            <a:srgbClr val="FAFEEB"/>
          </a:solidFill>
          <a:ln w="11430">
            <a:solidFill>
              <a:srgbClr val="FAFE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3949598"/>
            <a:ext cx="7077456" cy="57911"/>
          </a:xfrm>
          <a:prstGeom prst="rect">
            <a:avLst/>
          </a:prstGeom>
          <a:solidFill>
            <a:srgbClr val="E2F3CC"/>
          </a:solidFill>
          <a:ln w="11430">
            <a:solidFill>
              <a:srgbClr val="E2F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933956" y="2443886"/>
            <a:ext cx="2919450" cy="787603"/>
          </a:xfrm>
          <a:prstGeom prst="rect">
            <a:avLst/>
          </a:prstGeom>
          <a:noFill/>
          <a:ln>
            <a:noFill/>
          </a:ln>
        </p:spPr>
        <p:txBody>
          <a:bodyPr wrap="none" lIns="19050" rIns="19050" tIns="0" bIns="0" anchor="ctr">
            <a:noAutofit/>
          </a:bodyPr>
          <a:lstStyle/>
          <a:p>
            <a:pPr algn="l"/>
            <a:r>
              <a:rPr sz="8400" b="1">
                <a:solidFill>
                  <a:srgbClr val="139FD4"/>
                </a:solidFill>
                <a:latin typeface="PingFang SC"/>
              </a:rPr>
              <a:t>06</a:t>
            </a:r>
          </a:p>
        </p:txBody>
      </p:sp>
      <p:sp>
        <p:nvSpPr>
          <p:cNvPr id="8" name="TextBox 7"/>
          <p:cNvSpPr txBox="1"/>
          <p:nvPr/>
        </p:nvSpPr>
        <p:spPr>
          <a:xfrm>
            <a:off x="3929634" y="2443886"/>
            <a:ext cx="7446264" cy="498043"/>
          </a:xfrm>
          <a:prstGeom prst="rect">
            <a:avLst/>
          </a:prstGeom>
          <a:noFill/>
          <a:ln>
            <a:noFill/>
          </a:ln>
        </p:spPr>
        <p:txBody>
          <a:bodyPr wrap="none" lIns="19050" rIns="19050" tIns="0" bIns="0" anchor="ctr">
            <a:noAutofit/>
          </a:bodyPr>
          <a:lstStyle/>
          <a:p>
            <a:pPr algn="l"/>
            <a:r>
              <a:rPr sz="4800" b="1">
                <a:solidFill>
                  <a:srgbClr val="364453"/>
                </a:solidFill>
                <a:latin typeface="PingFang SC"/>
              </a:rPr>
              <a:t>附加支持性治疗</a:t>
            </a:r>
          </a:p>
        </p:txBody>
      </p:sp>
      <p:sp>
        <p:nvSpPr>
          <p:cNvPr id="9" name="TextBox 8"/>
          <p:cNvSpPr txBox="1"/>
          <p:nvPr/>
        </p:nvSpPr>
        <p:spPr>
          <a:xfrm>
            <a:off x="3929634" y="3080918"/>
            <a:ext cx="8217789" cy="185318"/>
          </a:xfrm>
          <a:prstGeom prst="rect">
            <a:avLst/>
          </a:prstGeom>
          <a:noFill/>
          <a:ln>
            <a:noFill/>
          </a:ln>
        </p:spPr>
        <p:txBody>
          <a:bodyPr wrap="none" lIns="19050" rIns="19050" tIns="0" bIns="0" anchor="ctr">
            <a:noAutofit/>
          </a:bodyPr>
          <a:lstStyle/>
          <a:p>
            <a:pPr algn="l"/>
            <a:r>
              <a:rPr sz="1800" b="0">
                <a:solidFill>
                  <a:srgbClr val="6E7679"/>
                </a:solidFill>
                <a:latin typeface="PingFang SC"/>
              </a:rPr>
              <a:t>Additional supportive therapies in patients with sepsis</a:t>
            </a:r>
          </a:p>
        </p:txBody>
      </p:sp>
      <p:sp>
        <p:nvSpPr>
          <p:cNvPr id="10" name="TextBox 9"/>
          <p:cNvSpPr txBox="1"/>
          <p:nvPr/>
        </p:nvSpPr>
        <p:spPr>
          <a:xfrm>
            <a:off x="8322183" y="162153"/>
            <a:ext cx="3915232" cy="440131"/>
          </a:xfrm>
          <a:prstGeom prst="rect">
            <a:avLst/>
          </a:prstGeom>
          <a:noFill/>
          <a:ln>
            <a:noFill/>
          </a:ln>
        </p:spPr>
        <p:txBody>
          <a:bodyPr wrap="none" lIns="19050" rIns="19050" tIns="0" bIns="0" anchor="ctr">
            <a:noAutofit/>
          </a:bodyPr>
          <a:lstStyle/>
          <a:p>
            <a:pPr algn="r"/>
            <a:r>
              <a:rPr sz="1800" b="0">
                <a:solidFill>
                  <a:srgbClr val="B0C4AA"/>
                </a:solidFill>
                <a:latin typeface="PingFang SC"/>
              </a:rPr>
              <a:t>Surviving Sepsis Campaign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55498" y="967130"/>
            <a:ext cx="9196577" cy="1303020"/>
          </a:xfrm>
          <a:prstGeom prst="roundRect">
            <a:avLst>
              <a:gd name="adj" fmla="val 6000"/>
            </a:avLst>
          </a:prstGeom>
          <a:solidFill>
            <a:srgbClr val="FEFEFE"/>
          </a:solidFill>
          <a:ln w="11430">
            <a:solidFill>
              <a:srgbClr val="1255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55498" y="2328062"/>
            <a:ext cx="9196577" cy="1042415"/>
          </a:xfrm>
          <a:prstGeom prst="rect">
            <a:avLst/>
          </a:prstGeom>
          <a:solidFill>
            <a:srgbClr val="ED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55498" y="3399434"/>
            <a:ext cx="9196577" cy="1795272"/>
          </a:xfrm>
          <a:prstGeom prst="rect">
            <a:avLst/>
          </a:prstGeom>
          <a:solidFill>
            <a:srgbClr val="F1FEFE"/>
          </a:solidFill>
          <a:ln w="11430">
            <a:solidFill>
              <a:srgbClr val="E4FE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6646" y="388010"/>
            <a:ext cx="4843119" cy="318516"/>
          </a:xfrm>
          <a:prstGeom prst="rect">
            <a:avLst/>
          </a:prstGeom>
          <a:noFill/>
          <a:ln>
            <a:noFill/>
          </a:ln>
        </p:spPr>
        <p:txBody>
          <a:bodyPr wrap="none" lIns="19050" rIns="19050" tIns="0" bIns="0" anchor="ctr">
            <a:noAutofit/>
          </a:bodyPr>
          <a:lstStyle/>
          <a:p>
            <a:pPr algn="l"/>
            <a:r>
              <a:rPr sz="2700" b="1">
                <a:solidFill>
                  <a:srgbClr val="42548F"/>
                </a:solidFill>
                <a:latin typeface="PingFang SC"/>
              </a:rPr>
              <a:t>应激性溃疡预防</a:t>
            </a:r>
          </a:p>
        </p:txBody>
      </p:sp>
      <p:sp>
        <p:nvSpPr>
          <p:cNvPr id="7" name="TextBox 6"/>
          <p:cNvSpPr txBox="1"/>
          <p:nvPr/>
        </p:nvSpPr>
        <p:spPr>
          <a:xfrm>
            <a:off x="8301609" y="185318"/>
            <a:ext cx="3960494" cy="405384"/>
          </a:xfrm>
          <a:prstGeom prst="rect">
            <a:avLst/>
          </a:prstGeom>
          <a:noFill/>
          <a:ln>
            <a:noFill/>
          </a:ln>
        </p:spPr>
        <p:txBody>
          <a:bodyPr wrap="none" lIns="19050" rIns="19050" tIns="0" bIns="0" anchor="ctr">
            <a:noAutofit/>
          </a:bodyPr>
          <a:lstStyle/>
          <a:p>
            <a:pPr algn="r"/>
            <a:r>
              <a:rPr sz="1800" b="0">
                <a:solidFill>
                  <a:srgbClr val="B0C3AA"/>
                </a:solidFill>
                <a:latin typeface="PingFang SC"/>
              </a:rPr>
              <a:t>Surviving Sepsis Campaign</a:t>
            </a:r>
          </a:p>
        </p:txBody>
      </p:sp>
      <p:sp>
        <p:nvSpPr>
          <p:cNvPr id="8" name="TextBox 7"/>
          <p:cNvSpPr txBox="1"/>
          <p:nvPr/>
        </p:nvSpPr>
        <p:spPr>
          <a:xfrm>
            <a:off x="946404" y="1227734"/>
            <a:ext cx="8229600" cy="463296"/>
          </a:xfrm>
          <a:prstGeom prst="rect">
            <a:avLst/>
          </a:prstGeom>
          <a:noFill/>
          <a:ln>
            <a:noFill/>
          </a:ln>
        </p:spPr>
        <p:txBody>
          <a:bodyPr wrap="square" lIns="19050" rIns="19050" tIns="0" bIns="0" anchor="t">
            <a:normAutofit/>
          </a:bodyPr>
          <a:lstStyle/>
          <a:p>
            <a:pPr algn="l"/>
            <a:r>
              <a:rPr sz="1350" b="0">
                <a:solidFill>
                  <a:srgbClr val="818987"/>
                </a:solidFill>
                <a:latin typeface="PingFang SC"/>
              </a:rPr>
              <a:t>87. 对于患有脓毒症或感染性休克且存在胃肠道出血危险因素的成年人，我们“建议”使用质子泵抑制剂进行应激性溃疡预防，而非不进行应激性溃疡预防。</a:t>
            </a:r>
          </a:p>
        </p:txBody>
      </p:sp>
      <p:sp>
        <p:nvSpPr>
          <p:cNvPr id="9" name="TextBox 8"/>
          <p:cNvSpPr txBox="1"/>
          <p:nvPr/>
        </p:nvSpPr>
        <p:spPr>
          <a:xfrm>
            <a:off x="843534" y="2385974"/>
            <a:ext cx="2625242" cy="144780"/>
          </a:xfrm>
          <a:prstGeom prst="rect">
            <a:avLst/>
          </a:prstGeom>
          <a:noFill/>
          <a:ln>
            <a:noFill/>
          </a:ln>
        </p:spPr>
        <p:txBody>
          <a:bodyPr wrap="none" lIns="19050" rIns="19050" tIns="0" bIns="0" anchor="ctr">
            <a:noAutofit/>
          </a:bodyPr>
          <a:lstStyle/>
          <a:p>
            <a:pPr algn="l"/>
            <a:r>
              <a:rPr sz="1200" b="1">
                <a:solidFill>
                  <a:srgbClr val="75A6B9"/>
                </a:solidFill>
                <a:latin typeface="PingFang SC"/>
              </a:rPr>
              <a:t>2021年声明 (87)</a:t>
            </a:r>
          </a:p>
        </p:txBody>
      </p:sp>
      <p:sp>
        <p:nvSpPr>
          <p:cNvPr id="10" name="TextBox 9"/>
          <p:cNvSpPr txBox="1"/>
          <p:nvPr/>
        </p:nvSpPr>
        <p:spPr>
          <a:xfrm>
            <a:off x="946404" y="2617622"/>
            <a:ext cx="6275070" cy="173735"/>
          </a:xfrm>
          <a:prstGeom prst="rect">
            <a:avLst/>
          </a:prstGeom>
          <a:noFill/>
          <a:ln>
            <a:noFill/>
          </a:ln>
        </p:spPr>
        <p:txBody>
          <a:bodyPr wrap="square" lIns="19050" rIns="19050" tIns="0" bIns="0" anchor="t">
            <a:normAutofit/>
          </a:bodyPr>
          <a:lstStyle/>
          <a:p>
            <a:pPr algn="l"/>
            <a:r>
              <a:rPr sz="1030" b="0">
                <a:solidFill>
                  <a:srgbClr val="9EA3A8"/>
                </a:solidFill>
                <a:latin typeface="PingFang SC"/>
              </a:rPr>
              <a:t>对于患有脓毒症或感染性休克且有胃肠道（GI）出血危险因素的成年人，我们建议进行应激性溃疡预防。</a:t>
            </a:r>
          </a:p>
        </p:txBody>
      </p:sp>
      <p:sp>
        <p:nvSpPr>
          <p:cNvPr id="11" name="TextBox 10"/>
          <p:cNvSpPr txBox="1"/>
          <p:nvPr/>
        </p:nvSpPr>
        <p:spPr>
          <a:xfrm>
            <a:off x="740663" y="3717950"/>
            <a:ext cx="8805672" cy="1274064"/>
          </a:xfrm>
          <a:prstGeom prst="rect">
            <a:avLst/>
          </a:prstGeom>
          <a:noFill/>
          <a:ln>
            <a:noFill/>
          </a:ln>
        </p:spPr>
        <p:txBody>
          <a:bodyPr wrap="square" lIns="19050" rIns="19050" tIns="0" bIns="0" anchor="t">
            <a:normAutofit/>
          </a:bodyPr>
          <a:lstStyle/>
          <a:p>
            <a:pPr algn="l"/>
            <a:r>
              <a:rPr sz="1200" b="0">
                <a:solidFill>
                  <a:srgbClr val="6B7B80"/>
                </a:solidFill>
                <a:latin typeface="PingFang SC"/>
              </a:rPr>
              <a:t>• 我们对一项现有的系统评价进行了更新，纳入了12项随机对照试验（RCT），其中包括2024年的REVISE试验，该试验评估了质子泵抑制剂（PPIs）对临床上重要的胃肠道出血的影响。</a:t>
            </a:r>
          </a:p>
          <a:p>
            <a:pPr algn="l"/>
            <a:r>
              <a:rPr sz="1200" b="0">
                <a:solidFill>
                  <a:srgbClr val="6B7B80"/>
                </a:solidFill>
                <a:latin typeface="PingFang SC"/>
              </a:rPr>
              <a:t>• PPIs降低了临床上重要的胃肠道出血风险，但对死亡率、艰难梭菌感染、机械通气时长和肺炎的影响不确定。</a:t>
            </a:r>
          </a:p>
          <a:p>
            <a:pPr algn="l"/>
            <a:r>
              <a:rPr sz="1200" b="0">
                <a:solidFill>
                  <a:srgbClr val="6B7B80"/>
                </a:solidFill>
                <a:latin typeface="PingFang SC"/>
              </a:rPr>
              <a:t>• 由于这些试验未专门研究脓毒症或感染性休克患者，证据因间接性而被降级。</a:t>
            </a:r>
          </a:p>
        </p:txBody>
      </p:sp>
      <p:sp>
        <p:nvSpPr>
          <p:cNvPr id="12" name="TextBox 11"/>
          <p:cNvSpPr txBox="1"/>
          <p:nvPr/>
        </p:nvSpPr>
        <p:spPr>
          <a:xfrm>
            <a:off x="555498" y="5455310"/>
            <a:ext cx="2444191" cy="115823"/>
          </a:xfrm>
          <a:prstGeom prst="rect">
            <a:avLst/>
          </a:prstGeom>
          <a:noFill/>
          <a:ln>
            <a:noFill/>
          </a:ln>
        </p:spPr>
        <p:txBody>
          <a:bodyPr wrap="none" lIns="19050" rIns="19050" tIns="0" bIns="0" anchor="ctr">
            <a:noAutofit/>
          </a:bodyPr>
          <a:lstStyle/>
          <a:p>
            <a:pPr algn="l"/>
            <a:r>
              <a:rPr sz="1050" b="0">
                <a:solidFill>
                  <a:srgbClr val="D2E7E8"/>
                </a:solidFill>
                <a:latin typeface="PingFang SC"/>
              </a:rPr>
              <a:t>公众号-指南导航</a:t>
            </a:r>
          </a:p>
        </p:txBody>
      </p:sp>
      <p:sp>
        <p:nvSpPr>
          <p:cNvPr id="13" name="TextBox 12"/>
          <p:cNvSpPr txBox="1"/>
          <p:nvPr/>
        </p:nvSpPr>
        <p:spPr>
          <a:xfrm>
            <a:off x="10287000" y="5339486"/>
            <a:ext cx="0" cy="231647"/>
          </a:xfrm>
          <a:prstGeom prst="rect">
            <a:avLst/>
          </a:prstGeom>
          <a:noFill/>
          <a:ln>
            <a:noFill/>
          </a:ln>
        </p:spPr>
        <p:txBody>
          <a:bodyPr wrap="none" lIns="19050" rIns="19050" tIns="0" bIns="0" anchor="ctr">
            <a:noAutofit/>
          </a:bodyPr>
          <a:lstStyle/>
          <a:p>
            <a:pPr algn="r"/>
            <a:r>
              <a:rPr sz="1350" b="0">
                <a:solidFill>
                  <a:srgbClr val="000000"/>
                </a:solidFill>
                <a:latin typeface="PingFang SC"/>
              </a:rPr>
              <a:t>56</a:t>
            </a:r>
          </a:p>
        </p:txBody>
      </p:sp>
      <p:sp>
        <p:nvSpPr>
          <p:cNvPr id="14" name="TextBox 13"/>
          <p:cNvSpPr txBox="1"/>
          <p:nvPr/>
        </p:nvSpPr>
        <p:spPr>
          <a:xfrm>
            <a:off x="9073134" y="1227734"/>
            <a:ext cx="814730" cy="144780"/>
          </a:xfrm>
          <a:prstGeom prst="rect">
            <a:avLst/>
          </a:prstGeom>
          <a:noFill/>
          <a:ln>
            <a:noFill/>
          </a:ln>
        </p:spPr>
        <p:txBody>
          <a:bodyPr wrap="none" lIns="19050" rIns="19050" tIns="0" bIns="0" anchor="ctr">
            <a:noAutofit/>
          </a:bodyPr>
          <a:lstStyle/>
          <a:p>
            <a:pPr algn="r"/>
            <a:r>
              <a:rPr sz="1200" b="1">
                <a:solidFill>
                  <a:srgbClr val="8AB279"/>
                </a:solidFill>
                <a:latin typeface="PingFang SC"/>
              </a:rPr>
              <a:t>修订</a:t>
            </a:r>
          </a:p>
        </p:txBody>
      </p:sp>
      <p:pic>
        <p:nvPicPr>
          <p:cNvPr id="15" name="Picture 14" descr="tmpxl6_hsd5.png"/>
          <p:cNvPicPr>
            <a:picLocks noChangeAspect="1"/>
          </p:cNvPicPr>
          <p:nvPr/>
        </p:nvPicPr>
        <p:blipFill>
          <a:blip r:embed="rId2"/>
          <a:stretch>
            <a:fillRect/>
          </a:stretch>
        </p:blipFill>
        <p:spPr>
          <a:xfrm>
            <a:off x="1209675" y="1895475"/>
            <a:ext cx="1304925" cy="200025"/>
          </a:xfrm>
          <a:prstGeom prst="rect">
            <a:avLst/>
          </a:prstGeom>
        </p:spPr>
      </p:pic>
      <p:pic>
        <p:nvPicPr>
          <p:cNvPr id="16" name="Picture 15" descr="tmp8xwmt9w2.png"/>
          <p:cNvPicPr>
            <a:picLocks noChangeAspect="1"/>
          </p:cNvPicPr>
          <p:nvPr/>
        </p:nvPicPr>
        <p:blipFill>
          <a:blip r:embed="rId3"/>
          <a:stretch>
            <a:fillRect/>
          </a:stretch>
        </p:blipFill>
        <p:spPr>
          <a:xfrm>
            <a:off x="1209675" y="2962275"/>
            <a:ext cx="1009650" cy="209550"/>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2f3ee2qq.png"/>
          <p:cNvPicPr>
            <a:picLocks noChangeAspect="1"/>
          </p:cNvPicPr>
          <p:nvPr/>
        </p:nvPicPr>
        <p:blipFill>
          <a:blip r:embed="rId2"/>
          <a:stretch>
            <a:fillRect/>
          </a:stretch>
        </p:blipFill>
        <p:spPr>
          <a:xfrm>
            <a:off x="1666875" y="4933950"/>
            <a:ext cx="161925" cy="171450"/>
          </a:xfrm>
          <a:prstGeom prst="rect">
            <a:avLst/>
          </a:prstGeom>
        </p:spPr>
      </p:pic>
      <p:pic>
        <p:nvPicPr>
          <p:cNvPr id="4" name="Picture 3" descr="tmppwsomxsv.png"/>
          <p:cNvPicPr>
            <a:picLocks noChangeAspect="1"/>
          </p:cNvPicPr>
          <p:nvPr/>
        </p:nvPicPr>
        <p:blipFill>
          <a:blip r:embed="rId3"/>
          <a:stretch>
            <a:fillRect/>
          </a:stretch>
        </p:blipFill>
        <p:spPr>
          <a:xfrm>
            <a:off x="2695575" y="4933950"/>
            <a:ext cx="161925" cy="171450"/>
          </a:xfrm>
          <a:prstGeom prst="rect">
            <a:avLst/>
          </a:prstGeom>
        </p:spPr>
      </p:pic>
      <p:sp>
        <p:nvSpPr>
          <p:cNvPr id="5" name="Rounded Rectangle 4"/>
          <p:cNvSpPr/>
          <p:nvPr/>
        </p:nvSpPr>
        <p:spPr>
          <a:xfrm>
            <a:off x="555498" y="967130"/>
            <a:ext cx="9145142" cy="990295"/>
          </a:xfrm>
          <a:prstGeom prst="roundRect">
            <a:avLst>
              <a:gd name="adj" fmla="val 6000"/>
            </a:avLst>
          </a:prstGeom>
          <a:solidFill>
            <a:srgbClr val="FEFEFE"/>
          </a:solidFill>
          <a:ln w="11430">
            <a:solidFill>
              <a:srgbClr val="155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55498" y="2634996"/>
            <a:ext cx="9145142" cy="1835810"/>
          </a:xfrm>
          <a:prstGeom prst="roundRect">
            <a:avLst>
              <a:gd name="adj" fmla="val 6000"/>
            </a:avLst>
          </a:prstGeom>
          <a:solidFill>
            <a:srgbClr val="FEFEFD"/>
          </a:solidFill>
          <a:ln w="11430">
            <a:solidFill>
              <a:srgbClr val="1355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5498" y="428548"/>
            <a:ext cx="3077870" cy="277977"/>
          </a:xfrm>
          <a:prstGeom prst="rect">
            <a:avLst/>
          </a:prstGeom>
          <a:noFill/>
          <a:ln>
            <a:noFill/>
          </a:ln>
        </p:spPr>
        <p:txBody>
          <a:bodyPr wrap="none" lIns="19050" rIns="19050" tIns="0" bIns="0" anchor="ctr">
            <a:noAutofit/>
          </a:bodyPr>
          <a:lstStyle/>
          <a:p>
            <a:pPr algn="l"/>
            <a:r>
              <a:rPr sz="2400" b="1">
                <a:solidFill>
                  <a:srgbClr val="518EB0"/>
                </a:solidFill>
                <a:latin typeface="PingFang SC"/>
              </a:rPr>
              <a:t>&gt;&gt; 益生菌</a:t>
            </a:r>
          </a:p>
        </p:txBody>
      </p:sp>
      <p:sp>
        <p:nvSpPr>
          <p:cNvPr id="8" name="TextBox 7"/>
          <p:cNvSpPr txBox="1"/>
          <p:nvPr/>
        </p:nvSpPr>
        <p:spPr>
          <a:xfrm>
            <a:off x="905255" y="1227734"/>
            <a:ext cx="8065008" cy="185318"/>
          </a:xfrm>
          <a:prstGeom prst="rect">
            <a:avLst/>
          </a:prstGeom>
          <a:noFill/>
          <a:ln>
            <a:noFill/>
          </a:ln>
        </p:spPr>
        <p:txBody>
          <a:bodyPr wrap="square" lIns="19050" rIns="19050" tIns="0" bIns="0" anchor="t">
            <a:normAutofit/>
          </a:bodyPr>
          <a:lstStyle/>
          <a:p>
            <a:pPr algn="l"/>
            <a:r>
              <a:rPr sz="1420" b="0">
                <a:solidFill>
                  <a:srgbClr val="9AA186"/>
                </a:solidFill>
                <a:latin typeface="PingFang SC"/>
              </a:rPr>
              <a:t>88. 对于患有脓毒症或感染性休克的成年人，我们 “建议不使用” 益生菌。</a:t>
            </a:r>
          </a:p>
        </p:txBody>
      </p:sp>
      <p:sp>
        <p:nvSpPr>
          <p:cNvPr id="9" name="TextBox 8"/>
          <p:cNvSpPr txBox="1"/>
          <p:nvPr/>
        </p:nvSpPr>
        <p:spPr>
          <a:xfrm>
            <a:off x="9176004" y="1239316"/>
            <a:ext cx="724204" cy="162153"/>
          </a:xfrm>
          <a:prstGeom prst="rect">
            <a:avLst/>
          </a:prstGeom>
          <a:noFill/>
          <a:ln>
            <a:noFill/>
          </a:ln>
        </p:spPr>
        <p:txBody>
          <a:bodyPr wrap="none" lIns="19050" rIns="19050" tIns="0" bIns="0" anchor="ctr">
            <a:noAutofit/>
          </a:bodyPr>
          <a:lstStyle/>
          <a:p>
            <a:pPr algn="r"/>
            <a:r>
              <a:rPr sz="1200" b="0">
                <a:solidFill>
                  <a:srgbClr val="85ACC5"/>
                </a:solidFill>
                <a:latin typeface="PingFang SC"/>
              </a:rPr>
              <a:t>新增</a:t>
            </a:r>
          </a:p>
        </p:txBody>
      </p:sp>
      <p:sp>
        <p:nvSpPr>
          <p:cNvPr id="10" name="TextBox 9"/>
          <p:cNvSpPr txBox="1"/>
          <p:nvPr/>
        </p:nvSpPr>
        <p:spPr>
          <a:xfrm>
            <a:off x="555498" y="2154326"/>
            <a:ext cx="4481017" cy="272186"/>
          </a:xfrm>
          <a:prstGeom prst="rect">
            <a:avLst/>
          </a:prstGeom>
          <a:noFill/>
          <a:ln>
            <a:noFill/>
          </a:ln>
        </p:spPr>
        <p:txBody>
          <a:bodyPr wrap="none" lIns="19050" rIns="19050" tIns="0" bIns="0" anchor="ctr">
            <a:noAutofit/>
          </a:bodyPr>
          <a:lstStyle/>
          <a:p>
            <a:pPr algn="l"/>
            <a:r>
              <a:rPr sz="2400" b="1">
                <a:solidFill>
                  <a:srgbClr val="598DB0"/>
                </a:solidFill>
                <a:latin typeface="PingFang SC"/>
              </a:rPr>
              <a:t>&gt;&gt; 主动液体移除</a:t>
            </a:r>
          </a:p>
        </p:txBody>
      </p:sp>
      <p:sp>
        <p:nvSpPr>
          <p:cNvPr id="11" name="TextBox 10"/>
          <p:cNvSpPr txBox="1"/>
          <p:nvPr/>
        </p:nvSpPr>
        <p:spPr>
          <a:xfrm>
            <a:off x="905255" y="2907182"/>
            <a:ext cx="8065008" cy="185318"/>
          </a:xfrm>
          <a:prstGeom prst="rect">
            <a:avLst/>
          </a:prstGeom>
          <a:noFill/>
          <a:ln>
            <a:noFill/>
          </a:ln>
        </p:spPr>
        <p:txBody>
          <a:bodyPr wrap="square" lIns="19050" rIns="19050" tIns="0" bIns="0" anchor="t">
            <a:normAutofit/>
          </a:bodyPr>
          <a:lstStyle/>
          <a:p>
            <a:pPr algn="l"/>
            <a:r>
              <a:rPr sz="1340" b="0">
                <a:solidFill>
                  <a:srgbClr val="8E9490"/>
                </a:solidFill>
                <a:latin typeface="PingFang SC"/>
              </a:rPr>
              <a:t>89. 对于急性复苏阶段后的感染性休克成年患者，我们 “建议” 采用主动液体移除。</a:t>
            </a:r>
          </a:p>
        </p:txBody>
      </p:sp>
      <p:sp>
        <p:nvSpPr>
          <p:cNvPr id="12" name="TextBox 11"/>
          <p:cNvSpPr txBox="1"/>
          <p:nvPr/>
        </p:nvSpPr>
        <p:spPr>
          <a:xfrm>
            <a:off x="9176004" y="2918764"/>
            <a:ext cx="724204" cy="162153"/>
          </a:xfrm>
          <a:prstGeom prst="rect">
            <a:avLst/>
          </a:prstGeom>
          <a:noFill/>
          <a:ln>
            <a:noFill/>
          </a:ln>
        </p:spPr>
        <p:txBody>
          <a:bodyPr wrap="none" lIns="19050" rIns="19050" tIns="0" bIns="0" anchor="ctr">
            <a:noAutofit/>
          </a:bodyPr>
          <a:lstStyle/>
          <a:p>
            <a:pPr algn="r"/>
            <a:r>
              <a:rPr sz="1200" b="0">
                <a:solidFill>
                  <a:srgbClr val="88AEC7"/>
                </a:solidFill>
                <a:latin typeface="PingFang SC"/>
              </a:rPr>
              <a:t>新增</a:t>
            </a:r>
          </a:p>
        </p:txBody>
      </p:sp>
      <p:sp>
        <p:nvSpPr>
          <p:cNvPr id="13" name="TextBox 12"/>
          <p:cNvSpPr txBox="1"/>
          <p:nvPr/>
        </p:nvSpPr>
        <p:spPr>
          <a:xfrm>
            <a:off x="1255014" y="3613708"/>
            <a:ext cx="8085582" cy="625449"/>
          </a:xfrm>
          <a:prstGeom prst="rect">
            <a:avLst/>
          </a:prstGeom>
          <a:noFill/>
          <a:ln>
            <a:noFill/>
          </a:ln>
        </p:spPr>
        <p:txBody>
          <a:bodyPr wrap="square" lIns="19050" rIns="19050" tIns="0" bIns="0" anchor="t">
            <a:normAutofit/>
          </a:bodyPr>
          <a:lstStyle/>
          <a:p>
            <a:pPr algn="l"/>
            <a:r>
              <a:rPr sz="1200" b="0">
                <a:solidFill>
                  <a:srgbClr val="AEC4A4"/>
                </a:solidFill>
                <a:latin typeface="PingFang SC"/>
              </a:rPr>
              <a:t>备注：急性复苏是指逐步增加血管升压药剂量、持续使用高剂量血管升压药或需要持续扩容。主动液体清除是指使用利尿剂，若利尿剂效果不佳，则采用超滤或体外液体清除。决定启动主动液体清除时需考虑的因素包括心肺功能、血管升压药剂量、临床病情、外周水肿情况、体重和液体平衡。</a:t>
            </a:r>
          </a:p>
        </p:txBody>
      </p:sp>
      <p:sp>
        <p:nvSpPr>
          <p:cNvPr id="14" name="TextBox 13"/>
          <p:cNvSpPr txBox="1"/>
          <p:nvPr/>
        </p:nvSpPr>
        <p:spPr>
          <a:xfrm>
            <a:off x="493776" y="4934102"/>
            <a:ext cx="2806293" cy="266395"/>
          </a:xfrm>
          <a:prstGeom prst="rect">
            <a:avLst/>
          </a:prstGeom>
          <a:noFill/>
          <a:ln>
            <a:noFill/>
          </a:ln>
        </p:spPr>
        <p:txBody>
          <a:bodyPr wrap="none" lIns="19050" rIns="19050" tIns="0" bIns="0" anchor="ctr">
            <a:noAutofit/>
          </a:bodyPr>
          <a:lstStyle/>
          <a:p>
            <a:pPr algn="l"/>
            <a:r>
              <a:rPr sz="900" b="0">
                <a:solidFill>
                  <a:srgbClr val="969698"/>
                </a:solidFill>
                <a:latin typeface="PingFang SC"/>
              </a:rPr>
              <a:t>Society of Critical Care Medicine</a:t>
            </a:r>
          </a:p>
          <a:p>
            <a:pPr algn="l"/>
            <a:r>
              <a:rPr sz="900" b="0">
                <a:solidFill>
                  <a:srgbClr val="969698"/>
                </a:solidFill>
                <a:latin typeface="PingFang SC"/>
              </a:rPr>
              <a:t>The Intensive Care Professionals</a:t>
            </a:r>
          </a:p>
        </p:txBody>
      </p:sp>
      <p:sp>
        <p:nvSpPr>
          <p:cNvPr id="15" name="TextBox 14"/>
          <p:cNvSpPr txBox="1"/>
          <p:nvPr/>
        </p:nvSpPr>
        <p:spPr>
          <a:xfrm>
            <a:off x="1831085" y="4934102"/>
            <a:ext cx="1810512" cy="266395"/>
          </a:xfrm>
          <a:prstGeom prst="rect">
            <a:avLst/>
          </a:prstGeom>
          <a:noFill/>
          <a:ln>
            <a:noFill/>
          </a:ln>
        </p:spPr>
        <p:txBody>
          <a:bodyPr wrap="none" lIns="19050" rIns="19050" tIns="0" bIns="0" anchor="ctr">
            <a:noAutofit/>
          </a:bodyPr>
          <a:lstStyle/>
          <a:p>
            <a:pPr algn="l"/>
            <a:r>
              <a:rPr sz="900" b="0">
                <a:solidFill>
                  <a:srgbClr val="8466B6"/>
                </a:solidFill>
                <a:latin typeface="PingFang SC"/>
              </a:rPr>
              <a:t>esicm</a:t>
            </a:r>
          </a:p>
          <a:p>
            <a:pPr algn="l"/>
            <a:r>
              <a:rPr sz="900" b="0">
                <a:solidFill>
                  <a:srgbClr val="8466B6"/>
                </a:solidFill>
                <a:latin typeface="PingFang SC"/>
              </a:rPr>
              <a:t>European Society of Intensive Care Medicine</a:t>
            </a:r>
          </a:p>
        </p:txBody>
      </p:sp>
      <p:sp>
        <p:nvSpPr>
          <p:cNvPr id="16" name="TextBox 15"/>
          <p:cNvSpPr txBox="1"/>
          <p:nvPr/>
        </p:nvSpPr>
        <p:spPr>
          <a:xfrm>
            <a:off x="493776" y="5455310"/>
            <a:ext cx="2579979" cy="138988"/>
          </a:xfrm>
          <a:prstGeom prst="rect">
            <a:avLst/>
          </a:prstGeom>
          <a:noFill/>
          <a:ln>
            <a:noFill/>
          </a:ln>
        </p:spPr>
        <p:txBody>
          <a:bodyPr wrap="none" lIns="19050" rIns="19050" tIns="0" bIns="0" anchor="ctr">
            <a:noAutofit/>
          </a:bodyPr>
          <a:lstStyle/>
          <a:p>
            <a:pPr algn="l"/>
            <a:r>
              <a:rPr sz="1050" b="0">
                <a:solidFill>
                  <a:srgbClr val="BDDFDE"/>
                </a:solidFill>
                <a:latin typeface="PingFang SC"/>
              </a:rPr>
              <a:t>公众号·指南导航</a:t>
            </a:r>
          </a:p>
        </p:txBody>
      </p:sp>
      <p:sp>
        <p:nvSpPr>
          <p:cNvPr id="17" name="TextBox 16"/>
          <p:cNvSpPr txBox="1"/>
          <p:nvPr/>
        </p:nvSpPr>
        <p:spPr>
          <a:xfrm>
            <a:off x="10287000" y="5339486"/>
            <a:ext cx="0" cy="208483"/>
          </a:xfrm>
          <a:prstGeom prst="rect">
            <a:avLst/>
          </a:prstGeom>
          <a:noFill/>
          <a:ln>
            <a:noFill/>
          </a:ln>
        </p:spPr>
        <p:txBody>
          <a:bodyPr wrap="none" lIns="19050" rIns="19050" tIns="0" bIns="0" anchor="ctr">
            <a:noAutofit/>
          </a:bodyPr>
          <a:lstStyle/>
          <a:p>
            <a:pPr algn="r"/>
            <a:r>
              <a:rPr sz="1350" b="0">
                <a:solidFill>
                  <a:srgbClr val="000000"/>
                </a:solidFill>
                <a:latin typeface="PingFang SC"/>
              </a:rPr>
              <a:t>57</a:t>
            </a:r>
          </a:p>
        </p:txBody>
      </p:sp>
      <p:sp>
        <p:nvSpPr>
          <p:cNvPr id="18" name="TextBox 17"/>
          <p:cNvSpPr txBox="1"/>
          <p:nvPr/>
        </p:nvSpPr>
        <p:spPr>
          <a:xfrm>
            <a:off x="8353044" y="173735"/>
            <a:ext cx="3847337" cy="428548"/>
          </a:xfrm>
          <a:prstGeom prst="rect">
            <a:avLst/>
          </a:prstGeom>
          <a:noFill/>
          <a:ln>
            <a:noFill/>
          </a:ln>
        </p:spPr>
        <p:txBody>
          <a:bodyPr wrap="none" lIns="19050" rIns="19050" tIns="0" bIns="0" anchor="ctr">
            <a:noAutofit/>
          </a:bodyPr>
          <a:lstStyle/>
          <a:p>
            <a:pPr algn="r"/>
            <a:r>
              <a:rPr sz="1650" b="0">
                <a:solidFill>
                  <a:srgbClr val="B0C4AA"/>
                </a:solidFill>
                <a:latin typeface="PingFang SC"/>
              </a:rPr>
              <a:t>Surviving Sepsis Campaign</a:t>
            </a:r>
          </a:p>
        </p:txBody>
      </p:sp>
      <p:pic>
        <p:nvPicPr>
          <p:cNvPr id="19" name="Picture 18" descr="tmpwzav7df6.png"/>
          <p:cNvPicPr>
            <a:picLocks noChangeAspect="1"/>
          </p:cNvPicPr>
          <p:nvPr/>
        </p:nvPicPr>
        <p:blipFill>
          <a:blip r:embed="rId4"/>
          <a:stretch>
            <a:fillRect/>
          </a:stretch>
        </p:blipFill>
        <p:spPr>
          <a:xfrm>
            <a:off x="1209675" y="1571625"/>
            <a:ext cx="247650" cy="180975"/>
          </a:xfrm>
          <a:prstGeom prst="rect">
            <a:avLst/>
          </a:prstGeom>
        </p:spPr>
      </p:pic>
      <p:pic>
        <p:nvPicPr>
          <p:cNvPr id="20" name="Picture 19" descr="tmpphyw2vg6.png"/>
          <p:cNvPicPr>
            <a:picLocks noChangeAspect="1"/>
          </p:cNvPicPr>
          <p:nvPr/>
        </p:nvPicPr>
        <p:blipFill>
          <a:blip r:embed="rId5"/>
          <a:stretch>
            <a:fillRect/>
          </a:stretch>
        </p:blipFill>
        <p:spPr>
          <a:xfrm>
            <a:off x="1562100" y="1571625"/>
            <a:ext cx="247650" cy="180975"/>
          </a:xfrm>
          <a:prstGeom prst="rect">
            <a:avLst/>
          </a:prstGeom>
        </p:spPr>
      </p:pic>
      <p:pic>
        <p:nvPicPr>
          <p:cNvPr id="21" name="Picture 20" descr="tmp5kcgo2xg.png"/>
          <p:cNvPicPr>
            <a:picLocks noChangeAspect="1"/>
          </p:cNvPicPr>
          <p:nvPr/>
        </p:nvPicPr>
        <p:blipFill>
          <a:blip r:embed="rId6"/>
          <a:stretch>
            <a:fillRect/>
          </a:stretch>
        </p:blipFill>
        <p:spPr>
          <a:xfrm>
            <a:off x="1914525" y="1571625"/>
            <a:ext cx="247650" cy="180975"/>
          </a:xfrm>
          <a:prstGeom prst="rect">
            <a:avLst/>
          </a:prstGeom>
        </p:spPr>
      </p:pic>
      <p:pic>
        <p:nvPicPr>
          <p:cNvPr id="22" name="Picture 21" descr="tmpab1ea61b.png"/>
          <p:cNvPicPr>
            <a:picLocks noChangeAspect="1"/>
          </p:cNvPicPr>
          <p:nvPr/>
        </p:nvPicPr>
        <p:blipFill>
          <a:blip r:embed="rId7"/>
          <a:stretch>
            <a:fillRect/>
          </a:stretch>
        </p:blipFill>
        <p:spPr>
          <a:xfrm>
            <a:off x="2266950" y="1571625"/>
            <a:ext cx="247650" cy="180975"/>
          </a:xfrm>
          <a:prstGeom prst="rect">
            <a:avLst/>
          </a:prstGeom>
        </p:spPr>
      </p:pic>
      <p:pic>
        <p:nvPicPr>
          <p:cNvPr id="23" name="Picture 22" descr="tmpdodz15ki.png"/>
          <p:cNvPicPr>
            <a:picLocks noChangeAspect="1"/>
          </p:cNvPicPr>
          <p:nvPr/>
        </p:nvPicPr>
        <p:blipFill>
          <a:blip r:embed="rId8"/>
          <a:stretch>
            <a:fillRect/>
          </a:stretch>
        </p:blipFill>
        <p:spPr>
          <a:xfrm>
            <a:off x="2609850" y="1571625"/>
            <a:ext cx="247650" cy="180975"/>
          </a:xfrm>
          <a:prstGeom prst="rect">
            <a:avLst/>
          </a:prstGeom>
        </p:spPr>
      </p:pic>
      <p:pic>
        <p:nvPicPr>
          <p:cNvPr id="24" name="Picture 23" descr="tmp8coao5fe.png"/>
          <p:cNvPicPr>
            <a:picLocks noChangeAspect="1"/>
          </p:cNvPicPr>
          <p:nvPr/>
        </p:nvPicPr>
        <p:blipFill>
          <a:blip r:embed="rId9"/>
          <a:stretch>
            <a:fillRect/>
          </a:stretch>
        </p:blipFill>
        <p:spPr>
          <a:xfrm>
            <a:off x="1257300" y="3257550"/>
            <a:ext cx="247650" cy="171450"/>
          </a:xfrm>
          <a:prstGeom prst="rect">
            <a:avLst/>
          </a:prstGeom>
        </p:spPr>
      </p:pic>
      <p:pic>
        <p:nvPicPr>
          <p:cNvPr id="25" name="Picture 24" descr="tmp7p0v94s_.png"/>
          <p:cNvPicPr>
            <a:picLocks noChangeAspect="1"/>
          </p:cNvPicPr>
          <p:nvPr/>
        </p:nvPicPr>
        <p:blipFill>
          <a:blip r:embed="rId10"/>
          <a:stretch>
            <a:fillRect/>
          </a:stretch>
        </p:blipFill>
        <p:spPr>
          <a:xfrm>
            <a:off x="1600200" y="3257550"/>
            <a:ext cx="247650" cy="171450"/>
          </a:xfrm>
          <a:prstGeom prst="rect">
            <a:avLst/>
          </a:prstGeom>
        </p:spPr>
      </p:pic>
      <p:pic>
        <p:nvPicPr>
          <p:cNvPr id="26" name="Picture 25" descr="tmph9o9_j50.png"/>
          <p:cNvPicPr>
            <a:picLocks noChangeAspect="1"/>
          </p:cNvPicPr>
          <p:nvPr/>
        </p:nvPicPr>
        <p:blipFill>
          <a:blip r:embed="rId11"/>
          <a:stretch>
            <a:fillRect/>
          </a:stretch>
        </p:blipFill>
        <p:spPr>
          <a:xfrm>
            <a:off x="1952625" y="3257550"/>
            <a:ext cx="247650" cy="171450"/>
          </a:xfrm>
          <a:prstGeom prst="rect">
            <a:avLst/>
          </a:prstGeom>
        </p:spPr>
      </p:pic>
      <p:pic>
        <p:nvPicPr>
          <p:cNvPr id="27" name="Picture 26" descr="tmp05bx41k5.png"/>
          <p:cNvPicPr>
            <a:picLocks noChangeAspect="1"/>
          </p:cNvPicPr>
          <p:nvPr/>
        </p:nvPicPr>
        <p:blipFill>
          <a:blip r:embed="rId12"/>
          <a:stretch>
            <a:fillRect/>
          </a:stretch>
        </p:blipFill>
        <p:spPr>
          <a:xfrm>
            <a:off x="2305050" y="3257550"/>
            <a:ext cx="247650" cy="171450"/>
          </a:xfrm>
          <a:prstGeom prst="rect">
            <a:avLst/>
          </a:prstGeom>
        </p:spPr>
      </p:pic>
      <p:pic>
        <p:nvPicPr>
          <p:cNvPr id="28" name="Picture 27" descr="tmphl79sz_6.png"/>
          <p:cNvPicPr>
            <a:picLocks noChangeAspect="1"/>
          </p:cNvPicPr>
          <p:nvPr/>
        </p:nvPicPr>
        <p:blipFill>
          <a:blip r:embed="rId13"/>
          <a:stretch>
            <a:fillRect/>
          </a:stretch>
        </p:blipFill>
        <p:spPr>
          <a:xfrm>
            <a:off x="2657475" y="3257550"/>
            <a:ext cx="247650" cy="171450"/>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djxlhgym.png"/>
          <p:cNvPicPr>
            <a:picLocks noChangeAspect="1"/>
          </p:cNvPicPr>
          <p:nvPr/>
        </p:nvPicPr>
        <p:blipFill>
          <a:blip r:embed="rId2"/>
          <a:stretch>
            <a:fillRect/>
          </a:stretch>
        </p:blipFill>
        <p:spPr>
          <a:xfrm>
            <a:off x="552450" y="4914900"/>
            <a:ext cx="2105025" cy="304800"/>
          </a:xfrm>
          <a:prstGeom prst="rect">
            <a:avLst/>
          </a:prstGeom>
        </p:spPr>
      </p:pic>
      <p:pic>
        <p:nvPicPr>
          <p:cNvPr id="4" name="Picture 3" descr="tmptjzitxvm.png"/>
          <p:cNvPicPr>
            <a:picLocks noChangeAspect="1"/>
          </p:cNvPicPr>
          <p:nvPr/>
        </p:nvPicPr>
        <p:blipFill>
          <a:blip r:embed="rId3"/>
          <a:stretch>
            <a:fillRect/>
          </a:stretch>
        </p:blipFill>
        <p:spPr>
          <a:xfrm>
            <a:off x="1647825" y="4914900"/>
            <a:ext cx="1009650" cy="247650"/>
          </a:xfrm>
          <a:prstGeom prst="rect">
            <a:avLst/>
          </a:prstGeom>
        </p:spPr>
      </p:pic>
      <p:sp>
        <p:nvSpPr>
          <p:cNvPr id="5" name="Rounded Rectangle 4"/>
          <p:cNvSpPr/>
          <p:nvPr/>
        </p:nvSpPr>
        <p:spPr>
          <a:xfrm>
            <a:off x="555498" y="967130"/>
            <a:ext cx="9196577" cy="1088745"/>
          </a:xfrm>
          <a:prstGeom prst="roundRect">
            <a:avLst>
              <a:gd name="adj" fmla="val 6000"/>
            </a:avLst>
          </a:prstGeom>
          <a:solidFill>
            <a:srgbClr val="FEFEFE"/>
          </a:solidFill>
          <a:ln w="11430">
            <a:solidFill>
              <a:srgbClr val="115B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55498" y="2808732"/>
            <a:ext cx="9196577" cy="1082954"/>
          </a:xfrm>
          <a:prstGeom prst="roundRect">
            <a:avLst>
              <a:gd name="adj" fmla="val 6000"/>
            </a:avLst>
          </a:prstGeom>
          <a:solidFill>
            <a:srgbClr val="FEFEFE"/>
          </a:solidFill>
          <a:ln w="11430">
            <a:solidFill>
              <a:srgbClr val="E1F9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5498" y="451713"/>
            <a:ext cx="2625242" cy="266395"/>
          </a:xfrm>
          <a:prstGeom prst="rect">
            <a:avLst/>
          </a:prstGeom>
          <a:noFill/>
          <a:ln>
            <a:noFill/>
          </a:ln>
        </p:spPr>
        <p:txBody>
          <a:bodyPr wrap="none" lIns="19050" rIns="19050" tIns="0" bIns="0" anchor="ctr">
            <a:noAutofit/>
          </a:bodyPr>
          <a:lstStyle/>
          <a:p>
            <a:pPr algn="l"/>
            <a:r>
              <a:rPr sz="2100" b="1">
                <a:solidFill>
                  <a:srgbClr val="5093B3"/>
                </a:solidFill>
                <a:latin typeface="PingFang SC"/>
              </a:rPr>
              <a:t>&gt;&gt; 输血</a:t>
            </a:r>
          </a:p>
        </p:txBody>
      </p:sp>
      <p:sp>
        <p:nvSpPr>
          <p:cNvPr id="8" name="TextBox 7"/>
          <p:cNvSpPr txBox="1"/>
          <p:nvPr/>
        </p:nvSpPr>
        <p:spPr>
          <a:xfrm>
            <a:off x="946404" y="1227734"/>
            <a:ext cx="8229600" cy="202692"/>
          </a:xfrm>
          <a:prstGeom prst="rect">
            <a:avLst/>
          </a:prstGeom>
          <a:noFill/>
          <a:ln>
            <a:noFill/>
          </a:ln>
        </p:spPr>
        <p:txBody>
          <a:bodyPr wrap="square" lIns="19050" rIns="19050" tIns="0" bIns="0" anchor="t">
            <a:normAutofit/>
          </a:bodyPr>
          <a:lstStyle/>
          <a:p>
            <a:pPr algn="l"/>
            <a:r>
              <a:rPr sz="1300" b="0">
                <a:solidFill>
                  <a:srgbClr val="838588"/>
                </a:solidFill>
                <a:latin typeface="PingFang SC"/>
              </a:rPr>
              <a:t>90. 对于患有脓毒症或感染性休克的成年人，我们“推荐”采用限制性输血策略而非宽松输血策略。</a:t>
            </a:r>
          </a:p>
        </p:txBody>
      </p:sp>
      <p:sp>
        <p:nvSpPr>
          <p:cNvPr id="9" name="TextBox 8"/>
          <p:cNvSpPr txBox="1"/>
          <p:nvPr/>
        </p:nvSpPr>
        <p:spPr>
          <a:xfrm>
            <a:off x="9176004" y="1227734"/>
            <a:ext cx="814730" cy="202692"/>
          </a:xfrm>
          <a:prstGeom prst="rect">
            <a:avLst/>
          </a:prstGeom>
          <a:noFill/>
          <a:ln>
            <a:noFill/>
          </a:ln>
        </p:spPr>
        <p:txBody>
          <a:bodyPr wrap="none" lIns="19050" rIns="19050" tIns="0" bIns="0" anchor="ctr">
            <a:noAutofit/>
          </a:bodyPr>
          <a:lstStyle/>
          <a:p>
            <a:pPr algn="r"/>
            <a:r>
              <a:rPr sz="1200" b="0">
                <a:solidFill>
                  <a:srgbClr val="89AD7B"/>
                </a:solidFill>
                <a:latin typeface="PingFang SC"/>
              </a:rPr>
              <a:t>沿用</a:t>
            </a:r>
          </a:p>
        </p:txBody>
      </p:sp>
      <p:sp>
        <p:nvSpPr>
          <p:cNvPr id="10" name="TextBox 9"/>
          <p:cNvSpPr txBox="1"/>
          <p:nvPr/>
        </p:nvSpPr>
        <p:spPr>
          <a:xfrm>
            <a:off x="555498" y="2287524"/>
            <a:ext cx="3213658" cy="266395"/>
          </a:xfrm>
          <a:prstGeom prst="rect">
            <a:avLst/>
          </a:prstGeom>
          <a:noFill/>
          <a:ln>
            <a:noFill/>
          </a:ln>
        </p:spPr>
        <p:txBody>
          <a:bodyPr wrap="none" lIns="19050" rIns="19050" tIns="0" bIns="0" anchor="ctr">
            <a:noAutofit/>
          </a:bodyPr>
          <a:lstStyle/>
          <a:p>
            <a:pPr algn="l"/>
            <a:r>
              <a:rPr sz="2100" b="1">
                <a:solidFill>
                  <a:srgbClr val="5690B2"/>
                </a:solidFill>
                <a:latin typeface="PingFang SC"/>
              </a:rPr>
              <a:t>&gt;&gt; 肠内营养</a:t>
            </a:r>
          </a:p>
        </p:txBody>
      </p:sp>
      <p:sp>
        <p:nvSpPr>
          <p:cNvPr id="11" name="TextBox 10"/>
          <p:cNvSpPr txBox="1"/>
          <p:nvPr/>
        </p:nvSpPr>
        <p:spPr>
          <a:xfrm>
            <a:off x="946404" y="3069336"/>
            <a:ext cx="8229600" cy="202691"/>
          </a:xfrm>
          <a:prstGeom prst="rect">
            <a:avLst/>
          </a:prstGeom>
          <a:noFill/>
          <a:ln>
            <a:noFill/>
          </a:ln>
        </p:spPr>
        <p:txBody>
          <a:bodyPr wrap="square" lIns="19050" rIns="19050" tIns="0" bIns="0" anchor="t">
            <a:normAutofit/>
          </a:bodyPr>
          <a:lstStyle/>
          <a:p>
            <a:pPr algn="l"/>
            <a:r>
              <a:rPr sz="1330" b="0">
                <a:solidFill>
                  <a:srgbClr val="848B84"/>
                </a:solidFill>
                <a:latin typeface="PingFang SC"/>
              </a:rPr>
              <a:t>91. 对于患有脓毒症或感染性休克的成年人，我们“建议”早期（72小时内）开始肠内营养。</a:t>
            </a:r>
          </a:p>
        </p:txBody>
      </p:sp>
      <p:sp>
        <p:nvSpPr>
          <p:cNvPr id="12" name="TextBox 11"/>
          <p:cNvSpPr txBox="1"/>
          <p:nvPr/>
        </p:nvSpPr>
        <p:spPr>
          <a:xfrm>
            <a:off x="9176004" y="3069336"/>
            <a:ext cx="814730" cy="202691"/>
          </a:xfrm>
          <a:prstGeom prst="rect">
            <a:avLst/>
          </a:prstGeom>
          <a:noFill/>
          <a:ln>
            <a:noFill/>
          </a:ln>
        </p:spPr>
        <p:txBody>
          <a:bodyPr wrap="none" lIns="19050" rIns="19050" tIns="0" bIns="0" anchor="ctr">
            <a:noAutofit/>
          </a:bodyPr>
          <a:lstStyle/>
          <a:p>
            <a:pPr algn="r"/>
            <a:r>
              <a:rPr sz="1200" b="0">
                <a:solidFill>
                  <a:srgbClr val="94B786"/>
                </a:solidFill>
                <a:latin typeface="PingFang SC"/>
              </a:rPr>
              <a:t>沿用</a:t>
            </a:r>
          </a:p>
        </p:txBody>
      </p:sp>
      <p:sp>
        <p:nvSpPr>
          <p:cNvPr id="13" name="TextBox 12"/>
          <p:cNvSpPr txBox="1"/>
          <p:nvPr/>
        </p:nvSpPr>
        <p:spPr>
          <a:xfrm>
            <a:off x="555498" y="5455310"/>
            <a:ext cx="2625242" cy="133197"/>
          </a:xfrm>
          <a:prstGeom prst="rect">
            <a:avLst/>
          </a:prstGeom>
          <a:noFill/>
          <a:ln>
            <a:noFill/>
          </a:ln>
        </p:spPr>
        <p:txBody>
          <a:bodyPr wrap="none" lIns="19050" rIns="19050" tIns="0" bIns="0" anchor="ctr">
            <a:noAutofit/>
          </a:bodyPr>
          <a:lstStyle/>
          <a:p>
            <a:pPr algn="l"/>
            <a:r>
              <a:rPr sz="1050" b="0">
                <a:solidFill>
                  <a:srgbClr val="BDDDDC"/>
                </a:solidFill>
                <a:latin typeface="PingFang SC"/>
              </a:rPr>
              <a:t>公众号 指南导航</a:t>
            </a:r>
          </a:p>
        </p:txBody>
      </p:sp>
      <p:sp>
        <p:nvSpPr>
          <p:cNvPr id="14" name="TextBox 13"/>
          <p:cNvSpPr txBox="1"/>
          <p:nvPr/>
        </p:nvSpPr>
        <p:spPr>
          <a:xfrm>
            <a:off x="10287000" y="5339486"/>
            <a:ext cx="0" cy="249021"/>
          </a:xfrm>
          <a:prstGeom prst="rect">
            <a:avLst/>
          </a:prstGeom>
          <a:noFill/>
          <a:ln>
            <a:noFill/>
          </a:ln>
        </p:spPr>
        <p:txBody>
          <a:bodyPr wrap="none" lIns="19050" rIns="19050" tIns="0" bIns="0" anchor="ctr">
            <a:noAutofit/>
          </a:bodyPr>
          <a:lstStyle/>
          <a:p>
            <a:pPr algn="r"/>
            <a:r>
              <a:rPr sz="1350" b="0">
                <a:solidFill>
                  <a:srgbClr val="000000"/>
                </a:solidFill>
                <a:latin typeface="PingFang SC"/>
              </a:rPr>
              <a:t>58</a:t>
            </a:r>
          </a:p>
        </p:txBody>
      </p:sp>
      <p:sp>
        <p:nvSpPr>
          <p:cNvPr id="15" name="TextBox 14"/>
          <p:cNvSpPr txBox="1"/>
          <p:nvPr/>
        </p:nvSpPr>
        <p:spPr>
          <a:xfrm>
            <a:off x="8353044" y="173735"/>
            <a:ext cx="3892600" cy="416966"/>
          </a:xfrm>
          <a:prstGeom prst="rect">
            <a:avLst/>
          </a:prstGeom>
          <a:noFill/>
          <a:ln>
            <a:noFill/>
          </a:ln>
        </p:spPr>
        <p:txBody>
          <a:bodyPr wrap="none" lIns="19050" rIns="19050" tIns="0" bIns="0" anchor="ctr">
            <a:noAutofit/>
          </a:bodyPr>
          <a:lstStyle/>
          <a:p>
            <a:pPr algn="r"/>
            <a:r>
              <a:rPr sz="1500" b="0">
                <a:solidFill>
                  <a:srgbClr val="B0C3AA"/>
                </a:solidFill>
                <a:latin typeface="PingFang SC"/>
              </a:rPr>
              <a:t>Surviving Sepsis Campaign</a:t>
            </a:r>
          </a:p>
        </p:txBody>
      </p:sp>
      <p:pic>
        <p:nvPicPr>
          <p:cNvPr id="16" name="Picture 15" descr="tmp04uekfeu.png"/>
          <p:cNvPicPr>
            <a:picLocks noChangeAspect="1"/>
          </p:cNvPicPr>
          <p:nvPr/>
        </p:nvPicPr>
        <p:blipFill>
          <a:blip r:embed="rId4"/>
          <a:stretch>
            <a:fillRect/>
          </a:stretch>
        </p:blipFill>
        <p:spPr>
          <a:xfrm>
            <a:off x="1238250" y="1571625"/>
            <a:ext cx="247650" cy="190500"/>
          </a:xfrm>
          <a:prstGeom prst="rect">
            <a:avLst/>
          </a:prstGeom>
        </p:spPr>
      </p:pic>
      <p:pic>
        <p:nvPicPr>
          <p:cNvPr id="17" name="Picture 16" descr="tmp87zr770b.png"/>
          <p:cNvPicPr>
            <a:picLocks noChangeAspect="1"/>
          </p:cNvPicPr>
          <p:nvPr/>
        </p:nvPicPr>
        <p:blipFill>
          <a:blip r:embed="rId5"/>
          <a:stretch>
            <a:fillRect/>
          </a:stretch>
        </p:blipFill>
        <p:spPr>
          <a:xfrm>
            <a:off x="1562100" y="1571625"/>
            <a:ext cx="247650" cy="190500"/>
          </a:xfrm>
          <a:prstGeom prst="rect">
            <a:avLst/>
          </a:prstGeom>
        </p:spPr>
      </p:pic>
      <p:pic>
        <p:nvPicPr>
          <p:cNvPr id="18" name="Picture 17" descr="tmpl6e6yvyw.png"/>
          <p:cNvPicPr>
            <a:picLocks noChangeAspect="1"/>
          </p:cNvPicPr>
          <p:nvPr/>
        </p:nvPicPr>
        <p:blipFill>
          <a:blip r:embed="rId6"/>
          <a:stretch>
            <a:fillRect/>
          </a:stretch>
        </p:blipFill>
        <p:spPr>
          <a:xfrm>
            <a:off x="1895475" y="1571625"/>
            <a:ext cx="247650" cy="190500"/>
          </a:xfrm>
          <a:prstGeom prst="rect">
            <a:avLst/>
          </a:prstGeom>
        </p:spPr>
      </p:pic>
      <p:pic>
        <p:nvPicPr>
          <p:cNvPr id="19" name="Picture 18" descr="tmpm27rpmbs.png"/>
          <p:cNvPicPr>
            <a:picLocks noChangeAspect="1"/>
          </p:cNvPicPr>
          <p:nvPr/>
        </p:nvPicPr>
        <p:blipFill>
          <a:blip r:embed="rId7"/>
          <a:stretch>
            <a:fillRect/>
          </a:stretch>
        </p:blipFill>
        <p:spPr>
          <a:xfrm>
            <a:off x="2219325" y="1571625"/>
            <a:ext cx="247650" cy="190500"/>
          </a:xfrm>
          <a:prstGeom prst="rect">
            <a:avLst/>
          </a:prstGeom>
        </p:spPr>
      </p:pic>
      <p:pic>
        <p:nvPicPr>
          <p:cNvPr id="20" name="Picture 19" descr="tmp4smcahih.png"/>
          <p:cNvPicPr>
            <a:picLocks noChangeAspect="1"/>
          </p:cNvPicPr>
          <p:nvPr/>
        </p:nvPicPr>
        <p:blipFill>
          <a:blip r:embed="rId8"/>
          <a:stretch>
            <a:fillRect/>
          </a:stretch>
        </p:blipFill>
        <p:spPr>
          <a:xfrm>
            <a:off x="2552700" y="1571625"/>
            <a:ext cx="247650" cy="190500"/>
          </a:xfrm>
          <a:prstGeom prst="rect">
            <a:avLst/>
          </a:prstGeom>
        </p:spPr>
      </p:pic>
      <p:pic>
        <p:nvPicPr>
          <p:cNvPr id="21" name="Picture 20" descr="tmp9tsswpqv.png"/>
          <p:cNvPicPr>
            <a:picLocks noChangeAspect="1"/>
          </p:cNvPicPr>
          <p:nvPr/>
        </p:nvPicPr>
        <p:blipFill>
          <a:blip r:embed="rId9"/>
          <a:stretch>
            <a:fillRect/>
          </a:stretch>
        </p:blipFill>
        <p:spPr>
          <a:xfrm>
            <a:off x="1238250" y="3419475"/>
            <a:ext cx="247650" cy="190500"/>
          </a:xfrm>
          <a:prstGeom prst="rect">
            <a:avLst/>
          </a:prstGeom>
        </p:spPr>
      </p:pic>
      <p:pic>
        <p:nvPicPr>
          <p:cNvPr id="22" name="Picture 21" descr="tmppx7cfq6i.png"/>
          <p:cNvPicPr>
            <a:picLocks noChangeAspect="1"/>
          </p:cNvPicPr>
          <p:nvPr/>
        </p:nvPicPr>
        <p:blipFill>
          <a:blip r:embed="rId10"/>
          <a:stretch>
            <a:fillRect/>
          </a:stretch>
        </p:blipFill>
        <p:spPr>
          <a:xfrm>
            <a:off x="1562100" y="3419475"/>
            <a:ext cx="247650" cy="190500"/>
          </a:xfrm>
          <a:prstGeom prst="rect">
            <a:avLst/>
          </a:prstGeom>
        </p:spPr>
      </p:pic>
      <p:pic>
        <p:nvPicPr>
          <p:cNvPr id="23" name="Picture 22" descr="tmpwr0om331.png"/>
          <p:cNvPicPr>
            <a:picLocks noChangeAspect="1"/>
          </p:cNvPicPr>
          <p:nvPr/>
        </p:nvPicPr>
        <p:blipFill>
          <a:blip r:embed="rId11"/>
          <a:stretch>
            <a:fillRect/>
          </a:stretch>
        </p:blipFill>
        <p:spPr>
          <a:xfrm>
            <a:off x="1895475" y="3419475"/>
            <a:ext cx="247650" cy="190500"/>
          </a:xfrm>
          <a:prstGeom prst="rect">
            <a:avLst/>
          </a:prstGeom>
        </p:spPr>
      </p:pic>
      <p:pic>
        <p:nvPicPr>
          <p:cNvPr id="24" name="Picture 23" descr="tmpjn61q9nl.png"/>
          <p:cNvPicPr>
            <a:picLocks noChangeAspect="1"/>
          </p:cNvPicPr>
          <p:nvPr/>
        </p:nvPicPr>
        <p:blipFill>
          <a:blip r:embed="rId12"/>
          <a:stretch>
            <a:fillRect/>
          </a:stretch>
        </p:blipFill>
        <p:spPr>
          <a:xfrm>
            <a:off x="2219325" y="3419475"/>
            <a:ext cx="247650" cy="190500"/>
          </a:xfrm>
          <a:prstGeom prst="rect">
            <a:avLst/>
          </a:prstGeom>
        </p:spPr>
      </p:pic>
      <p:pic>
        <p:nvPicPr>
          <p:cNvPr id="25" name="Picture 24" descr="tmp3kxk0l0w.png"/>
          <p:cNvPicPr>
            <a:picLocks noChangeAspect="1"/>
          </p:cNvPicPr>
          <p:nvPr/>
        </p:nvPicPr>
        <p:blipFill>
          <a:blip r:embed="rId13"/>
          <a:stretch>
            <a:fillRect/>
          </a:stretch>
        </p:blipFill>
        <p:spPr>
          <a:xfrm>
            <a:off x="2552700" y="3419475"/>
            <a:ext cx="247650" cy="190500"/>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jqyn85rf.png"/>
          <p:cNvPicPr>
            <a:picLocks noChangeAspect="1"/>
          </p:cNvPicPr>
          <p:nvPr/>
        </p:nvPicPr>
        <p:blipFill>
          <a:blip r:embed="rId2"/>
          <a:stretch>
            <a:fillRect/>
          </a:stretch>
        </p:blipFill>
        <p:spPr>
          <a:xfrm>
            <a:off x="1562100" y="4991100"/>
            <a:ext cx="723900" cy="171450"/>
          </a:xfrm>
          <a:prstGeom prst="rect">
            <a:avLst/>
          </a:prstGeom>
        </p:spPr>
      </p:pic>
      <p:pic>
        <p:nvPicPr>
          <p:cNvPr id="4" name="Picture 3" descr="tmpruz8chfe.png"/>
          <p:cNvPicPr>
            <a:picLocks noChangeAspect="1"/>
          </p:cNvPicPr>
          <p:nvPr/>
        </p:nvPicPr>
        <p:blipFill>
          <a:blip r:embed="rId3"/>
          <a:stretch>
            <a:fillRect/>
          </a:stretch>
        </p:blipFill>
        <p:spPr>
          <a:xfrm>
            <a:off x="2390775" y="4991100"/>
            <a:ext cx="714375" cy="171450"/>
          </a:xfrm>
          <a:prstGeom prst="rect">
            <a:avLst/>
          </a:prstGeom>
        </p:spPr>
      </p:pic>
      <p:sp>
        <p:nvSpPr>
          <p:cNvPr id="5" name="Rounded Rectangle 4"/>
          <p:cNvSpPr/>
          <p:nvPr/>
        </p:nvSpPr>
        <p:spPr>
          <a:xfrm>
            <a:off x="576072" y="967130"/>
            <a:ext cx="9176003" cy="1042416"/>
          </a:xfrm>
          <a:prstGeom prst="roundRect">
            <a:avLst>
              <a:gd name="adj" fmla="val 6000"/>
            </a:avLst>
          </a:prstGeom>
          <a:solidFill>
            <a:srgbClr val="FEFEFE"/>
          </a:solidFill>
          <a:ln w="11430">
            <a:solidFill>
              <a:srgbClr val="2A61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76072" y="2733446"/>
            <a:ext cx="9176003" cy="2189073"/>
          </a:xfrm>
          <a:prstGeom prst="roundRect">
            <a:avLst>
              <a:gd name="adj" fmla="val 6000"/>
            </a:avLst>
          </a:prstGeom>
          <a:solidFill>
            <a:srgbClr val="FEFEFE"/>
          </a:solidFill>
          <a:ln w="11430">
            <a:solidFill>
              <a:srgbClr val="1554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6072" y="451713"/>
            <a:ext cx="4118914" cy="254812"/>
          </a:xfrm>
          <a:prstGeom prst="rect">
            <a:avLst/>
          </a:prstGeom>
          <a:noFill/>
          <a:ln>
            <a:noFill/>
          </a:ln>
        </p:spPr>
        <p:txBody>
          <a:bodyPr wrap="none" lIns="19050" rIns="19050" tIns="0" bIns="0" anchor="ctr">
            <a:noAutofit/>
          </a:bodyPr>
          <a:lstStyle/>
          <a:p>
            <a:pPr algn="l"/>
            <a:r>
              <a:rPr sz="2400" b="1">
                <a:solidFill>
                  <a:srgbClr val="578CAF"/>
                </a:solidFill>
                <a:latin typeface="PingFang SC"/>
              </a:rPr>
              <a:t>&gt;&gt; 胰岛素治疗</a:t>
            </a:r>
          </a:p>
        </p:txBody>
      </p:sp>
      <p:sp>
        <p:nvSpPr>
          <p:cNvPr id="8" name="TextBox 7"/>
          <p:cNvSpPr txBox="1"/>
          <p:nvPr/>
        </p:nvSpPr>
        <p:spPr>
          <a:xfrm>
            <a:off x="946404" y="1227734"/>
            <a:ext cx="8023860" cy="202692"/>
          </a:xfrm>
          <a:prstGeom prst="rect">
            <a:avLst/>
          </a:prstGeom>
          <a:noFill/>
          <a:ln>
            <a:noFill/>
          </a:ln>
        </p:spPr>
        <p:txBody>
          <a:bodyPr wrap="square" lIns="19050" rIns="19050" tIns="0" bIns="0" anchor="t">
            <a:normAutofit/>
          </a:bodyPr>
          <a:lstStyle/>
          <a:p>
            <a:pPr algn="l"/>
            <a:r>
              <a:rPr sz="1120" b="0">
                <a:solidFill>
                  <a:srgbClr val="818083"/>
                </a:solidFill>
                <a:latin typeface="PingFang SC"/>
              </a:rPr>
              <a:t>92. 对于患有脓毒症或感染性休克的成年人，我们 “推荐” 在血糖水平≥180mg/dL（10mmol/L）时启动胰岛素治疗。</a:t>
            </a:r>
          </a:p>
        </p:txBody>
      </p:sp>
      <p:sp>
        <p:nvSpPr>
          <p:cNvPr id="9" name="TextBox 8"/>
          <p:cNvSpPr txBox="1"/>
          <p:nvPr/>
        </p:nvSpPr>
        <p:spPr>
          <a:xfrm>
            <a:off x="9134856" y="1227734"/>
            <a:ext cx="769467" cy="173736"/>
          </a:xfrm>
          <a:prstGeom prst="rect">
            <a:avLst/>
          </a:prstGeom>
          <a:noFill/>
          <a:ln>
            <a:noFill/>
          </a:ln>
        </p:spPr>
        <p:txBody>
          <a:bodyPr wrap="none" lIns="19050" rIns="19050" tIns="0" bIns="0" anchor="ctr">
            <a:noAutofit/>
          </a:bodyPr>
          <a:lstStyle/>
          <a:p>
            <a:pPr algn="r"/>
            <a:r>
              <a:rPr sz="1350" b="0">
                <a:solidFill>
                  <a:srgbClr val="8CB07B"/>
                </a:solidFill>
                <a:latin typeface="PingFang SC"/>
              </a:rPr>
              <a:t>沿用</a:t>
            </a:r>
          </a:p>
        </p:txBody>
      </p:sp>
      <p:sp>
        <p:nvSpPr>
          <p:cNvPr id="10" name="TextBox 9"/>
          <p:cNvSpPr txBox="1"/>
          <p:nvPr/>
        </p:nvSpPr>
        <p:spPr>
          <a:xfrm>
            <a:off x="576072" y="2212238"/>
            <a:ext cx="4118914" cy="254812"/>
          </a:xfrm>
          <a:prstGeom prst="rect">
            <a:avLst/>
          </a:prstGeom>
          <a:noFill/>
          <a:ln>
            <a:noFill/>
          </a:ln>
        </p:spPr>
        <p:txBody>
          <a:bodyPr wrap="none" lIns="19050" rIns="19050" tIns="0" bIns="0" anchor="ctr">
            <a:noAutofit/>
          </a:bodyPr>
          <a:lstStyle/>
          <a:p>
            <a:pPr algn="l"/>
            <a:r>
              <a:rPr sz="2400" b="1">
                <a:solidFill>
                  <a:srgbClr val="548DAF"/>
                </a:solidFill>
                <a:latin typeface="PingFang SC"/>
              </a:rPr>
              <a:t>&gt;&gt; 肾脏替代治疗</a:t>
            </a:r>
          </a:p>
        </p:txBody>
      </p:sp>
      <p:sp>
        <p:nvSpPr>
          <p:cNvPr id="11" name="TextBox 10"/>
          <p:cNvSpPr txBox="1"/>
          <p:nvPr/>
        </p:nvSpPr>
        <p:spPr>
          <a:xfrm>
            <a:off x="946404" y="3023006"/>
            <a:ext cx="8023860" cy="405383"/>
          </a:xfrm>
          <a:prstGeom prst="rect">
            <a:avLst/>
          </a:prstGeom>
          <a:noFill/>
          <a:ln>
            <a:noFill/>
          </a:ln>
        </p:spPr>
        <p:txBody>
          <a:bodyPr wrap="square" lIns="19050" rIns="19050" tIns="0" bIns="0" anchor="t">
            <a:normAutofit/>
          </a:bodyPr>
          <a:lstStyle/>
          <a:p>
            <a:pPr algn="l"/>
            <a:r>
              <a:rPr sz="1500" b="0">
                <a:solidFill>
                  <a:srgbClr val="8B9286"/>
                </a:solidFill>
                <a:latin typeface="PingFang SC"/>
              </a:rPr>
              <a:t>93. 对于患有脓毒症或脓毒性休克且伴有急性肾损伤、无明确肾脏替代治疗指征的成年人，我们 “建议不使用” 肾脏替代治疗。</a:t>
            </a:r>
          </a:p>
        </p:txBody>
      </p:sp>
      <p:sp>
        <p:nvSpPr>
          <p:cNvPr id="12" name="TextBox 11"/>
          <p:cNvSpPr txBox="1"/>
          <p:nvPr/>
        </p:nvSpPr>
        <p:spPr>
          <a:xfrm>
            <a:off x="9134856" y="3023006"/>
            <a:ext cx="769467" cy="173736"/>
          </a:xfrm>
          <a:prstGeom prst="rect">
            <a:avLst/>
          </a:prstGeom>
          <a:noFill/>
          <a:ln>
            <a:noFill/>
          </a:ln>
        </p:spPr>
        <p:txBody>
          <a:bodyPr wrap="none" lIns="19050" rIns="19050" tIns="0" bIns="0" anchor="ctr">
            <a:noAutofit/>
          </a:bodyPr>
          <a:lstStyle/>
          <a:p>
            <a:pPr algn="r"/>
            <a:r>
              <a:rPr sz="1350" b="0">
                <a:solidFill>
                  <a:srgbClr val="8CAF7A"/>
                </a:solidFill>
                <a:latin typeface="PingFang SC"/>
              </a:rPr>
              <a:t>沿用</a:t>
            </a:r>
          </a:p>
        </p:txBody>
      </p:sp>
      <p:sp>
        <p:nvSpPr>
          <p:cNvPr id="13" name="TextBox 12"/>
          <p:cNvSpPr txBox="1"/>
          <p:nvPr/>
        </p:nvSpPr>
        <p:spPr>
          <a:xfrm>
            <a:off x="946404" y="3949598"/>
            <a:ext cx="8023860" cy="405384"/>
          </a:xfrm>
          <a:prstGeom prst="rect">
            <a:avLst/>
          </a:prstGeom>
          <a:noFill/>
          <a:ln>
            <a:noFill/>
          </a:ln>
        </p:spPr>
        <p:txBody>
          <a:bodyPr wrap="square" lIns="19050" rIns="19050" tIns="0" bIns="0" anchor="t">
            <a:normAutofit/>
          </a:bodyPr>
          <a:lstStyle/>
          <a:p>
            <a:pPr algn="l"/>
            <a:r>
              <a:rPr sz="1500" b="0">
                <a:solidFill>
                  <a:srgbClr val="818A86"/>
                </a:solidFill>
                <a:latin typeface="PingFang SC"/>
              </a:rPr>
              <a:t>94. 对于患有脓毒症或脓毒性休克且急性肾损伤需要肾脏替代治疗的成年人，我们 “建议” 采用连续性或间歇性肾脏替代治疗。</a:t>
            </a:r>
          </a:p>
        </p:txBody>
      </p:sp>
      <p:sp>
        <p:nvSpPr>
          <p:cNvPr id="14" name="TextBox 13"/>
          <p:cNvSpPr txBox="1"/>
          <p:nvPr/>
        </p:nvSpPr>
        <p:spPr>
          <a:xfrm>
            <a:off x="9134856" y="3949598"/>
            <a:ext cx="769467" cy="173735"/>
          </a:xfrm>
          <a:prstGeom prst="rect">
            <a:avLst/>
          </a:prstGeom>
          <a:noFill/>
          <a:ln>
            <a:noFill/>
          </a:ln>
        </p:spPr>
        <p:txBody>
          <a:bodyPr wrap="none" lIns="19050" rIns="19050" tIns="0" bIns="0" anchor="ctr">
            <a:noAutofit/>
          </a:bodyPr>
          <a:lstStyle/>
          <a:p>
            <a:pPr algn="r"/>
            <a:r>
              <a:rPr sz="1350" b="0">
                <a:solidFill>
                  <a:srgbClr val="95B884"/>
                </a:solidFill>
                <a:latin typeface="PingFang SC"/>
              </a:rPr>
              <a:t>沿用</a:t>
            </a:r>
          </a:p>
        </p:txBody>
      </p:sp>
      <p:sp>
        <p:nvSpPr>
          <p:cNvPr id="15" name="TextBox 14"/>
          <p:cNvSpPr txBox="1"/>
          <p:nvPr/>
        </p:nvSpPr>
        <p:spPr>
          <a:xfrm>
            <a:off x="576072" y="5455310"/>
            <a:ext cx="2625242" cy="144780"/>
          </a:xfrm>
          <a:prstGeom prst="rect">
            <a:avLst/>
          </a:prstGeom>
          <a:noFill/>
          <a:ln>
            <a:noFill/>
          </a:ln>
        </p:spPr>
        <p:txBody>
          <a:bodyPr wrap="none" lIns="19050" rIns="19050" tIns="0" bIns="0" anchor="ctr">
            <a:noAutofit/>
          </a:bodyPr>
          <a:lstStyle/>
          <a:p>
            <a:pPr algn="l"/>
            <a:r>
              <a:rPr sz="1200" b="0">
                <a:solidFill>
                  <a:srgbClr val="D3E6E7"/>
                </a:solidFill>
                <a:latin typeface="PingFang SC"/>
              </a:rPr>
              <a:t>公众号·指南导航</a:t>
            </a:r>
          </a:p>
        </p:txBody>
      </p:sp>
      <p:sp>
        <p:nvSpPr>
          <p:cNvPr id="16" name="TextBox 15"/>
          <p:cNvSpPr txBox="1"/>
          <p:nvPr/>
        </p:nvSpPr>
        <p:spPr>
          <a:xfrm>
            <a:off x="10287000" y="5339486"/>
            <a:ext cx="0" cy="173736"/>
          </a:xfrm>
          <a:prstGeom prst="rect">
            <a:avLst/>
          </a:prstGeom>
          <a:noFill/>
          <a:ln>
            <a:noFill/>
          </a:ln>
        </p:spPr>
        <p:txBody>
          <a:bodyPr wrap="none" lIns="19050" rIns="19050" tIns="0" bIns="0" anchor="ctr">
            <a:noAutofit/>
          </a:bodyPr>
          <a:lstStyle/>
          <a:p>
            <a:pPr algn="r"/>
            <a:r>
              <a:rPr sz="1350" b="0">
                <a:solidFill>
                  <a:srgbClr val="000000"/>
                </a:solidFill>
                <a:latin typeface="PingFang SC"/>
              </a:rPr>
              <a:t>59</a:t>
            </a:r>
          </a:p>
        </p:txBody>
      </p:sp>
      <p:sp>
        <p:nvSpPr>
          <p:cNvPr id="17" name="TextBox 16"/>
          <p:cNvSpPr txBox="1"/>
          <p:nvPr/>
        </p:nvSpPr>
        <p:spPr>
          <a:xfrm>
            <a:off x="8353044" y="162153"/>
            <a:ext cx="3847337" cy="428548"/>
          </a:xfrm>
          <a:prstGeom prst="rect">
            <a:avLst/>
          </a:prstGeom>
          <a:noFill/>
          <a:ln>
            <a:noFill/>
          </a:ln>
        </p:spPr>
        <p:txBody>
          <a:bodyPr wrap="none" lIns="19050" rIns="19050" tIns="0" bIns="0" anchor="ctr">
            <a:noAutofit/>
          </a:bodyPr>
          <a:lstStyle/>
          <a:p>
            <a:pPr algn="r"/>
            <a:r>
              <a:rPr sz="1800" b="0">
                <a:solidFill>
                  <a:srgbClr val="AFC3A9"/>
                </a:solidFill>
                <a:latin typeface="PingFang SC"/>
              </a:rPr>
              <a:t>Surviving Sepsis Campaign</a:t>
            </a:r>
          </a:p>
        </p:txBody>
      </p:sp>
      <p:pic>
        <p:nvPicPr>
          <p:cNvPr id="18" name="Picture 17" descr="tmpxh6n4obm.png"/>
          <p:cNvPicPr>
            <a:picLocks noChangeAspect="1"/>
          </p:cNvPicPr>
          <p:nvPr/>
        </p:nvPicPr>
        <p:blipFill>
          <a:blip r:embed="rId4"/>
          <a:stretch>
            <a:fillRect/>
          </a:stretch>
        </p:blipFill>
        <p:spPr>
          <a:xfrm>
            <a:off x="1209675" y="1571625"/>
            <a:ext cx="247650" cy="180975"/>
          </a:xfrm>
          <a:prstGeom prst="rect">
            <a:avLst/>
          </a:prstGeom>
        </p:spPr>
      </p:pic>
      <p:pic>
        <p:nvPicPr>
          <p:cNvPr id="19" name="Picture 18" descr="tmprdcei5vx.png"/>
          <p:cNvPicPr>
            <a:picLocks noChangeAspect="1"/>
          </p:cNvPicPr>
          <p:nvPr/>
        </p:nvPicPr>
        <p:blipFill>
          <a:blip r:embed="rId5"/>
          <a:stretch>
            <a:fillRect/>
          </a:stretch>
        </p:blipFill>
        <p:spPr>
          <a:xfrm>
            <a:off x="1562100" y="1571625"/>
            <a:ext cx="247650" cy="180975"/>
          </a:xfrm>
          <a:prstGeom prst="rect">
            <a:avLst/>
          </a:prstGeom>
        </p:spPr>
      </p:pic>
      <p:pic>
        <p:nvPicPr>
          <p:cNvPr id="20" name="Picture 19" descr="tmpqndl0r_w.png"/>
          <p:cNvPicPr>
            <a:picLocks noChangeAspect="1"/>
          </p:cNvPicPr>
          <p:nvPr/>
        </p:nvPicPr>
        <p:blipFill>
          <a:blip r:embed="rId6"/>
          <a:stretch>
            <a:fillRect/>
          </a:stretch>
        </p:blipFill>
        <p:spPr>
          <a:xfrm>
            <a:off x="1914525" y="1571625"/>
            <a:ext cx="247650" cy="180975"/>
          </a:xfrm>
          <a:prstGeom prst="rect">
            <a:avLst/>
          </a:prstGeom>
        </p:spPr>
      </p:pic>
      <p:pic>
        <p:nvPicPr>
          <p:cNvPr id="21" name="Picture 20" descr="tmpx9iclbqf.png"/>
          <p:cNvPicPr>
            <a:picLocks noChangeAspect="1"/>
          </p:cNvPicPr>
          <p:nvPr/>
        </p:nvPicPr>
        <p:blipFill>
          <a:blip r:embed="rId7"/>
          <a:stretch>
            <a:fillRect/>
          </a:stretch>
        </p:blipFill>
        <p:spPr>
          <a:xfrm>
            <a:off x="2266950" y="1571625"/>
            <a:ext cx="247650" cy="180975"/>
          </a:xfrm>
          <a:prstGeom prst="rect">
            <a:avLst/>
          </a:prstGeom>
        </p:spPr>
      </p:pic>
      <p:pic>
        <p:nvPicPr>
          <p:cNvPr id="22" name="Picture 21" descr="tmp4khxcfkd.png"/>
          <p:cNvPicPr>
            <a:picLocks noChangeAspect="1"/>
          </p:cNvPicPr>
          <p:nvPr/>
        </p:nvPicPr>
        <p:blipFill>
          <a:blip r:embed="rId8"/>
          <a:stretch>
            <a:fillRect/>
          </a:stretch>
        </p:blipFill>
        <p:spPr>
          <a:xfrm>
            <a:off x="2609850" y="1571625"/>
            <a:ext cx="247650" cy="180975"/>
          </a:xfrm>
          <a:prstGeom prst="rect">
            <a:avLst/>
          </a:prstGeom>
        </p:spPr>
      </p:pic>
      <p:pic>
        <p:nvPicPr>
          <p:cNvPr id="23" name="Picture 22" descr="tmpe56jnvit.png"/>
          <p:cNvPicPr>
            <a:picLocks noChangeAspect="1"/>
          </p:cNvPicPr>
          <p:nvPr/>
        </p:nvPicPr>
        <p:blipFill>
          <a:blip r:embed="rId9"/>
          <a:stretch>
            <a:fillRect/>
          </a:stretch>
        </p:blipFill>
        <p:spPr>
          <a:xfrm>
            <a:off x="1209675" y="3657600"/>
            <a:ext cx="247650" cy="171450"/>
          </a:xfrm>
          <a:prstGeom prst="rect">
            <a:avLst/>
          </a:prstGeom>
        </p:spPr>
      </p:pic>
      <p:pic>
        <p:nvPicPr>
          <p:cNvPr id="24" name="Picture 23" descr="tmp61sguuvp.png"/>
          <p:cNvPicPr>
            <a:picLocks noChangeAspect="1"/>
          </p:cNvPicPr>
          <p:nvPr/>
        </p:nvPicPr>
        <p:blipFill>
          <a:blip r:embed="rId10"/>
          <a:stretch>
            <a:fillRect/>
          </a:stretch>
        </p:blipFill>
        <p:spPr>
          <a:xfrm>
            <a:off x="1562100" y="3657600"/>
            <a:ext cx="247650" cy="171450"/>
          </a:xfrm>
          <a:prstGeom prst="rect">
            <a:avLst/>
          </a:prstGeom>
        </p:spPr>
      </p:pic>
      <p:pic>
        <p:nvPicPr>
          <p:cNvPr id="25" name="Picture 24" descr="tmpuhrkyhka.png"/>
          <p:cNvPicPr>
            <a:picLocks noChangeAspect="1"/>
          </p:cNvPicPr>
          <p:nvPr/>
        </p:nvPicPr>
        <p:blipFill>
          <a:blip r:embed="rId11"/>
          <a:stretch>
            <a:fillRect/>
          </a:stretch>
        </p:blipFill>
        <p:spPr>
          <a:xfrm>
            <a:off x="1914525" y="3657600"/>
            <a:ext cx="247650" cy="171450"/>
          </a:xfrm>
          <a:prstGeom prst="rect">
            <a:avLst/>
          </a:prstGeom>
        </p:spPr>
      </p:pic>
      <p:pic>
        <p:nvPicPr>
          <p:cNvPr id="26" name="Picture 25" descr="tmpidqz6bx9.png"/>
          <p:cNvPicPr>
            <a:picLocks noChangeAspect="1"/>
          </p:cNvPicPr>
          <p:nvPr/>
        </p:nvPicPr>
        <p:blipFill>
          <a:blip r:embed="rId12"/>
          <a:stretch>
            <a:fillRect/>
          </a:stretch>
        </p:blipFill>
        <p:spPr>
          <a:xfrm>
            <a:off x="2266950" y="3657600"/>
            <a:ext cx="247650" cy="171450"/>
          </a:xfrm>
          <a:prstGeom prst="rect">
            <a:avLst/>
          </a:prstGeom>
        </p:spPr>
      </p:pic>
      <p:pic>
        <p:nvPicPr>
          <p:cNvPr id="27" name="Picture 26" descr="tmp1z3vk4xu.png"/>
          <p:cNvPicPr>
            <a:picLocks noChangeAspect="1"/>
          </p:cNvPicPr>
          <p:nvPr/>
        </p:nvPicPr>
        <p:blipFill>
          <a:blip r:embed="rId13"/>
          <a:stretch>
            <a:fillRect/>
          </a:stretch>
        </p:blipFill>
        <p:spPr>
          <a:xfrm>
            <a:off x="2609850" y="3657600"/>
            <a:ext cx="247650" cy="171450"/>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qls0c2fw.png"/>
          <p:cNvPicPr>
            <a:picLocks noChangeAspect="1"/>
          </p:cNvPicPr>
          <p:nvPr/>
        </p:nvPicPr>
        <p:blipFill>
          <a:blip r:embed="rId2"/>
          <a:stretch>
            <a:fillRect/>
          </a:stretch>
        </p:blipFill>
        <p:spPr>
          <a:xfrm>
            <a:off x="533400" y="4924425"/>
            <a:ext cx="2162175" cy="276225"/>
          </a:xfrm>
          <a:prstGeom prst="rect">
            <a:avLst/>
          </a:prstGeom>
        </p:spPr>
      </p:pic>
      <p:pic>
        <p:nvPicPr>
          <p:cNvPr id="4" name="Picture 3" descr="tmpcttvenq6.png"/>
          <p:cNvPicPr>
            <a:picLocks noChangeAspect="1"/>
          </p:cNvPicPr>
          <p:nvPr/>
        </p:nvPicPr>
        <p:blipFill>
          <a:blip r:embed="rId3"/>
          <a:stretch>
            <a:fillRect/>
          </a:stretch>
        </p:blipFill>
        <p:spPr>
          <a:xfrm>
            <a:off x="2800350" y="4924425"/>
            <a:ext cx="304800" cy="276225"/>
          </a:xfrm>
          <a:prstGeom prst="rect">
            <a:avLst/>
          </a:prstGeom>
        </p:spPr>
      </p:pic>
      <p:pic>
        <p:nvPicPr>
          <p:cNvPr id="5" name="Picture 4" descr="tmpsrdtj5h3.png"/>
          <p:cNvPicPr>
            <a:picLocks noChangeAspect="1"/>
          </p:cNvPicPr>
          <p:nvPr/>
        </p:nvPicPr>
        <p:blipFill>
          <a:blip r:embed="rId4"/>
          <a:stretch>
            <a:fillRect/>
          </a:stretch>
        </p:blipFill>
        <p:spPr>
          <a:xfrm>
            <a:off x="3209925" y="4924425"/>
            <a:ext cx="619125" cy="276225"/>
          </a:xfrm>
          <a:prstGeom prst="rect">
            <a:avLst/>
          </a:prstGeom>
        </p:spPr>
      </p:pic>
      <p:sp>
        <p:nvSpPr>
          <p:cNvPr id="6" name="Rounded Rectangle 5"/>
          <p:cNvSpPr/>
          <p:nvPr/>
        </p:nvSpPr>
        <p:spPr>
          <a:xfrm>
            <a:off x="555498" y="967130"/>
            <a:ext cx="9176003" cy="2264359"/>
          </a:xfrm>
          <a:prstGeom prst="roundRect">
            <a:avLst>
              <a:gd name="adj" fmla="val 6000"/>
            </a:avLst>
          </a:prstGeom>
          <a:solidFill>
            <a:srgbClr val="FEFEFE"/>
          </a:solidFill>
          <a:ln w="11430">
            <a:solidFill>
              <a:srgbClr val="1355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6933" y="393801"/>
            <a:ext cx="2783662" cy="301142"/>
          </a:xfrm>
          <a:prstGeom prst="rect">
            <a:avLst/>
          </a:prstGeom>
          <a:noFill/>
          <a:ln>
            <a:noFill/>
          </a:ln>
        </p:spPr>
        <p:txBody>
          <a:bodyPr wrap="none" lIns="19050" rIns="19050" tIns="0" bIns="0" anchor="ctr">
            <a:noAutofit/>
          </a:bodyPr>
          <a:lstStyle/>
          <a:p>
            <a:pPr algn="l"/>
            <a:r>
              <a:rPr sz="2700" b="1">
                <a:solidFill>
                  <a:srgbClr val="455991"/>
                </a:solidFill>
                <a:latin typeface="PingFang SC"/>
              </a:rPr>
              <a:t>碳酸氢钠</a:t>
            </a:r>
          </a:p>
        </p:txBody>
      </p:sp>
      <p:sp>
        <p:nvSpPr>
          <p:cNvPr id="8" name="TextBox 7"/>
          <p:cNvSpPr txBox="1"/>
          <p:nvPr/>
        </p:nvSpPr>
        <p:spPr>
          <a:xfrm>
            <a:off x="966978" y="1262481"/>
            <a:ext cx="8003286" cy="463295"/>
          </a:xfrm>
          <a:prstGeom prst="rect">
            <a:avLst/>
          </a:prstGeom>
          <a:noFill/>
          <a:ln>
            <a:noFill/>
          </a:ln>
        </p:spPr>
        <p:txBody>
          <a:bodyPr wrap="square" lIns="19050" rIns="19050" tIns="0" bIns="0" anchor="t">
            <a:normAutofit/>
          </a:bodyPr>
          <a:lstStyle/>
          <a:p>
            <a:pPr algn="l"/>
            <a:r>
              <a:rPr sz="1500" b="0">
                <a:solidFill>
                  <a:srgbClr val="878E8C"/>
                </a:solidFill>
                <a:latin typeface="PingFang SC"/>
              </a:rPr>
              <a:t>95. 对于患有感染性休克和低灌注诱发的乳酸性酸中毒的成年人，我们 “建议不” 使用碳酸氢钠疗法来改善血流动力学或减少血管活性药物的需求。</a:t>
            </a:r>
          </a:p>
        </p:txBody>
      </p:sp>
      <p:sp>
        <p:nvSpPr>
          <p:cNvPr id="9" name="TextBox 8"/>
          <p:cNvSpPr txBox="1"/>
          <p:nvPr/>
        </p:nvSpPr>
        <p:spPr>
          <a:xfrm>
            <a:off x="966978" y="2154326"/>
            <a:ext cx="8003286" cy="463296"/>
          </a:xfrm>
          <a:prstGeom prst="rect">
            <a:avLst/>
          </a:prstGeom>
          <a:noFill/>
          <a:ln>
            <a:noFill/>
          </a:ln>
        </p:spPr>
        <p:txBody>
          <a:bodyPr wrap="square" lIns="19050" rIns="19050" tIns="0" bIns="0" anchor="t">
            <a:normAutofit/>
          </a:bodyPr>
          <a:lstStyle/>
          <a:p>
            <a:pPr algn="l"/>
            <a:r>
              <a:rPr sz="1480" b="0">
                <a:solidFill>
                  <a:srgbClr val="888F8F"/>
                </a:solidFill>
                <a:latin typeface="PingFang SC"/>
              </a:rPr>
              <a:t>96. 对于患有感染性休克、严重代谢性酸血症（pH≤7.2）和急性肾损伤（急性肾损伤网络[AKIN]分级为2级或3级）的成年人，我们 “建议” 使用碳酸氢钠治疗。</a:t>
            </a:r>
          </a:p>
        </p:txBody>
      </p:sp>
      <p:sp>
        <p:nvSpPr>
          <p:cNvPr id="10" name="TextBox 9"/>
          <p:cNvSpPr txBox="1"/>
          <p:nvPr/>
        </p:nvSpPr>
        <p:spPr>
          <a:xfrm>
            <a:off x="9176004" y="1262481"/>
            <a:ext cx="724204" cy="138988"/>
          </a:xfrm>
          <a:prstGeom prst="rect">
            <a:avLst/>
          </a:prstGeom>
          <a:noFill/>
          <a:ln>
            <a:noFill/>
          </a:ln>
        </p:spPr>
        <p:txBody>
          <a:bodyPr wrap="none" lIns="19050" rIns="19050" tIns="0" bIns="0" anchor="ctr">
            <a:noAutofit/>
          </a:bodyPr>
          <a:lstStyle/>
          <a:p>
            <a:pPr algn="r"/>
            <a:r>
              <a:rPr sz="1350" b="0">
                <a:solidFill>
                  <a:srgbClr val="8CAF7D"/>
                </a:solidFill>
                <a:latin typeface="PingFang SC"/>
              </a:rPr>
              <a:t>沿用</a:t>
            </a:r>
          </a:p>
        </p:txBody>
      </p:sp>
      <p:sp>
        <p:nvSpPr>
          <p:cNvPr id="11" name="TextBox 10"/>
          <p:cNvSpPr txBox="1"/>
          <p:nvPr/>
        </p:nvSpPr>
        <p:spPr>
          <a:xfrm>
            <a:off x="9176004" y="2154326"/>
            <a:ext cx="724204" cy="138988"/>
          </a:xfrm>
          <a:prstGeom prst="rect">
            <a:avLst/>
          </a:prstGeom>
          <a:noFill/>
          <a:ln>
            <a:noFill/>
          </a:ln>
        </p:spPr>
        <p:txBody>
          <a:bodyPr wrap="none" lIns="19050" rIns="19050" tIns="0" bIns="0" anchor="ctr">
            <a:noAutofit/>
          </a:bodyPr>
          <a:lstStyle/>
          <a:p>
            <a:pPr algn="r"/>
            <a:r>
              <a:rPr sz="1350" b="0">
                <a:solidFill>
                  <a:srgbClr val="92B782"/>
                </a:solidFill>
                <a:latin typeface="PingFang SC"/>
              </a:rPr>
              <a:t>沿用</a:t>
            </a:r>
          </a:p>
        </p:txBody>
      </p:sp>
      <p:sp>
        <p:nvSpPr>
          <p:cNvPr id="12" name="TextBox 11"/>
          <p:cNvSpPr txBox="1"/>
          <p:nvPr/>
        </p:nvSpPr>
        <p:spPr>
          <a:xfrm>
            <a:off x="606933" y="5455310"/>
            <a:ext cx="2557348" cy="127406"/>
          </a:xfrm>
          <a:prstGeom prst="rect">
            <a:avLst/>
          </a:prstGeom>
          <a:noFill/>
          <a:ln>
            <a:noFill/>
          </a:ln>
        </p:spPr>
        <p:txBody>
          <a:bodyPr wrap="none" lIns="19050" rIns="19050" tIns="0" bIns="0" anchor="ctr">
            <a:noAutofit/>
          </a:bodyPr>
          <a:lstStyle/>
          <a:p>
            <a:pPr algn="l"/>
            <a:r>
              <a:rPr sz="1200" b="0">
                <a:solidFill>
                  <a:srgbClr val="D4E9E8"/>
                </a:solidFill>
                <a:latin typeface="PingFang SC"/>
              </a:rPr>
              <a:t>公众号 南导航</a:t>
            </a:r>
          </a:p>
        </p:txBody>
      </p:sp>
      <p:sp>
        <p:nvSpPr>
          <p:cNvPr id="13" name="TextBox 12"/>
          <p:cNvSpPr txBox="1"/>
          <p:nvPr/>
        </p:nvSpPr>
        <p:spPr>
          <a:xfrm>
            <a:off x="10287000" y="5339486"/>
            <a:ext cx="0" cy="243230"/>
          </a:xfrm>
          <a:prstGeom prst="rect">
            <a:avLst/>
          </a:prstGeom>
          <a:noFill/>
          <a:ln>
            <a:noFill/>
          </a:ln>
        </p:spPr>
        <p:txBody>
          <a:bodyPr wrap="none" lIns="19050" rIns="19050" tIns="0" bIns="0" anchor="ctr">
            <a:noAutofit/>
          </a:bodyPr>
          <a:lstStyle/>
          <a:p>
            <a:pPr algn="r"/>
            <a:r>
              <a:rPr sz="1800" b="0">
                <a:solidFill>
                  <a:srgbClr val="000000"/>
                </a:solidFill>
                <a:latin typeface="PingFang SC"/>
              </a:rPr>
              <a:t>60</a:t>
            </a:r>
          </a:p>
        </p:txBody>
      </p:sp>
      <p:sp>
        <p:nvSpPr>
          <p:cNvPr id="14" name="TextBox 13"/>
          <p:cNvSpPr txBox="1"/>
          <p:nvPr/>
        </p:nvSpPr>
        <p:spPr>
          <a:xfrm>
            <a:off x="8322183" y="162153"/>
            <a:ext cx="3960494" cy="428548"/>
          </a:xfrm>
          <a:prstGeom prst="rect">
            <a:avLst/>
          </a:prstGeom>
          <a:noFill/>
          <a:ln>
            <a:noFill/>
          </a:ln>
        </p:spPr>
        <p:txBody>
          <a:bodyPr wrap="none" lIns="19050" rIns="19050" tIns="0" bIns="0" anchor="ctr">
            <a:noAutofit/>
          </a:bodyPr>
          <a:lstStyle/>
          <a:p>
            <a:pPr algn="r"/>
            <a:r>
              <a:rPr sz="1800" b="0">
                <a:solidFill>
                  <a:srgbClr val="B0C5A9"/>
                </a:solidFill>
                <a:latin typeface="PingFang SC"/>
              </a:rPr>
              <a:t>Surviving Sepsis Campaign</a:t>
            </a:r>
          </a:p>
        </p:txBody>
      </p:sp>
      <p:pic>
        <p:nvPicPr>
          <p:cNvPr id="15" name="Picture 14" descr="tmpoytk0xzv.png"/>
          <p:cNvPicPr>
            <a:picLocks noChangeAspect="1"/>
          </p:cNvPicPr>
          <p:nvPr/>
        </p:nvPicPr>
        <p:blipFill>
          <a:blip r:embed="rId5"/>
          <a:stretch>
            <a:fillRect/>
          </a:stretch>
        </p:blipFill>
        <p:spPr>
          <a:xfrm>
            <a:off x="1228725" y="1876425"/>
            <a:ext cx="257175" cy="180975"/>
          </a:xfrm>
          <a:prstGeom prst="rect">
            <a:avLst/>
          </a:prstGeom>
        </p:spPr>
      </p:pic>
      <p:pic>
        <p:nvPicPr>
          <p:cNvPr id="16" name="Picture 15" descr="tmpabo1dgc0.png"/>
          <p:cNvPicPr>
            <a:picLocks noChangeAspect="1"/>
          </p:cNvPicPr>
          <p:nvPr/>
        </p:nvPicPr>
        <p:blipFill>
          <a:blip r:embed="rId6"/>
          <a:stretch>
            <a:fillRect/>
          </a:stretch>
        </p:blipFill>
        <p:spPr>
          <a:xfrm>
            <a:off x="1228725" y="2771775"/>
            <a:ext cx="257175" cy="180975"/>
          </a:xfrm>
          <a:prstGeom prst="rect">
            <a:avLst/>
          </a:prstGeom>
        </p:spPr>
      </p:pic>
      <p:pic>
        <p:nvPicPr>
          <p:cNvPr id="17" name="Picture 16" descr="tmp6fj3vwbu.png"/>
          <p:cNvPicPr>
            <a:picLocks noChangeAspect="1"/>
          </p:cNvPicPr>
          <p:nvPr/>
        </p:nvPicPr>
        <p:blipFill>
          <a:blip r:embed="rId7"/>
          <a:stretch>
            <a:fillRect/>
          </a:stretch>
        </p:blipFill>
        <p:spPr>
          <a:xfrm>
            <a:off x="1581150" y="1876425"/>
            <a:ext cx="295275" cy="180975"/>
          </a:xfrm>
          <a:prstGeom prst="rect">
            <a:avLst/>
          </a:prstGeom>
        </p:spPr>
      </p:pic>
      <p:pic>
        <p:nvPicPr>
          <p:cNvPr id="18" name="Picture 17" descr="tmpble94xs8.png"/>
          <p:cNvPicPr>
            <a:picLocks noChangeAspect="1"/>
          </p:cNvPicPr>
          <p:nvPr/>
        </p:nvPicPr>
        <p:blipFill>
          <a:blip r:embed="rId8"/>
          <a:stretch>
            <a:fillRect/>
          </a:stretch>
        </p:blipFill>
        <p:spPr>
          <a:xfrm>
            <a:off x="1581150" y="2771775"/>
            <a:ext cx="295275" cy="180975"/>
          </a:xfrm>
          <a:prstGeom prst="rect">
            <a:avLst/>
          </a:prstGeom>
        </p:spPr>
      </p:pic>
      <p:pic>
        <p:nvPicPr>
          <p:cNvPr id="19" name="Picture 18" descr="tmp0ozpk6nm.png"/>
          <p:cNvPicPr>
            <a:picLocks noChangeAspect="1"/>
          </p:cNvPicPr>
          <p:nvPr/>
        </p:nvPicPr>
        <p:blipFill>
          <a:blip r:embed="rId9"/>
          <a:stretch>
            <a:fillRect/>
          </a:stretch>
        </p:blipFill>
        <p:spPr>
          <a:xfrm>
            <a:off x="1924050" y="1876425"/>
            <a:ext cx="285750" cy="180975"/>
          </a:xfrm>
          <a:prstGeom prst="rect">
            <a:avLst/>
          </a:prstGeom>
        </p:spPr>
      </p:pic>
      <p:pic>
        <p:nvPicPr>
          <p:cNvPr id="20" name="Picture 19" descr="tmpr40_22b3.png"/>
          <p:cNvPicPr>
            <a:picLocks noChangeAspect="1"/>
          </p:cNvPicPr>
          <p:nvPr/>
        </p:nvPicPr>
        <p:blipFill>
          <a:blip r:embed="rId10"/>
          <a:stretch>
            <a:fillRect/>
          </a:stretch>
        </p:blipFill>
        <p:spPr>
          <a:xfrm>
            <a:off x="1924050" y="2771775"/>
            <a:ext cx="285750" cy="180975"/>
          </a:xfrm>
          <a:prstGeom prst="rect">
            <a:avLst/>
          </a:prstGeom>
        </p:spPr>
      </p:pic>
      <p:pic>
        <p:nvPicPr>
          <p:cNvPr id="21" name="Picture 20" descr="tmprzopcbhp.png"/>
          <p:cNvPicPr>
            <a:picLocks noChangeAspect="1"/>
          </p:cNvPicPr>
          <p:nvPr/>
        </p:nvPicPr>
        <p:blipFill>
          <a:blip r:embed="rId11"/>
          <a:stretch>
            <a:fillRect/>
          </a:stretch>
        </p:blipFill>
        <p:spPr>
          <a:xfrm>
            <a:off x="2266950" y="1876425"/>
            <a:ext cx="285750" cy="180975"/>
          </a:xfrm>
          <a:prstGeom prst="rect">
            <a:avLst/>
          </a:prstGeom>
        </p:spPr>
      </p:pic>
      <p:pic>
        <p:nvPicPr>
          <p:cNvPr id="22" name="Picture 21" descr="tmpi31865u3.png"/>
          <p:cNvPicPr>
            <a:picLocks noChangeAspect="1"/>
          </p:cNvPicPr>
          <p:nvPr/>
        </p:nvPicPr>
        <p:blipFill>
          <a:blip r:embed="rId12"/>
          <a:stretch>
            <a:fillRect/>
          </a:stretch>
        </p:blipFill>
        <p:spPr>
          <a:xfrm>
            <a:off x="2266950" y="2771775"/>
            <a:ext cx="285750" cy="180975"/>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55498" y="967130"/>
            <a:ext cx="9176003" cy="2553919"/>
          </a:xfrm>
          <a:prstGeom prst="roundRect">
            <a:avLst>
              <a:gd name="adj" fmla="val 6000"/>
            </a:avLst>
          </a:prstGeom>
          <a:solidFill>
            <a:srgbClr val="FEFEFE"/>
          </a:solidFill>
          <a:ln w="11430">
            <a:solidFill>
              <a:srgbClr val="1254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6933" y="399592"/>
            <a:ext cx="2851556" cy="312724"/>
          </a:xfrm>
          <a:prstGeom prst="rect">
            <a:avLst/>
          </a:prstGeom>
          <a:noFill/>
          <a:ln>
            <a:noFill/>
          </a:ln>
        </p:spPr>
        <p:txBody>
          <a:bodyPr wrap="none" lIns="19050" rIns="19050" tIns="0" bIns="0" anchor="ctr">
            <a:noAutofit/>
          </a:bodyPr>
          <a:lstStyle/>
          <a:p>
            <a:pPr algn="l"/>
            <a:r>
              <a:rPr sz="3150" b="1">
                <a:solidFill>
                  <a:srgbClr val="3A4D8E"/>
                </a:solidFill>
                <a:latin typeface="PingFang SC"/>
              </a:rPr>
              <a:t>VTE预防</a:t>
            </a:r>
          </a:p>
        </p:txBody>
      </p:sp>
      <p:sp>
        <p:nvSpPr>
          <p:cNvPr id="5" name="TextBox 4"/>
          <p:cNvSpPr txBox="1"/>
          <p:nvPr/>
        </p:nvSpPr>
        <p:spPr>
          <a:xfrm>
            <a:off x="8322183" y="179527"/>
            <a:ext cx="3892600" cy="422757"/>
          </a:xfrm>
          <a:prstGeom prst="rect">
            <a:avLst/>
          </a:prstGeom>
          <a:noFill/>
          <a:ln>
            <a:noFill/>
          </a:ln>
        </p:spPr>
        <p:txBody>
          <a:bodyPr wrap="none" lIns="19050" rIns="19050" tIns="0" bIns="0" anchor="ctr">
            <a:noAutofit/>
          </a:bodyPr>
          <a:lstStyle/>
          <a:p>
            <a:pPr algn="r"/>
            <a:r>
              <a:rPr sz="1800" b="0">
                <a:solidFill>
                  <a:srgbClr val="AFC3A9"/>
                </a:solidFill>
                <a:latin typeface="PingFang SC"/>
              </a:rPr>
              <a:t>Surviving Sepsis Campaign</a:t>
            </a:r>
          </a:p>
        </p:txBody>
      </p:sp>
      <p:sp>
        <p:nvSpPr>
          <p:cNvPr id="6" name="TextBox 5"/>
          <p:cNvSpPr txBox="1"/>
          <p:nvPr/>
        </p:nvSpPr>
        <p:spPr>
          <a:xfrm>
            <a:off x="966978" y="1262481"/>
            <a:ext cx="7797546" cy="196900"/>
          </a:xfrm>
          <a:prstGeom prst="rect">
            <a:avLst/>
          </a:prstGeom>
          <a:noFill/>
          <a:ln>
            <a:noFill/>
          </a:ln>
        </p:spPr>
        <p:txBody>
          <a:bodyPr wrap="square" lIns="19050" rIns="19050" tIns="0" bIns="0" anchor="t">
            <a:normAutofit/>
          </a:bodyPr>
          <a:lstStyle/>
          <a:p>
            <a:pPr algn="l"/>
            <a:r>
              <a:rPr sz="1210" b="0">
                <a:solidFill>
                  <a:srgbClr val="818184"/>
                </a:solidFill>
                <a:latin typeface="PingFang SC"/>
              </a:rPr>
              <a:t>97. 对于患有脓毒症或感染性休克的成年人，我们“推荐”使用药物性VTE预防措施，除非存在禁忌证。</a:t>
            </a:r>
          </a:p>
        </p:txBody>
      </p:sp>
      <p:sp>
        <p:nvSpPr>
          <p:cNvPr id="7" name="TextBox 6"/>
          <p:cNvSpPr txBox="1"/>
          <p:nvPr/>
        </p:nvSpPr>
        <p:spPr>
          <a:xfrm>
            <a:off x="966978" y="1864766"/>
            <a:ext cx="7797546" cy="196900"/>
          </a:xfrm>
          <a:prstGeom prst="rect">
            <a:avLst/>
          </a:prstGeom>
          <a:noFill/>
          <a:ln>
            <a:noFill/>
          </a:ln>
        </p:spPr>
        <p:txBody>
          <a:bodyPr wrap="square" lIns="19050" rIns="19050" tIns="0" bIns="0" anchor="t">
            <a:normAutofit/>
          </a:bodyPr>
          <a:lstStyle/>
          <a:p>
            <a:pPr algn="l"/>
            <a:r>
              <a:rPr sz="1160" b="0">
                <a:solidFill>
                  <a:srgbClr val="7F8184"/>
                </a:solidFill>
                <a:latin typeface="PingFang SC"/>
              </a:rPr>
              <a:t>98. 对于患有脓毒症或感染性休克的成年人，我们“推荐”使用低分子肝素而非普通肝素进行静脉血栓栓塞症预防。</a:t>
            </a:r>
          </a:p>
        </p:txBody>
      </p:sp>
      <p:sp>
        <p:nvSpPr>
          <p:cNvPr id="8" name="TextBox 7"/>
          <p:cNvSpPr txBox="1"/>
          <p:nvPr/>
        </p:nvSpPr>
        <p:spPr>
          <a:xfrm>
            <a:off x="966978" y="2467051"/>
            <a:ext cx="7797546" cy="382219"/>
          </a:xfrm>
          <a:prstGeom prst="rect">
            <a:avLst/>
          </a:prstGeom>
          <a:noFill/>
          <a:ln>
            <a:noFill/>
          </a:ln>
        </p:spPr>
        <p:txBody>
          <a:bodyPr wrap="square" lIns="19050" rIns="19050" tIns="0" bIns="0" anchor="t">
            <a:normAutofit/>
          </a:bodyPr>
          <a:lstStyle/>
          <a:p>
            <a:pPr algn="l"/>
            <a:r>
              <a:rPr sz="1340" b="0">
                <a:solidFill>
                  <a:srgbClr val="828986"/>
                </a:solidFill>
                <a:latin typeface="PingFang SC"/>
              </a:rPr>
              <a:t>99. 对于患有脓毒症或感染性休克的成年人，我们“建议”单独使用药物性静脉血栓栓塞症（VTE）预防措施，而非药物性VTE预防措施联合机械性VTE预防措施。</a:t>
            </a:r>
          </a:p>
        </p:txBody>
      </p:sp>
      <p:sp>
        <p:nvSpPr>
          <p:cNvPr id="9" name="TextBox 8"/>
          <p:cNvSpPr txBox="1"/>
          <p:nvPr/>
        </p:nvSpPr>
        <p:spPr>
          <a:xfrm>
            <a:off x="9176004" y="1262481"/>
            <a:ext cx="678941" cy="162153"/>
          </a:xfrm>
          <a:prstGeom prst="rect">
            <a:avLst/>
          </a:prstGeom>
          <a:noFill/>
          <a:ln>
            <a:noFill/>
          </a:ln>
        </p:spPr>
        <p:txBody>
          <a:bodyPr wrap="none" lIns="19050" rIns="19050" tIns="0" bIns="0" anchor="ctr">
            <a:noAutofit/>
          </a:bodyPr>
          <a:lstStyle/>
          <a:p>
            <a:pPr algn="r"/>
            <a:r>
              <a:rPr sz="1350" b="0">
                <a:solidFill>
                  <a:srgbClr val="87AC78"/>
                </a:solidFill>
                <a:latin typeface="PingFang SC"/>
              </a:rPr>
              <a:t>沿用</a:t>
            </a:r>
          </a:p>
        </p:txBody>
      </p:sp>
      <p:sp>
        <p:nvSpPr>
          <p:cNvPr id="10" name="TextBox 9"/>
          <p:cNvSpPr txBox="1"/>
          <p:nvPr/>
        </p:nvSpPr>
        <p:spPr>
          <a:xfrm>
            <a:off x="9176004" y="1864766"/>
            <a:ext cx="678941" cy="162153"/>
          </a:xfrm>
          <a:prstGeom prst="rect">
            <a:avLst/>
          </a:prstGeom>
          <a:noFill/>
          <a:ln>
            <a:noFill/>
          </a:ln>
        </p:spPr>
        <p:txBody>
          <a:bodyPr wrap="none" lIns="19050" rIns="19050" tIns="0" bIns="0" anchor="ctr">
            <a:noAutofit/>
          </a:bodyPr>
          <a:lstStyle/>
          <a:p>
            <a:pPr algn="r"/>
            <a:r>
              <a:rPr sz="1350" b="0">
                <a:solidFill>
                  <a:srgbClr val="89AE7A"/>
                </a:solidFill>
                <a:latin typeface="PingFang SC"/>
              </a:rPr>
              <a:t>沿用</a:t>
            </a:r>
          </a:p>
        </p:txBody>
      </p:sp>
      <p:sp>
        <p:nvSpPr>
          <p:cNvPr id="11" name="TextBox 10"/>
          <p:cNvSpPr txBox="1"/>
          <p:nvPr/>
        </p:nvSpPr>
        <p:spPr>
          <a:xfrm>
            <a:off x="9176004" y="2467051"/>
            <a:ext cx="678941" cy="162153"/>
          </a:xfrm>
          <a:prstGeom prst="rect">
            <a:avLst/>
          </a:prstGeom>
          <a:noFill/>
          <a:ln>
            <a:noFill/>
          </a:ln>
        </p:spPr>
        <p:txBody>
          <a:bodyPr wrap="none" lIns="19050" rIns="19050" tIns="0" bIns="0" anchor="ctr">
            <a:noAutofit/>
          </a:bodyPr>
          <a:lstStyle/>
          <a:p>
            <a:pPr algn="r"/>
            <a:r>
              <a:rPr sz="1350" b="0">
                <a:solidFill>
                  <a:srgbClr val="8AAA7A"/>
                </a:solidFill>
                <a:latin typeface="PingFang SC"/>
              </a:rPr>
              <a:t>沿用</a:t>
            </a:r>
          </a:p>
        </p:txBody>
      </p:sp>
      <p:sp>
        <p:nvSpPr>
          <p:cNvPr id="12" name="TextBox 11"/>
          <p:cNvSpPr txBox="1"/>
          <p:nvPr/>
        </p:nvSpPr>
        <p:spPr>
          <a:xfrm>
            <a:off x="504063" y="4934102"/>
            <a:ext cx="2557348" cy="289560"/>
          </a:xfrm>
          <a:prstGeom prst="rect">
            <a:avLst/>
          </a:prstGeom>
          <a:noFill/>
          <a:ln>
            <a:noFill/>
          </a:ln>
        </p:spPr>
        <p:txBody>
          <a:bodyPr wrap="none" lIns="19050" rIns="19050" tIns="0" bIns="0" anchor="ctr">
            <a:noAutofit/>
          </a:bodyPr>
          <a:lstStyle/>
          <a:p>
            <a:pPr algn="l"/>
            <a:r>
              <a:rPr sz="900" b="0">
                <a:solidFill>
                  <a:srgbClr val="979797"/>
                </a:solidFill>
                <a:latin typeface="PingFang SC"/>
              </a:rPr>
              <a:t>Society of Critical Care Medicine</a:t>
            </a:r>
          </a:p>
          <a:p>
            <a:pPr algn="l"/>
            <a:r>
              <a:rPr sz="900" b="0">
                <a:solidFill>
                  <a:srgbClr val="979797"/>
                </a:solidFill>
                <a:latin typeface="PingFang SC"/>
              </a:rPr>
              <a:t>The Intensive Care Professionals</a:t>
            </a:r>
          </a:p>
        </p:txBody>
      </p:sp>
      <p:sp>
        <p:nvSpPr>
          <p:cNvPr id="13" name="TextBox 12"/>
          <p:cNvSpPr txBox="1"/>
          <p:nvPr/>
        </p:nvSpPr>
        <p:spPr>
          <a:xfrm>
            <a:off x="1728216" y="4934102"/>
            <a:ext cx="2353665" cy="289560"/>
          </a:xfrm>
          <a:prstGeom prst="rect">
            <a:avLst/>
          </a:prstGeom>
          <a:noFill/>
          <a:ln>
            <a:noFill/>
          </a:ln>
        </p:spPr>
        <p:txBody>
          <a:bodyPr wrap="none" lIns="19050" rIns="19050" tIns="0" bIns="0" anchor="ctr">
            <a:noAutofit/>
          </a:bodyPr>
          <a:lstStyle/>
          <a:p>
            <a:pPr algn="l"/>
            <a:r>
              <a:rPr sz="900" b="0">
                <a:solidFill>
                  <a:srgbClr val="8667B9"/>
                </a:solidFill>
                <a:latin typeface="PingFang SC"/>
              </a:rPr>
              <a:t>esicm</a:t>
            </a:r>
          </a:p>
          <a:p>
            <a:pPr algn="l"/>
            <a:r>
              <a:rPr sz="900" b="0">
                <a:solidFill>
                  <a:srgbClr val="8667B9"/>
                </a:solidFill>
                <a:latin typeface="PingFang SC"/>
              </a:rPr>
              <a:t>European Society of Intensive Care Medicine</a:t>
            </a:r>
          </a:p>
        </p:txBody>
      </p:sp>
      <p:sp>
        <p:nvSpPr>
          <p:cNvPr id="14" name="TextBox 13"/>
          <p:cNvSpPr txBox="1"/>
          <p:nvPr/>
        </p:nvSpPr>
        <p:spPr>
          <a:xfrm>
            <a:off x="504063" y="5432145"/>
            <a:ext cx="2331034" cy="138988"/>
          </a:xfrm>
          <a:prstGeom prst="rect">
            <a:avLst/>
          </a:prstGeom>
          <a:noFill/>
          <a:ln>
            <a:noFill/>
          </a:ln>
        </p:spPr>
        <p:txBody>
          <a:bodyPr wrap="none" lIns="19050" rIns="19050" tIns="0" bIns="0" anchor="ctr">
            <a:noAutofit/>
          </a:bodyPr>
          <a:lstStyle/>
          <a:p>
            <a:pPr algn="l"/>
            <a:r>
              <a:rPr sz="1050" b="0">
                <a:solidFill>
                  <a:srgbClr val="D2E6E8"/>
                </a:solidFill>
                <a:latin typeface="PingFang SC"/>
              </a:rPr>
              <a:t>公众号·指南导航</a:t>
            </a:r>
          </a:p>
        </p:txBody>
      </p:sp>
      <p:sp>
        <p:nvSpPr>
          <p:cNvPr id="15" name="TextBox 14"/>
          <p:cNvSpPr txBox="1"/>
          <p:nvPr/>
        </p:nvSpPr>
        <p:spPr>
          <a:xfrm>
            <a:off x="10287000" y="5374233"/>
            <a:ext cx="0" cy="196900"/>
          </a:xfrm>
          <a:prstGeom prst="rect">
            <a:avLst/>
          </a:prstGeom>
          <a:noFill/>
          <a:ln>
            <a:noFill/>
          </a:ln>
        </p:spPr>
        <p:txBody>
          <a:bodyPr wrap="none" lIns="19050" rIns="19050" tIns="0" bIns="0" anchor="ctr">
            <a:noAutofit/>
          </a:bodyPr>
          <a:lstStyle/>
          <a:p>
            <a:pPr algn="r"/>
            <a:r>
              <a:rPr sz="1350" b="0">
                <a:solidFill>
                  <a:srgbClr val="000000"/>
                </a:solidFill>
                <a:latin typeface="PingFang SC"/>
              </a:rPr>
              <a:t>61</a:t>
            </a:r>
          </a:p>
        </p:txBody>
      </p:sp>
      <p:pic>
        <p:nvPicPr>
          <p:cNvPr id="16" name="Picture 15" descr="tmpwrdbeixo.png"/>
          <p:cNvPicPr>
            <a:picLocks noChangeAspect="1"/>
          </p:cNvPicPr>
          <p:nvPr/>
        </p:nvPicPr>
        <p:blipFill>
          <a:blip r:embed="rId2"/>
          <a:stretch>
            <a:fillRect/>
          </a:stretch>
        </p:blipFill>
        <p:spPr>
          <a:xfrm>
            <a:off x="1228725" y="1590675"/>
            <a:ext cx="304800" cy="180975"/>
          </a:xfrm>
          <a:prstGeom prst="rect">
            <a:avLst/>
          </a:prstGeom>
        </p:spPr>
      </p:pic>
      <p:pic>
        <p:nvPicPr>
          <p:cNvPr id="17" name="Picture 16" descr="tmpyu177sx5.png"/>
          <p:cNvPicPr>
            <a:picLocks noChangeAspect="1"/>
          </p:cNvPicPr>
          <p:nvPr/>
        </p:nvPicPr>
        <p:blipFill>
          <a:blip r:embed="rId3"/>
          <a:stretch>
            <a:fillRect/>
          </a:stretch>
        </p:blipFill>
        <p:spPr>
          <a:xfrm>
            <a:off x="1581150" y="1590675"/>
            <a:ext cx="314325" cy="180975"/>
          </a:xfrm>
          <a:prstGeom prst="rect">
            <a:avLst/>
          </a:prstGeom>
        </p:spPr>
      </p:pic>
      <p:pic>
        <p:nvPicPr>
          <p:cNvPr id="18" name="Picture 17" descr="tmpbdhwgprh.png"/>
          <p:cNvPicPr>
            <a:picLocks noChangeAspect="1"/>
          </p:cNvPicPr>
          <p:nvPr/>
        </p:nvPicPr>
        <p:blipFill>
          <a:blip r:embed="rId4"/>
          <a:stretch>
            <a:fillRect/>
          </a:stretch>
        </p:blipFill>
        <p:spPr>
          <a:xfrm>
            <a:off x="1943100" y="1590675"/>
            <a:ext cx="314325" cy="180975"/>
          </a:xfrm>
          <a:prstGeom prst="rect">
            <a:avLst/>
          </a:prstGeom>
        </p:spPr>
      </p:pic>
      <p:pic>
        <p:nvPicPr>
          <p:cNvPr id="19" name="Picture 18" descr="tmpcdtm0wma.png"/>
          <p:cNvPicPr>
            <a:picLocks noChangeAspect="1"/>
          </p:cNvPicPr>
          <p:nvPr/>
        </p:nvPicPr>
        <p:blipFill>
          <a:blip r:embed="rId5"/>
          <a:stretch>
            <a:fillRect/>
          </a:stretch>
        </p:blipFill>
        <p:spPr>
          <a:xfrm>
            <a:off x="2305050" y="1590675"/>
            <a:ext cx="304800" cy="180975"/>
          </a:xfrm>
          <a:prstGeom prst="rect">
            <a:avLst/>
          </a:prstGeom>
        </p:spPr>
      </p:pic>
      <p:pic>
        <p:nvPicPr>
          <p:cNvPr id="20" name="Picture 19" descr="tmpp3lo8clx.png"/>
          <p:cNvPicPr>
            <a:picLocks noChangeAspect="1"/>
          </p:cNvPicPr>
          <p:nvPr/>
        </p:nvPicPr>
        <p:blipFill>
          <a:blip r:embed="rId6"/>
          <a:stretch>
            <a:fillRect/>
          </a:stretch>
        </p:blipFill>
        <p:spPr>
          <a:xfrm>
            <a:off x="2667000" y="1590675"/>
            <a:ext cx="304800" cy="180975"/>
          </a:xfrm>
          <a:prstGeom prst="rect">
            <a:avLst/>
          </a:prstGeom>
        </p:spPr>
      </p:pic>
      <p:pic>
        <p:nvPicPr>
          <p:cNvPr id="21" name="Picture 20" descr="tmp2byz9ovx.png"/>
          <p:cNvPicPr>
            <a:picLocks noChangeAspect="1"/>
          </p:cNvPicPr>
          <p:nvPr/>
        </p:nvPicPr>
        <p:blipFill>
          <a:blip r:embed="rId7"/>
          <a:stretch>
            <a:fillRect/>
          </a:stretch>
        </p:blipFill>
        <p:spPr>
          <a:xfrm>
            <a:off x="1228725" y="2190750"/>
            <a:ext cx="304800" cy="180975"/>
          </a:xfrm>
          <a:prstGeom prst="rect">
            <a:avLst/>
          </a:prstGeom>
        </p:spPr>
      </p:pic>
      <p:pic>
        <p:nvPicPr>
          <p:cNvPr id="22" name="Picture 21" descr="tmp071v_tiz.png"/>
          <p:cNvPicPr>
            <a:picLocks noChangeAspect="1"/>
          </p:cNvPicPr>
          <p:nvPr/>
        </p:nvPicPr>
        <p:blipFill>
          <a:blip r:embed="rId8"/>
          <a:stretch>
            <a:fillRect/>
          </a:stretch>
        </p:blipFill>
        <p:spPr>
          <a:xfrm>
            <a:off x="1581150" y="2190750"/>
            <a:ext cx="314325" cy="180975"/>
          </a:xfrm>
          <a:prstGeom prst="rect">
            <a:avLst/>
          </a:prstGeom>
        </p:spPr>
      </p:pic>
      <p:pic>
        <p:nvPicPr>
          <p:cNvPr id="23" name="Picture 22" descr="tmpt2kjun4h.png"/>
          <p:cNvPicPr>
            <a:picLocks noChangeAspect="1"/>
          </p:cNvPicPr>
          <p:nvPr/>
        </p:nvPicPr>
        <p:blipFill>
          <a:blip r:embed="rId9"/>
          <a:stretch>
            <a:fillRect/>
          </a:stretch>
        </p:blipFill>
        <p:spPr>
          <a:xfrm>
            <a:off x="1943100" y="2190750"/>
            <a:ext cx="314325" cy="180975"/>
          </a:xfrm>
          <a:prstGeom prst="rect">
            <a:avLst/>
          </a:prstGeom>
        </p:spPr>
      </p:pic>
      <p:pic>
        <p:nvPicPr>
          <p:cNvPr id="24" name="Picture 23" descr="tmpe40a5wky.png"/>
          <p:cNvPicPr>
            <a:picLocks noChangeAspect="1"/>
          </p:cNvPicPr>
          <p:nvPr/>
        </p:nvPicPr>
        <p:blipFill>
          <a:blip r:embed="rId10"/>
          <a:stretch>
            <a:fillRect/>
          </a:stretch>
        </p:blipFill>
        <p:spPr>
          <a:xfrm>
            <a:off x="2305050" y="2190750"/>
            <a:ext cx="304800" cy="180975"/>
          </a:xfrm>
          <a:prstGeom prst="rect">
            <a:avLst/>
          </a:prstGeom>
        </p:spPr>
      </p:pic>
      <p:pic>
        <p:nvPicPr>
          <p:cNvPr id="25" name="Picture 24" descr="tmp0orrfgf1.png"/>
          <p:cNvPicPr>
            <a:picLocks noChangeAspect="1"/>
          </p:cNvPicPr>
          <p:nvPr/>
        </p:nvPicPr>
        <p:blipFill>
          <a:blip r:embed="rId11"/>
          <a:stretch>
            <a:fillRect/>
          </a:stretch>
        </p:blipFill>
        <p:spPr>
          <a:xfrm>
            <a:off x="2667000" y="2190750"/>
            <a:ext cx="304800" cy="180975"/>
          </a:xfrm>
          <a:prstGeom prst="rect">
            <a:avLst/>
          </a:prstGeom>
        </p:spPr>
      </p:pic>
      <p:pic>
        <p:nvPicPr>
          <p:cNvPr id="26" name="Picture 25" descr="tmpdf4diqo0.png"/>
          <p:cNvPicPr>
            <a:picLocks noChangeAspect="1"/>
          </p:cNvPicPr>
          <p:nvPr/>
        </p:nvPicPr>
        <p:blipFill>
          <a:blip r:embed="rId12"/>
          <a:stretch>
            <a:fillRect/>
          </a:stretch>
        </p:blipFill>
        <p:spPr>
          <a:xfrm>
            <a:off x="1228725" y="3076575"/>
            <a:ext cx="304800" cy="190500"/>
          </a:xfrm>
          <a:prstGeom prst="rect">
            <a:avLst/>
          </a:prstGeom>
        </p:spPr>
      </p:pic>
      <p:pic>
        <p:nvPicPr>
          <p:cNvPr id="27" name="Picture 26" descr="tmpt9ys0apl.png"/>
          <p:cNvPicPr>
            <a:picLocks noChangeAspect="1"/>
          </p:cNvPicPr>
          <p:nvPr/>
        </p:nvPicPr>
        <p:blipFill>
          <a:blip r:embed="rId13"/>
          <a:stretch>
            <a:fillRect/>
          </a:stretch>
        </p:blipFill>
        <p:spPr>
          <a:xfrm>
            <a:off x="1581150" y="3076575"/>
            <a:ext cx="314325" cy="190500"/>
          </a:xfrm>
          <a:prstGeom prst="rect">
            <a:avLst/>
          </a:prstGeom>
        </p:spPr>
      </p:pic>
      <p:pic>
        <p:nvPicPr>
          <p:cNvPr id="28" name="Picture 27" descr="tmpu5aim30u.png"/>
          <p:cNvPicPr>
            <a:picLocks noChangeAspect="1"/>
          </p:cNvPicPr>
          <p:nvPr/>
        </p:nvPicPr>
        <p:blipFill>
          <a:blip r:embed="rId14"/>
          <a:stretch>
            <a:fillRect/>
          </a:stretch>
        </p:blipFill>
        <p:spPr>
          <a:xfrm>
            <a:off x="1943100" y="3076575"/>
            <a:ext cx="314325" cy="190500"/>
          </a:xfrm>
          <a:prstGeom prst="rect">
            <a:avLst/>
          </a:prstGeom>
        </p:spPr>
      </p:pic>
      <p:pic>
        <p:nvPicPr>
          <p:cNvPr id="29" name="Picture 28" descr="tmp_6alg0bz.png"/>
          <p:cNvPicPr>
            <a:picLocks noChangeAspect="1"/>
          </p:cNvPicPr>
          <p:nvPr/>
        </p:nvPicPr>
        <p:blipFill>
          <a:blip r:embed="rId15"/>
          <a:stretch>
            <a:fillRect/>
          </a:stretch>
        </p:blipFill>
        <p:spPr>
          <a:xfrm>
            <a:off x="2305050" y="3076575"/>
            <a:ext cx="304800" cy="190500"/>
          </a:xfrm>
          <a:prstGeom prst="rect">
            <a:avLst/>
          </a:prstGeom>
        </p:spPr>
      </p:pic>
      <p:pic>
        <p:nvPicPr>
          <p:cNvPr id="30" name="Picture 29" descr="tmpvl90smgb.png"/>
          <p:cNvPicPr>
            <a:picLocks noChangeAspect="1"/>
          </p:cNvPicPr>
          <p:nvPr/>
        </p:nvPicPr>
        <p:blipFill>
          <a:blip r:embed="rId16"/>
          <a:stretch>
            <a:fillRect/>
          </a:stretch>
        </p:blipFill>
        <p:spPr>
          <a:xfrm>
            <a:off x="2667000" y="3076575"/>
            <a:ext cx="304800" cy="190500"/>
          </a:xfrm>
          <a:prstGeom prst="rect">
            <a:avLst/>
          </a:prstGeom>
        </p:spPr>
      </p:pic>
      <p:pic>
        <p:nvPicPr>
          <p:cNvPr id="31" name="Picture 30" descr="tmpu85jkbv_.png"/>
          <p:cNvPicPr>
            <a:picLocks noChangeAspect="1"/>
          </p:cNvPicPr>
          <p:nvPr/>
        </p:nvPicPr>
        <p:blipFill>
          <a:blip r:embed="rId17"/>
          <a:stretch>
            <a:fillRect/>
          </a:stretch>
        </p:blipFill>
        <p:spPr>
          <a:xfrm>
            <a:off x="9896475" y="247650"/>
            <a:ext cx="190500" cy="180975"/>
          </a:xfrm>
          <a:prstGeom prst="rect">
            <a:avLst/>
          </a:prstGeom>
        </p:spPr>
      </p:pic>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gmhaz9ll.png"/>
          <p:cNvPicPr>
            <a:picLocks noChangeAspect="1"/>
          </p:cNvPicPr>
          <p:nvPr/>
        </p:nvPicPr>
        <p:blipFill>
          <a:blip r:embed="rId2"/>
          <a:stretch>
            <a:fillRect/>
          </a:stretch>
        </p:blipFill>
        <p:spPr>
          <a:xfrm>
            <a:off x="533400" y="4933950"/>
            <a:ext cx="1085850" cy="323850"/>
          </a:xfrm>
          <a:prstGeom prst="rect">
            <a:avLst/>
          </a:prstGeom>
        </p:spPr>
      </p:pic>
      <p:pic>
        <p:nvPicPr>
          <p:cNvPr id="4" name="Picture 3" descr="tmpp72yqfjy.png"/>
          <p:cNvPicPr>
            <a:picLocks noChangeAspect="1"/>
          </p:cNvPicPr>
          <p:nvPr/>
        </p:nvPicPr>
        <p:blipFill>
          <a:blip r:embed="rId3"/>
          <a:stretch>
            <a:fillRect/>
          </a:stretch>
        </p:blipFill>
        <p:spPr>
          <a:xfrm>
            <a:off x="1666875" y="4933950"/>
            <a:ext cx="962025" cy="323850"/>
          </a:xfrm>
          <a:prstGeom prst="rect">
            <a:avLst/>
          </a:prstGeom>
        </p:spPr>
      </p:pic>
      <p:sp>
        <p:nvSpPr>
          <p:cNvPr id="5" name="Rectangle 4"/>
          <p:cNvSpPr/>
          <p:nvPr/>
        </p:nvSpPr>
        <p:spPr>
          <a:xfrm>
            <a:off x="3898773" y="1760524"/>
            <a:ext cx="1717929" cy="81076"/>
          </a:xfrm>
          <a:prstGeom prst="rect">
            <a:avLst/>
          </a:prstGeom>
          <a:solidFill>
            <a:srgbClr val="9AC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3932224"/>
            <a:ext cx="7056882" cy="75285"/>
          </a:xfrm>
          <a:prstGeom prst="rect">
            <a:avLst/>
          </a:prstGeom>
          <a:solidFill>
            <a:srgbClr val="FCF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933956" y="2432304"/>
            <a:ext cx="2919450" cy="822350"/>
          </a:xfrm>
          <a:prstGeom prst="rect">
            <a:avLst/>
          </a:prstGeom>
          <a:noFill/>
          <a:ln>
            <a:noFill/>
          </a:ln>
        </p:spPr>
        <p:txBody>
          <a:bodyPr wrap="none" lIns="19050" rIns="19050" tIns="0" bIns="0" anchor="ctr">
            <a:noAutofit/>
          </a:bodyPr>
          <a:lstStyle/>
          <a:p>
            <a:pPr algn="ctr"/>
            <a:r>
              <a:rPr sz="9000" b="1">
                <a:solidFill>
                  <a:srgbClr val="139FD3"/>
                </a:solidFill>
                <a:latin typeface="PingFang SC"/>
              </a:rPr>
              <a:t>07</a:t>
            </a:r>
          </a:p>
        </p:txBody>
      </p:sp>
      <p:sp>
        <p:nvSpPr>
          <p:cNvPr id="8" name="TextBox 7"/>
          <p:cNvSpPr txBox="1"/>
          <p:nvPr/>
        </p:nvSpPr>
        <p:spPr>
          <a:xfrm>
            <a:off x="3950208" y="2432304"/>
            <a:ext cx="4775225" cy="845515"/>
          </a:xfrm>
          <a:prstGeom prst="rect">
            <a:avLst/>
          </a:prstGeom>
          <a:noFill/>
          <a:ln>
            <a:noFill/>
          </a:ln>
        </p:spPr>
        <p:txBody>
          <a:bodyPr wrap="none" lIns="19050" rIns="19050" tIns="0" bIns="0" anchor="ctr">
            <a:noAutofit/>
          </a:bodyPr>
          <a:lstStyle/>
          <a:p>
            <a:pPr algn="l"/>
            <a:r>
              <a:rPr sz="4800" b="1">
                <a:solidFill>
                  <a:srgbClr val="374554"/>
                </a:solidFill>
                <a:latin typeface="PingFang SC"/>
              </a:rPr>
              <a:t>照护目标</a:t>
            </a:r>
          </a:p>
          <a:p>
            <a:pPr algn="l"/>
            <a:r>
              <a:rPr sz="4800" b="1">
                <a:solidFill>
                  <a:srgbClr val="374554"/>
                </a:solidFill>
                <a:latin typeface="PingFang SC"/>
              </a:rPr>
              <a:t>Goals of care</a:t>
            </a:r>
          </a:p>
        </p:txBody>
      </p:sp>
      <p:sp>
        <p:nvSpPr>
          <p:cNvPr id="9" name="TextBox 8"/>
          <p:cNvSpPr txBox="1"/>
          <p:nvPr/>
        </p:nvSpPr>
        <p:spPr>
          <a:xfrm>
            <a:off x="8322183" y="162153"/>
            <a:ext cx="3915232" cy="440131"/>
          </a:xfrm>
          <a:prstGeom prst="rect">
            <a:avLst/>
          </a:prstGeom>
          <a:noFill/>
          <a:ln>
            <a:noFill/>
          </a:ln>
        </p:spPr>
        <p:txBody>
          <a:bodyPr wrap="none" lIns="19050" rIns="19050" tIns="0" bIns="0" anchor="ctr">
            <a:noAutofit/>
          </a:bodyPr>
          <a:lstStyle/>
          <a:p>
            <a:pPr algn="r"/>
            <a:r>
              <a:rPr sz="1800" b="0">
                <a:solidFill>
                  <a:srgbClr val="AFC4A9"/>
                </a:solidFill>
                <a:latin typeface="PingFang SC"/>
              </a:rPr>
              <a:t>Surviving Sepsis Campaign</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sacg61qo.png"/>
          <p:cNvPicPr>
            <a:picLocks noChangeAspect="1"/>
          </p:cNvPicPr>
          <p:nvPr/>
        </p:nvPicPr>
        <p:blipFill>
          <a:blip r:embed="rId2"/>
          <a:stretch>
            <a:fillRect/>
          </a:stretch>
        </p:blipFill>
        <p:spPr>
          <a:xfrm>
            <a:off x="571500" y="4933950"/>
            <a:ext cx="2124075" cy="276225"/>
          </a:xfrm>
          <a:prstGeom prst="rect">
            <a:avLst/>
          </a:prstGeom>
        </p:spPr>
      </p:pic>
      <p:pic>
        <p:nvPicPr>
          <p:cNvPr id="4" name="Picture 3" descr="tmp8339i6hu.png"/>
          <p:cNvPicPr>
            <a:picLocks noChangeAspect="1"/>
          </p:cNvPicPr>
          <p:nvPr/>
        </p:nvPicPr>
        <p:blipFill>
          <a:blip r:embed="rId3"/>
          <a:stretch>
            <a:fillRect/>
          </a:stretch>
        </p:blipFill>
        <p:spPr>
          <a:xfrm>
            <a:off x="2800350" y="4933950"/>
            <a:ext cx="819150" cy="276225"/>
          </a:xfrm>
          <a:prstGeom prst="rect">
            <a:avLst/>
          </a:prstGeom>
        </p:spPr>
      </p:pic>
      <p:sp>
        <p:nvSpPr>
          <p:cNvPr id="5" name="Rounded Rectangle 4"/>
          <p:cNvSpPr/>
          <p:nvPr/>
        </p:nvSpPr>
        <p:spPr>
          <a:xfrm>
            <a:off x="576072" y="967130"/>
            <a:ext cx="9176003" cy="1366723"/>
          </a:xfrm>
          <a:prstGeom prst="roundRect">
            <a:avLst>
              <a:gd name="adj" fmla="val 6000"/>
            </a:avLst>
          </a:prstGeom>
          <a:solidFill>
            <a:srgbClr val="FDFEFE"/>
          </a:solidFill>
          <a:ln w="11430">
            <a:solidFill>
              <a:srgbClr val="195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76072" y="3080918"/>
            <a:ext cx="9176003" cy="967130"/>
          </a:xfrm>
          <a:prstGeom prst="roundRect">
            <a:avLst>
              <a:gd name="adj" fmla="val 6000"/>
            </a:avLst>
          </a:prstGeom>
          <a:solidFill>
            <a:srgbClr val="FDFEFD"/>
          </a:solidFill>
          <a:ln w="11430">
            <a:solidFill>
              <a:srgbClr val="F4FD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6072" y="451713"/>
            <a:ext cx="4662068" cy="266395"/>
          </a:xfrm>
          <a:prstGeom prst="rect">
            <a:avLst/>
          </a:prstGeom>
          <a:noFill/>
          <a:ln>
            <a:noFill/>
          </a:ln>
        </p:spPr>
        <p:txBody>
          <a:bodyPr wrap="none" lIns="19050" rIns="19050" tIns="0" bIns="0" anchor="ctr">
            <a:noAutofit/>
          </a:bodyPr>
          <a:lstStyle/>
          <a:p>
            <a:pPr algn="l"/>
            <a:r>
              <a:rPr sz="2400" b="1">
                <a:solidFill>
                  <a:srgbClr val="5689AB"/>
                </a:solidFill>
                <a:latin typeface="PingFang SC"/>
              </a:rPr>
              <a:t>照护目标讨论</a:t>
            </a:r>
          </a:p>
        </p:txBody>
      </p:sp>
      <p:sp>
        <p:nvSpPr>
          <p:cNvPr id="8" name="TextBox 7"/>
          <p:cNvSpPr txBox="1"/>
          <p:nvPr/>
        </p:nvSpPr>
        <p:spPr>
          <a:xfrm>
            <a:off x="946404" y="1262481"/>
            <a:ext cx="7859268" cy="214274"/>
          </a:xfrm>
          <a:prstGeom prst="rect">
            <a:avLst/>
          </a:prstGeom>
          <a:noFill/>
          <a:ln>
            <a:noFill/>
          </a:ln>
        </p:spPr>
        <p:txBody>
          <a:bodyPr wrap="square" lIns="19050" rIns="19050" tIns="0" bIns="0" anchor="t">
            <a:normAutofit/>
          </a:bodyPr>
          <a:lstStyle/>
          <a:p>
            <a:pPr algn="l"/>
            <a:r>
              <a:rPr sz="1230" b="0">
                <a:solidFill>
                  <a:srgbClr val="7F8589"/>
                </a:solidFill>
                <a:latin typeface="PingFang SC"/>
              </a:rPr>
              <a:t>100.对于患有脓毒症或感染性休克的成人，临床医生应与患者和/或家属讨论治疗目标和预后（良好实践声明）</a:t>
            </a:r>
          </a:p>
        </p:txBody>
      </p:sp>
      <p:sp>
        <p:nvSpPr>
          <p:cNvPr id="9" name="TextBox 8"/>
          <p:cNvSpPr txBox="1"/>
          <p:nvPr/>
        </p:nvSpPr>
        <p:spPr>
          <a:xfrm>
            <a:off x="946404" y="1563624"/>
            <a:ext cx="7859268" cy="214274"/>
          </a:xfrm>
          <a:prstGeom prst="rect">
            <a:avLst/>
          </a:prstGeom>
          <a:noFill/>
          <a:ln>
            <a:noFill/>
          </a:ln>
        </p:spPr>
        <p:txBody>
          <a:bodyPr wrap="square" lIns="19050" rIns="19050" tIns="0" bIns="0" anchor="t">
            <a:normAutofit/>
          </a:bodyPr>
          <a:lstStyle/>
          <a:p>
            <a:pPr algn="l"/>
            <a:r>
              <a:rPr sz="1160" b="0">
                <a:solidFill>
                  <a:srgbClr val="7F8782"/>
                </a:solidFill>
                <a:latin typeface="PingFang SC"/>
              </a:rPr>
              <a:t>101.对于患有脓毒症或脓毒性休克的成年人，我们“建议”尽早（72小时内）而非延迟（72小时或更晚）确定治疗目标。</a:t>
            </a:r>
          </a:p>
        </p:txBody>
      </p:sp>
      <p:sp>
        <p:nvSpPr>
          <p:cNvPr id="10" name="TextBox 9"/>
          <p:cNvSpPr txBox="1"/>
          <p:nvPr/>
        </p:nvSpPr>
        <p:spPr>
          <a:xfrm>
            <a:off x="576072" y="2559710"/>
            <a:ext cx="6767322" cy="266395"/>
          </a:xfrm>
          <a:prstGeom prst="rect">
            <a:avLst/>
          </a:prstGeom>
          <a:noFill/>
          <a:ln>
            <a:noFill/>
          </a:ln>
        </p:spPr>
        <p:txBody>
          <a:bodyPr wrap="none" lIns="19050" rIns="19050" tIns="0" bIns="0" anchor="ctr">
            <a:noAutofit/>
          </a:bodyPr>
          <a:lstStyle/>
          <a:p>
            <a:pPr algn="l"/>
            <a:r>
              <a:rPr sz="2400" b="1">
                <a:solidFill>
                  <a:srgbClr val="5483A9"/>
                </a:solidFill>
                <a:latin typeface="PingFang SC"/>
              </a:rPr>
              <a:t>照护目标的标准化启动</a:t>
            </a:r>
          </a:p>
        </p:txBody>
      </p:sp>
      <p:sp>
        <p:nvSpPr>
          <p:cNvPr id="11" name="TextBox 10"/>
          <p:cNvSpPr txBox="1"/>
          <p:nvPr/>
        </p:nvSpPr>
        <p:spPr>
          <a:xfrm>
            <a:off x="946404" y="3370478"/>
            <a:ext cx="7859268" cy="445922"/>
          </a:xfrm>
          <a:prstGeom prst="rect">
            <a:avLst/>
          </a:prstGeom>
          <a:noFill/>
          <a:ln>
            <a:noFill/>
          </a:ln>
        </p:spPr>
        <p:txBody>
          <a:bodyPr wrap="square" lIns="19050" rIns="19050" tIns="0" bIns="0" anchor="t">
            <a:normAutofit/>
          </a:bodyPr>
          <a:lstStyle/>
          <a:p>
            <a:pPr algn="l"/>
            <a:r>
              <a:rPr sz="1500" b="0">
                <a:solidFill>
                  <a:srgbClr val="7A8184"/>
                </a:solidFill>
                <a:latin typeface="PingFang SC"/>
              </a:rPr>
              <a:t>102.对于患有脓毒症或感染性休克的成年患者，目前“证据不足”，无法就使用特定标准化标准来确定适合进行照护目标讨论的患者一事给出建议。</a:t>
            </a:r>
          </a:p>
        </p:txBody>
      </p:sp>
      <p:sp>
        <p:nvSpPr>
          <p:cNvPr id="12" name="TextBox 11"/>
          <p:cNvSpPr txBox="1"/>
          <p:nvPr/>
        </p:nvSpPr>
        <p:spPr>
          <a:xfrm>
            <a:off x="9134856" y="1262481"/>
            <a:ext cx="905256" cy="156362"/>
          </a:xfrm>
          <a:prstGeom prst="rect">
            <a:avLst/>
          </a:prstGeom>
          <a:noFill/>
          <a:ln>
            <a:noFill/>
          </a:ln>
        </p:spPr>
        <p:txBody>
          <a:bodyPr wrap="none" lIns="19050" rIns="19050" tIns="0" bIns="0" anchor="ctr">
            <a:noAutofit/>
          </a:bodyPr>
          <a:lstStyle/>
          <a:p>
            <a:pPr algn="r"/>
            <a:r>
              <a:rPr sz="1350" b="0">
                <a:solidFill>
                  <a:srgbClr val="8AAF7C"/>
                </a:solidFill>
                <a:latin typeface="PingFang SC"/>
              </a:rPr>
              <a:t>沿用</a:t>
            </a:r>
          </a:p>
        </p:txBody>
      </p:sp>
      <p:sp>
        <p:nvSpPr>
          <p:cNvPr id="13" name="TextBox 12"/>
          <p:cNvSpPr txBox="1"/>
          <p:nvPr/>
        </p:nvSpPr>
        <p:spPr>
          <a:xfrm>
            <a:off x="9134856" y="1563624"/>
            <a:ext cx="905256" cy="156362"/>
          </a:xfrm>
          <a:prstGeom prst="rect">
            <a:avLst/>
          </a:prstGeom>
          <a:noFill/>
          <a:ln>
            <a:noFill/>
          </a:ln>
        </p:spPr>
        <p:txBody>
          <a:bodyPr wrap="none" lIns="19050" rIns="19050" tIns="0" bIns="0" anchor="ctr">
            <a:noAutofit/>
          </a:bodyPr>
          <a:lstStyle/>
          <a:p>
            <a:pPr algn="r"/>
            <a:r>
              <a:rPr sz="1350" b="0">
                <a:solidFill>
                  <a:srgbClr val="94B684"/>
                </a:solidFill>
                <a:latin typeface="PingFang SC"/>
              </a:rPr>
              <a:t>沿用</a:t>
            </a:r>
          </a:p>
        </p:txBody>
      </p:sp>
      <p:sp>
        <p:nvSpPr>
          <p:cNvPr id="14" name="TextBox 13"/>
          <p:cNvSpPr txBox="1"/>
          <p:nvPr/>
        </p:nvSpPr>
        <p:spPr>
          <a:xfrm>
            <a:off x="9134856" y="3370478"/>
            <a:ext cx="905256" cy="156362"/>
          </a:xfrm>
          <a:prstGeom prst="rect">
            <a:avLst/>
          </a:prstGeom>
          <a:noFill/>
          <a:ln>
            <a:noFill/>
          </a:ln>
        </p:spPr>
        <p:txBody>
          <a:bodyPr wrap="none" lIns="19050" rIns="19050" tIns="0" bIns="0" anchor="ctr">
            <a:noAutofit/>
          </a:bodyPr>
          <a:lstStyle/>
          <a:p>
            <a:pPr algn="r"/>
            <a:r>
              <a:rPr sz="1350" b="0">
                <a:solidFill>
                  <a:srgbClr val="5A656A"/>
                </a:solidFill>
                <a:latin typeface="PingFang SC"/>
              </a:rPr>
              <a:t>修订</a:t>
            </a:r>
          </a:p>
        </p:txBody>
      </p:sp>
      <p:sp>
        <p:nvSpPr>
          <p:cNvPr id="15" name="TextBox 14"/>
          <p:cNvSpPr txBox="1"/>
          <p:nvPr/>
        </p:nvSpPr>
        <p:spPr>
          <a:xfrm>
            <a:off x="8353044" y="185318"/>
            <a:ext cx="3847337" cy="416966"/>
          </a:xfrm>
          <a:prstGeom prst="rect">
            <a:avLst/>
          </a:prstGeom>
          <a:noFill/>
          <a:ln>
            <a:noFill/>
          </a:ln>
        </p:spPr>
        <p:txBody>
          <a:bodyPr wrap="none" lIns="19050" rIns="19050" tIns="0" bIns="0" anchor="ctr">
            <a:noAutofit/>
          </a:bodyPr>
          <a:lstStyle/>
          <a:p>
            <a:pPr algn="r"/>
            <a:r>
              <a:rPr sz="1800" b="0">
                <a:solidFill>
                  <a:srgbClr val="AFC3A9"/>
                </a:solidFill>
                <a:latin typeface="PingFang SC"/>
              </a:rPr>
              <a:t>Surviving Sepsis Campaign</a:t>
            </a:r>
          </a:p>
        </p:txBody>
      </p:sp>
      <p:sp>
        <p:nvSpPr>
          <p:cNvPr id="16" name="TextBox 15"/>
          <p:cNvSpPr txBox="1"/>
          <p:nvPr/>
        </p:nvSpPr>
        <p:spPr>
          <a:xfrm>
            <a:off x="576072" y="5455310"/>
            <a:ext cx="2263139" cy="127406"/>
          </a:xfrm>
          <a:prstGeom prst="rect">
            <a:avLst/>
          </a:prstGeom>
          <a:noFill/>
          <a:ln>
            <a:noFill/>
          </a:ln>
        </p:spPr>
        <p:txBody>
          <a:bodyPr wrap="none" lIns="19050" rIns="19050" tIns="0" bIns="0" anchor="ctr">
            <a:noAutofit/>
          </a:bodyPr>
          <a:lstStyle/>
          <a:p>
            <a:pPr algn="l"/>
            <a:r>
              <a:rPr sz="1200" b="0">
                <a:solidFill>
                  <a:srgbClr val="CBE1E2"/>
                </a:solidFill>
                <a:latin typeface="PingFang SC"/>
              </a:rPr>
              <a:t>公众号·指南导航</a:t>
            </a:r>
          </a:p>
        </p:txBody>
      </p:sp>
      <p:sp>
        <p:nvSpPr>
          <p:cNvPr id="17" name="TextBox 16"/>
          <p:cNvSpPr txBox="1"/>
          <p:nvPr/>
        </p:nvSpPr>
        <p:spPr>
          <a:xfrm>
            <a:off x="10287000" y="5351068"/>
            <a:ext cx="0" cy="185318"/>
          </a:xfrm>
          <a:prstGeom prst="rect">
            <a:avLst/>
          </a:prstGeom>
          <a:noFill/>
          <a:ln>
            <a:noFill/>
          </a:ln>
        </p:spPr>
        <p:txBody>
          <a:bodyPr wrap="none" lIns="19050" rIns="19050" tIns="0" bIns="0" anchor="ctr">
            <a:noAutofit/>
          </a:bodyPr>
          <a:lstStyle/>
          <a:p>
            <a:pPr algn="r"/>
            <a:r>
              <a:rPr sz="1500" b="0">
                <a:solidFill>
                  <a:srgbClr val="000000"/>
                </a:solidFill>
                <a:latin typeface="PingFang SC"/>
              </a:rPr>
              <a:t>63</a:t>
            </a:r>
          </a:p>
        </p:txBody>
      </p:sp>
      <p:pic>
        <p:nvPicPr>
          <p:cNvPr id="18" name="Picture 17" descr="tmpgr1xrepw.png"/>
          <p:cNvPicPr>
            <a:picLocks noChangeAspect="1"/>
          </p:cNvPicPr>
          <p:nvPr/>
        </p:nvPicPr>
        <p:blipFill>
          <a:blip r:embed="rId4"/>
          <a:stretch>
            <a:fillRect/>
          </a:stretch>
        </p:blipFill>
        <p:spPr>
          <a:xfrm>
            <a:off x="1190625" y="1924050"/>
            <a:ext cx="1343025" cy="209550"/>
          </a:xfrm>
          <a:prstGeom prst="rect">
            <a:avLst/>
          </a:prstGeom>
        </p:spPr>
      </p:pic>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eqpmypja.png"/>
          <p:cNvPicPr>
            <a:picLocks noChangeAspect="1"/>
          </p:cNvPicPr>
          <p:nvPr/>
        </p:nvPicPr>
        <p:blipFill>
          <a:blip r:embed="rId2"/>
          <a:stretch>
            <a:fillRect/>
          </a:stretch>
        </p:blipFill>
        <p:spPr>
          <a:xfrm>
            <a:off x="552450" y="4933950"/>
            <a:ext cx="2105025" cy="266700"/>
          </a:xfrm>
          <a:prstGeom prst="rect">
            <a:avLst/>
          </a:prstGeom>
        </p:spPr>
      </p:pic>
      <p:pic>
        <p:nvPicPr>
          <p:cNvPr id="4" name="Picture 3" descr="tmpc1znxkc9.png"/>
          <p:cNvPicPr>
            <a:picLocks noChangeAspect="1"/>
          </p:cNvPicPr>
          <p:nvPr/>
        </p:nvPicPr>
        <p:blipFill>
          <a:blip r:embed="rId3"/>
          <a:stretch>
            <a:fillRect/>
          </a:stretch>
        </p:blipFill>
        <p:spPr>
          <a:xfrm>
            <a:off x="1666875" y="4933950"/>
            <a:ext cx="990600" cy="266700"/>
          </a:xfrm>
          <a:prstGeom prst="rect">
            <a:avLst/>
          </a:prstGeom>
        </p:spPr>
      </p:pic>
      <p:sp>
        <p:nvSpPr>
          <p:cNvPr id="5" name="Rounded Rectangle 4"/>
          <p:cNvSpPr/>
          <p:nvPr/>
        </p:nvSpPr>
        <p:spPr>
          <a:xfrm>
            <a:off x="555498" y="967130"/>
            <a:ext cx="9145142" cy="1071372"/>
          </a:xfrm>
          <a:prstGeom prst="roundRect">
            <a:avLst>
              <a:gd name="adj" fmla="val 6000"/>
            </a:avLst>
          </a:prstGeom>
          <a:solidFill>
            <a:srgbClr val="FDFEFE"/>
          </a:solidFill>
          <a:ln w="11430">
            <a:solidFill>
              <a:srgbClr val="0D5D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6646" y="405384"/>
            <a:ext cx="4073652" cy="295351"/>
          </a:xfrm>
          <a:prstGeom prst="rect">
            <a:avLst/>
          </a:prstGeom>
          <a:noFill/>
          <a:ln>
            <a:noFill/>
          </a:ln>
        </p:spPr>
        <p:txBody>
          <a:bodyPr wrap="none" lIns="19050" rIns="19050" tIns="0" bIns="0" anchor="ctr">
            <a:noAutofit/>
          </a:bodyPr>
          <a:lstStyle/>
          <a:p>
            <a:pPr algn="l"/>
            <a:r>
              <a:rPr sz="2700" b="1">
                <a:solidFill>
                  <a:srgbClr val="3E508D"/>
                </a:solidFill>
                <a:latin typeface="PingFang SC"/>
              </a:rPr>
              <a:t>预先医疗指示</a:t>
            </a:r>
          </a:p>
        </p:txBody>
      </p:sp>
      <p:sp>
        <p:nvSpPr>
          <p:cNvPr id="7" name="TextBox 6"/>
          <p:cNvSpPr txBox="1"/>
          <p:nvPr/>
        </p:nvSpPr>
        <p:spPr>
          <a:xfrm>
            <a:off x="925830" y="1262481"/>
            <a:ext cx="8023860" cy="196900"/>
          </a:xfrm>
          <a:prstGeom prst="rect">
            <a:avLst/>
          </a:prstGeom>
          <a:noFill/>
          <a:ln>
            <a:noFill/>
          </a:ln>
        </p:spPr>
        <p:txBody>
          <a:bodyPr wrap="square" lIns="19050" rIns="19050" tIns="0" bIns="0" anchor="t">
            <a:normAutofit/>
          </a:bodyPr>
          <a:lstStyle/>
          <a:p>
            <a:pPr algn="l"/>
            <a:r>
              <a:rPr sz="1170" b="0">
                <a:solidFill>
                  <a:srgbClr val="789096"/>
                </a:solidFill>
                <a:latin typeface="PingFang SC"/>
              </a:rPr>
              <a:t>103.卫生系统应实施相关策略，以确保脓毒症或感染性休克患者出院后有机会制定预立医疗指示（良好实践声明）。</a:t>
            </a:r>
          </a:p>
        </p:txBody>
      </p:sp>
      <p:sp>
        <p:nvSpPr>
          <p:cNvPr id="8" name="TextBox 7"/>
          <p:cNvSpPr txBox="1"/>
          <p:nvPr/>
        </p:nvSpPr>
        <p:spPr>
          <a:xfrm>
            <a:off x="925830" y="1563624"/>
            <a:ext cx="8023860" cy="196900"/>
          </a:xfrm>
          <a:prstGeom prst="rect">
            <a:avLst/>
          </a:prstGeom>
          <a:noFill/>
          <a:ln>
            <a:noFill/>
          </a:ln>
        </p:spPr>
        <p:txBody>
          <a:bodyPr wrap="square" lIns="19050" rIns="19050" tIns="0" bIns="0" anchor="t">
            <a:normAutofit/>
          </a:bodyPr>
          <a:lstStyle/>
          <a:p>
            <a:pPr algn="l"/>
            <a:r>
              <a:rPr sz="1190" b="0">
                <a:solidFill>
                  <a:srgbClr val="7C8488"/>
                </a:solidFill>
                <a:latin typeface="PingFang SC"/>
              </a:rPr>
              <a:t>104.对于患有脓毒症或感染性休克的成年人，“证据不足”，无法就出院前系统性制定高级医疗指令提出建议。</a:t>
            </a:r>
          </a:p>
        </p:txBody>
      </p:sp>
      <p:sp>
        <p:nvSpPr>
          <p:cNvPr id="9" name="TextBox 8"/>
          <p:cNvSpPr txBox="1"/>
          <p:nvPr/>
        </p:nvSpPr>
        <p:spPr>
          <a:xfrm>
            <a:off x="9237726" y="1262481"/>
            <a:ext cx="724204" cy="150571"/>
          </a:xfrm>
          <a:prstGeom prst="rect">
            <a:avLst/>
          </a:prstGeom>
          <a:noFill/>
          <a:ln>
            <a:noFill/>
          </a:ln>
        </p:spPr>
        <p:txBody>
          <a:bodyPr wrap="none" lIns="19050" rIns="19050" tIns="0" bIns="0" anchor="ctr">
            <a:noAutofit/>
          </a:bodyPr>
          <a:lstStyle/>
          <a:p>
            <a:pPr algn="r"/>
            <a:r>
              <a:rPr sz="1200" b="0">
                <a:solidFill>
                  <a:srgbClr val="85ABC2"/>
                </a:solidFill>
                <a:latin typeface="PingFang SC"/>
              </a:rPr>
              <a:t>新增</a:t>
            </a:r>
          </a:p>
        </p:txBody>
      </p:sp>
      <p:sp>
        <p:nvSpPr>
          <p:cNvPr id="10" name="TextBox 9"/>
          <p:cNvSpPr txBox="1"/>
          <p:nvPr/>
        </p:nvSpPr>
        <p:spPr>
          <a:xfrm>
            <a:off x="9237726" y="1563624"/>
            <a:ext cx="724204" cy="150571"/>
          </a:xfrm>
          <a:prstGeom prst="rect">
            <a:avLst/>
          </a:prstGeom>
          <a:noFill/>
          <a:ln>
            <a:noFill/>
          </a:ln>
        </p:spPr>
        <p:txBody>
          <a:bodyPr wrap="none" lIns="19050" rIns="19050" tIns="0" bIns="0" anchor="ctr">
            <a:noAutofit/>
          </a:bodyPr>
          <a:lstStyle/>
          <a:p>
            <a:pPr algn="r"/>
            <a:r>
              <a:rPr sz="1200" b="0">
                <a:solidFill>
                  <a:srgbClr val="83A9BB"/>
                </a:solidFill>
                <a:latin typeface="PingFang SC"/>
              </a:rPr>
              <a:t>新增</a:t>
            </a:r>
          </a:p>
        </p:txBody>
      </p:sp>
      <p:sp>
        <p:nvSpPr>
          <p:cNvPr id="11" name="TextBox 10"/>
          <p:cNvSpPr txBox="1"/>
          <p:nvPr/>
        </p:nvSpPr>
        <p:spPr>
          <a:xfrm>
            <a:off x="555498" y="5455310"/>
            <a:ext cx="2670505" cy="127406"/>
          </a:xfrm>
          <a:prstGeom prst="rect">
            <a:avLst/>
          </a:prstGeom>
          <a:noFill/>
          <a:ln>
            <a:noFill/>
          </a:ln>
        </p:spPr>
        <p:txBody>
          <a:bodyPr wrap="none" lIns="19050" rIns="19050" tIns="0" bIns="0" anchor="ctr">
            <a:noAutofit/>
          </a:bodyPr>
          <a:lstStyle/>
          <a:p>
            <a:pPr algn="l"/>
            <a:r>
              <a:rPr sz="1050" b="0">
                <a:solidFill>
                  <a:srgbClr val="BFD5D6"/>
                </a:solidFill>
                <a:latin typeface="PingFang SC"/>
              </a:rPr>
              <a:t>公众号·指南导航</a:t>
            </a:r>
          </a:p>
        </p:txBody>
      </p:sp>
      <p:sp>
        <p:nvSpPr>
          <p:cNvPr id="12" name="TextBox 11"/>
          <p:cNvSpPr txBox="1"/>
          <p:nvPr/>
        </p:nvSpPr>
        <p:spPr>
          <a:xfrm>
            <a:off x="10287000" y="5339486"/>
            <a:ext cx="0" cy="243230"/>
          </a:xfrm>
          <a:prstGeom prst="rect">
            <a:avLst/>
          </a:prstGeom>
          <a:noFill/>
          <a:ln>
            <a:noFill/>
          </a:ln>
        </p:spPr>
        <p:txBody>
          <a:bodyPr wrap="none" lIns="19050" rIns="19050" tIns="0" bIns="0" anchor="ctr">
            <a:noAutofit/>
          </a:bodyPr>
          <a:lstStyle/>
          <a:p>
            <a:pPr algn="r"/>
            <a:r>
              <a:rPr sz="1350" b="0">
                <a:solidFill>
                  <a:srgbClr val="000000"/>
                </a:solidFill>
                <a:latin typeface="PingFang SC"/>
              </a:rPr>
              <a:t>64</a:t>
            </a:r>
          </a:p>
        </p:txBody>
      </p:sp>
      <p:sp>
        <p:nvSpPr>
          <p:cNvPr id="13" name="TextBox 12"/>
          <p:cNvSpPr txBox="1"/>
          <p:nvPr/>
        </p:nvSpPr>
        <p:spPr>
          <a:xfrm>
            <a:off x="8311896" y="162153"/>
            <a:ext cx="3937863" cy="440131"/>
          </a:xfrm>
          <a:prstGeom prst="rect">
            <a:avLst/>
          </a:prstGeom>
          <a:noFill/>
          <a:ln>
            <a:noFill/>
          </a:ln>
        </p:spPr>
        <p:txBody>
          <a:bodyPr wrap="none" lIns="19050" rIns="19050" tIns="0" bIns="0" anchor="ctr">
            <a:noAutofit/>
          </a:bodyPr>
          <a:lstStyle/>
          <a:p>
            <a:pPr algn="r"/>
            <a:r>
              <a:rPr sz="1800" b="0">
                <a:solidFill>
                  <a:srgbClr val="AEC3A9"/>
                </a:solidFill>
                <a:latin typeface="PingFang SC"/>
              </a:rPr>
              <a:t>Surviving Sepsis Campaign</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sx0wcwb8.png"/>
          <p:cNvPicPr>
            <a:picLocks noChangeAspect="1"/>
          </p:cNvPicPr>
          <p:nvPr/>
        </p:nvPicPr>
        <p:blipFill>
          <a:blip r:embed="rId2"/>
          <a:stretch>
            <a:fillRect/>
          </a:stretch>
        </p:blipFill>
        <p:spPr>
          <a:xfrm>
            <a:off x="590550" y="4933950"/>
            <a:ext cx="2105025" cy="228600"/>
          </a:xfrm>
          <a:prstGeom prst="rect">
            <a:avLst/>
          </a:prstGeom>
        </p:spPr>
      </p:pic>
      <p:sp>
        <p:nvSpPr>
          <p:cNvPr id="4" name="Rounded Rectangle 3"/>
          <p:cNvSpPr/>
          <p:nvPr/>
        </p:nvSpPr>
        <p:spPr>
          <a:xfrm>
            <a:off x="586359" y="949756"/>
            <a:ext cx="9206865" cy="1540459"/>
          </a:xfrm>
          <a:prstGeom prst="roundRect">
            <a:avLst>
              <a:gd name="adj" fmla="val 6000"/>
            </a:avLst>
          </a:prstGeom>
          <a:solidFill>
            <a:srgbClr val="FDFEFD"/>
          </a:solidFill>
          <a:ln w="11430">
            <a:solidFill>
              <a:srgbClr val="EDF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86359" y="3138830"/>
            <a:ext cx="9206865" cy="1911096"/>
          </a:xfrm>
          <a:prstGeom prst="roundRect">
            <a:avLst>
              <a:gd name="adj" fmla="val 6000"/>
            </a:avLst>
          </a:prstGeom>
          <a:solidFill>
            <a:srgbClr val="FEFEFE"/>
          </a:solidFill>
          <a:ln w="11430">
            <a:solidFill>
              <a:srgbClr val="0B5B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6359" y="445922"/>
            <a:ext cx="3507866" cy="260604"/>
          </a:xfrm>
          <a:prstGeom prst="rect">
            <a:avLst/>
          </a:prstGeom>
          <a:noFill/>
          <a:ln>
            <a:noFill/>
          </a:ln>
        </p:spPr>
        <p:txBody>
          <a:bodyPr wrap="none" lIns="19050" rIns="19050" tIns="0" bIns="0" anchor="ctr">
            <a:noAutofit/>
          </a:bodyPr>
          <a:lstStyle/>
          <a:p>
            <a:pPr algn="l"/>
            <a:r>
              <a:rPr sz="2700" b="1">
                <a:solidFill>
                  <a:srgbClr val="4F89AE"/>
                </a:solidFill>
                <a:latin typeface="PingFang SC"/>
              </a:rPr>
              <a:t>限时试用</a:t>
            </a:r>
          </a:p>
        </p:txBody>
      </p:sp>
      <p:sp>
        <p:nvSpPr>
          <p:cNvPr id="7" name="TextBox 6"/>
          <p:cNvSpPr txBox="1"/>
          <p:nvPr/>
        </p:nvSpPr>
        <p:spPr>
          <a:xfrm>
            <a:off x="946404" y="1250899"/>
            <a:ext cx="8435340" cy="463295"/>
          </a:xfrm>
          <a:prstGeom prst="rect">
            <a:avLst/>
          </a:prstGeom>
          <a:noFill/>
          <a:ln>
            <a:noFill/>
          </a:ln>
        </p:spPr>
        <p:txBody>
          <a:bodyPr wrap="square" lIns="19050" rIns="19050" tIns="0" bIns="0" anchor="t">
            <a:normAutofit/>
          </a:bodyPr>
          <a:lstStyle/>
          <a:p>
            <a:pPr algn="l"/>
            <a:r>
              <a:rPr sz="1500" b="0">
                <a:solidFill>
                  <a:srgbClr val="80898D"/>
                </a:solidFill>
                <a:latin typeface="PingFang SC"/>
              </a:rPr>
              <a:t>105.对于患有脓毒症或感染性休克的成年人，关于重症监护正式限时试验（TLTs），目前“证据不足”，无法给出相关建议。</a:t>
            </a:r>
          </a:p>
        </p:txBody>
      </p:sp>
      <p:sp>
        <p:nvSpPr>
          <p:cNvPr id="8" name="TextBox 7"/>
          <p:cNvSpPr txBox="1"/>
          <p:nvPr/>
        </p:nvSpPr>
        <p:spPr>
          <a:xfrm>
            <a:off x="1255014" y="1818436"/>
            <a:ext cx="8126730" cy="463296"/>
          </a:xfrm>
          <a:prstGeom prst="rect">
            <a:avLst/>
          </a:prstGeom>
          <a:noFill/>
          <a:ln>
            <a:noFill/>
          </a:ln>
        </p:spPr>
        <p:txBody>
          <a:bodyPr wrap="square" lIns="19050" rIns="19050" tIns="0" bIns="0" anchor="t">
            <a:normAutofit/>
          </a:bodyPr>
          <a:lstStyle/>
          <a:p>
            <a:pPr algn="l"/>
            <a:r>
              <a:rPr sz="1310" b="0">
                <a:solidFill>
                  <a:srgbClr val="AFC3A5"/>
                </a:solidFill>
                <a:latin typeface="PingFang SC"/>
              </a:rPr>
              <a:t>备注：试验性生命维持治疗（TLT）是一项协作性计划，旨在在规定的时间段内使用维持生命的治疗方法，之后根据治疗反应来决定是继续或加强以治愈为目的的重症监护病房（ICU）治疗，还是将治疗重点转向其他目标。</a:t>
            </a:r>
          </a:p>
        </p:txBody>
      </p:sp>
      <p:sp>
        <p:nvSpPr>
          <p:cNvPr id="9" name="TextBox 8"/>
          <p:cNvSpPr txBox="1"/>
          <p:nvPr/>
        </p:nvSpPr>
        <p:spPr>
          <a:xfrm>
            <a:off x="586359" y="2675534"/>
            <a:ext cx="3507866" cy="260604"/>
          </a:xfrm>
          <a:prstGeom prst="rect">
            <a:avLst/>
          </a:prstGeom>
          <a:noFill/>
          <a:ln>
            <a:noFill/>
          </a:ln>
        </p:spPr>
        <p:txBody>
          <a:bodyPr wrap="none" lIns="19050" rIns="19050" tIns="0" bIns="0" anchor="ctr">
            <a:noAutofit/>
          </a:bodyPr>
          <a:lstStyle/>
          <a:p>
            <a:pPr algn="l"/>
            <a:r>
              <a:rPr sz="2700" b="1">
                <a:solidFill>
                  <a:srgbClr val="5A92B3"/>
                </a:solidFill>
                <a:latin typeface="PingFang SC"/>
              </a:rPr>
              <a:t>姑息治疗</a:t>
            </a:r>
          </a:p>
        </p:txBody>
      </p:sp>
      <p:sp>
        <p:nvSpPr>
          <p:cNvPr id="10" name="TextBox 9"/>
          <p:cNvSpPr txBox="1"/>
          <p:nvPr/>
        </p:nvSpPr>
        <p:spPr>
          <a:xfrm>
            <a:off x="946404" y="3439972"/>
            <a:ext cx="8023860" cy="463296"/>
          </a:xfrm>
          <a:prstGeom prst="rect">
            <a:avLst/>
          </a:prstGeom>
          <a:noFill/>
          <a:ln>
            <a:noFill/>
          </a:ln>
        </p:spPr>
        <p:txBody>
          <a:bodyPr wrap="square" lIns="19050" rIns="19050" tIns="0" bIns="0" anchor="t">
            <a:normAutofit/>
          </a:bodyPr>
          <a:lstStyle/>
          <a:p>
            <a:pPr algn="l"/>
            <a:r>
              <a:rPr sz="1500" b="0">
                <a:solidFill>
                  <a:srgbClr val="829398"/>
                </a:solidFill>
                <a:latin typeface="PingFang SC"/>
              </a:rPr>
              <a:t>106.姑息治疗原则（可能包括根据临床医生判断进行的姑息治疗会诊）应在适当的时候纳入治疗计划，以缓解患者及其家属的症状和痛苦（良好实践声明）。</a:t>
            </a:r>
          </a:p>
        </p:txBody>
      </p:sp>
      <p:sp>
        <p:nvSpPr>
          <p:cNvPr id="11" name="TextBox 10"/>
          <p:cNvSpPr txBox="1"/>
          <p:nvPr/>
        </p:nvSpPr>
        <p:spPr>
          <a:xfrm>
            <a:off x="946404" y="4007510"/>
            <a:ext cx="8023860" cy="463296"/>
          </a:xfrm>
          <a:prstGeom prst="rect">
            <a:avLst/>
          </a:prstGeom>
          <a:noFill/>
          <a:ln>
            <a:noFill/>
          </a:ln>
        </p:spPr>
        <p:txBody>
          <a:bodyPr wrap="square" lIns="19050" rIns="19050" tIns="0" bIns="0" anchor="t">
            <a:normAutofit/>
          </a:bodyPr>
          <a:lstStyle/>
          <a:p>
            <a:pPr algn="l"/>
            <a:r>
              <a:rPr sz="1500" b="0">
                <a:solidFill>
                  <a:srgbClr val="8D938D"/>
                </a:solidFill>
                <a:latin typeface="PingFang SC"/>
              </a:rPr>
              <a:t>107.对于患有脓毒症或感染性休克的成年人，我们“建议反对”对所有患者进行常规的正式姑息治疗会诊，而应基于临床医生的判断进行姑息治疗会诊。</a:t>
            </a:r>
          </a:p>
        </p:txBody>
      </p:sp>
      <p:sp>
        <p:nvSpPr>
          <p:cNvPr id="12" name="TextBox 11"/>
          <p:cNvSpPr txBox="1"/>
          <p:nvPr/>
        </p:nvSpPr>
        <p:spPr>
          <a:xfrm>
            <a:off x="9176004" y="1169822"/>
            <a:ext cx="814730" cy="138988"/>
          </a:xfrm>
          <a:prstGeom prst="rect">
            <a:avLst/>
          </a:prstGeom>
          <a:noFill/>
          <a:ln>
            <a:noFill/>
          </a:ln>
        </p:spPr>
        <p:txBody>
          <a:bodyPr wrap="none" lIns="19050" rIns="19050" tIns="0" bIns="0" anchor="ctr">
            <a:noAutofit/>
          </a:bodyPr>
          <a:lstStyle/>
          <a:p>
            <a:pPr algn="r"/>
            <a:r>
              <a:rPr sz="1200" b="1">
                <a:solidFill>
                  <a:srgbClr val="8EB1CC"/>
                </a:solidFill>
                <a:latin typeface="PingFang SC"/>
              </a:rPr>
              <a:t>新增</a:t>
            </a:r>
          </a:p>
        </p:txBody>
      </p:sp>
      <p:sp>
        <p:nvSpPr>
          <p:cNvPr id="13" name="TextBox 12"/>
          <p:cNvSpPr txBox="1"/>
          <p:nvPr/>
        </p:nvSpPr>
        <p:spPr>
          <a:xfrm>
            <a:off x="9176004" y="3370478"/>
            <a:ext cx="814730" cy="138988"/>
          </a:xfrm>
          <a:prstGeom prst="rect">
            <a:avLst/>
          </a:prstGeom>
          <a:noFill/>
          <a:ln>
            <a:noFill/>
          </a:ln>
        </p:spPr>
        <p:txBody>
          <a:bodyPr wrap="none" lIns="19050" rIns="19050" tIns="0" bIns="0" anchor="ctr">
            <a:noAutofit/>
          </a:bodyPr>
          <a:lstStyle/>
          <a:p>
            <a:pPr algn="r"/>
            <a:r>
              <a:rPr sz="1200" b="1">
                <a:solidFill>
                  <a:srgbClr val="89B27A"/>
                </a:solidFill>
                <a:latin typeface="PingFang SC"/>
              </a:rPr>
              <a:t>沿用</a:t>
            </a:r>
          </a:p>
        </p:txBody>
      </p:sp>
      <p:sp>
        <p:nvSpPr>
          <p:cNvPr id="14" name="TextBox 13"/>
          <p:cNvSpPr txBox="1"/>
          <p:nvPr/>
        </p:nvSpPr>
        <p:spPr>
          <a:xfrm>
            <a:off x="9176004" y="4007510"/>
            <a:ext cx="814730" cy="138988"/>
          </a:xfrm>
          <a:prstGeom prst="rect">
            <a:avLst/>
          </a:prstGeom>
          <a:noFill/>
          <a:ln>
            <a:noFill/>
          </a:ln>
        </p:spPr>
        <p:txBody>
          <a:bodyPr wrap="none" lIns="19050" rIns="19050" tIns="0" bIns="0" anchor="ctr">
            <a:noAutofit/>
          </a:bodyPr>
          <a:lstStyle/>
          <a:p>
            <a:pPr algn="r"/>
            <a:r>
              <a:rPr sz="1200" b="1">
                <a:solidFill>
                  <a:srgbClr val="96BD85"/>
                </a:solidFill>
                <a:latin typeface="PingFang SC"/>
              </a:rPr>
              <a:t>沿用</a:t>
            </a:r>
          </a:p>
        </p:txBody>
      </p:sp>
      <p:sp>
        <p:nvSpPr>
          <p:cNvPr id="15" name="TextBox 14"/>
          <p:cNvSpPr txBox="1"/>
          <p:nvPr/>
        </p:nvSpPr>
        <p:spPr>
          <a:xfrm>
            <a:off x="586359" y="5455310"/>
            <a:ext cx="2602611" cy="138988"/>
          </a:xfrm>
          <a:prstGeom prst="rect">
            <a:avLst/>
          </a:prstGeom>
          <a:noFill/>
          <a:ln>
            <a:noFill/>
          </a:ln>
        </p:spPr>
        <p:txBody>
          <a:bodyPr wrap="none" lIns="19050" rIns="19050" tIns="0" bIns="0" anchor="ctr">
            <a:noAutofit/>
          </a:bodyPr>
          <a:lstStyle/>
          <a:p>
            <a:pPr algn="l"/>
            <a:r>
              <a:rPr sz="1200" b="0">
                <a:solidFill>
                  <a:srgbClr val="D4E8E8"/>
                </a:solidFill>
                <a:latin typeface="PingFang SC"/>
              </a:rPr>
              <a:t>公众号 指南导航</a:t>
            </a:r>
          </a:p>
        </p:txBody>
      </p:sp>
      <p:sp>
        <p:nvSpPr>
          <p:cNvPr id="16" name="TextBox 15"/>
          <p:cNvSpPr txBox="1"/>
          <p:nvPr/>
        </p:nvSpPr>
        <p:spPr>
          <a:xfrm>
            <a:off x="10287000" y="5374233"/>
            <a:ext cx="0" cy="196900"/>
          </a:xfrm>
          <a:prstGeom prst="rect">
            <a:avLst/>
          </a:prstGeom>
          <a:noFill/>
          <a:ln>
            <a:noFill/>
          </a:ln>
        </p:spPr>
        <p:txBody>
          <a:bodyPr wrap="none" lIns="19050" rIns="19050" tIns="0" bIns="0" anchor="ctr">
            <a:noAutofit/>
          </a:bodyPr>
          <a:lstStyle/>
          <a:p>
            <a:pPr algn="r"/>
            <a:r>
              <a:rPr sz="1500" b="0">
                <a:solidFill>
                  <a:srgbClr val="000000"/>
                </a:solidFill>
                <a:latin typeface="PingFang SC"/>
              </a:rPr>
              <a:t>65</a:t>
            </a:r>
          </a:p>
        </p:txBody>
      </p:sp>
      <p:sp>
        <p:nvSpPr>
          <p:cNvPr id="17" name="TextBox 16"/>
          <p:cNvSpPr txBox="1"/>
          <p:nvPr/>
        </p:nvSpPr>
        <p:spPr>
          <a:xfrm>
            <a:off x="8353044" y="162153"/>
            <a:ext cx="3847337" cy="428548"/>
          </a:xfrm>
          <a:prstGeom prst="rect">
            <a:avLst/>
          </a:prstGeom>
          <a:noFill/>
          <a:ln>
            <a:noFill/>
          </a:ln>
        </p:spPr>
        <p:txBody>
          <a:bodyPr wrap="none" lIns="19050" rIns="19050" tIns="0" bIns="0" anchor="ctr">
            <a:noAutofit/>
          </a:bodyPr>
          <a:lstStyle/>
          <a:p>
            <a:pPr algn="r"/>
            <a:r>
              <a:rPr sz="1800" b="0">
                <a:solidFill>
                  <a:srgbClr val="B0C4A9"/>
                </a:solidFill>
                <a:latin typeface="PingFang SC"/>
              </a:rPr>
              <a:t>Surviving Sepsis Campaign</a:t>
            </a:r>
          </a:p>
        </p:txBody>
      </p:sp>
      <p:pic>
        <p:nvPicPr>
          <p:cNvPr id="18" name="Picture 17" descr="tmp3cyh36u9.png"/>
          <p:cNvPicPr>
            <a:picLocks noChangeAspect="1"/>
          </p:cNvPicPr>
          <p:nvPr/>
        </p:nvPicPr>
        <p:blipFill>
          <a:blip r:embed="rId3"/>
          <a:stretch>
            <a:fillRect/>
          </a:stretch>
        </p:blipFill>
        <p:spPr>
          <a:xfrm>
            <a:off x="1200150" y="4591050"/>
            <a:ext cx="257175" cy="171450"/>
          </a:xfrm>
          <a:prstGeom prst="rect">
            <a:avLst/>
          </a:prstGeom>
        </p:spPr>
      </p:pic>
      <p:pic>
        <p:nvPicPr>
          <p:cNvPr id="19" name="Picture 18" descr="tmpr_pr2fsa.png"/>
          <p:cNvPicPr>
            <a:picLocks noChangeAspect="1"/>
          </p:cNvPicPr>
          <p:nvPr/>
        </p:nvPicPr>
        <p:blipFill>
          <a:blip r:embed="rId4"/>
          <a:stretch>
            <a:fillRect/>
          </a:stretch>
        </p:blipFill>
        <p:spPr>
          <a:xfrm>
            <a:off x="1562100" y="4591050"/>
            <a:ext cx="257175" cy="171450"/>
          </a:xfrm>
          <a:prstGeom prst="rect">
            <a:avLst/>
          </a:prstGeom>
        </p:spPr>
      </p:pic>
      <p:pic>
        <p:nvPicPr>
          <p:cNvPr id="20" name="Picture 19" descr="tmp8bcrxpsu.png"/>
          <p:cNvPicPr>
            <a:picLocks noChangeAspect="1"/>
          </p:cNvPicPr>
          <p:nvPr/>
        </p:nvPicPr>
        <p:blipFill>
          <a:blip r:embed="rId5"/>
          <a:stretch>
            <a:fillRect/>
          </a:stretch>
        </p:blipFill>
        <p:spPr>
          <a:xfrm>
            <a:off x="1924050" y="4591050"/>
            <a:ext cx="257175" cy="171450"/>
          </a:xfrm>
          <a:prstGeom prst="rect">
            <a:avLst/>
          </a:prstGeom>
        </p:spPr>
      </p:pic>
      <p:pic>
        <p:nvPicPr>
          <p:cNvPr id="21" name="Picture 20" descr="tmpvrozzhqh.png"/>
          <p:cNvPicPr>
            <a:picLocks noChangeAspect="1"/>
          </p:cNvPicPr>
          <p:nvPr/>
        </p:nvPicPr>
        <p:blipFill>
          <a:blip r:embed="rId6"/>
          <a:stretch>
            <a:fillRect/>
          </a:stretch>
        </p:blipFill>
        <p:spPr>
          <a:xfrm>
            <a:off x="2286000" y="4591050"/>
            <a:ext cx="257175" cy="171450"/>
          </a:xfrm>
          <a:prstGeom prst="rect">
            <a:avLst/>
          </a:prstGeom>
        </p:spPr>
      </p:pic>
      <p:pic>
        <p:nvPicPr>
          <p:cNvPr id="22" name="Picture 21" descr="tmpfw6nmk97.png"/>
          <p:cNvPicPr>
            <a:picLocks noChangeAspect="1"/>
          </p:cNvPicPr>
          <p:nvPr/>
        </p:nvPicPr>
        <p:blipFill>
          <a:blip r:embed="rId7"/>
          <a:stretch>
            <a:fillRect/>
          </a:stretch>
        </p:blipFill>
        <p:spPr>
          <a:xfrm>
            <a:off x="2647950" y="4591050"/>
            <a:ext cx="257175" cy="171450"/>
          </a:xfrm>
          <a:prstGeom prst="rect">
            <a:avLst/>
          </a:prstGeom>
        </p:spPr>
      </p:pic>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_7m6_wkf.png"/>
          <p:cNvPicPr>
            <a:picLocks noChangeAspect="1"/>
          </p:cNvPicPr>
          <p:nvPr/>
        </p:nvPicPr>
        <p:blipFill>
          <a:blip r:embed="rId2"/>
          <a:stretch>
            <a:fillRect/>
          </a:stretch>
        </p:blipFill>
        <p:spPr>
          <a:xfrm>
            <a:off x="533400" y="4924425"/>
            <a:ext cx="1095375" cy="323850"/>
          </a:xfrm>
          <a:prstGeom prst="rect">
            <a:avLst/>
          </a:prstGeom>
        </p:spPr>
      </p:pic>
      <p:pic>
        <p:nvPicPr>
          <p:cNvPr id="4" name="Picture 3" descr="tmp0rwrq40h.png"/>
          <p:cNvPicPr>
            <a:picLocks noChangeAspect="1"/>
          </p:cNvPicPr>
          <p:nvPr/>
        </p:nvPicPr>
        <p:blipFill>
          <a:blip r:embed="rId3"/>
          <a:stretch>
            <a:fillRect/>
          </a:stretch>
        </p:blipFill>
        <p:spPr>
          <a:xfrm>
            <a:off x="1676400" y="4924425"/>
            <a:ext cx="952500" cy="323850"/>
          </a:xfrm>
          <a:prstGeom prst="rect">
            <a:avLst/>
          </a:prstGeom>
        </p:spPr>
      </p:pic>
      <p:sp>
        <p:nvSpPr>
          <p:cNvPr id="5" name="Rectangle 4"/>
          <p:cNvSpPr/>
          <p:nvPr/>
        </p:nvSpPr>
        <p:spPr>
          <a:xfrm>
            <a:off x="3909060" y="1772107"/>
            <a:ext cx="1717929" cy="75285"/>
          </a:xfrm>
          <a:prstGeom prst="rect">
            <a:avLst/>
          </a:prstGeom>
          <a:solidFill>
            <a:srgbClr val="9BCB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3949598"/>
            <a:ext cx="7056882" cy="75285"/>
          </a:xfrm>
          <a:prstGeom prst="rect">
            <a:avLst/>
          </a:prstGeom>
          <a:solidFill>
            <a:srgbClr val="FCF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944243" y="2455468"/>
            <a:ext cx="2874187" cy="799185"/>
          </a:xfrm>
          <a:prstGeom prst="rect">
            <a:avLst/>
          </a:prstGeom>
          <a:noFill/>
          <a:ln>
            <a:noFill/>
          </a:ln>
        </p:spPr>
        <p:txBody>
          <a:bodyPr wrap="none" lIns="19050" rIns="19050" tIns="0" bIns="0" anchor="ctr">
            <a:noAutofit/>
          </a:bodyPr>
          <a:lstStyle/>
          <a:p>
            <a:pPr algn="ctr"/>
            <a:r>
              <a:rPr sz="9600" b="1">
                <a:solidFill>
                  <a:srgbClr val="139FD3"/>
                </a:solidFill>
                <a:latin typeface="PingFang SC"/>
              </a:rPr>
              <a:t>08</a:t>
            </a:r>
          </a:p>
        </p:txBody>
      </p:sp>
      <p:sp>
        <p:nvSpPr>
          <p:cNvPr id="8" name="TextBox 7"/>
          <p:cNvSpPr txBox="1"/>
          <p:nvPr/>
        </p:nvSpPr>
        <p:spPr>
          <a:xfrm>
            <a:off x="3929634" y="2455468"/>
            <a:ext cx="4820488" cy="828141"/>
          </a:xfrm>
          <a:prstGeom prst="rect">
            <a:avLst/>
          </a:prstGeom>
          <a:noFill/>
          <a:ln>
            <a:noFill/>
          </a:ln>
        </p:spPr>
        <p:txBody>
          <a:bodyPr wrap="none" lIns="19050" rIns="19050" tIns="0" bIns="0" anchor="ctr">
            <a:noAutofit/>
          </a:bodyPr>
          <a:lstStyle/>
          <a:p>
            <a:pPr algn="l"/>
            <a:r>
              <a:rPr sz="4800" b="1">
                <a:solidFill>
                  <a:srgbClr val="384654"/>
                </a:solidFill>
                <a:latin typeface="PingFang SC"/>
              </a:rPr>
              <a:t>照护转接</a:t>
            </a:r>
          </a:p>
          <a:p>
            <a:pPr algn="l"/>
            <a:r>
              <a:rPr sz="4800" b="1">
                <a:solidFill>
                  <a:srgbClr val="384654"/>
                </a:solidFill>
                <a:latin typeface="PingFang SC"/>
              </a:rPr>
              <a:t>Transitions of care</a:t>
            </a:r>
          </a:p>
        </p:txBody>
      </p:sp>
      <p:sp>
        <p:nvSpPr>
          <p:cNvPr id="9" name="TextBox 8"/>
          <p:cNvSpPr txBox="1"/>
          <p:nvPr/>
        </p:nvSpPr>
        <p:spPr>
          <a:xfrm>
            <a:off x="8322183" y="173735"/>
            <a:ext cx="3915232" cy="428548"/>
          </a:xfrm>
          <a:prstGeom prst="rect">
            <a:avLst/>
          </a:prstGeom>
          <a:noFill/>
          <a:ln>
            <a:noFill/>
          </a:ln>
        </p:spPr>
        <p:txBody>
          <a:bodyPr wrap="none" lIns="19050" rIns="19050" tIns="0" bIns="0" anchor="ctr">
            <a:noAutofit/>
          </a:bodyPr>
          <a:lstStyle/>
          <a:p>
            <a:pPr algn="r"/>
            <a:r>
              <a:rPr sz="2100" b="0">
                <a:solidFill>
                  <a:srgbClr val="B0C4A9"/>
                </a:solidFill>
                <a:latin typeface="PingFang SC"/>
              </a:rPr>
              <a:t>Surviving Sepsis Campaign</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nzcm2x6k.png"/>
          <p:cNvPicPr>
            <a:picLocks noChangeAspect="1"/>
          </p:cNvPicPr>
          <p:nvPr/>
        </p:nvPicPr>
        <p:blipFill>
          <a:blip r:embed="rId2"/>
          <a:stretch>
            <a:fillRect/>
          </a:stretch>
        </p:blipFill>
        <p:spPr>
          <a:xfrm>
            <a:off x="1724025" y="4924425"/>
            <a:ext cx="247650" cy="180975"/>
          </a:xfrm>
          <a:prstGeom prst="rect">
            <a:avLst/>
          </a:prstGeom>
        </p:spPr>
      </p:pic>
      <p:pic>
        <p:nvPicPr>
          <p:cNvPr id="4" name="Picture 3" descr="tmpjyozdjla.png"/>
          <p:cNvPicPr>
            <a:picLocks noChangeAspect="1"/>
          </p:cNvPicPr>
          <p:nvPr/>
        </p:nvPicPr>
        <p:blipFill>
          <a:blip r:embed="rId3"/>
          <a:stretch>
            <a:fillRect/>
          </a:stretch>
        </p:blipFill>
        <p:spPr>
          <a:xfrm>
            <a:off x="2076450" y="4924425"/>
            <a:ext cx="514350" cy="180975"/>
          </a:xfrm>
          <a:prstGeom prst="rect">
            <a:avLst/>
          </a:prstGeom>
        </p:spPr>
      </p:pic>
      <p:sp>
        <p:nvSpPr>
          <p:cNvPr id="5" name="Rounded Rectangle 4"/>
          <p:cNvSpPr/>
          <p:nvPr/>
        </p:nvSpPr>
        <p:spPr>
          <a:xfrm>
            <a:off x="555498" y="943965"/>
            <a:ext cx="9186291" cy="2287524"/>
          </a:xfrm>
          <a:prstGeom prst="roundRect">
            <a:avLst>
              <a:gd name="adj" fmla="val 6000"/>
            </a:avLst>
          </a:prstGeom>
          <a:solidFill>
            <a:srgbClr val="FEFEFE"/>
          </a:solidFill>
          <a:ln w="11430">
            <a:solidFill>
              <a:srgbClr val="F5FE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6933" y="393801"/>
            <a:ext cx="2738399" cy="301142"/>
          </a:xfrm>
          <a:prstGeom prst="rect">
            <a:avLst/>
          </a:prstGeom>
          <a:noFill/>
          <a:ln>
            <a:noFill/>
          </a:ln>
        </p:spPr>
        <p:txBody>
          <a:bodyPr wrap="none" lIns="19050" rIns="19050" tIns="0" bIns="0" anchor="ctr">
            <a:noAutofit/>
          </a:bodyPr>
          <a:lstStyle/>
          <a:p>
            <a:pPr algn="l"/>
            <a:r>
              <a:rPr sz="2700" b="1">
                <a:solidFill>
                  <a:srgbClr val="42538E"/>
                </a:solidFill>
                <a:latin typeface="PingFang SC"/>
              </a:rPr>
              <a:t>院内过渡</a:t>
            </a:r>
          </a:p>
        </p:txBody>
      </p:sp>
      <p:sp>
        <p:nvSpPr>
          <p:cNvPr id="7" name="TextBox 6"/>
          <p:cNvSpPr txBox="1"/>
          <p:nvPr/>
        </p:nvSpPr>
        <p:spPr>
          <a:xfrm>
            <a:off x="966978" y="1262481"/>
            <a:ext cx="7838694" cy="440131"/>
          </a:xfrm>
          <a:prstGeom prst="rect">
            <a:avLst/>
          </a:prstGeom>
          <a:noFill/>
          <a:ln>
            <a:noFill/>
          </a:ln>
        </p:spPr>
        <p:txBody>
          <a:bodyPr wrap="square" lIns="19050" rIns="19050" tIns="0" bIns="0" anchor="t">
            <a:normAutofit/>
          </a:bodyPr>
          <a:lstStyle/>
          <a:p>
            <a:pPr algn="l"/>
            <a:r>
              <a:rPr sz="1350" b="0">
                <a:solidFill>
                  <a:srgbClr val="858B89"/>
                </a:solidFill>
                <a:latin typeface="PingFang SC"/>
              </a:rPr>
              <a:t>108.对于入住重症监护病房（ICU）的脓毒症和感染性休克成年患者，与常规护理相比，我们“建议”在转至普通病房时采用重症监护过渡计划。</a:t>
            </a:r>
          </a:p>
        </p:txBody>
      </p:sp>
      <p:sp>
        <p:nvSpPr>
          <p:cNvPr id="8" name="TextBox 7"/>
          <p:cNvSpPr txBox="1"/>
          <p:nvPr/>
        </p:nvSpPr>
        <p:spPr>
          <a:xfrm>
            <a:off x="966978" y="2154326"/>
            <a:ext cx="7838694" cy="440131"/>
          </a:xfrm>
          <a:prstGeom prst="rect">
            <a:avLst/>
          </a:prstGeom>
          <a:noFill/>
          <a:ln>
            <a:noFill/>
          </a:ln>
        </p:spPr>
        <p:txBody>
          <a:bodyPr wrap="square" lIns="19050" rIns="19050" tIns="0" bIns="0" anchor="t">
            <a:normAutofit/>
          </a:bodyPr>
          <a:lstStyle/>
          <a:p>
            <a:pPr algn="l"/>
            <a:r>
              <a:rPr sz="1350" b="0">
                <a:solidFill>
                  <a:srgbClr val="8B9290"/>
                </a:solidFill>
                <a:latin typeface="PingFang SC"/>
              </a:rPr>
              <a:t>109.对于患有脓毒症或感染性休克的成年人，我们“建议”在照护转接时采用关键重要信息交接流程，而非不采用此类交接流程。</a:t>
            </a:r>
          </a:p>
        </p:txBody>
      </p:sp>
      <p:sp>
        <p:nvSpPr>
          <p:cNvPr id="9" name="TextBox 8"/>
          <p:cNvSpPr txBox="1"/>
          <p:nvPr/>
        </p:nvSpPr>
        <p:spPr>
          <a:xfrm>
            <a:off x="9134856" y="1262481"/>
            <a:ext cx="769467" cy="138988"/>
          </a:xfrm>
          <a:prstGeom prst="rect">
            <a:avLst/>
          </a:prstGeom>
          <a:noFill/>
          <a:ln>
            <a:noFill/>
          </a:ln>
        </p:spPr>
        <p:txBody>
          <a:bodyPr wrap="none" lIns="19050" rIns="19050" tIns="0" bIns="0" anchor="ctr">
            <a:noAutofit/>
          </a:bodyPr>
          <a:lstStyle/>
          <a:p>
            <a:pPr algn="r"/>
            <a:r>
              <a:rPr sz="1200" b="0">
                <a:solidFill>
                  <a:srgbClr val="91B37E"/>
                </a:solidFill>
                <a:latin typeface="PingFang SC"/>
              </a:rPr>
              <a:t>沿用</a:t>
            </a:r>
          </a:p>
        </p:txBody>
      </p:sp>
      <p:sp>
        <p:nvSpPr>
          <p:cNvPr id="10" name="TextBox 9"/>
          <p:cNvSpPr txBox="1"/>
          <p:nvPr/>
        </p:nvSpPr>
        <p:spPr>
          <a:xfrm>
            <a:off x="9134856" y="2154326"/>
            <a:ext cx="769467" cy="138988"/>
          </a:xfrm>
          <a:prstGeom prst="rect">
            <a:avLst/>
          </a:prstGeom>
          <a:noFill/>
          <a:ln>
            <a:noFill/>
          </a:ln>
        </p:spPr>
        <p:txBody>
          <a:bodyPr wrap="none" lIns="19050" rIns="19050" tIns="0" bIns="0" anchor="ctr">
            <a:noAutofit/>
          </a:bodyPr>
          <a:lstStyle/>
          <a:p>
            <a:pPr algn="r"/>
            <a:r>
              <a:rPr sz="1200" b="0">
                <a:solidFill>
                  <a:srgbClr val="8BB07C"/>
                </a:solidFill>
                <a:latin typeface="PingFang SC"/>
              </a:rPr>
              <a:t>沿用</a:t>
            </a:r>
          </a:p>
        </p:txBody>
      </p:sp>
      <p:sp>
        <p:nvSpPr>
          <p:cNvPr id="11" name="TextBox 10"/>
          <p:cNvSpPr txBox="1"/>
          <p:nvPr/>
        </p:nvSpPr>
        <p:spPr>
          <a:xfrm>
            <a:off x="8353044" y="162153"/>
            <a:ext cx="3847337" cy="428548"/>
          </a:xfrm>
          <a:prstGeom prst="rect">
            <a:avLst/>
          </a:prstGeom>
          <a:noFill/>
          <a:ln>
            <a:noFill/>
          </a:ln>
        </p:spPr>
        <p:txBody>
          <a:bodyPr wrap="none" lIns="19050" rIns="19050" tIns="0" bIns="0" anchor="ctr">
            <a:noAutofit/>
          </a:bodyPr>
          <a:lstStyle/>
          <a:p>
            <a:pPr algn="r"/>
            <a:r>
              <a:rPr sz="1500" b="0">
                <a:solidFill>
                  <a:srgbClr val="B0C4A9"/>
                </a:solidFill>
                <a:latin typeface="PingFang SC"/>
              </a:rPr>
              <a:t>Surviving Sepsis Campaign</a:t>
            </a:r>
          </a:p>
        </p:txBody>
      </p:sp>
      <p:sp>
        <p:nvSpPr>
          <p:cNvPr id="12" name="TextBox 11"/>
          <p:cNvSpPr txBox="1"/>
          <p:nvPr/>
        </p:nvSpPr>
        <p:spPr>
          <a:xfrm>
            <a:off x="534924" y="4922520"/>
            <a:ext cx="2489454" cy="301142"/>
          </a:xfrm>
          <a:prstGeom prst="rect">
            <a:avLst/>
          </a:prstGeom>
          <a:noFill/>
          <a:ln>
            <a:noFill/>
          </a:ln>
        </p:spPr>
        <p:txBody>
          <a:bodyPr wrap="none" lIns="19050" rIns="19050" tIns="0" bIns="0" anchor="ctr">
            <a:noAutofit/>
          </a:bodyPr>
          <a:lstStyle/>
          <a:p>
            <a:pPr algn="l"/>
            <a:r>
              <a:rPr sz="900" b="0">
                <a:solidFill>
                  <a:srgbClr val="989898"/>
                </a:solidFill>
                <a:latin typeface="PingFang SC"/>
              </a:rPr>
              <a:t>Society of Critical Care Medicine</a:t>
            </a:r>
          </a:p>
          <a:p>
            <a:pPr algn="l"/>
            <a:r>
              <a:rPr sz="900" b="0">
                <a:solidFill>
                  <a:srgbClr val="989898"/>
                </a:solidFill>
                <a:latin typeface="PingFang SC"/>
              </a:rPr>
              <a:t>The Intensive Care Professionals</a:t>
            </a:r>
          </a:p>
        </p:txBody>
      </p:sp>
      <p:sp>
        <p:nvSpPr>
          <p:cNvPr id="13" name="TextBox 12"/>
          <p:cNvSpPr txBox="1"/>
          <p:nvPr/>
        </p:nvSpPr>
        <p:spPr>
          <a:xfrm>
            <a:off x="1769364" y="4922520"/>
            <a:ext cx="2036826" cy="243230"/>
          </a:xfrm>
          <a:prstGeom prst="rect">
            <a:avLst/>
          </a:prstGeom>
          <a:noFill/>
          <a:ln>
            <a:noFill/>
          </a:ln>
        </p:spPr>
        <p:txBody>
          <a:bodyPr wrap="none" lIns="19050" rIns="19050" tIns="0" bIns="0" anchor="ctr">
            <a:noAutofit/>
          </a:bodyPr>
          <a:lstStyle/>
          <a:p>
            <a:pPr algn="l"/>
            <a:r>
              <a:rPr sz="900" b="0">
                <a:solidFill>
                  <a:srgbClr val="7050AE"/>
                </a:solidFill>
                <a:latin typeface="PingFang SC"/>
              </a:rPr>
              <a:t>esicm</a:t>
            </a:r>
          </a:p>
          <a:p>
            <a:pPr algn="l"/>
            <a:r>
              <a:rPr sz="900" b="0">
                <a:solidFill>
                  <a:srgbClr val="7050AE"/>
                </a:solidFill>
                <a:latin typeface="PingFang SC"/>
              </a:rPr>
              <a:t>European Society of Intensive Care Medicine</a:t>
            </a:r>
          </a:p>
        </p:txBody>
      </p:sp>
      <p:sp>
        <p:nvSpPr>
          <p:cNvPr id="14" name="TextBox 13"/>
          <p:cNvSpPr txBox="1"/>
          <p:nvPr/>
        </p:nvSpPr>
        <p:spPr>
          <a:xfrm>
            <a:off x="534924" y="5455310"/>
            <a:ext cx="2489454" cy="127406"/>
          </a:xfrm>
          <a:prstGeom prst="rect">
            <a:avLst/>
          </a:prstGeom>
          <a:noFill/>
          <a:ln>
            <a:noFill/>
          </a:ln>
        </p:spPr>
        <p:txBody>
          <a:bodyPr wrap="none" lIns="19050" rIns="19050" tIns="0" bIns="0" anchor="ctr">
            <a:noAutofit/>
          </a:bodyPr>
          <a:lstStyle/>
          <a:p>
            <a:pPr algn="l"/>
            <a:r>
              <a:rPr sz="1050" b="0">
                <a:solidFill>
                  <a:srgbClr val="D2E8EB"/>
                </a:solidFill>
                <a:latin typeface="PingFang SC"/>
              </a:rPr>
              <a:t>公众号·指南导航</a:t>
            </a:r>
          </a:p>
        </p:txBody>
      </p:sp>
      <p:sp>
        <p:nvSpPr>
          <p:cNvPr id="15" name="TextBox 14"/>
          <p:cNvSpPr txBox="1"/>
          <p:nvPr/>
        </p:nvSpPr>
        <p:spPr>
          <a:xfrm>
            <a:off x="10287000" y="5339486"/>
            <a:ext cx="0" cy="243230"/>
          </a:xfrm>
          <a:prstGeom prst="rect">
            <a:avLst/>
          </a:prstGeom>
          <a:noFill/>
          <a:ln>
            <a:noFill/>
          </a:ln>
        </p:spPr>
        <p:txBody>
          <a:bodyPr wrap="none" lIns="19050" rIns="19050" tIns="0" bIns="0" anchor="ctr">
            <a:noAutofit/>
          </a:bodyPr>
          <a:lstStyle/>
          <a:p>
            <a:pPr algn="r"/>
            <a:r>
              <a:rPr sz="1350" b="0">
                <a:solidFill>
                  <a:srgbClr val="000000"/>
                </a:solidFill>
                <a:latin typeface="PingFang SC"/>
              </a:rPr>
              <a:t>67</a:t>
            </a:r>
          </a:p>
        </p:txBody>
      </p:sp>
      <p:pic>
        <p:nvPicPr>
          <p:cNvPr id="16" name="Picture 15" descr="tmpc6ff77el.png"/>
          <p:cNvPicPr>
            <a:picLocks noChangeAspect="1"/>
          </p:cNvPicPr>
          <p:nvPr/>
        </p:nvPicPr>
        <p:blipFill>
          <a:blip r:embed="rId4"/>
          <a:stretch>
            <a:fillRect/>
          </a:stretch>
        </p:blipFill>
        <p:spPr>
          <a:xfrm>
            <a:off x="1171575" y="1866900"/>
            <a:ext cx="285750" cy="209550"/>
          </a:xfrm>
          <a:prstGeom prst="rect">
            <a:avLst/>
          </a:prstGeom>
        </p:spPr>
      </p:pic>
      <p:pic>
        <p:nvPicPr>
          <p:cNvPr id="17" name="Picture 16" descr="tmpongvjv5o.png"/>
          <p:cNvPicPr>
            <a:picLocks noChangeAspect="1"/>
          </p:cNvPicPr>
          <p:nvPr/>
        </p:nvPicPr>
        <p:blipFill>
          <a:blip r:embed="rId5"/>
          <a:stretch>
            <a:fillRect/>
          </a:stretch>
        </p:blipFill>
        <p:spPr>
          <a:xfrm>
            <a:off x="1171575" y="2771775"/>
            <a:ext cx="285750" cy="209550"/>
          </a:xfrm>
          <a:prstGeom prst="rect">
            <a:avLst/>
          </a:prstGeom>
        </p:spPr>
      </p:pic>
      <p:pic>
        <p:nvPicPr>
          <p:cNvPr id="18" name="Picture 17" descr="tmpaw5vsnof.png"/>
          <p:cNvPicPr>
            <a:picLocks noChangeAspect="1"/>
          </p:cNvPicPr>
          <p:nvPr/>
        </p:nvPicPr>
        <p:blipFill>
          <a:blip r:embed="rId6"/>
          <a:stretch>
            <a:fillRect/>
          </a:stretch>
        </p:blipFill>
        <p:spPr>
          <a:xfrm>
            <a:off x="1562100" y="1866900"/>
            <a:ext cx="952500" cy="209550"/>
          </a:xfrm>
          <a:prstGeom prst="rect">
            <a:avLst/>
          </a:prstGeom>
        </p:spPr>
      </p:pic>
      <p:pic>
        <p:nvPicPr>
          <p:cNvPr id="19" name="Picture 18" descr="tmps93xbjc8.png"/>
          <p:cNvPicPr>
            <a:picLocks noChangeAspect="1"/>
          </p:cNvPicPr>
          <p:nvPr/>
        </p:nvPicPr>
        <p:blipFill>
          <a:blip r:embed="rId7"/>
          <a:stretch>
            <a:fillRect/>
          </a:stretch>
        </p:blipFill>
        <p:spPr>
          <a:xfrm>
            <a:off x="1562100" y="2771775"/>
            <a:ext cx="952500" cy="209550"/>
          </a:xfrm>
          <a:prstGeom prst="rect">
            <a:avLst/>
          </a:prstGeom>
        </p:spPr>
      </p:pic>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dej01rfp.png"/>
          <p:cNvPicPr>
            <a:picLocks noChangeAspect="1"/>
          </p:cNvPicPr>
          <p:nvPr/>
        </p:nvPicPr>
        <p:blipFill>
          <a:blip r:embed="rId2"/>
          <a:stretch>
            <a:fillRect/>
          </a:stretch>
        </p:blipFill>
        <p:spPr>
          <a:xfrm>
            <a:off x="552450" y="4933950"/>
            <a:ext cx="2143125" cy="285750"/>
          </a:xfrm>
          <a:prstGeom prst="rect">
            <a:avLst/>
          </a:prstGeom>
        </p:spPr>
      </p:pic>
      <p:pic>
        <p:nvPicPr>
          <p:cNvPr id="4" name="Picture 3" descr="tmpxihagxdu.png"/>
          <p:cNvPicPr>
            <a:picLocks noChangeAspect="1"/>
          </p:cNvPicPr>
          <p:nvPr/>
        </p:nvPicPr>
        <p:blipFill>
          <a:blip r:embed="rId3"/>
          <a:stretch>
            <a:fillRect/>
          </a:stretch>
        </p:blipFill>
        <p:spPr>
          <a:xfrm>
            <a:off x="2800350" y="4933950"/>
            <a:ext cx="514350" cy="228600"/>
          </a:xfrm>
          <a:prstGeom prst="rect">
            <a:avLst/>
          </a:prstGeom>
        </p:spPr>
      </p:pic>
      <p:pic>
        <p:nvPicPr>
          <p:cNvPr id="5" name="Picture 4" descr="tmpvxk_h6xn.png"/>
          <p:cNvPicPr>
            <a:picLocks noChangeAspect="1"/>
          </p:cNvPicPr>
          <p:nvPr/>
        </p:nvPicPr>
        <p:blipFill>
          <a:blip r:embed="rId4"/>
          <a:stretch>
            <a:fillRect/>
          </a:stretch>
        </p:blipFill>
        <p:spPr>
          <a:xfrm>
            <a:off x="3419475" y="4933950"/>
            <a:ext cx="923925" cy="228600"/>
          </a:xfrm>
          <a:prstGeom prst="rect">
            <a:avLst/>
          </a:prstGeom>
        </p:spPr>
      </p:pic>
      <p:sp>
        <p:nvSpPr>
          <p:cNvPr id="6" name="Rounded Rectangle 5"/>
          <p:cNvSpPr/>
          <p:nvPr/>
        </p:nvSpPr>
        <p:spPr>
          <a:xfrm>
            <a:off x="555498" y="967130"/>
            <a:ext cx="9196577" cy="972921"/>
          </a:xfrm>
          <a:prstGeom prst="roundRect">
            <a:avLst>
              <a:gd name="adj" fmla="val 6000"/>
            </a:avLst>
          </a:prstGeom>
          <a:solidFill>
            <a:srgbClr val="FDFEFD"/>
          </a:solidFill>
          <a:ln w="11430">
            <a:solidFill>
              <a:srgbClr val="6B9B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55498" y="2733446"/>
            <a:ext cx="9196577" cy="1540459"/>
          </a:xfrm>
          <a:prstGeom prst="roundRect">
            <a:avLst>
              <a:gd name="adj" fmla="val 6000"/>
            </a:avLst>
          </a:prstGeom>
          <a:solidFill>
            <a:srgbClr val="FDFEFE"/>
          </a:solidFill>
          <a:ln w="11430">
            <a:solidFill>
              <a:srgbClr val="0D5A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5498" y="440131"/>
            <a:ext cx="6019952" cy="277977"/>
          </a:xfrm>
          <a:prstGeom prst="rect">
            <a:avLst/>
          </a:prstGeom>
          <a:noFill/>
          <a:ln>
            <a:noFill/>
          </a:ln>
        </p:spPr>
        <p:txBody>
          <a:bodyPr wrap="none" lIns="19050" rIns="19050" tIns="0" bIns="0" anchor="ctr">
            <a:noAutofit/>
          </a:bodyPr>
          <a:lstStyle/>
          <a:p>
            <a:pPr algn="l"/>
            <a:r>
              <a:rPr sz="2400" b="1">
                <a:solidFill>
                  <a:srgbClr val="5585AB"/>
                </a:solidFill>
                <a:latin typeface="PingFang SC"/>
              </a:rPr>
              <a:t>经济和社会支持筛查</a:t>
            </a:r>
          </a:p>
        </p:txBody>
      </p:sp>
      <p:sp>
        <p:nvSpPr>
          <p:cNvPr id="9" name="TextBox 8"/>
          <p:cNvSpPr txBox="1"/>
          <p:nvPr/>
        </p:nvSpPr>
        <p:spPr>
          <a:xfrm>
            <a:off x="946404" y="1239316"/>
            <a:ext cx="8229600" cy="451713"/>
          </a:xfrm>
          <a:prstGeom prst="rect">
            <a:avLst/>
          </a:prstGeom>
          <a:noFill/>
          <a:ln>
            <a:noFill/>
          </a:ln>
        </p:spPr>
        <p:txBody>
          <a:bodyPr wrap="square" lIns="19050" rIns="19050" tIns="0" bIns="0" anchor="t">
            <a:normAutofit/>
          </a:bodyPr>
          <a:lstStyle/>
          <a:p>
            <a:pPr algn="l"/>
            <a:r>
              <a:rPr sz="1410" b="0">
                <a:solidFill>
                  <a:srgbClr val="7D8D91"/>
                </a:solidFill>
                <a:latin typeface="PingFang SC"/>
              </a:rPr>
              <a:t>110.医院和医疗系统应针对脓毒症或感染性休克患者的经济和社会支持需求（包括住房、营养、经济和精神支持）进行筛查，并在有条件的情况下进行转介以满足这些需求（良好实践声明）。</a:t>
            </a:r>
          </a:p>
        </p:txBody>
      </p:sp>
      <p:sp>
        <p:nvSpPr>
          <p:cNvPr id="10" name="TextBox 9"/>
          <p:cNvSpPr txBox="1"/>
          <p:nvPr/>
        </p:nvSpPr>
        <p:spPr>
          <a:xfrm>
            <a:off x="9176004" y="1239316"/>
            <a:ext cx="814730" cy="162153"/>
          </a:xfrm>
          <a:prstGeom prst="rect">
            <a:avLst/>
          </a:prstGeom>
          <a:noFill/>
          <a:ln>
            <a:noFill/>
          </a:ln>
        </p:spPr>
        <p:txBody>
          <a:bodyPr wrap="none" lIns="19050" rIns="19050" tIns="0" bIns="0" anchor="ctr">
            <a:noAutofit/>
          </a:bodyPr>
          <a:lstStyle/>
          <a:p>
            <a:pPr algn="r"/>
            <a:r>
              <a:rPr sz="1350" b="0">
                <a:solidFill>
                  <a:srgbClr val="90B981"/>
                </a:solidFill>
                <a:latin typeface="PingFang SC"/>
              </a:rPr>
              <a:t>沿用</a:t>
            </a:r>
          </a:p>
        </p:txBody>
      </p:sp>
      <p:sp>
        <p:nvSpPr>
          <p:cNvPr id="11" name="TextBox 10"/>
          <p:cNvSpPr txBox="1"/>
          <p:nvPr/>
        </p:nvSpPr>
        <p:spPr>
          <a:xfrm>
            <a:off x="555498" y="2212238"/>
            <a:ext cx="3575761" cy="266395"/>
          </a:xfrm>
          <a:prstGeom prst="rect">
            <a:avLst/>
          </a:prstGeom>
          <a:noFill/>
          <a:ln>
            <a:noFill/>
          </a:ln>
        </p:spPr>
        <p:txBody>
          <a:bodyPr wrap="none" lIns="19050" rIns="19050" tIns="0" bIns="0" anchor="ctr">
            <a:noAutofit/>
          </a:bodyPr>
          <a:lstStyle/>
          <a:p>
            <a:pPr algn="l"/>
            <a:r>
              <a:rPr sz="2400" b="1">
                <a:solidFill>
                  <a:srgbClr val="5289AE"/>
                </a:solidFill>
                <a:latin typeface="PingFang SC"/>
              </a:rPr>
              <a:t>用药核对</a:t>
            </a:r>
          </a:p>
        </p:txBody>
      </p:sp>
      <p:sp>
        <p:nvSpPr>
          <p:cNvPr id="12" name="TextBox 11"/>
          <p:cNvSpPr txBox="1"/>
          <p:nvPr/>
        </p:nvSpPr>
        <p:spPr>
          <a:xfrm>
            <a:off x="946404" y="3005632"/>
            <a:ext cx="8229600" cy="451713"/>
          </a:xfrm>
          <a:prstGeom prst="rect">
            <a:avLst/>
          </a:prstGeom>
          <a:noFill/>
          <a:ln>
            <a:noFill/>
          </a:ln>
        </p:spPr>
        <p:txBody>
          <a:bodyPr wrap="square" lIns="19050" rIns="19050" tIns="0" bIns="0" anchor="t">
            <a:normAutofit/>
          </a:bodyPr>
          <a:lstStyle/>
          <a:p>
            <a:pPr algn="l"/>
            <a:r>
              <a:rPr sz="1500" b="0">
                <a:solidFill>
                  <a:srgbClr val="7A8E92"/>
                </a:solidFill>
                <a:latin typeface="PingFang SC"/>
              </a:rPr>
              <a:t>111.对于患有脓毒症或感染性休克的成年人，在护理过渡期间，包括重症监护病房（ICU）出院和医院出院时，应进行全面的药物重整（良好实践声明）。</a:t>
            </a:r>
          </a:p>
        </p:txBody>
      </p:sp>
      <p:sp>
        <p:nvSpPr>
          <p:cNvPr id="13" name="TextBox 12"/>
          <p:cNvSpPr txBox="1"/>
          <p:nvPr/>
        </p:nvSpPr>
        <p:spPr>
          <a:xfrm>
            <a:off x="9176004" y="3005632"/>
            <a:ext cx="814730" cy="162153"/>
          </a:xfrm>
          <a:prstGeom prst="rect">
            <a:avLst/>
          </a:prstGeom>
          <a:noFill/>
          <a:ln>
            <a:noFill/>
          </a:ln>
        </p:spPr>
        <p:txBody>
          <a:bodyPr wrap="none" lIns="19050" rIns="19050" tIns="0" bIns="0" anchor="ctr">
            <a:noAutofit/>
          </a:bodyPr>
          <a:lstStyle/>
          <a:p>
            <a:pPr algn="r"/>
            <a:r>
              <a:rPr sz="1350" b="0">
                <a:solidFill>
                  <a:srgbClr val="71BAC9"/>
                </a:solidFill>
                <a:latin typeface="PingFang SC"/>
              </a:rPr>
              <a:t>修订</a:t>
            </a:r>
          </a:p>
        </p:txBody>
      </p:sp>
      <p:sp>
        <p:nvSpPr>
          <p:cNvPr id="14" name="TextBox 13"/>
          <p:cNvSpPr txBox="1"/>
          <p:nvPr/>
        </p:nvSpPr>
        <p:spPr>
          <a:xfrm>
            <a:off x="946404" y="3503675"/>
            <a:ext cx="8229600" cy="272186"/>
          </a:xfrm>
          <a:prstGeom prst="rect">
            <a:avLst/>
          </a:prstGeom>
          <a:noFill/>
          <a:ln>
            <a:noFill/>
          </a:ln>
        </p:spPr>
        <p:txBody>
          <a:bodyPr wrap="square" lIns="19050" rIns="19050" tIns="0" bIns="0" anchor="t">
            <a:normAutofit/>
          </a:bodyPr>
          <a:lstStyle/>
          <a:p>
            <a:pPr algn="l"/>
            <a:r>
              <a:rPr sz="1380" b="0">
                <a:solidFill>
                  <a:srgbClr val="858C89"/>
                </a:solidFill>
                <a:latin typeface="PingFang SC"/>
              </a:rPr>
              <a:t>112.对于患有脓毒症或感染性休克的成年人，我们“建议”在照护转接时采用基于药剂师的方法进行全面的药物重整。</a:t>
            </a:r>
          </a:p>
        </p:txBody>
      </p:sp>
      <p:sp>
        <p:nvSpPr>
          <p:cNvPr id="15" name="TextBox 14"/>
          <p:cNvSpPr txBox="1"/>
          <p:nvPr/>
        </p:nvSpPr>
        <p:spPr>
          <a:xfrm>
            <a:off x="9176004" y="3503675"/>
            <a:ext cx="814730" cy="162153"/>
          </a:xfrm>
          <a:prstGeom prst="rect">
            <a:avLst/>
          </a:prstGeom>
          <a:noFill/>
          <a:ln>
            <a:noFill/>
          </a:ln>
        </p:spPr>
        <p:txBody>
          <a:bodyPr wrap="none" lIns="19050" rIns="19050" tIns="0" bIns="0" anchor="ctr">
            <a:noAutofit/>
          </a:bodyPr>
          <a:lstStyle/>
          <a:p>
            <a:pPr algn="r"/>
            <a:r>
              <a:rPr sz="1350" b="0">
                <a:solidFill>
                  <a:srgbClr val="71B1C8"/>
                </a:solidFill>
                <a:latin typeface="PingFang SC"/>
              </a:rPr>
              <a:t>修订</a:t>
            </a:r>
          </a:p>
        </p:txBody>
      </p:sp>
      <p:sp>
        <p:nvSpPr>
          <p:cNvPr id="16" name="TextBox 15"/>
          <p:cNvSpPr txBox="1"/>
          <p:nvPr/>
        </p:nvSpPr>
        <p:spPr>
          <a:xfrm>
            <a:off x="555498" y="5455310"/>
            <a:ext cx="2444191" cy="138988"/>
          </a:xfrm>
          <a:prstGeom prst="rect">
            <a:avLst/>
          </a:prstGeom>
          <a:noFill/>
          <a:ln>
            <a:noFill/>
          </a:ln>
        </p:spPr>
        <p:txBody>
          <a:bodyPr wrap="none" lIns="19050" rIns="19050" tIns="0" bIns="0" anchor="ctr">
            <a:noAutofit/>
          </a:bodyPr>
          <a:lstStyle/>
          <a:p>
            <a:pPr algn="l"/>
            <a:r>
              <a:rPr sz="1200" b="0">
                <a:solidFill>
                  <a:srgbClr val="BEDBDC"/>
                </a:solidFill>
                <a:latin typeface="PingFang SC"/>
              </a:rPr>
              <a:t>公众号 指南导航</a:t>
            </a:r>
          </a:p>
        </p:txBody>
      </p:sp>
      <p:sp>
        <p:nvSpPr>
          <p:cNvPr id="17" name="TextBox 16"/>
          <p:cNvSpPr txBox="1"/>
          <p:nvPr/>
        </p:nvSpPr>
        <p:spPr>
          <a:xfrm>
            <a:off x="10287000" y="5374233"/>
            <a:ext cx="0" cy="196900"/>
          </a:xfrm>
          <a:prstGeom prst="rect">
            <a:avLst/>
          </a:prstGeom>
          <a:noFill/>
          <a:ln>
            <a:noFill/>
          </a:ln>
        </p:spPr>
        <p:txBody>
          <a:bodyPr wrap="none" lIns="19050" rIns="19050" tIns="0" bIns="0" anchor="ctr">
            <a:noAutofit/>
          </a:bodyPr>
          <a:lstStyle/>
          <a:p>
            <a:pPr algn="r"/>
            <a:r>
              <a:rPr sz="1500" b="0">
                <a:solidFill>
                  <a:srgbClr val="000000"/>
                </a:solidFill>
                <a:latin typeface="PingFang SC"/>
              </a:rPr>
              <a:t>68</a:t>
            </a:r>
          </a:p>
        </p:txBody>
      </p:sp>
      <p:sp>
        <p:nvSpPr>
          <p:cNvPr id="18" name="TextBox 17"/>
          <p:cNvSpPr txBox="1"/>
          <p:nvPr/>
        </p:nvSpPr>
        <p:spPr>
          <a:xfrm>
            <a:off x="8311896" y="185318"/>
            <a:ext cx="3937863" cy="416966"/>
          </a:xfrm>
          <a:prstGeom prst="rect">
            <a:avLst/>
          </a:prstGeom>
          <a:noFill/>
          <a:ln>
            <a:noFill/>
          </a:ln>
        </p:spPr>
        <p:txBody>
          <a:bodyPr wrap="none" lIns="19050" rIns="19050" tIns="0" bIns="0" anchor="ctr">
            <a:noAutofit/>
          </a:bodyPr>
          <a:lstStyle/>
          <a:p>
            <a:pPr algn="r"/>
            <a:r>
              <a:rPr sz="1800" b="0">
                <a:solidFill>
                  <a:srgbClr val="AFC3AA"/>
                </a:solidFill>
                <a:latin typeface="PingFang SC"/>
              </a:rPr>
              <a:t>Surviving Sepsis Campaign</a:t>
            </a:r>
          </a:p>
        </p:txBody>
      </p:sp>
      <p:pic>
        <p:nvPicPr>
          <p:cNvPr id="19" name="Picture 18" descr="tmpzl2e96ix.png"/>
          <p:cNvPicPr>
            <a:picLocks noChangeAspect="1"/>
          </p:cNvPicPr>
          <p:nvPr/>
        </p:nvPicPr>
        <p:blipFill>
          <a:blip r:embed="rId5"/>
          <a:stretch>
            <a:fillRect/>
          </a:stretch>
        </p:blipFill>
        <p:spPr>
          <a:xfrm>
            <a:off x="1257300" y="3895725"/>
            <a:ext cx="200025" cy="171450"/>
          </a:xfrm>
          <a:prstGeom prst="rect">
            <a:avLst/>
          </a:prstGeom>
        </p:spPr>
      </p:pic>
      <p:pic>
        <p:nvPicPr>
          <p:cNvPr id="20" name="Picture 19" descr="tmp2l5yg_sl.png"/>
          <p:cNvPicPr>
            <a:picLocks noChangeAspect="1"/>
          </p:cNvPicPr>
          <p:nvPr/>
        </p:nvPicPr>
        <p:blipFill>
          <a:blip r:embed="rId6"/>
          <a:stretch>
            <a:fillRect/>
          </a:stretch>
        </p:blipFill>
        <p:spPr>
          <a:xfrm>
            <a:off x="1562100" y="3895725"/>
            <a:ext cx="209550" cy="171450"/>
          </a:xfrm>
          <a:prstGeom prst="rect">
            <a:avLst/>
          </a:prstGeom>
        </p:spPr>
      </p:pic>
      <p:pic>
        <p:nvPicPr>
          <p:cNvPr id="21" name="Picture 20" descr="tmptr50244_.png"/>
          <p:cNvPicPr>
            <a:picLocks noChangeAspect="1"/>
          </p:cNvPicPr>
          <p:nvPr/>
        </p:nvPicPr>
        <p:blipFill>
          <a:blip r:embed="rId7"/>
          <a:stretch>
            <a:fillRect/>
          </a:stretch>
        </p:blipFill>
        <p:spPr>
          <a:xfrm>
            <a:off x="1876425" y="3895725"/>
            <a:ext cx="200025" cy="171450"/>
          </a:xfrm>
          <a:prstGeom prst="rect">
            <a:avLst/>
          </a:prstGeom>
        </p:spPr>
      </p:pic>
      <p:pic>
        <p:nvPicPr>
          <p:cNvPr id="22" name="Picture 21" descr="tmpu3im9d2r.png"/>
          <p:cNvPicPr>
            <a:picLocks noChangeAspect="1"/>
          </p:cNvPicPr>
          <p:nvPr/>
        </p:nvPicPr>
        <p:blipFill>
          <a:blip r:embed="rId8"/>
          <a:stretch>
            <a:fillRect/>
          </a:stretch>
        </p:blipFill>
        <p:spPr>
          <a:xfrm>
            <a:off x="2181225" y="3895725"/>
            <a:ext cx="209550" cy="171450"/>
          </a:xfrm>
          <a:prstGeom prst="rect">
            <a:avLst/>
          </a:prstGeom>
        </p:spPr>
      </p:pic>
      <p:pic>
        <p:nvPicPr>
          <p:cNvPr id="23" name="Picture 22" descr="tmp_fqi4rhc.png"/>
          <p:cNvPicPr>
            <a:picLocks noChangeAspect="1"/>
          </p:cNvPicPr>
          <p:nvPr/>
        </p:nvPicPr>
        <p:blipFill>
          <a:blip r:embed="rId9"/>
          <a:stretch>
            <a:fillRect/>
          </a:stretch>
        </p:blipFill>
        <p:spPr>
          <a:xfrm>
            <a:off x="2486025" y="3895725"/>
            <a:ext cx="209550" cy="171450"/>
          </a:xfrm>
          <a:prstGeom prst="rect">
            <a:avLst/>
          </a:prstGeom>
        </p:spPr>
      </p:pic>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frnshdif.png"/>
          <p:cNvPicPr>
            <a:picLocks noChangeAspect="1"/>
          </p:cNvPicPr>
          <p:nvPr/>
        </p:nvPicPr>
        <p:blipFill>
          <a:blip r:embed="rId2"/>
          <a:stretch>
            <a:fillRect/>
          </a:stretch>
        </p:blipFill>
        <p:spPr>
          <a:xfrm>
            <a:off x="495300" y="4933950"/>
            <a:ext cx="2505075" cy="285750"/>
          </a:xfrm>
          <a:prstGeom prst="rect">
            <a:avLst/>
          </a:prstGeom>
        </p:spPr>
      </p:pic>
      <p:pic>
        <p:nvPicPr>
          <p:cNvPr id="4" name="Picture 3" descr="tmp3s5j46e0.png"/>
          <p:cNvPicPr>
            <a:picLocks noChangeAspect="1"/>
          </p:cNvPicPr>
          <p:nvPr/>
        </p:nvPicPr>
        <p:blipFill>
          <a:blip r:embed="rId3"/>
          <a:stretch>
            <a:fillRect/>
          </a:stretch>
        </p:blipFill>
        <p:spPr>
          <a:xfrm>
            <a:off x="3105150" y="4933950"/>
            <a:ext cx="923925" cy="228600"/>
          </a:xfrm>
          <a:prstGeom prst="rect">
            <a:avLst/>
          </a:prstGeom>
        </p:spPr>
      </p:pic>
      <p:sp>
        <p:nvSpPr>
          <p:cNvPr id="5" name="Rounded Rectangle 4"/>
          <p:cNvSpPr/>
          <p:nvPr/>
        </p:nvSpPr>
        <p:spPr>
          <a:xfrm>
            <a:off x="637793" y="1140866"/>
            <a:ext cx="9062847" cy="3521049"/>
          </a:xfrm>
          <a:prstGeom prst="roundRect">
            <a:avLst>
              <a:gd name="adj" fmla="val 6000"/>
            </a:avLst>
          </a:prstGeom>
          <a:solidFill>
            <a:srgbClr val="FDFEFE"/>
          </a:solidFill>
          <a:ln w="11430">
            <a:solidFill>
              <a:srgbClr val="2253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833247" y="1343558"/>
          <a:ext cx="8682228" cy="3115665"/>
        </p:xfrm>
        <a:graphic>
          <a:graphicData uri="http://schemas.openxmlformats.org/drawingml/2006/table">
            <a:tbl>
              <a:tblPr>
                <a:tableStyleId>{5C22544A-7EE6-4342-B048-85BDC9FD1C3A}</a:tableStyleId>
              </a:tblPr>
              <a:tblGrid>
                <a:gridCol w="4341114"/>
                <a:gridCol w="4341114"/>
              </a:tblGrid>
              <a:tr h="623133">
                <a:tc>
                  <a:txBody>
                    <a:bodyPr wrap="square"/>
                    <a:lstStyle/>
                    <a:p>
                      <a:pPr algn="l"/>
                      <a:r>
                        <a:rPr sz="2060" b="0">
                          <a:solidFill>
                            <a:srgbClr val="7A9298"/>
                          </a:solidFill>
                          <a:latin typeface="PingFang SC"/>
                        </a:rPr>
                        <a:t>113.临床团队应让患有脓毒症或感染性休克的成年人及其家属有机会参与重症监护病房后和出院计划的共同决策，以确保出院计划可接受且可行（良好实践声明）。</a:t>
                      </a:r>
                    </a:p>
                  </a:txBody>
                  <a:tcPr marL="28575" marR="28575" marT="0" marB="0" anchor="ctr">
                    <a:solidFill>
                      <a:srgbClr val="FDFEFE"/>
                    </a:solidFill>
                  </a:tcPr>
                </a:tc>
                <a:tc>
                  <a:txBody>
                    <a:bodyPr wrap="square"/>
                    <a:lstStyle/>
                    <a:p>
                      <a:pPr algn="l"/>
                      <a:r>
                        <a:rPr sz="2060" b="0">
                          <a:solidFill>
                            <a:srgbClr val="818D87"/>
                          </a:solidFill>
                          <a:latin typeface="PingFang SC"/>
                        </a:rPr>
                        <a:t>沿用</a:t>
                      </a:r>
                    </a:p>
                  </a:txBody>
                  <a:tcPr marL="28575" marR="28575" marT="0" marB="0" anchor="ctr">
                    <a:solidFill>
                      <a:srgbClr val="FEFEFE"/>
                    </a:solidFill>
                  </a:tcPr>
                </a:tc>
              </a:tr>
              <a:tr h="623133">
                <a:tc>
                  <a:txBody>
                    <a:bodyPr wrap="square"/>
                    <a:lstStyle/>
                    <a:p>
                      <a:pPr algn="l"/>
                      <a:r>
                        <a:rPr sz="2060" b="0">
                          <a:solidFill>
                            <a:srgbClr val="7E8E93"/>
                          </a:solidFill>
                          <a:latin typeface="PingFang SC"/>
                        </a:rPr>
                        <a:t>114.对于脓毒症或脓毒性休克成年幸存者及其家属，临床医生应在书面和口头出院小结中提供有关住院情况、脓毒症及相关诊断、治疗以及脓毒症后常见功能障碍的信息（良好实践声明）。</a:t>
                      </a:r>
                    </a:p>
                  </a:txBody>
                  <a:tcPr marL="28575" marR="28575" marT="0" marB="0" anchor="ctr">
                    <a:solidFill>
                      <a:srgbClr val="FDFEFE"/>
                    </a:solidFill>
                  </a:tcPr>
                </a:tc>
                <a:tc>
                  <a:txBody>
                    <a:bodyPr wrap="square"/>
                    <a:lstStyle/>
                    <a:p>
                      <a:pPr algn="l"/>
                      <a:r>
                        <a:rPr sz="2060" b="0">
                          <a:solidFill>
                            <a:srgbClr val="829390"/>
                          </a:solidFill>
                          <a:latin typeface="PingFang SC"/>
                        </a:rPr>
                        <a:t>沿用</a:t>
                      </a:r>
                    </a:p>
                  </a:txBody>
                  <a:tcPr marL="28575" marR="28575" marT="0" marB="0" anchor="ctr">
                    <a:solidFill>
                      <a:srgbClr val="FDFEFE"/>
                    </a:solidFill>
                  </a:tcPr>
                </a:tc>
              </a:tr>
              <a:tr h="623133">
                <a:tc>
                  <a:txBody>
                    <a:bodyPr wrap="square"/>
                    <a:lstStyle/>
                    <a:p>
                      <a:pPr algn="l"/>
                      <a:r>
                        <a:rPr sz="2060" b="0">
                          <a:solidFill>
                            <a:srgbClr val="7C9499"/>
                          </a:solidFill>
                          <a:latin typeface="PingFang SC"/>
                        </a:rPr>
                        <a:t>115.对于出现新功能障碍的脓毒症或脓毒性休克成年患者，出院计划应包括由能够支持和处理新出现的及长期后遗症的临床医生进行随访（良好实践声明）。</a:t>
                      </a:r>
                    </a:p>
                  </a:txBody>
                  <a:tcPr marL="28575" marR="28575" marT="0" marB="0" anchor="ctr">
                    <a:solidFill>
                      <a:srgbClr val="FDFEFE"/>
                    </a:solidFill>
                  </a:tcPr>
                </a:tc>
                <a:tc>
                  <a:txBody>
                    <a:bodyPr wrap="square"/>
                    <a:lstStyle/>
                    <a:p>
                      <a:pPr algn="l"/>
                      <a:r>
                        <a:rPr sz="2060" b="0">
                          <a:solidFill>
                            <a:srgbClr val="808A87"/>
                          </a:solidFill>
                          <a:latin typeface="PingFang SC"/>
                        </a:rPr>
                        <a:t>沿用</a:t>
                      </a:r>
                    </a:p>
                  </a:txBody>
                  <a:tcPr marL="28575" marR="28575" marT="0" marB="0" anchor="ctr">
                    <a:solidFill>
                      <a:srgbClr val="FEFEFE"/>
                    </a:solidFill>
                  </a:tcPr>
                </a:tc>
              </a:tr>
              <a:tr h="623133">
                <a:tc>
                  <a:txBody>
                    <a:bodyPr wrap="square"/>
                    <a:lstStyle/>
                    <a:p>
                      <a:pPr algn="l"/>
                      <a:r>
                        <a:rPr sz="2060" b="0">
                          <a:solidFill>
                            <a:srgbClr val="7B959C"/>
                          </a:solidFill>
                          <a:latin typeface="PingFang SC"/>
                        </a:rPr>
                        <a:t>116.医疗保健系统应实施相关策略，以确保为患者、其家属及其初级保健提供者提供足够的信息，使其能够顺利完成出院过渡（良好实践声明）。</a:t>
                      </a:r>
                    </a:p>
                  </a:txBody>
                  <a:tcPr marL="28575" marR="28575" marT="0" marB="0" anchor="ctr">
                    <a:solidFill>
                      <a:srgbClr val="FDFEFE"/>
                    </a:solidFill>
                  </a:tcPr>
                </a:tc>
                <a:tc>
                  <a:txBody>
                    <a:bodyPr wrap="square"/>
                    <a:lstStyle/>
                    <a:p>
                      <a:pPr algn="l"/>
                      <a:r>
                        <a:rPr sz="2060" b="0">
                          <a:solidFill>
                            <a:srgbClr val="828F93"/>
                          </a:solidFill>
                          <a:latin typeface="PingFang SC"/>
                        </a:rPr>
                        <a:t>新增</a:t>
                      </a:r>
                    </a:p>
                  </a:txBody>
                  <a:tcPr marL="28575" marR="28575" marT="0" marB="0" anchor="ctr">
                    <a:solidFill>
                      <a:srgbClr val="FEFEFE"/>
                    </a:solidFill>
                  </a:tcPr>
                </a:tc>
              </a:tr>
              <a:tr h="623133">
                <a:tc>
                  <a:txBody>
                    <a:bodyPr wrap="square"/>
                    <a:lstStyle/>
                    <a:p>
                      <a:pPr algn="l"/>
                      <a:r>
                        <a:rPr sz="2060" b="0">
                          <a:solidFill>
                            <a:srgbClr val="7B8285"/>
                          </a:solidFill>
                          <a:latin typeface="PingFang SC"/>
                        </a:rPr>
                        <a:t>117.对于因脓毒症或感染性休克住院治疗后存活的成年人，目前尚无足够证据对特定的结构化多组分出院计划流程提出建议。</a:t>
                      </a:r>
                    </a:p>
                  </a:txBody>
                  <a:tcPr marL="28575" marR="28575" marT="0" marB="0" anchor="ctr">
                    <a:solidFill>
                      <a:srgbClr val="FEFEFE"/>
                    </a:solidFill>
                  </a:tcPr>
                </a:tc>
                <a:tc>
                  <a:txBody>
                    <a:bodyPr wrap="square"/>
                    <a:lstStyle/>
                    <a:p>
                      <a:pPr algn="l"/>
                      <a:r>
                        <a:rPr sz="2060" b="0">
                          <a:solidFill>
                            <a:srgbClr val="767D81"/>
                          </a:solidFill>
                          <a:latin typeface="PingFang SC"/>
                        </a:rPr>
                        <a:t>修订</a:t>
                      </a:r>
                    </a:p>
                  </a:txBody>
                  <a:tcPr marL="28575" marR="28575" marT="0" marB="0" anchor="ctr">
                    <a:solidFill>
                      <a:srgbClr val="FEFEFE"/>
                    </a:solidFill>
                  </a:tcPr>
                </a:tc>
              </a:tr>
            </a:tbl>
          </a:graphicData>
        </a:graphic>
      </p:graphicFrame>
      <p:sp>
        <p:nvSpPr>
          <p:cNvPr id="7" name="TextBox 6"/>
          <p:cNvSpPr txBox="1"/>
          <p:nvPr/>
        </p:nvSpPr>
        <p:spPr>
          <a:xfrm>
            <a:off x="637793" y="388010"/>
            <a:ext cx="3168396" cy="318516"/>
          </a:xfrm>
          <a:prstGeom prst="rect">
            <a:avLst/>
          </a:prstGeom>
          <a:noFill/>
          <a:ln>
            <a:noFill/>
          </a:ln>
        </p:spPr>
        <p:txBody>
          <a:bodyPr wrap="none" lIns="19050" rIns="19050" tIns="0" bIns="0" anchor="ctr">
            <a:noAutofit/>
          </a:bodyPr>
          <a:lstStyle/>
          <a:p>
            <a:pPr algn="l"/>
            <a:r>
              <a:rPr sz="3150" b="1">
                <a:solidFill>
                  <a:srgbClr val="41518C"/>
                </a:solidFill>
                <a:latin typeface="PingFang SC"/>
              </a:rPr>
              <a:t>出院计划</a:t>
            </a:r>
          </a:p>
        </p:txBody>
      </p:sp>
      <p:sp>
        <p:nvSpPr>
          <p:cNvPr id="8" name="TextBox 7"/>
          <p:cNvSpPr txBox="1"/>
          <p:nvPr/>
        </p:nvSpPr>
        <p:spPr>
          <a:xfrm>
            <a:off x="8353044" y="179527"/>
            <a:ext cx="3847337" cy="411175"/>
          </a:xfrm>
          <a:prstGeom prst="rect">
            <a:avLst/>
          </a:prstGeom>
          <a:noFill/>
          <a:ln>
            <a:noFill/>
          </a:ln>
        </p:spPr>
        <p:txBody>
          <a:bodyPr wrap="none" lIns="19050" rIns="19050" tIns="0" bIns="0" anchor="ctr">
            <a:noAutofit/>
          </a:bodyPr>
          <a:lstStyle/>
          <a:p>
            <a:pPr algn="r"/>
            <a:r>
              <a:rPr sz="1800" b="0">
                <a:solidFill>
                  <a:srgbClr val="AEC2A8"/>
                </a:solidFill>
                <a:latin typeface="PingFang SC"/>
              </a:rPr>
              <a:t>Surviving Sepsis Campaign</a:t>
            </a:r>
          </a:p>
        </p:txBody>
      </p:sp>
      <p:sp>
        <p:nvSpPr>
          <p:cNvPr id="9" name="TextBox 8"/>
          <p:cNvSpPr txBox="1"/>
          <p:nvPr/>
        </p:nvSpPr>
        <p:spPr>
          <a:xfrm>
            <a:off x="637793" y="5455310"/>
            <a:ext cx="2489454" cy="127406"/>
          </a:xfrm>
          <a:prstGeom prst="rect">
            <a:avLst/>
          </a:prstGeom>
          <a:noFill/>
          <a:ln>
            <a:noFill/>
          </a:ln>
        </p:spPr>
        <p:txBody>
          <a:bodyPr wrap="none" lIns="19050" rIns="19050" tIns="0" bIns="0" anchor="ctr">
            <a:noAutofit/>
          </a:bodyPr>
          <a:lstStyle/>
          <a:p>
            <a:pPr algn="l"/>
            <a:r>
              <a:rPr sz="1200" b="0">
                <a:solidFill>
                  <a:srgbClr val="D3E7E8"/>
                </a:solidFill>
                <a:latin typeface="PingFang SC"/>
              </a:rPr>
              <a:t>公众号 指南导航</a:t>
            </a:r>
          </a:p>
        </p:txBody>
      </p:sp>
      <p:sp>
        <p:nvSpPr>
          <p:cNvPr id="10" name="TextBox 9"/>
          <p:cNvSpPr txBox="1"/>
          <p:nvPr/>
        </p:nvSpPr>
        <p:spPr>
          <a:xfrm>
            <a:off x="10287000" y="5374233"/>
            <a:ext cx="0" cy="208483"/>
          </a:xfrm>
          <a:prstGeom prst="rect">
            <a:avLst/>
          </a:prstGeom>
          <a:noFill/>
          <a:ln>
            <a:noFill/>
          </a:ln>
        </p:spPr>
        <p:txBody>
          <a:bodyPr wrap="none" lIns="19050" rIns="19050" tIns="0" bIns="0" anchor="ctr">
            <a:noAutofit/>
          </a:bodyPr>
          <a:lstStyle/>
          <a:p>
            <a:pPr algn="r"/>
            <a:r>
              <a:rPr sz="1350" b="0">
                <a:solidFill>
                  <a:srgbClr val="000000"/>
                </a:solidFill>
                <a:latin typeface="PingFang SC"/>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v1u08sck.png"/>
          <p:cNvPicPr>
            <a:picLocks noChangeAspect="1"/>
          </p:cNvPicPr>
          <p:nvPr/>
        </p:nvPicPr>
        <p:blipFill>
          <a:blip r:embed="rId2"/>
          <a:stretch>
            <a:fillRect/>
          </a:stretch>
        </p:blipFill>
        <p:spPr>
          <a:xfrm>
            <a:off x="8315325" y="161925"/>
            <a:ext cx="1790700" cy="438150"/>
          </a:xfrm>
          <a:prstGeom prst="rect">
            <a:avLst/>
          </a:prstGeom>
        </p:spPr>
      </p:pic>
      <p:pic>
        <p:nvPicPr>
          <p:cNvPr id="4" name="Picture 3" descr="tmpya_nepnb.png"/>
          <p:cNvPicPr>
            <a:picLocks noChangeAspect="1"/>
          </p:cNvPicPr>
          <p:nvPr/>
        </p:nvPicPr>
        <p:blipFill>
          <a:blip r:embed="rId3"/>
          <a:stretch>
            <a:fillRect/>
          </a:stretch>
        </p:blipFill>
        <p:spPr>
          <a:xfrm>
            <a:off x="533400" y="4924425"/>
            <a:ext cx="2124075" cy="295275"/>
          </a:xfrm>
          <a:prstGeom prst="rect">
            <a:avLst/>
          </a:prstGeom>
        </p:spPr>
      </p:pic>
      <p:sp>
        <p:nvSpPr>
          <p:cNvPr id="5" name="Rounded Rectangle 4"/>
          <p:cNvSpPr/>
          <p:nvPr/>
        </p:nvSpPr>
        <p:spPr>
          <a:xfrm>
            <a:off x="555498" y="943965"/>
            <a:ext cx="9165716" cy="1934260"/>
          </a:xfrm>
          <a:prstGeom prst="roundRect">
            <a:avLst>
              <a:gd name="adj" fmla="val 6000"/>
            </a:avLst>
          </a:prstGeom>
          <a:solidFill>
            <a:srgbClr val="FDFEFE"/>
          </a:solidFill>
          <a:ln w="11430">
            <a:solidFill>
              <a:srgbClr val="ECF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6646" y="388010"/>
            <a:ext cx="8495538" cy="306933"/>
          </a:xfrm>
          <a:prstGeom prst="rect">
            <a:avLst/>
          </a:prstGeom>
          <a:noFill/>
          <a:ln>
            <a:noFill/>
          </a:ln>
        </p:spPr>
        <p:txBody>
          <a:bodyPr wrap="none" lIns="19050" rIns="19050" tIns="0" bIns="0" anchor="ctr">
            <a:noAutofit/>
          </a:bodyPr>
          <a:lstStyle/>
          <a:p>
            <a:pPr algn="l"/>
            <a:r>
              <a:rPr sz="2700" b="1">
                <a:solidFill>
                  <a:srgbClr val="3E518F"/>
                </a:solidFill>
                <a:latin typeface="PingFang SC"/>
              </a:rPr>
              <a:t>对患者及其家属进行脓毒症相关教育</a:t>
            </a:r>
          </a:p>
        </p:txBody>
      </p:sp>
      <p:sp>
        <p:nvSpPr>
          <p:cNvPr id="7" name="TextBox 6"/>
          <p:cNvSpPr txBox="1"/>
          <p:nvPr/>
        </p:nvSpPr>
        <p:spPr>
          <a:xfrm>
            <a:off x="905255" y="1262481"/>
            <a:ext cx="7962138" cy="388010"/>
          </a:xfrm>
          <a:prstGeom prst="rect">
            <a:avLst/>
          </a:prstGeom>
          <a:noFill/>
          <a:ln>
            <a:noFill/>
          </a:ln>
        </p:spPr>
        <p:txBody>
          <a:bodyPr wrap="square" lIns="19050" rIns="19050" tIns="0" bIns="0" anchor="t">
            <a:normAutofit/>
          </a:bodyPr>
          <a:lstStyle/>
          <a:p>
            <a:pPr algn="l"/>
            <a:r>
              <a:rPr sz="1310" b="0">
                <a:solidFill>
                  <a:srgbClr val="808D91"/>
                </a:solidFill>
                <a:latin typeface="PingFang SC"/>
              </a:rPr>
              <a:t>118.对于脓毒症或脓毒性休克成年幸存者及其家属，临床医生应在书面和口头出院小结中提供有关住院情况、脓毒症及相关诊断、治疗以及脓毒症后常见损伤的信息（良好实践声明）。</a:t>
            </a:r>
          </a:p>
        </p:txBody>
      </p:sp>
      <p:sp>
        <p:nvSpPr>
          <p:cNvPr id="8" name="TextBox 7"/>
          <p:cNvSpPr txBox="1"/>
          <p:nvPr/>
        </p:nvSpPr>
        <p:spPr>
          <a:xfrm>
            <a:off x="905255" y="1864766"/>
            <a:ext cx="7962138" cy="388010"/>
          </a:xfrm>
          <a:prstGeom prst="rect">
            <a:avLst/>
          </a:prstGeom>
          <a:noFill/>
          <a:ln>
            <a:noFill/>
          </a:ln>
        </p:spPr>
        <p:txBody>
          <a:bodyPr wrap="square" lIns="19050" rIns="19050" tIns="0" bIns="0" anchor="t">
            <a:normAutofit/>
          </a:bodyPr>
          <a:lstStyle/>
          <a:p>
            <a:pPr algn="l"/>
            <a:r>
              <a:rPr sz="1340" b="0">
                <a:solidFill>
                  <a:srgbClr val="8B9290"/>
                </a:solidFill>
                <a:latin typeface="PingFang SC"/>
              </a:rPr>
              <a:t>119.对于患有脓毒症和脓毒性休克的成人及其家属，我们“建议”在出院前和随访时提供有关脓毒症的书面和口头教育（包括诊断、治疗、重症监护病房后/脓毒症综合征）。</a:t>
            </a:r>
          </a:p>
        </p:txBody>
      </p:sp>
      <p:sp>
        <p:nvSpPr>
          <p:cNvPr id="9" name="TextBox 8"/>
          <p:cNvSpPr txBox="1"/>
          <p:nvPr/>
        </p:nvSpPr>
        <p:spPr>
          <a:xfrm>
            <a:off x="9134856" y="1262481"/>
            <a:ext cx="724204" cy="138988"/>
          </a:xfrm>
          <a:prstGeom prst="rect">
            <a:avLst/>
          </a:prstGeom>
          <a:noFill/>
          <a:ln>
            <a:noFill/>
          </a:ln>
        </p:spPr>
        <p:txBody>
          <a:bodyPr wrap="none" lIns="19050" rIns="19050" tIns="0" bIns="0" anchor="ctr">
            <a:noAutofit/>
          </a:bodyPr>
          <a:lstStyle/>
          <a:p>
            <a:pPr algn="r"/>
            <a:r>
              <a:rPr sz="1200" b="0">
                <a:solidFill>
                  <a:srgbClr val="8AAE7A"/>
                </a:solidFill>
                <a:latin typeface="PingFang SC"/>
              </a:rPr>
              <a:t>沿用</a:t>
            </a:r>
          </a:p>
        </p:txBody>
      </p:sp>
      <p:sp>
        <p:nvSpPr>
          <p:cNvPr id="10" name="TextBox 9"/>
          <p:cNvSpPr txBox="1"/>
          <p:nvPr/>
        </p:nvSpPr>
        <p:spPr>
          <a:xfrm>
            <a:off x="9134856" y="1864766"/>
            <a:ext cx="724204" cy="138988"/>
          </a:xfrm>
          <a:prstGeom prst="rect">
            <a:avLst/>
          </a:prstGeom>
          <a:noFill/>
          <a:ln>
            <a:noFill/>
          </a:ln>
        </p:spPr>
        <p:txBody>
          <a:bodyPr wrap="none" lIns="19050" rIns="19050" tIns="0" bIns="0" anchor="ctr">
            <a:noAutofit/>
          </a:bodyPr>
          <a:lstStyle/>
          <a:p>
            <a:pPr algn="r"/>
            <a:r>
              <a:rPr sz="1200" b="0">
                <a:solidFill>
                  <a:srgbClr val="96B885"/>
                </a:solidFill>
                <a:latin typeface="PingFang SC"/>
              </a:rPr>
              <a:t>沿用</a:t>
            </a:r>
          </a:p>
        </p:txBody>
      </p:sp>
      <p:sp>
        <p:nvSpPr>
          <p:cNvPr id="11" name="TextBox 10"/>
          <p:cNvSpPr txBox="1"/>
          <p:nvPr/>
        </p:nvSpPr>
        <p:spPr>
          <a:xfrm>
            <a:off x="596646" y="5455310"/>
            <a:ext cx="2036826" cy="115823"/>
          </a:xfrm>
          <a:prstGeom prst="rect">
            <a:avLst/>
          </a:prstGeom>
          <a:noFill/>
          <a:ln>
            <a:noFill/>
          </a:ln>
        </p:spPr>
        <p:txBody>
          <a:bodyPr wrap="none" lIns="19050" rIns="19050" tIns="0" bIns="0" anchor="ctr">
            <a:noAutofit/>
          </a:bodyPr>
          <a:lstStyle/>
          <a:p>
            <a:pPr algn="l"/>
            <a:r>
              <a:rPr sz="1050" b="0">
                <a:solidFill>
                  <a:srgbClr val="CBE1E3"/>
                </a:solidFill>
                <a:latin typeface="PingFang SC"/>
              </a:rPr>
              <a:t>公众号·指南导航</a:t>
            </a:r>
          </a:p>
        </p:txBody>
      </p:sp>
      <p:sp>
        <p:nvSpPr>
          <p:cNvPr id="12" name="TextBox 11"/>
          <p:cNvSpPr txBox="1"/>
          <p:nvPr/>
        </p:nvSpPr>
        <p:spPr>
          <a:xfrm>
            <a:off x="10287000" y="5339486"/>
            <a:ext cx="0" cy="231647"/>
          </a:xfrm>
          <a:prstGeom prst="rect">
            <a:avLst/>
          </a:prstGeom>
          <a:noFill/>
          <a:ln>
            <a:noFill/>
          </a:ln>
        </p:spPr>
        <p:txBody>
          <a:bodyPr wrap="none" lIns="19050" rIns="19050" tIns="0" bIns="0" anchor="ctr">
            <a:noAutofit/>
          </a:bodyPr>
          <a:lstStyle/>
          <a:p>
            <a:pPr algn="r"/>
            <a:r>
              <a:rPr sz="1350" b="0">
                <a:solidFill>
                  <a:srgbClr val="000000"/>
                </a:solidFill>
                <a:latin typeface="PingFang SC"/>
              </a:rPr>
              <a:t>70</a:t>
            </a:r>
          </a:p>
        </p:txBody>
      </p:sp>
      <p:pic>
        <p:nvPicPr>
          <p:cNvPr id="13" name="Picture 12" descr="tmpm0ayo_8o.png"/>
          <p:cNvPicPr>
            <a:picLocks noChangeAspect="1"/>
          </p:cNvPicPr>
          <p:nvPr/>
        </p:nvPicPr>
        <p:blipFill>
          <a:blip r:embed="rId4"/>
          <a:stretch>
            <a:fillRect/>
          </a:stretch>
        </p:blipFill>
        <p:spPr>
          <a:xfrm>
            <a:off x="1190625" y="2476500"/>
            <a:ext cx="228600" cy="200025"/>
          </a:xfrm>
          <a:prstGeom prst="rect">
            <a:avLst/>
          </a:prstGeom>
        </p:spPr>
      </p:pic>
      <p:pic>
        <p:nvPicPr>
          <p:cNvPr id="14" name="Picture 13" descr="tmpoy3cs3uw.png"/>
          <p:cNvPicPr>
            <a:picLocks noChangeAspect="1"/>
          </p:cNvPicPr>
          <p:nvPr/>
        </p:nvPicPr>
        <p:blipFill>
          <a:blip r:embed="rId5"/>
          <a:stretch>
            <a:fillRect/>
          </a:stretch>
        </p:blipFill>
        <p:spPr>
          <a:xfrm>
            <a:off x="1524000" y="2476500"/>
            <a:ext cx="228600" cy="200025"/>
          </a:xfrm>
          <a:prstGeom prst="rect">
            <a:avLst/>
          </a:prstGeom>
        </p:spPr>
      </p:pic>
      <p:pic>
        <p:nvPicPr>
          <p:cNvPr id="15" name="Picture 14" descr="tmp1ltqqxo4.png"/>
          <p:cNvPicPr>
            <a:picLocks noChangeAspect="1"/>
          </p:cNvPicPr>
          <p:nvPr/>
        </p:nvPicPr>
        <p:blipFill>
          <a:blip r:embed="rId6"/>
          <a:stretch>
            <a:fillRect/>
          </a:stretch>
        </p:blipFill>
        <p:spPr>
          <a:xfrm>
            <a:off x="1828800" y="2476500"/>
            <a:ext cx="228600" cy="200025"/>
          </a:xfrm>
          <a:prstGeom prst="rect">
            <a:avLst/>
          </a:prstGeom>
        </p:spPr>
      </p:pic>
      <p:pic>
        <p:nvPicPr>
          <p:cNvPr id="16" name="Picture 15" descr="tmpjik1p2f3.png"/>
          <p:cNvPicPr>
            <a:picLocks noChangeAspect="1"/>
          </p:cNvPicPr>
          <p:nvPr/>
        </p:nvPicPr>
        <p:blipFill>
          <a:blip r:embed="rId7"/>
          <a:stretch>
            <a:fillRect/>
          </a:stretch>
        </p:blipFill>
        <p:spPr>
          <a:xfrm>
            <a:off x="2143125" y="2476500"/>
            <a:ext cx="219075" cy="200025"/>
          </a:xfrm>
          <a:prstGeom prst="rect">
            <a:avLst/>
          </a:prstGeom>
        </p:spPr>
      </p:pic>
      <p:pic>
        <p:nvPicPr>
          <p:cNvPr id="17" name="Picture 16" descr="tmpi7v02s09.png"/>
          <p:cNvPicPr>
            <a:picLocks noChangeAspect="1"/>
          </p:cNvPicPr>
          <p:nvPr/>
        </p:nvPicPr>
        <p:blipFill>
          <a:blip r:embed="rId8"/>
          <a:stretch>
            <a:fillRect/>
          </a:stretch>
        </p:blipFill>
        <p:spPr>
          <a:xfrm>
            <a:off x="2447925" y="2476500"/>
            <a:ext cx="228600" cy="200025"/>
          </a:xfrm>
          <a:prstGeom prst="rect">
            <a:avLst/>
          </a:prstGeom>
        </p:spPr>
      </p:pic>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2x4humip.png"/>
          <p:cNvPicPr>
            <a:picLocks noChangeAspect="1"/>
          </p:cNvPicPr>
          <p:nvPr/>
        </p:nvPicPr>
        <p:blipFill>
          <a:blip r:embed="rId2"/>
          <a:stretch>
            <a:fillRect/>
          </a:stretch>
        </p:blipFill>
        <p:spPr>
          <a:xfrm>
            <a:off x="552450" y="4933950"/>
            <a:ext cx="2247900" cy="285750"/>
          </a:xfrm>
          <a:prstGeom prst="rect">
            <a:avLst/>
          </a:prstGeom>
        </p:spPr>
      </p:pic>
      <p:pic>
        <p:nvPicPr>
          <p:cNvPr id="4" name="Picture 3" descr="tmpz34pjpu7.png"/>
          <p:cNvPicPr>
            <a:picLocks noChangeAspect="1"/>
          </p:cNvPicPr>
          <p:nvPr/>
        </p:nvPicPr>
        <p:blipFill>
          <a:blip r:embed="rId3"/>
          <a:stretch>
            <a:fillRect/>
          </a:stretch>
        </p:blipFill>
        <p:spPr>
          <a:xfrm>
            <a:off x="2905125" y="4933950"/>
            <a:ext cx="609600" cy="228600"/>
          </a:xfrm>
          <a:prstGeom prst="rect">
            <a:avLst/>
          </a:prstGeom>
        </p:spPr>
      </p:pic>
      <p:pic>
        <p:nvPicPr>
          <p:cNvPr id="5" name="Picture 4" descr="tmpdtd87y4_.png"/>
          <p:cNvPicPr>
            <a:picLocks noChangeAspect="1"/>
          </p:cNvPicPr>
          <p:nvPr/>
        </p:nvPicPr>
        <p:blipFill>
          <a:blip r:embed="rId4"/>
          <a:stretch>
            <a:fillRect/>
          </a:stretch>
        </p:blipFill>
        <p:spPr>
          <a:xfrm>
            <a:off x="3619500" y="4933950"/>
            <a:ext cx="619125" cy="228600"/>
          </a:xfrm>
          <a:prstGeom prst="rect">
            <a:avLst/>
          </a:prstGeom>
        </p:spPr>
      </p:pic>
      <p:sp>
        <p:nvSpPr>
          <p:cNvPr id="6" name="Rounded Rectangle 5"/>
          <p:cNvSpPr/>
          <p:nvPr/>
        </p:nvSpPr>
        <p:spPr>
          <a:xfrm>
            <a:off x="555498" y="967130"/>
            <a:ext cx="9134855" cy="1395679"/>
          </a:xfrm>
          <a:prstGeom prst="roundRect">
            <a:avLst>
              <a:gd name="adj" fmla="val 6000"/>
            </a:avLst>
          </a:prstGeom>
          <a:solidFill>
            <a:srgbClr val="FDFEFD"/>
          </a:solidFill>
          <a:ln w="11430">
            <a:solidFill>
              <a:srgbClr val="46739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55498" y="3115665"/>
            <a:ext cx="9134855" cy="1082954"/>
          </a:xfrm>
          <a:prstGeom prst="roundRect">
            <a:avLst>
              <a:gd name="adj" fmla="val 6000"/>
            </a:avLst>
          </a:prstGeom>
          <a:solidFill>
            <a:srgbClr val="FDFEFD"/>
          </a:solidFill>
          <a:ln w="11430">
            <a:solidFill>
              <a:srgbClr val="ECF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5498" y="445922"/>
            <a:ext cx="9256775" cy="289560"/>
          </a:xfrm>
          <a:prstGeom prst="rect">
            <a:avLst/>
          </a:prstGeom>
          <a:noFill/>
          <a:ln>
            <a:noFill/>
          </a:ln>
        </p:spPr>
        <p:txBody>
          <a:bodyPr wrap="none" lIns="19050" rIns="19050" tIns="0" bIns="0" anchor="ctr">
            <a:noAutofit/>
          </a:bodyPr>
          <a:lstStyle/>
          <a:p>
            <a:pPr algn="l"/>
            <a:r>
              <a:rPr sz="2400" b="1">
                <a:solidFill>
                  <a:srgbClr val="5583AB"/>
                </a:solidFill>
                <a:latin typeface="PingFang SC"/>
              </a:rPr>
              <a:t>&gt;&gt; 对基层医生（PCPs）进行脓毒症相关教育</a:t>
            </a:r>
          </a:p>
        </p:txBody>
      </p:sp>
      <p:sp>
        <p:nvSpPr>
          <p:cNvPr id="9" name="TextBox 8"/>
          <p:cNvSpPr txBox="1"/>
          <p:nvPr/>
        </p:nvSpPr>
        <p:spPr>
          <a:xfrm>
            <a:off x="966978" y="1256690"/>
            <a:ext cx="8209026" cy="376427"/>
          </a:xfrm>
          <a:prstGeom prst="rect">
            <a:avLst/>
          </a:prstGeom>
          <a:noFill/>
          <a:ln>
            <a:noFill/>
          </a:ln>
        </p:spPr>
        <p:txBody>
          <a:bodyPr wrap="square" lIns="19050" rIns="19050" tIns="0" bIns="0" anchor="t">
            <a:normAutofit/>
          </a:bodyPr>
          <a:lstStyle/>
          <a:p>
            <a:pPr algn="l"/>
            <a:r>
              <a:rPr sz="1480" b="0">
                <a:solidFill>
                  <a:srgbClr val="7D898D"/>
                </a:solidFill>
                <a:latin typeface="PingFang SC"/>
              </a:rPr>
              <a:t>120.卫生系统应实施相关策略，以确保临床医生具备知识和能力，在患者出院后的康复期为脓毒症幸存者及其家属提供支持（良好实践声明）。</a:t>
            </a:r>
          </a:p>
        </p:txBody>
      </p:sp>
      <p:sp>
        <p:nvSpPr>
          <p:cNvPr id="10" name="TextBox 9"/>
          <p:cNvSpPr txBox="1"/>
          <p:nvPr/>
        </p:nvSpPr>
        <p:spPr>
          <a:xfrm>
            <a:off x="966978" y="1662074"/>
            <a:ext cx="8209026" cy="347472"/>
          </a:xfrm>
          <a:prstGeom prst="rect">
            <a:avLst/>
          </a:prstGeom>
          <a:noFill/>
          <a:ln>
            <a:noFill/>
          </a:ln>
        </p:spPr>
        <p:txBody>
          <a:bodyPr wrap="square" lIns="19050" rIns="19050" tIns="0" bIns="0" anchor="t">
            <a:normAutofit/>
          </a:bodyPr>
          <a:lstStyle/>
          <a:p>
            <a:pPr algn="l"/>
            <a:r>
              <a:rPr sz="1500" b="0">
                <a:solidFill>
                  <a:srgbClr val="798A8E"/>
                </a:solidFill>
                <a:latin typeface="PingFang SC"/>
              </a:rPr>
              <a:t>121.与常规护理相比，目前“证据不足”，无法就向初级护理提供者提供脓毒症相关教育材料提出推荐建议。</a:t>
            </a:r>
          </a:p>
        </p:txBody>
      </p:sp>
      <p:sp>
        <p:nvSpPr>
          <p:cNvPr id="11" name="TextBox 10"/>
          <p:cNvSpPr txBox="1"/>
          <p:nvPr/>
        </p:nvSpPr>
        <p:spPr>
          <a:xfrm>
            <a:off x="9237726" y="1256690"/>
            <a:ext cx="769467" cy="202692"/>
          </a:xfrm>
          <a:prstGeom prst="rect">
            <a:avLst/>
          </a:prstGeom>
          <a:noFill/>
          <a:ln>
            <a:noFill/>
          </a:ln>
        </p:spPr>
        <p:txBody>
          <a:bodyPr wrap="none" lIns="19050" rIns="19050" tIns="0" bIns="0" anchor="ctr">
            <a:noAutofit/>
          </a:bodyPr>
          <a:lstStyle/>
          <a:p>
            <a:pPr algn="r"/>
            <a:r>
              <a:rPr sz="1350" b="1">
                <a:solidFill>
                  <a:srgbClr val="7CA3B9"/>
                </a:solidFill>
                <a:latin typeface="PingFang SC"/>
              </a:rPr>
              <a:t>新增</a:t>
            </a:r>
          </a:p>
        </p:txBody>
      </p:sp>
      <p:sp>
        <p:nvSpPr>
          <p:cNvPr id="12" name="TextBox 11"/>
          <p:cNvSpPr txBox="1"/>
          <p:nvPr/>
        </p:nvSpPr>
        <p:spPr>
          <a:xfrm>
            <a:off x="9237726" y="1662074"/>
            <a:ext cx="769467" cy="202692"/>
          </a:xfrm>
          <a:prstGeom prst="rect">
            <a:avLst/>
          </a:prstGeom>
          <a:noFill/>
          <a:ln>
            <a:noFill/>
          </a:ln>
        </p:spPr>
        <p:txBody>
          <a:bodyPr wrap="none" lIns="19050" rIns="19050" tIns="0" bIns="0" anchor="ctr">
            <a:noAutofit/>
          </a:bodyPr>
          <a:lstStyle/>
          <a:p>
            <a:pPr algn="r"/>
            <a:r>
              <a:rPr sz="1350" b="1">
                <a:solidFill>
                  <a:srgbClr val="719C82"/>
                </a:solidFill>
                <a:latin typeface="PingFang SC"/>
              </a:rPr>
              <a:t>新增</a:t>
            </a:r>
          </a:p>
        </p:txBody>
      </p:sp>
      <p:sp>
        <p:nvSpPr>
          <p:cNvPr id="13" name="TextBox 12"/>
          <p:cNvSpPr txBox="1"/>
          <p:nvPr/>
        </p:nvSpPr>
        <p:spPr>
          <a:xfrm>
            <a:off x="555498" y="2617622"/>
            <a:ext cx="6065215" cy="260603"/>
          </a:xfrm>
          <a:prstGeom prst="rect">
            <a:avLst/>
          </a:prstGeom>
          <a:noFill/>
          <a:ln>
            <a:noFill/>
          </a:ln>
        </p:spPr>
        <p:txBody>
          <a:bodyPr wrap="none" lIns="19050" rIns="19050" tIns="0" bIns="0" anchor="ctr">
            <a:noAutofit/>
          </a:bodyPr>
          <a:lstStyle/>
          <a:p>
            <a:pPr algn="l"/>
            <a:r>
              <a:rPr sz="2400" b="1">
                <a:solidFill>
                  <a:srgbClr val="5286AC"/>
                </a:solidFill>
                <a:latin typeface="PingFang SC"/>
              </a:rPr>
              <a:t>&gt;&gt; 出院后护理协调</a:t>
            </a:r>
          </a:p>
        </p:txBody>
      </p:sp>
      <p:sp>
        <p:nvSpPr>
          <p:cNvPr id="14" name="TextBox 13"/>
          <p:cNvSpPr txBox="1"/>
          <p:nvPr/>
        </p:nvSpPr>
        <p:spPr>
          <a:xfrm>
            <a:off x="966978" y="3405225"/>
            <a:ext cx="8209026" cy="370636"/>
          </a:xfrm>
          <a:prstGeom prst="rect">
            <a:avLst/>
          </a:prstGeom>
          <a:noFill/>
          <a:ln>
            <a:noFill/>
          </a:ln>
        </p:spPr>
        <p:txBody>
          <a:bodyPr wrap="square" lIns="19050" rIns="19050" tIns="0" bIns="0" anchor="t">
            <a:normAutofit/>
          </a:bodyPr>
          <a:lstStyle/>
          <a:p>
            <a:pPr algn="l"/>
            <a:r>
              <a:rPr sz="1500" b="0">
                <a:solidFill>
                  <a:srgbClr val="7E868A"/>
                </a:solidFill>
                <a:latin typeface="PingFang SC"/>
              </a:rPr>
              <a:t>122.卫生系统应实施相关策略，以在患者出院后的康复阶段为脓毒症幸存者及其家属提供支持（良好实践声明）。</a:t>
            </a:r>
          </a:p>
        </p:txBody>
      </p:sp>
      <p:sp>
        <p:nvSpPr>
          <p:cNvPr id="15" name="TextBox 14"/>
          <p:cNvSpPr txBox="1"/>
          <p:nvPr/>
        </p:nvSpPr>
        <p:spPr>
          <a:xfrm>
            <a:off x="966978" y="3804818"/>
            <a:ext cx="8209026" cy="347471"/>
          </a:xfrm>
          <a:prstGeom prst="rect">
            <a:avLst/>
          </a:prstGeom>
          <a:noFill/>
          <a:ln>
            <a:noFill/>
          </a:ln>
        </p:spPr>
        <p:txBody>
          <a:bodyPr wrap="square" lIns="19050" rIns="19050" tIns="0" bIns="0" anchor="t">
            <a:normAutofit/>
          </a:bodyPr>
          <a:lstStyle/>
          <a:p>
            <a:pPr algn="l"/>
            <a:r>
              <a:rPr sz="1500" b="0">
                <a:solidFill>
                  <a:srgbClr val="A5BC7E"/>
                </a:solidFill>
                <a:latin typeface="PingFang SC"/>
              </a:rPr>
              <a:t>123.对于出院早期随访与常规出院随访，尚无“足够证据”给出推荐建议。</a:t>
            </a:r>
          </a:p>
        </p:txBody>
      </p:sp>
      <p:sp>
        <p:nvSpPr>
          <p:cNvPr id="16" name="TextBox 15"/>
          <p:cNvSpPr txBox="1"/>
          <p:nvPr/>
        </p:nvSpPr>
        <p:spPr>
          <a:xfrm>
            <a:off x="9237726" y="3405225"/>
            <a:ext cx="769467" cy="196900"/>
          </a:xfrm>
          <a:prstGeom prst="rect">
            <a:avLst/>
          </a:prstGeom>
          <a:noFill/>
          <a:ln>
            <a:noFill/>
          </a:ln>
        </p:spPr>
        <p:txBody>
          <a:bodyPr wrap="none" lIns="19050" rIns="19050" tIns="0" bIns="0" anchor="ctr">
            <a:noAutofit/>
          </a:bodyPr>
          <a:lstStyle/>
          <a:p>
            <a:pPr algn="r"/>
            <a:r>
              <a:rPr sz="1350" b="1">
                <a:solidFill>
                  <a:srgbClr val="7FA5BC"/>
                </a:solidFill>
                <a:latin typeface="PingFang SC"/>
              </a:rPr>
              <a:t>新增</a:t>
            </a:r>
          </a:p>
        </p:txBody>
      </p:sp>
      <p:sp>
        <p:nvSpPr>
          <p:cNvPr id="17" name="TextBox 16"/>
          <p:cNvSpPr txBox="1"/>
          <p:nvPr/>
        </p:nvSpPr>
        <p:spPr>
          <a:xfrm>
            <a:off x="9237726" y="3804818"/>
            <a:ext cx="769467" cy="202691"/>
          </a:xfrm>
          <a:prstGeom prst="rect">
            <a:avLst/>
          </a:prstGeom>
          <a:noFill/>
          <a:ln>
            <a:noFill/>
          </a:ln>
        </p:spPr>
        <p:txBody>
          <a:bodyPr wrap="none" lIns="19050" rIns="19050" tIns="0" bIns="0" anchor="ctr">
            <a:noAutofit/>
          </a:bodyPr>
          <a:lstStyle/>
          <a:p>
            <a:pPr algn="r"/>
            <a:r>
              <a:rPr sz="1350" b="1">
                <a:solidFill>
                  <a:srgbClr val="7E9F7B"/>
                </a:solidFill>
                <a:latin typeface="PingFang SC"/>
              </a:rPr>
              <a:t>修订</a:t>
            </a:r>
          </a:p>
        </p:txBody>
      </p:sp>
      <p:sp>
        <p:nvSpPr>
          <p:cNvPr id="18" name="TextBox 17"/>
          <p:cNvSpPr txBox="1"/>
          <p:nvPr/>
        </p:nvSpPr>
        <p:spPr>
          <a:xfrm>
            <a:off x="555498" y="5455310"/>
            <a:ext cx="2670505" cy="144780"/>
          </a:xfrm>
          <a:prstGeom prst="rect">
            <a:avLst/>
          </a:prstGeom>
          <a:noFill/>
          <a:ln>
            <a:noFill/>
          </a:ln>
        </p:spPr>
        <p:txBody>
          <a:bodyPr wrap="none" lIns="19050" rIns="19050" tIns="0" bIns="0" anchor="ctr">
            <a:noAutofit/>
          </a:bodyPr>
          <a:lstStyle/>
          <a:p>
            <a:pPr algn="l"/>
            <a:r>
              <a:rPr sz="1200" b="0">
                <a:solidFill>
                  <a:srgbClr val="D3E7E8"/>
                </a:solidFill>
                <a:latin typeface="PingFang SC"/>
              </a:rPr>
              <a:t>公众号·指南导航</a:t>
            </a:r>
          </a:p>
        </p:txBody>
      </p:sp>
      <p:sp>
        <p:nvSpPr>
          <p:cNvPr id="19" name="TextBox 18"/>
          <p:cNvSpPr txBox="1"/>
          <p:nvPr/>
        </p:nvSpPr>
        <p:spPr>
          <a:xfrm>
            <a:off x="10287000" y="5339486"/>
            <a:ext cx="0" cy="202691"/>
          </a:xfrm>
          <a:prstGeom prst="rect">
            <a:avLst/>
          </a:prstGeom>
          <a:noFill/>
          <a:ln>
            <a:noFill/>
          </a:ln>
        </p:spPr>
        <p:txBody>
          <a:bodyPr wrap="none" lIns="19050" rIns="19050" tIns="0" bIns="0" anchor="ctr">
            <a:noAutofit/>
          </a:bodyPr>
          <a:lstStyle/>
          <a:p>
            <a:pPr algn="r"/>
            <a:r>
              <a:rPr sz="1500" b="1">
                <a:solidFill>
                  <a:srgbClr val="000000"/>
                </a:solidFill>
                <a:latin typeface="PingFang SC"/>
              </a:rPr>
              <a:t>71</a:t>
            </a:r>
          </a:p>
        </p:txBody>
      </p:sp>
      <p:sp>
        <p:nvSpPr>
          <p:cNvPr id="20" name="TextBox 19"/>
          <p:cNvSpPr txBox="1"/>
          <p:nvPr/>
        </p:nvSpPr>
        <p:spPr>
          <a:xfrm>
            <a:off x="8353044" y="185318"/>
            <a:ext cx="3847337" cy="434339"/>
          </a:xfrm>
          <a:prstGeom prst="rect">
            <a:avLst/>
          </a:prstGeom>
          <a:noFill/>
          <a:ln>
            <a:noFill/>
          </a:ln>
        </p:spPr>
        <p:txBody>
          <a:bodyPr wrap="none" lIns="19050" rIns="19050" tIns="0" bIns="0" anchor="ctr">
            <a:noAutofit/>
          </a:bodyPr>
          <a:lstStyle/>
          <a:p>
            <a:pPr algn="r"/>
            <a:r>
              <a:rPr sz="1800" b="0">
                <a:solidFill>
                  <a:srgbClr val="AFC3A9"/>
                </a:solidFill>
                <a:latin typeface="PingFang SC"/>
              </a:rPr>
              <a:t>Surviving Sepsis Campaign</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b5w3q9d0.png"/>
          <p:cNvPicPr>
            <a:picLocks noChangeAspect="1"/>
          </p:cNvPicPr>
          <p:nvPr/>
        </p:nvPicPr>
        <p:blipFill>
          <a:blip r:embed="rId2"/>
          <a:stretch>
            <a:fillRect/>
          </a:stretch>
        </p:blipFill>
        <p:spPr>
          <a:xfrm>
            <a:off x="533400" y="4933950"/>
            <a:ext cx="1095375" cy="314325"/>
          </a:xfrm>
          <a:prstGeom prst="rect">
            <a:avLst/>
          </a:prstGeom>
        </p:spPr>
      </p:pic>
      <p:pic>
        <p:nvPicPr>
          <p:cNvPr id="4" name="Picture 3" descr="tmpughhyluv.png"/>
          <p:cNvPicPr>
            <a:picLocks noChangeAspect="1"/>
          </p:cNvPicPr>
          <p:nvPr/>
        </p:nvPicPr>
        <p:blipFill>
          <a:blip r:embed="rId3"/>
          <a:stretch>
            <a:fillRect/>
          </a:stretch>
        </p:blipFill>
        <p:spPr>
          <a:xfrm>
            <a:off x="1666875" y="4933950"/>
            <a:ext cx="981075" cy="314325"/>
          </a:xfrm>
          <a:prstGeom prst="rect">
            <a:avLst/>
          </a:prstGeom>
        </p:spPr>
      </p:pic>
      <p:sp>
        <p:nvSpPr>
          <p:cNvPr id="5" name="Rectangle 4"/>
          <p:cNvSpPr/>
          <p:nvPr/>
        </p:nvSpPr>
        <p:spPr>
          <a:xfrm>
            <a:off x="3909060" y="1772107"/>
            <a:ext cx="1717929" cy="57912"/>
          </a:xfrm>
          <a:prstGeom prst="rect">
            <a:avLst/>
          </a:prstGeom>
          <a:solidFill>
            <a:srgbClr val="9AC9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41823" y="3932224"/>
            <a:ext cx="1615059" cy="57911"/>
          </a:xfrm>
          <a:prstGeom prst="rect">
            <a:avLst/>
          </a:prstGeom>
          <a:solidFill>
            <a:srgbClr val="95CD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944243" y="2443886"/>
            <a:ext cx="2896819" cy="799185"/>
          </a:xfrm>
          <a:prstGeom prst="rect">
            <a:avLst/>
          </a:prstGeom>
          <a:noFill/>
          <a:ln>
            <a:noFill/>
          </a:ln>
        </p:spPr>
        <p:txBody>
          <a:bodyPr wrap="none" lIns="19050" rIns="19050" tIns="0" bIns="0" anchor="ctr">
            <a:noAutofit/>
          </a:bodyPr>
          <a:lstStyle/>
          <a:p>
            <a:pPr algn="ctr"/>
            <a:r>
              <a:rPr sz="8100" b="1">
                <a:solidFill>
                  <a:srgbClr val="139FD4"/>
                </a:solidFill>
                <a:latin typeface="PingFang SC"/>
              </a:rPr>
              <a:t>09</a:t>
            </a:r>
          </a:p>
        </p:txBody>
      </p:sp>
      <p:sp>
        <p:nvSpPr>
          <p:cNvPr id="8" name="TextBox 7"/>
          <p:cNvSpPr txBox="1"/>
          <p:nvPr/>
        </p:nvSpPr>
        <p:spPr>
          <a:xfrm>
            <a:off x="3950208" y="2443886"/>
            <a:ext cx="7425690" cy="833932"/>
          </a:xfrm>
          <a:prstGeom prst="rect">
            <a:avLst/>
          </a:prstGeom>
          <a:noFill/>
          <a:ln>
            <a:noFill/>
          </a:ln>
        </p:spPr>
        <p:txBody>
          <a:bodyPr wrap="none" lIns="19050" rIns="19050" tIns="0" bIns="0" anchor="ctr">
            <a:noAutofit/>
          </a:bodyPr>
          <a:lstStyle/>
          <a:p>
            <a:pPr algn="l"/>
            <a:r>
              <a:rPr sz="4200" b="1">
                <a:solidFill>
                  <a:srgbClr val="374654"/>
                </a:solidFill>
                <a:latin typeface="PingFang SC"/>
              </a:rPr>
              <a:t>长期结局与康复</a:t>
            </a:r>
          </a:p>
          <a:p>
            <a:pPr algn="l"/>
            <a:r>
              <a:rPr sz="4200" b="1">
                <a:solidFill>
                  <a:srgbClr val="374654"/>
                </a:solidFill>
                <a:latin typeface="PingFang SC"/>
              </a:rPr>
              <a:t>Long-term outcomes and recovery</a:t>
            </a:r>
          </a:p>
        </p:txBody>
      </p:sp>
      <p:sp>
        <p:nvSpPr>
          <p:cNvPr id="9" name="TextBox 8"/>
          <p:cNvSpPr txBox="1"/>
          <p:nvPr/>
        </p:nvSpPr>
        <p:spPr>
          <a:xfrm>
            <a:off x="8322183" y="162153"/>
            <a:ext cx="3915232" cy="440131"/>
          </a:xfrm>
          <a:prstGeom prst="rect">
            <a:avLst/>
          </a:prstGeom>
          <a:noFill/>
          <a:ln>
            <a:noFill/>
          </a:ln>
        </p:spPr>
        <p:txBody>
          <a:bodyPr wrap="none" lIns="19050" rIns="19050" tIns="0" bIns="0" anchor="ctr">
            <a:noAutofit/>
          </a:bodyPr>
          <a:lstStyle/>
          <a:p>
            <a:pPr algn="r"/>
            <a:r>
              <a:rPr sz="1800" b="0">
                <a:solidFill>
                  <a:srgbClr val="AFC4A9"/>
                </a:solidFill>
                <a:latin typeface="PingFang SC"/>
              </a:rPr>
              <a:t>Surviving Sepsis Campaign</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yxuamced.png"/>
          <p:cNvPicPr>
            <a:picLocks noChangeAspect="1"/>
          </p:cNvPicPr>
          <p:nvPr/>
        </p:nvPicPr>
        <p:blipFill>
          <a:blip r:embed="rId2"/>
          <a:stretch>
            <a:fillRect/>
          </a:stretch>
        </p:blipFill>
        <p:spPr>
          <a:xfrm>
            <a:off x="1790700" y="5048250"/>
            <a:ext cx="923925" cy="95250"/>
          </a:xfrm>
          <a:prstGeom prst="rect">
            <a:avLst/>
          </a:prstGeom>
        </p:spPr>
      </p:pic>
      <p:pic>
        <p:nvPicPr>
          <p:cNvPr id="4" name="Picture 3" descr="tmp88j05b7p.png"/>
          <p:cNvPicPr>
            <a:picLocks noChangeAspect="1"/>
          </p:cNvPicPr>
          <p:nvPr/>
        </p:nvPicPr>
        <p:blipFill>
          <a:blip r:embed="rId3"/>
          <a:stretch>
            <a:fillRect/>
          </a:stretch>
        </p:blipFill>
        <p:spPr>
          <a:xfrm>
            <a:off x="2819400" y="5048250"/>
            <a:ext cx="723900" cy="95250"/>
          </a:xfrm>
          <a:prstGeom prst="rect">
            <a:avLst/>
          </a:prstGeom>
        </p:spPr>
      </p:pic>
      <p:sp>
        <p:nvSpPr>
          <p:cNvPr id="5" name="Rounded Rectangle 4"/>
          <p:cNvSpPr/>
          <p:nvPr/>
        </p:nvSpPr>
        <p:spPr>
          <a:xfrm>
            <a:off x="555498" y="967130"/>
            <a:ext cx="9196577" cy="1465173"/>
          </a:xfrm>
          <a:prstGeom prst="roundRect">
            <a:avLst>
              <a:gd name="adj" fmla="val 6000"/>
            </a:avLst>
          </a:prstGeom>
          <a:solidFill>
            <a:srgbClr val="FDFEFE"/>
          </a:solidFill>
          <a:ln w="11430">
            <a:solidFill>
              <a:srgbClr val="1055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5498" y="2530754"/>
            <a:ext cx="9196577" cy="781811"/>
          </a:xfrm>
          <a:prstGeom prst="rect">
            <a:avLst/>
          </a:prstGeom>
          <a:solidFill>
            <a:srgbClr val="EDF6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55498" y="3416807"/>
            <a:ext cx="9196577" cy="1633118"/>
          </a:xfrm>
          <a:prstGeom prst="rect">
            <a:avLst/>
          </a:prstGeom>
          <a:solidFill>
            <a:srgbClr val="F1FEFE"/>
          </a:solidFill>
          <a:ln w="11430">
            <a:solidFill>
              <a:srgbClr val="F1F4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5498" y="388010"/>
            <a:ext cx="5454167" cy="318516"/>
          </a:xfrm>
          <a:prstGeom prst="rect">
            <a:avLst/>
          </a:prstGeom>
          <a:noFill/>
          <a:ln>
            <a:noFill/>
          </a:ln>
        </p:spPr>
        <p:txBody>
          <a:bodyPr wrap="none" lIns="19050" rIns="19050" tIns="0" bIns="0" anchor="ctr">
            <a:noAutofit/>
          </a:bodyPr>
          <a:lstStyle/>
          <a:p>
            <a:pPr algn="l"/>
            <a:r>
              <a:rPr sz="2700" b="1">
                <a:solidFill>
                  <a:srgbClr val="3F508D"/>
                </a:solidFill>
                <a:latin typeface="PingFang SC"/>
              </a:rPr>
              <a:t>出院后评估与管理</a:t>
            </a:r>
          </a:p>
        </p:txBody>
      </p:sp>
      <p:sp>
        <p:nvSpPr>
          <p:cNvPr id="9" name="TextBox 8"/>
          <p:cNvSpPr txBox="1"/>
          <p:nvPr/>
        </p:nvSpPr>
        <p:spPr>
          <a:xfrm>
            <a:off x="8322183" y="185318"/>
            <a:ext cx="3847337" cy="416966"/>
          </a:xfrm>
          <a:prstGeom prst="rect">
            <a:avLst/>
          </a:prstGeom>
          <a:noFill/>
          <a:ln>
            <a:noFill/>
          </a:ln>
        </p:spPr>
        <p:txBody>
          <a:bodyPr wrap="none" lIns="19050" rIns="19050" tIns="0" bIns="0" anchor="ctr">
            <a:noAutofit/>
          </a:bodyPr>
          <a:lstStyle/>
          <a:p>
            <a:pPr algn="r"/>
            <a:r>
              <a:rPr sz="1800" b="0">
                <a:solidFill>
                  <a:srgbClr val="AFC3AA"/>
                </a:solidFill>
                <a:latin typeface="PingFang SC"/>
              </a:rPr>
              <a:t>Surviving Sepsis Campaign</a:t>
            </a:r>
          </a:p>
        </p:txBody>
      </p:sp>
      <p:sp>
        <p:nvSpPr>
          <p:cNvPr id="10" name="TextBox 9"/>
          <p:cNvSpPr txBox="1"/>
          <p:nvPr/>
        </p:nvSpPr>
        <p:spPr>
          <a:xfrm>
            <a:off x="966978" y="1285646"/>
            <a:ext cx="7694676" cy="173736"/>
          </a:xfrm>
          <a:prstGeom prst="rect">
            <a:avLst/>
          </a:prstGeom>
          <a:noFill/>
          <a:ln>
            <a:noFill/>
          </a:ln>
        </p:spPr>
        <p:txBody>
          <a:bodyPr wrap="square" lIns="19050" rIns="19050" tIns="0" bIns="0" anchor="t">
            <a:normAutofit/>
          </a:bodyPr>
          <a:lstStyle/>
          <a:p>
            <a:pPr algn="l"/>
            <a:r>
              <a:rPr sz="1080" b="0">
                <a:solidFill>
                  <a:srgbClr val="789298"/>
                </a:solidFill>
                <a:latin typeface="PingFang SC"/>
              </a:rPr>
              <a:t>124. 卫生系统应促进对脓毒症或感染性休克患者出院后的身体、认知和情绪问题进行评估和随访（良好实践声明）。</a:t>
            </a:r>
          </a:p>
        </p:txBody>
      </p:sp>
      <p:sp>
        <p:nvSpPr>
          <p:cNvPr id="11" name="TextBox 10"/>
          <p:cNvSpPr txBox="1"/>
          <p:nvPr/>
        </p:nvSpPr>
        <p:spPr>
          <a:xfrm>
            <a:off x="966978" y="1517294"/>
            <a:ext cx="7694676" cy="173736"/>
          </a:xfrm>
          <a:prstGeom prst="rect">
            <a:avLst/>
          </a:prstGeom>
          <a:noFill/>
          <a:ln>
            <a:noFill/>
          </a:ln>
        </p:spPr>
        <p:txBody>
          <a:bodyPr wrap="square" lIns="19050" rIns="19050" tIns="0" bIns="0" anchor="t">
            <a:normAutofit/>
          </a:bodyPr>
          <a:lstStyle/>
          <a:p>
            <a:pPr algn="l"/>
            <a:r>
              <a:rPr sz="1180" b="0">
                <a:solidFill>
                  <a:srgbClr val="888F8B"/>
                </a:solidFill>
                <a:latin typeface="PingFang SC"/>
              </a:rPr>
              <a:t>125. 对于因脓毒症或感染性休克住院治疗的成年幸存者，我们“建议”提供危重症后随访服务。</a:t>
            </a:r>
          </a:p>
        </p:txBody>
      </p:sp>
      <p:sp>
        <p:nvSpPr>
          <p:cNvPr id="12" name="TextBox 11"/>
          <p:cNvSpPr txBox="1"/>
          <p:nvPr/>
        </p:nvSpPr>
        <p:spPr>
          <a:xfrm>
            <a:off x="9093708" y="1285646"/>
            <a:ext cx="905256" cy="138988"/>
          </a:xfrm>
          <a:prstGeom prst="rect">
            <a:avLst/>
          </a:prstGeom>
          <a:noFill/>
          <a:ln>
            <a:noFill/>
          </a:ln>
        </p:spPr>
        <p:txBody>
          <a:bodyPr wrap="none" lIns="19050" rIns="19050" tIns="0" bIns="0" anchor="ctr">
            <a:noAutofit/>
          </a:bodyPr>
          <a:lstStyle/>
          <a:p>
            <a:pPr algn="r"/>
            <a:r>
              <a:rPr sz="1350" b="0">
                <a:solidFill>
                  <a:srgbClr val="92BB81"/>
                </a:solidFill>
                <a:latin typeface="PingFang SC"/>
              </a:rPr>
              <a:t>沿用</a:t>
            </a:r>
          </a:p>
        </p:txBody>
      </p:sp>
      <p:sp>
        <p:nvSpPr>
          <p:cNvPr id="13" name="TextBox 12"/>
          <p:cNvSpPr txBox="1"/>
          <p:nvPr/>
        </p:nvSpPr>
        <p:spPr>
          <a:xfrm>
            <a:off x="9093708" y="1517294"/>
            <a:ext cx="905256" cy="138988"/>
          </a:xfrm>
          <a:prstGeom prst="rect">
            <a:avLst/>
          </a:prstGeom>
          <a:noFill/>
          <a:ln>
            <a:noFill/>
          </a:ln>
        </p:spPr>
        <p:txBody>
          <a:bodyPr wrap="none" lIns="19050" rIns="19050" tIns="0" bIns="0" anchor="ctr">
            <a:noAutofit/>
          </a:bodyPr>
          <a:lstStyle/>
          <a:p>
            <a:pPr algn="r"/>
            <a:r>
              <a:rPr sz="1350" b="0">
                <a:solidFill>
                  <a:srgbClr val="4F5A62"/>
                </a:solidFill>
                <a:latin typeface="PingFang SC"/>
              </a:rPr>
              <a:t>修订</a:t>
            </a:r>
          </a:p>
        </p:txBody>
      </p:sp>
      <p:sp>
        <p:nvSpPr>
          <p:cNvPr id="14" name="TextBox 13"/>
          <p:cNvSpPr txBox="1"/>
          <p:nvPr/>
        </p:nvSpPr>
        <p:spPr>
          <a:xfrm>
            <a:off x="1172718" y="1806854"/>
            <a:ext cx="1645920" cy="196900"/>
          </a:xfrm>
          <a:prstGeom prst="rect">
            <a:avLst/>
          </a:prstGeom>
          <a:noFill/>
          <a:ln>
            <a:noFill/>
          </a:ln>
        </p:spPr>
        <p:txBody>
          <a:bodyPr wrap="square" lIns="19050" rIns="19050" tIns="0" bIns="0" anchor="t">
            <a:normAutofit/>
          </a:bodyPr>
          <a:lstStyle/>
          <a:p>
            <a:pPr algn="l"/>
            <a:r>
              <a:rPr sz="1730" b="0">
                <a:solidFill>
                  <a:srgbClr val="878B8C"/>
                </a:solidFill>
                <a:latin typeface="PingFang SC"/>
              </a:rPr>
              <a:t>✓ ⊕ ⊙ ○ ○</a:t>
            </a:r>
          </a:p>
        </p:txBody>
      </p:sp>
      <p:sp>
        <p:nvSpPr>
          <p:cNvPr id="15" name="TextBox 14"/>
          <p:cNvSpPr txBox="1"/>
          <p:nvPr/>
        </p:nvSpPr>
        <p:spPr>
          <a:xfrm>
            <a:off x="1172718" y="2096414"/>
            <a:ext cx="7488936" cy="173736"/>
          </a:xfrm>
          <a:prstGeom prst="rect">
            <a:avLst/>
          </a:prstGeom>
          <a:noFill/>
          <a:ln>
            <a:noFill/>
          </a:ln>
        </p:spPr>
        <p:txBody>
          <a:bodyPr wrap="square" lIns="19050" rIns="19050" tIns="0" bIns="0" anchor="t">
            <a:normAutofit/>
          </a:bodyPr>
          <a:lstStyle/>
          <a:p>
            <a:pPr algn="l"/>
            <a:r>
              <a:rPr sz="1180" b="0">
                <a:solidFill>
                  <a:srgbClr val="A5BE9A"/>
                </a:solidFill>
                <a:latin typeface="PingFang SC"/>
              </a:rPr>
              <a:t>备注：后续服务的形式、强度和持续时间可能会有所不同，具体取决于当地可用资源和患者需求。</a:t>
            </a:r>
          </a:p>
        </p:txBody>
      </p:sp>
      <p:sp>
        <p:nvSpPr>
          <p:cNvPr id="16" name="TextBox 15"/>
          <p:cNvSpPr txBox="1"/>
          <p:nvPr/>
        </p:nvSpPr>
        <p:spPr>
          <a:xfrm>
            <a:off x="761238" y="2617622"/>
            <a:ext cx="3394710" cy="138988"/>
          </a:xfrm>
          <a:prstGeom prst="rect">
            <a:avLst/>
          </a:prstGeom>
          <a:noFill/>
          <a:ln>
            <a:noFill/>
          </a:ln>
        </p:spPr>
        <p:txBody>
          <a:bodyPr wrap="none" lIns="19050" rIns="19050" tIns="0" bIns="0" anchor="ctr">
            <a:noAutofit/>
          </a:bodyPr>
          <a:lstStyle/>
          <a:p>
            <a:pPr algn="l"/>
            <a:r>
              <a:rPr sz="1350" b="1">
                <a:solidFill>
                  <a:srgbClr val="71A9BC"/>
                </a:solidFill>
                <a:latin typeface="PingFang SC"/>
              </a:rPr>
              <a:t>2021年声明（125）</a:t>
            </a:r>
          </a:p>
        </p:txBody>
      </p:sp>
      <p:sp>
        <p:nvSpPr>
          <p:cNvPr id="17" name="TextBox 16"/>
          <p:cNvSpPr txBox="1"/>
          <p:nvPr/>
        </p:nvSpPr>
        <p:spPr>
          <a:xfrm>
            <a:off x="761238" y="2849270"/>
            <a:ext cx="7900416" cy="173736"/>
          </a:xfrm>
          <a:prstGeom prst="rect">
            <a:avLst/>
          </a:prstGeom>
          <a:noFill/>
          <a:ln>
            <a:noFill/>
          </a:ln>
        </p:spPr>
        <p:txBody>
          <a:bodyPr wrap="square" lIns="19050" rIns="19050" tIns="0" bIns="0" anchor="t">
            <a:normAutofit/>
          </a:bodyPr>
          <a:lstStyle/>
          <a:p>
            <a:pPr algn="l"/>
            <a:r>
              <a:rPr sz="1000" b="0">
                <a:solidFill>
                  <a:srgbClr val="9FA4AA"/>
                </a:solidFill>
                <a:latin typeface="PingFang SC"/>
              </a:rPr>
              <a:t>对于出现新功能障碍的成年脓毒症或脓毒性休克患者，我们建议出院计划应包括由能够支持和处理新出现的及长期后遗症的专科医生进行随访。</a:t>
            </a:r>
          </a:p>
        </p:txBody>
      </p:sp>
      <p:sp>
        <p:nvSpPr>
          <p:cNvPr id="18" name="TextBox 17"/>
          <p:cNvSpPr txBox="1"/>
          <p:nvPr/>
        </p:nvSpPr>
        <p:spPr>
          <a:xfrm>
            <a:off x="761238" y="3115665"/>
            <a:ext cx="3168396" cy="138988"/>
          </a:xfrm>
          <a:prstGeom prst="rect">
            <a:avLst/>
          </a:prstGeom>
          <a:noFill/>
          <a:ln>
            <a:noFill/>
          </a:ln>
        </p:spPr>
        <p:txBody>
          <a:bodyPr wrap="none" lIns="19050" rIns="19050" tIns="0" bIns="0" anchor="ctr">
            <a:noAutofit/>
          </a:bodyPr>
          <a:lstStyle/>
          <a:p>
            <a:pPr algn="l"/>
            <a:r>
              <a:rPr sz="1350" b="1">
                <a:solidFill>
                  <a:srgbClr val="5E749C"/>
                </a:solidFill>
                <a:latin typeface="PingFang SC"/>
              </a:rPr>
              <a:t>【最佳实践声明】</a:t>
            </a:r>
          </a:p>
        </p:txBody>
      </p:sp>
      <p:sp>
        <p:nvSpPr>
          <p:cNvPr id="19" name="TextBox 18"/>
          <p:cNvSpPr txBox="1"/>
          <p:nvPr/>
        </p:nvSpPr>
        <p:spPr>
          <a:xfrm>
            <a:off x="761238" y="3602126"/>
            <a:ext cx="8743950" cy="231648"/>
          </a:xfrm>
          <a:prstGeom prst="rect">
            <a:avLst/>
          </a:prstGeom>
          <a:noFill/>
          <a:ln>
            <a:noFill/>
          </a:ln>
        </p:spPr>
        <p:txBody>
          <a:bodyPr wrap="square" lIns="19050" rIns="19050" tIns="0" bIns="0" anchor="t">
            <a:normAutofit/>
          </a:bodyPr>
          <a:lstStyle/>
          <a:p>
            <a:pPr algn="l"/>
            <a:r>
              <a:rPr sz="1200" b="0">
                <a:solidFill>
                  <a:srgbClr val="75868A"/>
                </a:solidFill>
                <a:latin typeface="PingFang SC"/>
              </a:rPr>
              <a:t>• 专家组认为，资源匮乏的环境可能缺乏提供多组分护理的资源。此外，农村人口可能无法参与面对面干预措施的实施，这可能导致不公平现象。</a:t>
            </a:r>
          </a:p>
        </p:txBody>
      </p:sp>
      <p:sp>
        <p:nvSpPr>
          <p:cNvPr id="20" name="TextBox 19"/>
          <p:cNvSpPr txBox="1"/>
          <p:nvPr/>
        </p:nvSpPr>
        <p:spPr>
          <a:xfrm>
            <a:off x="761238" y="3891686"/>
            <a:ext cx="8743950" cy="173735"/>
          </a:xfrm>
          <a:prstGeom prst="rect">
            <a:avLst/>
          </a:prstGeom>
          <a:noFill/>
          <a:ln>
            <a:noFill/>
          </a:ln>
        </p:spPr>
        <p:txBody>
          <a:bodyPr wrap="square" lIns="19050" rIns="19050" tIns="0" bIns="0" anchor="t">
            <a:normAutofit/>
          </a:bodyPr>
          <a:lstStyle/>
          <a:p>
            <a:pPr algn="l"/>
            <a:r>
              <a:rPr sz="1200" b="0">
                <a:solidFill>
                  <a:srgbClr val="76858A"/>
                </a:solidFill>
                <a:latin typeface="PingFang SC"/>
              </a:rPr>
              <a:t>• 尽管如此，专家组也认识到，提供出院后护理有可能减少某些弱势社区的健康不平等现象。</a:t>
            </a:r>
          </a:p>
        </p:txBody>
      </p:sp>
      <p:sp>
        <p:nvSpPr>
          <p:cNvPr id="21" name="TextBox 20"/>
          <p:cNvSpPr txBox="1"/>
          <p:nvPr/>
        </p:nvSpPr>
        <p:spPr>
          <a:xfrm>
            <a:off x="761238" y="4123334"/>
            <a:ext cx="8743950" cy="231648"/>
          </a:xfrm>
          <a:prstGeom prst="rect">
            <a:avLst/>
          </a:prstGeom>
          <a:noFill/>
          <a:ln>
            <a:noFill/>
          </a:ln>
        </p:spPr>
        <p:txBody>
          <a:bodyPr wrap="square" lIns="19050" rIns="19050" tIns="0" bIns="0" anchor="t">
            <a:normAutofit/>
          </a:bodyPr>
          <a:lstStyle/>
          <a:p>
            <a:pPr algn="l"/>
            <a:r>
              <a:rPr sz="1200" b="0">
                <a:solidFill>
                  <a:srgbClr val="728387"/>
                </a:solidFill>
                <a:latin typeface="PingFang SC"/>
              </a:rPr>
              <a:t>• 虽然现有数据对该干预措施的有效性的确定性较低，但患者对这些项目的体验似乎是积极的，而且它们可能会给患者、家属和临床医生带来益处。</a:t>
            </a:r>
          </a:p>
        </p:txBody>
      </p:sp>
      <p:sp>
        <p:nvSpPr>
          <p:cNvPr id="22" name="TextBox 21"/>
          <p:cNvSpPr txBox="1"/>
          <p:nvPr/>
        </p:nvSpPr>
        <p:spPr>
          <a:xfrm>
            <a:off x="555498" y="5049926"/>
            <a:ext cx="2376297" cy="92659"/>
          </a:xfrm>
          <a:prstGeom prst="rect">
            <a:avLst/>
          </a:prstGeom>
          <a:noFill/>
          <a:ln>
            <a:noFill/>
          </a:ln>
        </p:spPr>
        <p:txBody>
          <a:bodyPr wrap="none" lIns="19050" rIns="19050" tIns="0" bIns="0" anchor="ctr">
            <a:noAutofit/>
          </a:bodyPr>
          <a:lstStyle/>
          <a:p>
            <a:pPr algn="l"/>
            <a:r>
              <a:rPr sz="900" b="0">
                <a:solidFill>
                  <a:srgbClr val="839D9E"/>
                </a:solidFill>
                <a:latin typeface="PingFang SC"/>
              </a:rPr>
              <a:t>Critical Care Medicine</a:t>
            </a:r>
          </a:p>
        </p:txBody>
      </p:sp>
      <p:sp>
        <p:nvSpPr>
          <p:cNvPr id="23" name="TextBox 22"/>
          <p:cNvSpPr txBox="1"/>
          <p:nvPr/>
        </p:nvSpPr>
        <p:spPr>
          <a:xfrm>
            <a:off x="555498" y="5455310"/>
            <a:ext cx="2715768" cy="115823"/>
          </a:xfrm>
          <a:prstGeom prst="rect">
            <a:avLst/>
          </a:prstGeom>
          <a:noFill/>
          <a:ln>
            <a:noFill/>
          </a:ln>
        </p:spPr>
        <p:txBody>
          <a:bodyPr wrap="none" lIns="19050" rIns="19050" tIns="0" bIns="0" anchor="ctr">
            <a:noAutofit/>
          </a:bodyPr>
          <a:lstStyle/>
          <a:p>
            <a:pPr algn="l"/>
            <a:r>
              <a:rPr sz="1050" b="0">
                <a:solidFill>
                  <a:srgbClr val="BDD6D8"/>
                </a:solidFill>
                <a:latin typeface="PingFang SC"/>
              </a:rPr>
              <a:t>公众号·指南导航</a:t>
            </a:r>
          </a:p>
        </p:txBody>
      </p:sp>
      <p:sp>
        <p:nvSpPr>
          <p:cNvPr id="24" name="TextBox 23"/>
          <p:cNvSpPr txBox="1"/>
          <p:nvPr/>
        </p:nvSpPr>
        <p:spPr>
          <a:xfrm>
            <a:off x="10287000" y="5339486"/>
            <a:ext cx="0" cy="173736"/>
          </a:xfrm>
          <a:prstGeom prst="rect">
            <a:avLst/>
          </a:prstGeom>
          <a:noFill/>
          <a:ln>
            <a:noFill/>
          </a:ln>
        </p:spPr>
        <p:txBody>
          <a:bodyPr wrap="none" lIns="19050" rIns="19050" tIns="0" bIns="0" anchor="ctr">
            <a:noAutofit/>
          </a:bodyPr>
          <a:lstStyle/>
          <a:p>
            <a:pPr algn="r"/>
            <a:r>
              <a:rPr sz="1350" b="0">
                <a:solidFill>
                  <a:srgbClr val="000000"/>
                </a:solidFill>
                <a:latin typeface="PingFang SC"/>
              </a:rPr>
              <a:t>73</a:t>
            </a:r>
          </a:p>
        </p:txBody>
      </p:sp>
      <p:pic>
        <p:nvPicPr>
          <p:cNvPr id="25" name="Picture 24" descr="tmp8z31wu7g.png"/>
          <p:cNvPicPr>
            <a:picLocks noChangeAspect="1"/>
          </p:cNvPicPr>
          <p:nvPr/>
        </p:nvPicPr>
        <p:blipFill>
          <a:blip r:embed="rId4"/>
          <a:stretch>
            <a:fillRect/>
          </a:stretch>
        </p:blipFill>
        <p:spPr>
          <a:xfrm>
            <a:off x="1171575" y="1809750"/>
            <a:ext cx="285750" cy="190500"/>
          </a:xfrm>
          <a:prstGeom prst="rect">
            <a:avLst/>
          </a:prstGeom>
        </p:spPr>
      </p:pic>
      <p:pic>
        <p:nvPicPr>
          <p:cNvPr id="26" name="Picture 25" descr="tmpqvvlom3t.png"/>
          <p:cNvPicPr>
            <a:picLocks noChangeAspect="1"/>
          </p:cNvPicPr>
          <p:nvPr/>
        </p:nvPicPr>
        <p:blipFill>
          <a:blip r:embed="rId5"/>
          <a:stretch>
            <a:fillRect/>
          </a:stretch>
        </p:blipFill>
        <p:spPr>
          <a:xfrm>
            <a:off x="1562100" y="1809750"/>
            <a:ext cx="314325" cy="190500"/>
          </a:xfrm>
          <a:prstGeom prst="rect">
            <a:avLst/>
          </a:prstGeom>
        </p:spPr>
      </p:pic>
      <p:pic>
        <p:nvPicPr>
          <p:cNvPr id="27" name="Picture 26" descr="tmpyds77480.png"/>
          <p:cNvPicPr>
            <a:picLocks noChangeAspect="1"/>
          </p:cNvPicPr>
          <p:nvPr/>
        </p:nvPicPr>
        <p:blipFill>
          <a:blip r:embed="rId6"/>
          <a:stretch>
            <a:fillRect/>
          </a:stretch>
        </p:blipFill>
        <p:spPr>
          <a:xfrm>
            <a:off x="1971675" y="1809750"/>
            <a:ext cx="314325" cy="190500"/>
          </a:xfrm>
          <a:prstGeom prst="rect">
            <a:avLst/>
          </a:prstGeom>
        </p:spPr>
      </p:pic>
      <p:pic>
        <p:nvPicPr>
          <p:cNvPr id="28" name="Picture 27" descr="tmpa_8sxwh3.png"/>
          <p:cNvPicPr>
            <a:picLocks noChangeAspect="1"/>
          </p:cNvPicPr>
          <p:nvPr/>
        </p:nvPicPr>
        <p:blipFill>
          <a:blip r:embed="rId7"/>
          <a:stretch>
            <a:fillRect/>
          </a:stretch>
        </p:blipFill>
        <p:spPr>
          <a:xfrm>
            <a:off x="2390775" y="1809750"/>
            <a:ext cx="304800" cy="190500"/>
          </a:xfrm>
          <a:prstGeom prst="rect">
            <a:avLst/>
          </a:prstGeom>
        </p:spPr>
      </p:pic>
      <p:pic>
        <p:nvPicPr>
          <p:cNvPr id="29" name="Picture 28" descr="tmpqlxf7xru.png"/>
          <p:cNvPicPr>
            <a:picLocks noChangeAspect="1"/>
          </p:cNvPicPr>
          <p:nvPr/>
        </p:nvPicPr>
        <p:blipFill>
          <a:blip r:embed="rId8"/>
          <a:stretch>
            <a:fillRect/>
          </a:stretch>
        </p:blipFill>
        <p:spPr>
          <a:xfrm>
            <a:off x="2800350" y="1809750"/>
            <a:ext cx="304800" cy="190500"/>
          </a:xfrm>
          <a:prstGeom prst="rect">
            <a:avLst/>
          </a:prstGeom>
        </p:spPr>
      </p:pic>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55498" y="967130"/>
            <a:ext cx="9196577" cy="1534668"/>
          </a:xfrm>
          <a:prstGeom prst="roundRect">
            <a:avLst>
              <a:gd name="adj" fmla="val 6000"/>
            </a:avLst>
          </a:prstGeom>
          <a:solidFill>
            <a:srgbClr val="FEFEFE"/>
          </a:solidFill>
          <a:ln w="11430">
            <a:solidFill>
              <a:srgbClr val="1458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55498" y="2606040"/>
            <a:ext cx="9196577" cy="1285646"/>
          </a:xfrm>
          <a:prstGeom prst="rect">
            <a:avLst/>
          </a:prstGeom>
          <a:solidFill>
            <a:srgbClr val="ED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55498" y="3920642"/>
            <a:ext cx="9196577" cy="1146657"/>
          </a:xfrm>
          <a:prstGeom prst="rect">
            <a:avLst/>
          </a:prstGeom>
          <a:solidFill>
            <a:srgbClr val="F1FEFE"/>
          </a:solidFill>
          <a:ln w="11430">
            <a:solidFill>
              <a:srgbClr val="E4FE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6646" y="393801"/>
            <a:ext cx="2783662" cy="312724"/>
          </a:xfrm>
          <a:prstGeom prst="rect">
            <a:avLst/>
          </a:prstGeom>
          <a:noFill/>
          <a:ln>
            <a:noFill/>
          </a:ln>
        </p:spPr>
        <p:txBody>
          <a:bodyPr wrap="none" lIns="19050" rIns="19050" tIns="0" bIns="0" anchor="ctr">
            <a:noAutofit/>
          </a:bodyPr>
          <a:lstStyle/>
          <a:p>
            <a:pPr algn="l"/>
            <a:r>
              <a:rPr sz="3150" b="1">
                <a:solidFill>
                  <a:srgbClr val="415391"/>
                </a:solidFill>
                <a:latin typeface="PingFang SC"/>
              </a:rPr>
              <a:t>身体康复</a:t>
            </a:r>
          </a:p>
        </p:txBody>
      </p:sp>
      <p:sp>
        <p:nvSpPr>
          <p:cNvPr id="7" name="TextBox 6"/>
          <p:cNvSpPr txBox="1"/>
          <p:nvPr/>
        </p:nvSpPr>
        <p:spPr>
          <a:xfrm>
            <a:off x="1038987" y="1262481"/>
            <a:ext cx="8137017" cy="445922"/>
          </a:xfrm>
          <a:prstGeom prst="rect">
            <a:avLst/>
          </a:prstGeom>
          <a:noFill/>
          <a:ln>
            <a:noFill/>
          </a:ln>
        </p:spPr>
        <p:txBody>
          <a:bodyPr wrap="square" lIns="19050" rIns="19050" tIns="0" bIns="0" anchor="t">
            <a:normAutofit/>
          </a:bodyPr>
          <a:lstStyle/>
          <a:p>
            <a:pPr algn="l"/>
            <a:r>
              <a:rPr sz="1500" b="0">
                <a:solidFill>
                  <a:srgbClr val="808885"/>
                </a:solidFill>
                <a:latin typeface="PingFang SC"/>
              </a:rPr>
              <a:t>126.对于因脓毒症或脓毒性休克住院且接受有创机械通气超过48小时的成年幸存者，我们“建议”在其出院后提供身体康复服务。</a:t>
            </a:r>
          </a:p>
        </p:txBody>
      </p:sp>
      <p:sp>
        <p:nvSpPr>
          <p:cNvPr id="8" name="TextBox 7"/>
          <p:cNvSpPr txBox="1"/>
          <p:nvPr/>
        </p:nvSpPr>
        <p:spPr>
          <a:xfrm>
            <a:off x="1038987" y="1841601"/>
            <a:ext cx="1501901" cy="225856"/>
          </a:xfrm>
          <a:prstGeom prst="rect">
            <a:avLst/>
          </a:prstGeom>
          <a:noFill/>
          <a:ln>
            <a:noFill/>
          </a:ln>
        </p:spPr>
        <p:txBody>
          <a:bodyPr wrap="square" lIns="19050" rIns="19050" tIns="0" bIns="0" anchor="t">
            <a:normAutofit/>
          </a:bodyPr>
          <a:lstStyle/>
          <a:p>
            <a:pPr algn="l"/>
            <a:r>
              <a:rPr sz="1770" b="0">
                <a:solidFill>
                  <a:srgbClr val="878D8B"/>
                </a:solidFill>
                <a:latin typeface="PingFang SC"/>
              </a:rPr>
              <a:t>✓ ⊕ ⊕ ○ ○</a:t>
            </a:r>
          </a:p>
        </p:txBody>
      </p:sp>
      <p:sp>
        <p:nvSpPr>
          <p:cNvPr id="9" name="TextBox 8"/>
          <p:cNvSpPr txBox="1"/>
          <p:nvPr/>
        </p:nvSpPr>
        <p:spPr>
          <a:xfrm>
            <a:off x="1275587" y="2142744"/>
            <a:ext cx="7900416" cy="162153"/>
          </a:xfrm>
          <a:prstGeom prst="rect">
            <a:avLst/>
          </a:prstGeom>
          <a:noFill/>
          <a:ln>
            <a:noFill/>
          </a:ln>
        </p:spPr>
        <p:txBody>
          <a:bodyPr wrap="square" lIns="19050" rIns="19050" tIns="0" bIns="0" anchor="t">
            <a:normAutofit/>
          </a:bodyPr>
          <a:lstStyle/>
          <a:p>
            <a:pPr algn="l"/>
            <a:r>
              <a:rPr sz="1140" b="0">
                <a:solidFill>
                  <a:srgbClr val="A8BF9D"/>
                </a:solidFill>
                <a:latin typeface="PingFang SC"/>
              </a:rPr>
              <a:t>备注：身体康复服务在形式、强度和持续时间上可能有所不同，具体取决于当地可用资源和患者需求。</a:t>
            </a:r>
          </a:p>
        </p:txBody>
      </p:sp>
      <p:sp>
        <p:nvSpPr>
          <p:cNvPr id="10" name="TextBox 9"/>
          <p:cNvSpPr txBox="1"/>
          <p:nvPr/>
        </p:nvSpPr>
        <p:spPr>
          <a:xfrm>
            <a:off x="1038987" y="2733446"/>
            <a:ext cx="2738399" cy="150571"/>
          </a:xfrm>
          <a:prstGeom prst="rect">
            <a:avLst/>
          </a:prstGeom>
          <a:noFill/>
          <a:ln>
            <a:noFill/>
          </a:ln>
        </p:spPr>
        <p:txBody>
          <a:bodyPr wrap="none" lIns="19050" rIns="19050" tIns="0" bIns="0" anchor="ctr">
            <a:noAutofit/>
          </a:bodyPr>
          <a:lstStyle/>
          <a:p>
            <a:pPr algn="l"/>
            <a:r>
              <a:rPr sz="1350" b="1">
                <a:solidFill>
                  <a:srgbClr val="71A3B7"/>
                </a:solidFill>
                <a:latin typeface="PingFang SC"/>
              </a:rPr>
              <a:t>2021年声明（126）</a:t>
            </a:r>
          </a:p>
        </p:txBody>
      </p:sp>
      <p:sp>
        <p:nvSpPr>
          <p:cNvPr id="11" name="TextBox 10"/>
          <p:cNvSpPr txBox="1"/>
          <p:nvPr/>
        </p:nvSpPr>
        <p:spPr>
          <a:xfrm>
            <a:off x="1038987" y="2965094"/>
            <a:ext cx="8137017" cy="306933"/>
          </a:xfrm>
          <a:prstGeom prst="rect">
            <a:avLst/>
          </a:prstGeom>
          <a:noFill/>
          <a:ln>
            <a:noFill/>
          </a:ln>
        </p:spPr>
        <p:txBody>
          <a:bodyPr wrap="square" lIns="19050" rIns="19050" tIns="0" bIns="0" anchor="t">
            <a:normAutofit/>
          </a:bodyPr>
          <a:lstStyle/>
          <a:p>
            <a:pPr algn="l"/>
            <a:r>
              <a:rPr sz="1280" b="0">
                <a:solidFill>
                  <a:srgbClr val="9FA4AA"/>
                </a:solidFill>
                <a:latin typeface="PingFang SC"/>
              </a:rPr>
              <a:t>对于因脓毒症或脓毒性休克成年幸存者，若其接受机械通气超过48小时或在重症监护病房（ICU）停留超过72小时，我们建议将其转至医院后康复计划。</a:t>
            </a:r>
          </a:p>
        </p:txBody>
      </p:sp>
      <p:sp>
        <p:nvSpPr>
          <p:cNvPr id="12" name="TextBox 11"/>
          <p:cNvSpPr txBox="1"/>
          <p:nvPr/>
        </p:nvSpPr>
        <p:spPr>
          <a:xfrm>
            <a:off x="1038987" y="3405225"/>
            <a:ext cx="1193291" cy="225856"/>
          </a:xfrm>
          <a:prstGeom prst="rect">
            <a:avLst/>
          </a:prstGeom>
          <a:noFill/>
          <a:ln>
            <a:noFill/>
          </a:ln>
        </p:spPr>
        <p:txBody>
          <a:bodyPr wrap="square" lIns="19050" rIns="19050" tIns="0" bIns="0" anchor="t">
            <a:normAutofit/>
          </a:bodyPr>
          <a:lstStyle/>
          <a:p>
            <a:pPr algn="l"/>
            <a:r>
              <a:rPr sz="1570" b="0">
                <a:solidFill>
                  <a:srgbClr val="5C6770"/>
                </a:solidFill>
                <a:latin typeface="PingFang SC"/>
              </a:rPr>
              <a:t>✓ ⊕ ⊕ ○ ○</a:t>
            </a:r>
          </a:p>
        </p:txBody>
      </p:sp>
      <p:sp>
        <p:nvSpPr>
          <p:cNvPr id="13" name="TextBox 12"/>
          <p:cNvSpPr txBox="1"/>
          <p:nvPr/>
        </p:nvSpPr>
        <p:spPr>
          <a:xfrm>
            <a:off x="740663" y="4024883"/>
            <a:ext cx="8805672" cy="851306"/>
          </a:xfrm>
          <a:prstGeom prst="rect">
            <a:avLst/>
          </a:prstGeom>
          <a:noFill/>
          <a:ln>
            <a:noFill/>
          </a:ln>
        </p:spPr>
        <p:txBody>
          <a:bodyPr wrap="square" lIns="19050" rIns="19050" tIns="0" bIns="0" anchor="t">
            <a:normAutofit/>
          </a:bodyPr>
          <a:lstStyle/>
          <a:p>
            <a:pPr algn="l"/>
            <a:r>
              <a:rPr sz="1350" b="0">
                <a:solidFill>
                  <a:srgbClr val="738387"/>
                </a:solidFill>
                <a:latin typeface="PingFang SC"/>
              </a:rPr>
              <a:t>• 我们确定了12项随机对照试验（RCT），这些试验评估了出院后进行身体康复治疗与标准护理的效果，共纳入782名接受机械通气48小时或更长时间的患者。</a:t>
            </a:r>
          </a:p>
          <a:p>
            <a:pPr algn="l"/>
            <a:r>
              <a:rPr sz="1350" b="0">
                <a:solidFill>
                  <a:srgbClr val="738387"/>
                </a:solidFill>
                <a:latin typeface="PingFang SC"/>
              </a:rPr>
              <a:t>• 专家组认为，纳入的患者群体、干预措施的剂量、类型和持续时间，以及结局指标的领域、方法和时间存在重要的异质性。这种异质性以及低确定性的证据使得无法给出强有力的推荐意见。</a:t>
            </a:r>
          </a:p>
        </p:txBody>
      </p:sp>
      <p:sp>
        <p:nvSpPr>
          <p:cNvPr id="14" name="TextBox 13"/>
          <p:cNvSpPr txBox="1"/>
          <p:nvPr/>
        </p:nvSpPr>
        <p:spPr>
          <a:xfrm>
            <a:off x="596646" y="5455310"/>
            <a:ext cx="2353665" cy="127406"/>
          </a:xfrm>
          <a:prstGeom prst="rect">
            <a:avLst/>
          </a:prstGeom>
          <a:noFill/>
          <a:ln>
            <a:noFill/>
          </a:ln>
        </p:spPr>
        <p:txBody>
          <a:bodyPr wrap="none" lIns="19050" rIns="19050" tIns="0" bIns="0" anchor="ctr">
            <a:noAutofit/>
          </a:bodyPr>
          <a:lstStyle/>
          <a:p>
            <a:pPr algn="l"/>
            <a:r>
              <a:rPr sz="1200" b="0">
                <a:solidFill>
                  <a:srgbClr val="D3E6E8"/>
                </a:solidFill>
                <a:latin typeface="PingFang SC"/>
              </a:rPr>
              <a:t>公众号:指南导航</a:t>
            </a:r>
          </a:p>
        </p:txBody>
      </p:sp>
      <p:sp>
        <p:nvSpPr>
          <p:cNvPr id="15" name="TextBox 14"/>
          <p:cNvSpPr txBox="1"/>
          <p:nvPr/>
        </p:nvSpPr>
        <p:spPr>
          <a:xfrm>
            <a:off x="10287000" y="5374233"/>
            <a:ext cx="0" cy="173735"/>
          </a:xfrm>
          <a:prstGeom prst="rect">
            <a:avLst/>
          </a:prstGeom>
          <a:noFill/>
          <a:ln>
            <a:noFill/>
          </a:ln>
        </p:spPr>
        <p:txBody>
          <a:bodyPr wrap="none" lIns="19050" rIns="19050" tIns="0" bIns="0" anchor="ctr">
            <a:noAutofit/>
          </a:bodyPr>
          <a:lstStyle/>
          <a:p>
            <a:pPr algn="r"/>
            <a:r>
              <a:rPr sz="1350" b="0">
                <a:solidFill>
                  <a:srgbClr val="000000"/>
                </a:solidFill>
                <a:latin typeface="PingFang SC"/>
              </a:rPr>
              <a:t>74</a:t>
            </a:r>
          </a:p>
        </p:txBody>
      </p:sp>
      <p:sp>
        <p:nvSpPr>
          <p:cNvPr id="16" name="TextBox 15"/>
          <p:cNvSpPr txBox="1"/>
          <p:nvPr/>
        </p:nvSpPr>
        <p:spPr>
          <a:xfrm>
            <a:off x="8311896" y="173735"/>
            <a:ext cx="3937863" cy="416966"/>
          </a:xfrm>
          <a:prstGeom prst="rect">
            <a:avLst/>
          </a:prstGeom>
          <a:noFill/>
          <a:ln>
            <a:noFill/>
          </a:ln>
        </p:spPr>
        <p:txBody>
          <a:bodyPr wrap="none" lIns="19050" rIns="19050" tIns="0" bIns="0" anchor="ctr">
            <a:noAutofit/>
          </a:bodyPr>
          <a:lstStyle/>
          <a:p>
            <a:pPr algn="r"/>
            <a:r>
              <a:rPr sz="1800" b="0">
                <a:solidFill>
                  <a:srgbClr val="AFC4A8"/>
                </a:solidFill>
                <a:latin typeface="PingFang SC"/>
              </a:rPr>
              <a:t>Surviving Sepsis Campaign</a:t>
            </a:r>
          </a:p>
        </p:txBody>
      </p:sp>
      <p:sp>
        <p:nvSpPr>
          <p:cNvPr id="17" name="TextBox 16"/>
          <p:cNvSpPr txBox="1"/>
          <p:nvPr/>
        </p:nvSpPr>
        <p:spPr>
          <a:xfrm>
            <a:off x="596646" y="5067300"/>
            <a:ext cx="2579979" cy="98450"/>
          </a:xfrm>
          <a:prstGeom prst="rect">
            <a:avLst/>
          </a:prstGeom>
          <a:noFill/>
          <a:ln>
            <a:noFill/>
          </a:ln>
        </p:spPr>
        <p:txBody>
          <a:bodyPr wrap="none" lIns="19050" rIns="19050" tIns="0" bIns="0" anchor="ctr">
            <a:noAutofit/>
          </a:bodyPr>
          <a:lstStyle/>
          <a:p>
            <a:pPr algn="l"/>
            <a:r>
              <a:rPr sz="900" b="0">
                <a:solidFill>
                  <a:srgbClr val="A0A8A7"/>
                </a:solidFill>
                <a:latin typeface="PingFang SC"/>
              </a:rPr>
              <a:t>Critical Care Medicine</a:t>
            </a:r>
          </a:p>
        </p:txBody>
      </p:sp>
      <p:sp>
        <p:nvSpPr>
          <p:cNvPr id="18" name="TextBox 17"/>
          <p:cNvSpPr txBox="1"/>
          <p:nvPr/>
        </p:nvSpPr>
        <p:spPr>
          <a:xfrm>
            <a:off x="1872234" y="5067300"/>
            <a:ext cx="1357884" cy="98450"/>
          </a:xfrm>
          <a:prstGeom prst="rect">
            <a:avLst/>
          </a:prstGeom>
          <a:noFill/>
          <a:ln>
            <a:noFill/>
          </a:ln>
        </p:spPr>
        <p:txBody>
          <a:bodyPr wrap="none" lIns="19050" rIns="19050" tIns="0" bIns="0" anchor="ctr">
            <a:noAutofit/>
          </a:bodyPr>
          <a:lstStyle/>
          <a:p>
            <a:pPr algn="l"/>
            <a:r>
              <a:rPr sz="900" b="0">
                <a:solidFill>
                  <a:srgbClr val="7D69B1"/>
                </a:solidFill>
                <a:latin typeface="PingFang SC"/>
              </a:rPr>
              <a:t>ESICM</a:t>
            </a:r>
          </a:p>
        </p:txBody>
      </p:sp>
      <p:sp>
        <p:nvSpPr>
          <p:cNvPr id="19" name="TextBox 18"/>
          <p:cNvSpPr txBox="1"/>
          <p:nvPr/>
        </p:nvSpPr>
        <p:spPr>
          <a:xfrm>
            <a:off x="2592324" y="5067300"/>
            <a:ext cx="2263139" cy="98450"/>
          </a:xfrm>
          <a:prstGeom prst="rect">
            <a:avLst/>
          </a:prstGeom>
          <a:noFill/>
          <a:ln>
            <a:noFill/>
          </a:ln>
        </p:spPr>
        <p:txBody>
          <a:bodyPr wrap="none" lIns="19050" rIns="19050" tIns="0" bIns="0" anchor="ctr">
            <a:noAutofit/>
          </a:bodyPr>
          <a:lstStyle/>
          <a:p>
            <a:pPr algn="l"/>
            <a:r>
              <a:rPr sz="900" b="0">
                <a:solidFill>
                  <a:srgbClr val="A3CCC8"/>
                </a:solidFill>
                <a:latin typeface="PingFang SC"/>
              </a:rPr>
              <a:t>Society of Critical Care Medicine</a:t>
            </a:r>
          </a:p>
        </p:txBody>
      </p:sp>
      <p:sp>
        <p:nvSpPr>
          <p:cNvPr id="20" name="TextBox 19"/>
          <p:cNvSpPr txBox="1"/>
          <p:nvPr/>
        </p:nvSpPr>
        <p:spPr>
          <a:xfrm>
            <a:off x="9176004" y="1204569"/>
            <a:ext cx="814730" cy="138988"/>
          </a:xfrm>
          <a:prstGeom prst="rect">
            <a:avLst/>
          </a:prstGeom>
          <a:noFill/>
          <a:ln>
            <a:noFill/>
          </a:ln>
        </p:spPr>
        <p:txBody>
          <a:bodyPr wrap="none" lIns="19050" rIns="19050" tIns="0" bIns="0" anchor="ctr">
            <a:noAutofit/>
          </a:bodyPr>
          <a:lstStyle/>
          <a:p>
            <a:pPr algn="r"/>
            <a:r>
              <a:rPr sz="1350" b="1">
                <a:solidFill>
                  <a:srgbClr val="91B87D"/>
                </a:solidFill>
                <a:latin typeface="PingFang SC"/>
              </a:rPr>
              <a:t>修订</a:t>
            </a:r>
          </a:p>
        </p:txBody>
      </p:sp>
      <p:pic>
        <p:nvPicPr>
          <p:cNvPr id="21" name="Picture 20" descr="tmp86_b9mib.png"/>
          <p:cNvPicPr>
            <a:picLocks noChangeAspect="1"/>
          </p:cNvPicPr>
          <p:nvPr/>
        </p:nvPicPr>
        <p:blipFill>
          <a:blip r:embed="rId2"/>
          <a:stretch>
            <a:fillRect/>
          </a:stretch>
        </p:blipFill>
        <p:spPr>
          <a:xfrm>
            <a:off x="9791700" y="180975"/>
            <a:ext cx="314325" cy="209550"/>
          </a:xfrm>
          <a:prstGeom prst="rect">
            <a:avLst/>
          </a:prstGeom>
        </p:spPr>
      </p:pic>
      <p:pic>
        <p:nvPicPr>
          <p:cNvPr id="22" name="Picture 21" descr="tmph5nxpx3j.png"/>
          <p:cNvPicPr>
            <a:picLocks noChangeAspect="1"/>
          </p:cNvPicPr>
          <p:nvPr/>
        </p:nvPicPr>
        <p:blipFill>
          <a:blip r:embed="rId3"/>
          <a:stretch>
            <a:fillRect/>
          </a:stretch>
        </p:blipFill>
        <p:spPr>
          <a:xfrm>
            <a:off x="1038225" y="1857375"/>
            <a:ext cx="323850" cy="200025"/>
          </a:xfrm>
          <a:prstGeom prst="rect">
            <a:avLst/>
          </a:prstGeom>
        </p:spPr>
      </p:pic>
      <p:pic>
        <p:nvPicPr>
          <p:cNvPr id="23" name="Picture 22" descr="tmpq7ym0cnm.png"/>
          <p:cNvPicPr>
            <a:picLocks noChangeAspect="1"/>
          </p:cNvPicPr>
          <p:nvPr/>
        </p:nvPicPr>
        <p:blipFill>
          <a:blip r:embed="rId4"/>
          <a:stretch>
            <a:fillRect/>
          </a:stretch>
        </p:blipFill>
        <p:spPr>
          <a:xfrm>
            <a:off x="1038225" y="3419475"/>
            <a:ext cx="323850" cy="200025"/>
          </a:xfrm>
          <a:prstGeom prst="rect">
            <a:avLst/>
          </a:prstGeom>
        </p:spPr>
      </p:pic>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b6sp0_3m.png"/>
          <p:cNvPicPr>
            <a:picLocks noChangeAspect="1"/>
          </p:cNvPicPr>
          <p:nvPr/>
        </p:nvPicPr>
        <p:blipFill>
          <a:blip r:embed="rId2"/>
          <a:stretch>
            <a:fillRect/>
          </a:stretch>
        </p:blipFill>
        <p:spPr>
          <a:xfrm>
            <a:off x="533400" y="4933950"/>
            <a:ext cx="2266950" cy="228600"/>
          </a:xfrm>
          <a:prstGeom prst="rect">
            <a:avLst/>
          </a:prstGeom>
        </p:spPr>
      </p:pic>
      <p:pic>
        <p:nvPicPr>
          <p:cNvPr id="4" name="Picture 3" descr="tmpkefol0m1.png"/>
          <p:cNvPicPr>
            <a:picLocks noChangeAspect="1"/>
          </p:cNvPicPr>
          <p:nvPr/>
        </p:nvPicPr>
        <p:blipFill>
          <a:blip r:embed="rId3"/>
          <a:stretch>
            <a:fillRect/>
          </a:stretch>
        </p:blipFill>
        <p:spPr>
          <a:xfrm>
            <a:off x="1666875" y="4933950"/>
            <a:ext cx="1133475" cy="228600"/>
          </a:xfrm>
          <a:prstGeom prst="rect">
            <a:avLst/>
          </a:prstGeom>
        </p:spPr>
      </p:pic>
      <p:sp>
        <p:nvSpPr>
          <p:cNvPr id="5" name="Rounded Rectangle 4"/>
          <p:cNvSpPr/>
          <p:nvPr/>
        </p:nvSpPr>
        <p:spPr>
          <a:xfrm>
            <a:off x="586359" y="949756"/>
            <a:ext cx="9165717" cy="1899513"/>
          </a:xfrm>
          <a:prstGeom prst="roundRect">
            <a:avLst>
              <a:gd name="adj" fmla="val 6000"/>
            </a:avLst>
          </a:prstGeom>
          <a:solidFill>
            <a:srgbClr val="FEFEFD"/>
          </a:solidFill>
          <a:ln w="11430">
            <a:solidFill>
              <a:srgbClr val="2B62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86359" y="3648456"/>
            <a:ext cx="9165717" cy="1285646"/>
          </a:xfrm>
          <a:prstGeom prst="roundRect">
            <a:avLst>
              <a:gd name="adj" fmla="val 6000"/>
            </a:avLst>
          </a:prstGeom>
          <a:solidFill>
            <a:srgbClr val="FEFEFE"/>
          </a:solidFill>
          <a:ln w="11430">
            <a:solidFill>
              <a:srgbClr val="14559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6359" y="451713"/>
            <a:ext cx="4865751" cy="254812"/>
          </a:xfrm>
          <a:prstGeom prst="rect">
            <a:avLst/>
          </a:prstGeom>
          <a:noFill/>
          <a:ln>
            <a:noFill/>
          </a:ln>
        </p:spPr>
        <p:txBody>
          <a:bodyPr wrap="none" lIns="19050" rIns="19050" tIns="0" bIns="0" anchor="ctr">
            <a:noAutofit/>
          </a:bodyPr>
          <a:lstStyle/>
          <a:p>
            <a:pPr algn="l"/>
            <a:r>
              <a:rPr sz="2400" b="1">
                <a:solidFill>
                  <a:srgbClr val="5388AD"/>
                </a:solidFill>
                <a:latin typeface="PingFang SC"/>
              </a:rPr>
              <a:t>&gt;&gt; 心理健康服务</a:t>
            </a:r>
          </a:p>
        </p:txBody>
      </p:sp>
      <p:sp>
        <p:nvSpPr>
          <p:cNvPr id="8" name="TextBox 7"/>
          <p:cNvSpPr txBox="1"/>
          <p:nvPr/>
        </p:nvSpPr>
        <p:spPr>
          <a:xfrm>
            <a:off x="946404" y="1262481"/>
            <a:ext cx="7303770" cy="167944"/>
          </a:xfrm>
          <a:prstGeom prst="rect">
            <a:avLst/>
          </a:prstGeom>
          <a:noFill/>
          <a:ln>
            <a:noFill/>
          </a:ln>
        </p:spPr>
        <p:txBody>
          <a:bodyPr wrap="square" lIns="19050" rIns="19050" tIns="0" bIns="0" anchor="t">
            <a:normAutofit/>
          </a:bodyPr>
          <a:lstStyle/>
          <a:p>
            <a:pPr algn="l"/>
            <a:r>
              <a:rPr sz="1070" b="0">
                <a:solidFill>
                  <a:srgbClr val="858C89"/>
                </a:solidFill>
                <a:latin typeface="PingFang SC"/>
              </a:rPr>
              <a:t>127.对于因脓毒症或感染性休克住院治疗的成年幸存者，我们“建议”在出院后提供支持心理健康的服 务。</a:t>
            </a:r>
          </a:p>
        </p:txBody>
      </p:sp>
      <p:sp>
        <p:nvSpPr>
          <p:cNvPr id="9" name="TextBox 8"/>
          <p:cNvSpPr txBox="1"/>
          <p:nvPr/>
        </p:nvSpPr>
        <p:spPr>
          <a:xfrm>
            <a:off x="1152144" y="1546250"/>
            <a:ext cx="1440180" cy="202691"/>
          </a:xfrm>
          <a:prstGeom prst="rect">
            <a:avLst/>
          </a:prstGeom>
          <a:noFill/>
          <a:ln>
            <a:noFill/>
          </a:ln>
        </p:spPr>
        <p:txBody>
          <a:bodyPr wrap="square" lIns="19050" rIns="19050" tIns="0" bIns="0" anchor="t">
            <a:normAutofit/>
          </a:bodyPr>
          <a:lstStyle/>
          <a:p>
            <a:pPr algn="l"/>
            <a:r>
              <a:rPr sz="1639" b="0">
                <a:solidFill>
                  <a:srgbClr val="8E9691"/>
                </a:solidFill>
                <a:latin typeface="PingFang SC"/>
              </a:rPr>
              <a:t>✓ ⊕ ⊖ ⊙ ○</a:t>
            </a:r>
          </a:p>
        </p:txBody>
      </p:sp>
      <p:sp>
        <p:nvSpPr>
          <p:cNvPr id="10" name="TextBox 9"/>
          <p:cNvSpPr txBox="1"/>
          <p:nvPr/>
        </p:nvSpPr>
        <p:spPr>
          <a:xfrm>
            <a:off x="1255014" y="1835810"/>
            <a:ext cx="6995160" cy="156362"/>
          </a:xfrm>
          <a:prstGeom prst="rect">
            <a:avLst/>
          </a:prstGeom>
          <a:noFill/>
          <a:ln>
            <a:noFill/>
          </a:ln>
        </p:spPr>
        <p:txBody>
          <a:bodyPr wrap="square" lIns="19050" rIns="19050" tIns="0" bIns="0" anchor="t">
            <a:normAutofit/>
          </a:bodyPr>
          <a:lstStyle/>
          <a:p>
            <a:pPr algn="l"/>
            <a:r>
              <a:rPr sz="1040" b="0">
                <a:solidFill>
                  <a:srgbClr val="AAC29F"/>
                </a:solidFill>
                <a:latin typeface="PingFang SC"/>
              </a:rPr>
              <a:t>备注：心理健康支持服务在形式、强度和持续时间上可能有所不同，这取决于当地可用资源和患者需求。</a:t>
            </a:r>
          </a:p>
        </p:txBody>
      </p:sp>
      <p:sp>
        <p:nvSpPr>
          <p:cNvPr id="11" name="TextBox 10"/>
          <p:cNvSpPr txBox="1"/>
          <p:nvPr/>
        </p:nvSpPr>
        <p:spPr>
          <a:xfrm>
            <a:off x="946404" y="2165908"/>
            <a:ext cx="7920990" cy="422757"/>
          </a:xfrm>
          <a:prstGeom prst="rect">
            <a:avLst/>
          </a:prstGeom>
          <a:noFill/>
          <a:ln>
            <a:noFill/>
          </a:ln>
        </p:spPr>
        <p:txBody>
          <a:bodyPr wrap="square" lIns="19050" rIns="19050" tIns="0" bIns="0" anchor="t">
            <a:normAutofit/>
          </a:bodyPr>
          <a:lstStyle/>
          <a:p>
            <a:pPr algn="l"/>
            <a:r>
              <a:rPr sz="1460" b="0">
                <a:solidFill>
                  <a:srgbClr val="839195"/>
                </a:solidFill>
                <a:latin typeface="PingFang SC"/>
              </a:rPr>
              <a:t>128.因脓毒症或脓毒性休克住院治疗后康复的成年患者，若出现心理健康障碍的临床症状，应被转介给合适的医疗专业人员进行评估和处理（良好实践声明）。</a:t>
            </a:r>
          </a:p>
        </p:txBody>
      </p:sp>
      <p:sp>
        <p:nvSpPr>
          <p:cNvPr id="12" name="TextBox 11"/>
          <p:cNvSpPr txBox="1"/>
          <p:nvPr/>
        </p:nvSpPr>
        <p:spPr>
          <a:xfrm>
            <a:off x="586359" y="3080918"/>
            <a:ext cx="4865751" cy="254812"/>
          </a:xfrm>
          <a:prstGeom prst="rect">
            <a:avLst/>
          </a:prstGeom>
          <a:noFill/>
          <a:ln>
            <a:noFill/>
          </a:ln>
        </p:spPr>
        <p:txBody>
          <a:bodyPr wrap="none" lIns="19050" rIns="19050" tIns="0" bIns="0" anchor="ctr">
            <a:noAutofit/>
          </a:bodyPr>
          <a:lstStyle/>
          <a:p>
            <a:pPr algn="l"/>
            <a:r>
              <a:rPr sz="2400" b="1">
                <a:solidFill>
                  <a:srgbClr val="5388AD"/>
                </a:solidFill>
                <a:latin typeface="PingFang SC"/>
              </a:rPr>
              <a:t>&gt;&gt; 认知靶向治疗</a:t>
            </a:r>
          </a:p>
        </p:txBody>
      </p:sp>
      <p:sp>
        <p:nvSpPr>
          <p:cNvPr id="13" name="TextBox 12"/>
          <p:cNvSpPr txBox="1"/>
          <p:nvPr/>
        </p:nvSpPr>
        <p:spPr>
          <a:xfrm>
            <a:off x="946404" y="3949598"/>
            <a:ext cx="7303770" cy="347471"/>
          </a:xfrm>
          <a:prstGeom prst="rect">
            <a:avLst/>
          </a:prstGeom>
          <a:noFill/>
          <a:ln>
            <a:noFill/>
          </a:ln>
        </p:spPr>
        <p:txBody>
          <a:bodyPr wrap="square" lIns="19050" rIns="19050" tIns="0" bIns="0" anchor="t">
            <a:normAutofit/>
          </a:bodyPr>
          <a:lstStyle/>
          <a:p>
            <a:pPr algn="l"/>
            <a:r>
              <a:rPr sz="1420" b="0">
                <a:solidFill>
                  <a:srgbClr val="80878A"/>
                </a:solidFill>
                <a:latin typeface="PingFang SC"/>
              </a:rPr>
              <a:t>129.对于脓毒症或感染性休克住院治疗的成年幸存者而言，目前“证据不足”，无法就认知靶向治疗与常规治疗给出推荐建议。</a:t>
            </a:r>
          </a:p>
        </p:txBody>
      </p:sp>
      <p:sp>
        <p:nvSpPr>
          <p:cNvPr id="14" name="TextBox 13"/>
          <p:cNvSpPr txBox="1"/>
          <p:nvPr/>
        </p:nvSpPr>
        <p:spPr>
          <a:xfrm>
            <a:off x="1255014" y="4412894"/>
            <a:ext cx="5719572" cy="156362"/>
          </a:xfrm>
          <a:prstGeom prst="rect">
            <a:avLst/>
          </a:prstGeom>
          <a:noFill/>
          <a:ln>
            <a:noFill/>
          </a:ln>
        </p:spPr>
        <p:txBody>
          <a:bodyPr wrap="square" lIns="19050" rIns="19050" tIns="0" bIns="0" anchor="t">
            <a:normAutofit/>
          </a:bodyPr>
          <a:lstStyle/>
          <a:p>
            <a:pPr algn="l"/>
            <a:r>
              <a:rPr sz="960" b="0">
                <a:solidFill>
                  <a:srgbClr val="ABC2A1"/>
                </a:solidFill>
                <a:latin typeface="PingFang SC"/>
              </a:rPr>
              <a:t>备注：在使用认知靶向疗法的情况下，继续使用这些疗法是合理的，因为它们可能是可接受且可行的。</a:t>
            </a:r>
          </a:p>
        </p:txBody>
      </p:sp>
      <p:sp>
        <p:nvSpPr>
          <p:cNvPr id="15" name="TextBox 14"/>
          <p:cNvSpPr txBox="1"/>
          <p:nvPr/>
        </p:nvSpPr>
        <p:spPr>
          <a:xfrm>
            <a:off x="8353044" y="162153"/>
            <a:ext cx="3847337" cy="428548"/>
          </a:xfrm>
          <a:prstGeom prst="rect">
            <a:avLst/>
          </a:prstGeom>
          <a:noFill/>
          <a:ln>
            <a:noFill/>
          </a:ln>
        </p:spPr>
        <p:txBody>
          <a:bodyPr wrap="none" lIns="19050" rIns="19050" tIns="0" bIns="0" anchor="ctr">
            <a:noAutofit/>
          </a:bodyPr>
          <a:lstStyle/>
          <a:p>
            <a:pPr algn="r"/>
            <a:r>
              <a:rPr sz="1800" b="0">
                <a:solidFill>
                  <a:srgbClr val="B0C4A9"/>
                </a:solidFill>
                <a:latin typeface="PingFang SC"/>
              </a:rPr>
              <a:t>Surviving Sepsis Campaign</a:t>
            </a:r>
          </a:p>
        </p:txBody>
      </p:sp>
      <p:sp>
        <p:nvSpPr>
          <p:cNvPr id="16" name="TextBox 15"/>
          <p:cNvSpPr txBox="1"/>
          <p:nvPr/>
        </p:nvSpPr>
        <p:spPr>
          <a:xfrm>
            <a:off x="9176004" y="1262481"/>
            <a:ext cx="814730" cy="167944"/>
          </a:xfrm>
          <a:prstGeom prst="rect">
            <a:avLst/>
          </a:prstGeom>
          <a:noFill/>
          <a:ln>
            <a:noFill/>
          </a:ln>
        </p:spPr>
        <p:txBody>
          <a:bodyPr wrap="none" lIns="19050" rIns="19050" tIns="0" bIns="0" anchor="ctr">
            <a:noAutofit/>
          </a:bodyPr>
          <a:lstStyle/>
          <a:p>
            <a:pPr algn="r"/>
            <a:r>
              <a:rPr sz="1500" b="0">
                <a:solidFill>
                  <a:srgbClr val="93B983"/>
                </a:solidFill>
                <a:latin typeface="PingFang SC"/>
              </a:rPr>
              <a:t>修订</a:t>
            </a:r>
          </a:p>
        </p:txBody>
      </p:sp>
      <p:sp>
        <p:nvSpPr>
          <p:cNvPr id="17" name="TextBox 16"/>
          <p:cNvSpPr txBox="1"/>
          <p:nvPr/>
        </p:nvSpPr>
        <p:spPr>
          <a:xfrm>
            <a:off x="9176004" y="1835810"/>
            <a:ext cx="814730" cy="156362"/>
          </a:xfrm>
          <a:prstGeom prst="rect">
            <a:avLst/>
          </a:prstGeom>
          <a:noFill/>
          <a:ln>
            <a:noFill/>
          </a:ln>
        </p:spPr>
        <p:txBody>
          <a:bodyPr wrap="none" lIns="19050" rIns="19050" tIns="0" bIns="0" anchor="ctr">
            <a:noAutofit/>
          </a:bodyPr>
          <a:lstStyle/>
          <a:p>
            <a:pPr algn="r"/>
            <a:r>
              <a:rPr sz="1500" b="0">
                <a:solidFill>
                  <a:srgbClr val="90B67C"/>
                </a:solidFill>
                <a:latin typeface="PingFang SC"/>
              </a:rPr>
              <a:t>修订</a:t>
            </a:r>
          </a:p>
        </p:txBody>
      </p:sp>
      <p:sp>
        <p:nvSpPr>
          <p:cNvPr id="18" name="TextBox 17"/>
          <p:cNvSpPr txBox="1"/>
          <p:nvPr/>
        </p:nvSpPr>
        <p:spPr>
          <a:xfrm>
            <a:off x="9176004" y="3949598"/>
            <a:ext cx="814730" cy="156362"/>
          </a:xfrm>
          <a:prstGeom prst="rect">
            <a:avLst/>
          </a:prstGeom>
          <a:noFill/>
          <a:ln>
            <a:noFill/>
          </a:ln>
        </p:spPr>
        <p:txBody>
          <a:bodyPr wrap="none" lIns="19050" rIns="19050" tIns="0" bIns="0" anchor="ctr">
            <a:noAutofit/>
          </a:bodyPr>
          <a:lstStyle/>
          <a:p>
            <a:pPr algn="r"/>
            <a:r>
              <a:rPr sz="1500" b="0">
                <a:solidFill>
                  <a:srgbClr val="8BB3CB"/>
                </a:solidFill>
                <a:latin typeface="PingFang SC"/>
              </a:rPr>
              <a:t>新增</a:t>
            </a:r>
          </a:p>
        </p:txBody>
      </p:sp>
      <p:sp>
        <p:nvSpPr>
          <p:cNvPr id="19" name="TextBox 18"/>
          <p:cNvSpPr txBox="1"/>
          <p:nvPr/>
        </p:nvSpPr>
        <p:spPr>
          <a:xfrm>
            <a:off x="586359" y="5455310"/>
            <a:ext cx="2602611" cy="138988"/>
          </a:xfrm>
          <a:prstGeom prst="rect">
            <a:avLst/>
          </a:prstGeom>
          <a:noFill/>
          <a:ln>
            <a:noFill/>
          </a:ln>
        </p:spPr>
        <p:txBody>
          <a:bodyPr wrap="none" lIns="19050" rIns="19050" tIns="0" bIns="0" anchor="ctr">
            <a:noAutofit/>
          </a:bodyPr>
          <a:lstStyle/>
          <a:p>
            <a:pPr algn="l"/>
            <a:r>
              <a:rPr sz="1200" b="0">
                <a:solidFill>
                  <a:srgbClr val="D3E6E6"/>
                </a:solidFill>
                <a:latin typeface="PingFang SC"/>
              </a:rPr>
              <a:t>公众号 指南导航</a:t>
            </a:r>
          </a:p>
        </p:txBody>
      </p:sp>
      <p:sp>
        <p:nvSpPr>
          <p:cNvPr id="20" name="TextBox 19"/>
          <p:cNvSpPr txBox="1"/>
          <p:nvPr/>
        </p:nvSpPr>
        <p:spPr>
          <a:xfrm>
            <a:off x="10287000" y="5339486"/>
            <a:ext cx="0" cy="173736"/>
          </a:xfrm>
          <a:prstGeom prst="rect">
            <a:avLst/>
          </a:prstGeom>
          <a:noFill/>
          <a:ln>
            <a:noFill/>
          </a:ln>
        </p:spPr>
        <p:txBody>
          <a:bodyPr wrap="none" lIns="19050" rIns="19050" tIns="0" bIns="0" anchor="ctr">
            <a:noAutofit/>
          </a:bodyPr>
          <a:lstStyle/>
          <a:p>
            <a:pPr algn="r"/>
            <a:r>
              <a:rPr sz="1500" b="0">
                <a:solidFill>
                  <a:srgbClr val="000000"/>
                </a:solidFill>
                <a:latin typeface="PingFang SC"/>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5791200"/>
          </a:xfrm>
          <a:prstGeom prst="rect">
            <a:avLst/>
          </a:prstGeom>
          <a:solidFill>
            <a:srgbClr val="F1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budq4ey7.png"/>
          <p:cNvPicPr>
            <a:picLocks noChangeAspect="1"/>
          </p:cNvPicPr>
          <p:nvPr/>
        </p:nvPicPr>
        <p:blipFill>
          <a:blip r:embed="rId2"/>
          <a:stretch>
            <a:fillRect/>
          </a:stretch>
        </p:blipFill>
        <p:spPr>
          <a:xfrm>
            <a:off x="600075" y="571500"/>
            <a:ext cx="3686175" cy="1181100"/>
          </a:xfrm>
          <a:prstGeom prst="rect">
            <a:avLst/>
          </a:prstGeom>
        </p:spPr>
      </p:pic>
      <p:pic>
        <p:nvPicPr>
          <p:cNvPr id="4" name="Picture 3" descr="tmp8lj_c059.png"/>
          <p:cNvPicPr>
            <a:picLocks noChangeAspect="1"/>
          </p:cNvPicPr>
          <p:nvPr/>
        </p:nvPicPr>
        <p:blipFill>
          <a:blip r:embed="rId3"/>
          <a:stretch>
            <a:fillRect/>
          </a:stretch>
        </p:blipFill>
        <p:spPr>
          <a:xfrm>
            <a:off x="514350" y="4591050"/>
            <a:ext cx="2095500" cy="571500"/>
          </a:xfrm>
          <a:prstGeom prst="rect">
            <a:avLst/>
          </a:prstGeom>
        </p:spPr>
      </p:pic>
      <p:pic>
        <p:nvPicPr>
          <p:cNvPr id="5" name="Picture 4" descr="tmp1ca9g3mt.png"/>
          <p:cNvPicPr>
            <a:picLocks noChangeAspect="1"/>
          </p:cNvPicPr>
          <p:nvPr/>
        </p:nvPicPr>
        <p:blipFill>
          <a:blip r:embed="rId4"/>
          <a:stretch>
            <a:fillRect/>
          </a:stretch>
        </p:blipFill>
        <p:spPr>
          <a:xfrm>
            <a:off x="2781300" y="4591050"/>
            <a:ext cx="1924050" cy="571500"/>
          </a:xfrm>
          <a:prstGeom prst="rect">
            <a:avLst/>
          </a:prstGeom>
        </p:spPr>
      </p:pic>
      <p:pic>
        <p:nvPicPr>
          <p:cNvPr id="6" name="Picture 5" descr="tmp8fa3zon5.png"/>
          <p:cNvPicPr>
            <a:picLocks noChangeAspect="1"/>
          </p:cNvPicPr>
          <p:nvPr/>
        </p:nvPicPr>
        <p:blipFill>
          <a:blip r:embed="rId5"/>
          <a:stretch>
            <a:fillRect/>
          </a:stretch>
        </p:blipFill>
        <p:spPr>
          <a:xfrm>
            <a:off x="7219950" y="0"/>
            <a:ext cx="3067050" cy="5791200"/>
          </a:xfrm>
          <a:prstGeom prst="rect">
            <a:avLst/>
          </a:prstGeom>
        </p:spPr>
      </p:pic>
      <p:sp>
        <p:nvSpPr>
          <p:cNvPr id="7" name="TextBox 6"/>
          <p:cNvSpPr txBox="1"/>
          <p:nvPr/>
        </p:nvSpPr>
        <p:spPr>
          <a:xfrm>
            <a:off x="1429893" y="2131161"/>
            <a:ext cx="6736461" cy="445922"/>
          </a:xfrm>
          <a:prstGeom prst="rect">
            <a:avLst/>
          </a:prstGeom>
          <a:noFill/>
          <a:ln>
            <a:noFill/>
          </a:ln>
        </p:spPr>
        <p:txBody>
          <a:bodyPr wrap="none" lIns="19050" rIns="19050" tIns="0" bIns="0" anchor="ctr">
            <a:noAutofit/>
          </a:bodyPr>
          <a:lstStyle/>
          <a:p>
            <a:pPr algn="l"/>
            <a:r>
              <a:rPr sz="4200" b="1">
                <a:solidFill>
                  <a:srgbClr val="2C498F"/>
                </a:solidFill>
                <a:latin typeface="PingFang SC"/>
              </a:rPr>
              <a:t>SSC 2026指南</a:t>
            </a:r>
          </a:p>
        </p:txBody>
      </p:sp>
      <p:sp>
        <p:nvSpPr>
          <p:cNvPr id="8" name="TextBox 7"/>
          <p:cNvSpPr txBox="1"/>
          <p:nvPr/>
        </p:nvSpPr>
        <p:spPr>
          <a:xfrm>
            <a:off x="1429893" y="2762402"/>
            <a:ext cx="8896731" cy="335889"/>
          </a:xfrm>
          <a:prstGeom prst="rect">
            <a:avLst/>
          </a:prstGeom>
          <a:noFill/>
          <a:ln>
            <a:noFill/>
          </a:ln>
        </p:spPr>
        <p:txBody>
          <a:bodyPr wrap="none" lIns="19050" rIns="19050" tIns="0" bIns="0" anchor="ctr">
            <a:noAutofit/>
          </a:bodyPr>
          <a:lstStyle/>
          <a:p>
            <a:pPr algn="l"/>
            <a:r>
              <a:rPr sz="2700" b="1">
                <a:solidFill>
                  <a:srgbClr val="384A55"/>
                </a:solidFill>
                <a:latin typeface="PingFang SC"/>
              </a:rPr>
              <a:t>脓毒症和感染性休克管理国际指南</a:t>
            </a:r>
          </a:p>
        </p:txBody>
      </p:sp>
      <p:sp>
        <p:nvSpPr>
          <p:cNvPr id="9" name="TextBox 8"/>
          <p:cNvSpPr txBox="1"/>
          <p:nvPr/>
        </p:nvSpPr>
        <p:spPr>
          <a:xfrm>
            <a:off x="1491615" y="3509467"/>
            <a:ext cx="1306449" cy="208483"/>
          </a:xfrm>
          <a:prstGeom prst="rect">
            <a:avLst/>
          </a:prstGeom>
          <a:noFill/>
          <a:ln>
            <a:noFill/>
          </a:ln>
        </p:spPr>
        <p:txBody>
          <a:bodyPr wrap="square" lIns="19050" rIns="19050" tIns="0" bIns="0" anchor="t">
            <a:normAutofit/>
          </a:bodyPr>
          <a:lstStyle/>
          <a:p>
            <a:pPr algn="l"/>
            <a:r>
              <a:rPr sz="1120" b="0">
                <a:solidFill>
                  <a:srgbClr val="687779"/>
                </a:solidFill>
                <a:latin typeface="PingFang SC"/>
              </a:rPr>
              <a:t>2026年4月02日</a:t>
            </a:r>
          </a:p>
        </p:txBody>
      </p:sp>
      <p:sp>
        <p:nvSpPr>
          <p:cNvPr id="10" name="TextBox 9"/>
          <p:cNvSpPr txBox="1"/>
          <p:nvPr/>
        </p:nvSpPr>
        <p:spPr>
          <a:xfrm>
            <a:off x="1491615" y="3833774"/>
            <a:ext cx="1512188" cy="208483"/>
          </a:xfrm>
          <a:prstGeom prst="rect">
            <a:avLst/>
          </a:prstGeom>
          <a:noFill/>
          <a:ln>
            <a:noFill/>
          </a:ln>
        </p:spPr>
        <p:txBody>
          <a:bodyPr wrap="square" lIns="19050" rIns="19050" tIns="0" bIns="0" anchor="t">
            <a:normAutofit/>
          </a:bodyPr>
          <a:lstStyle/>
          <a:p>
            <a:pPr algn="l"/>
            <a:r>
              <a:rPr sz="1350" b="0">
                <a:solidFill>
                  <a:srgbClr val="718083"/>
                </a:solidFill>
                <a:latin typeface="PingFang SC"/>
              </a:rPr>
              <a:t>公众号:指南导航</a:t>
            </a:r>
          </a:p>
        </p:txBody>
      </p:sp>
      <p:sp>
        <p:nvSpPr>
          <p:cNvPr id="11" name="TextBox 10"/>
          <p:cNvSpPr txBox="1"/>
          <p:nvPr/>
        </p:nvSpPr>
        <p:spPr>
          <a:xfrm>
            <a:off x="10287000" y="5455310"/>
            <a:ext cx="0" cy="127406"/>
          </a:xfrm>
          <a:prstGeom prst="rect">
            <a:avLst/>
          </a:prstGeom>
          <a:noFill/>
          <a:ln>
            <a:noFill/>
          </a:ln>
        </p:spPr>
        <p:txBody>
          <a:bodyPr wrap="none" lIns="19050" rIns="19050" tIns="0" bIns="0" anchor="ctr">
            <a:noAutofit/>
          </a:bodyPr>
          <a:lstStyle/>
          <a:p>
            <a:pPr algn="r"/>
            <a:r>
              <a:rPr sz="1200" b="0">
                <a:solidFill>
                  <a:srgbClr val="000000"/>
                </a:solidFill>
                <a:latin typeface="PingFang SC"/>
              </a:rPr>
              <a:t>76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